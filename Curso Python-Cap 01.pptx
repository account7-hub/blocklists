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3"/>
  </p:notesMasterIdLst>
  <p:sldIdLst>
    <p:sldId id="257" r:id="rId5"/>
    <p:sldId id="258" r:id="rId6"/>
    <p:sldId id="309" r:id="rId7"/>
    <p:sldId id="310" r:id="rId8"/>
    <p:sldId id="312" r:id="rId9"/>
    <p:sldId id="313" r:id="rId10"/>
    <p:sldId id="315" r:id="rId11"/>
    <p:sldId id="318" r:id="rId12"/>
    <p:sldId id="259" r:id="rId13"/>
    <p:sldId id="307" r:id="rId14"/>
    <p:sldId id="308" r:id="rId15"/>
    <p:sldId id="320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70" r:id="rId26"/>
    <p:sldId id="271" r:id="rId27"/>
    <p:sldId id="272" r:id="rId28"/>
    <p:sldId id="274" r:id="rId29"/>
    <p:sldId id="275" r:id="rId30"/>
    <p:sldId id="276" r:id="rId31"/>
    <p:sldId id="277" r:id="rId32"/>
    <p:sldId id="306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2" r:id="rId47"/>
    <p:sldId id="293" r:id="rId48"/>
    <p:sldId id="294" r:id="rId49"/>
    <p:sldId id="291" r:id="rId50"/>
    <p:sldId id="300" r:id="rId51"/>
    <p:sldId id="316" r:id="rId52"/>
    <p:sldId id="296" r:id="rId53"/>
    <p:sldId id="297" r:id="rId54"/>
    <p:sldId id="298" r:id="rId55"/>
    <p:sldId id="299" r:id="rId56"/>
    <p:sldId id="301" r:id="rId57"/>
    <p:sldId id="302" r:id="rId58"/>
    <p:sldId id="303" r:id="rId59"/>
    <p:sldId id="304" r:id="rId60"/>
    <p:sldId id="317" r:id="rId61"/>
    <p:sldId id="319" r:id="rId6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6D9C"/>
    <a:srgbClr val="336699"/>
    <a:srgbClr val="FED847"/>
    <a:srgbClr val="FFDE75"/>
    <a:srgbClr val="FFD03C"/>
    <a:srgbClr val="FFC90E"/>
    <a:srgbClr val="FFD140"/>
    <a:srgbClr val="FFFFFF"/>
    <a:srgbClr val="AECDE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>
        <p:scale>
          <a:sx n="100" d="100"/>
          <a:sy n="100" d="100"/>
        </p:scale>
        <p:origin x="-1164" y="-1464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0:45:29.4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0:45:30.6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0:45:31.0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62CF-6E2E-4950-A4C6-2F0629CEB57A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4D19-40F4-4FB2-BB02-0ACB3B3819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5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0273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391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3022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495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631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693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0766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6772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6BDC-F7DD-220C-CACB-623D63919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1EF9C-808A-F892-ED25-C59BF263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2D21-355A-B4C6-D7BF-FC594A5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C29C-D90E-4983-8C50-C1357DC92F7B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13E9C-3250-5D7A-CE51-894FC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CD16C1-6D70-DEDF-955E-96C301AA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11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FA50B-B228-B2CB-4BBD-59790D44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9151" y="6356350"/>
            <a:ext cx="1209821" cy="365125"/>
          </a:xfrm>
        </p:spPr>
        <p:txBody>
          <a:bodyPr/>
          <a:lstStyle>
            <a:lvl1pPr>
              <a:defRPr b="1"/>
            </a:lvl1pPr>
          </a:lstStyle>
          <a:p>
            <a:fld id="{06ED1044-4351-4B65-9A88-63290AF91B03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33E03-04D3-3C99-D4CC-393AD43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56350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D6B47-DA56-AC52-B164-35891B6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9480" y="6356350"/>
            <a:ext cx="873369" cy="365125"/>
          </a:xfrm>
        </p:spPr>
        <p:txBody>
          <a:bodyPr/>
          <a:lstStyle>
            <a:lvl1pPr algn="l">
              <a:defRPr/>
            </a:lvl1pPr>
          </a:lstStyle>
          <a:p>
            <a:fld id="{250292FE-8D56-4E3A-9427-CB428FF60A53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07C4F4-2068-EDC6-F8E0-984352F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Centro Federal de Educação Tecnológica Celso Suckow da Fonseca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5CB7DE-4FD2-82C8-8085-8522769A2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252" y="349522"/>
            <a:ext cx="1639279" cy="9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012B-5FFB-503A-93D2-2F43E17D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C1D0C-2F68-C972-9E1F-BA1FD83C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7B6F4-628B-9CD7-8F7F-2A56408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7CB7-ADD6-45AF-9BDD-DE13DACD8F39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11514-16C5-4418-818A-FDECA547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83EA9-82C8-DD6A-6F7E-A1052938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76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8F2E-F87A-28D2-5177-D8AF0FC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D59D1-A894-70DE-B49C-7E1C42153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A1CB66-D4B3-0C42-5406-A3972149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5A9045-E299-D1BC-548E-DA60065B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2D002-013B-47E4-B037-6BE54A690DC0}" type="datetime1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861DB-B126-C096-C0C8-75EA29D0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3C2C-87A8-7ADD-E4C9-5C96068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06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3ED7-1686-5F8A-10A9-F50F6603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DAE2A-0C8E-84B7-FF7F-0075E7B6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C14A8-D0E9-8760-78FF-07B539BD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A9A5-E119-FD4F-CCDF-BB396DFF6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5E3807-E3CF-D08F-555A-BAE67FCD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F527B8-39F7-34AC-744A-DB3EAF11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EAFC-E608-4463-9149-DEEB2DD1C766}" type="datetime1">
              <a:rPr lang="pt-BR" smtClean="0"/>
              <a:t>21/06/2026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187CDB-4CAD-C47F-7F68-4B977C1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03A58A-4C31-DEDB-994F-3A74734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0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EEE29-8BDC-371F-1F50-0966199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665B26-3B57-E9CD-FEE1-8F12BEB5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086D-38FF-44E7-98A8-270B723C6437}" type="datetime1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300C64-73E3-2FDB-857F-DD1BF80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810EA3-9932-5C64-9D4A-2CF0AEF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0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D1DE8-C2E7-563C-BC88-550A37CD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DD93-F117-4A8F-8B2B-917CC669FEB4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F044E-5BF1-1E08-B412-3A8E378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2ECD8-BC8E-75AF-3253-F35E2EC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4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9D38-2472-977E-F0B5-2A8A7C3D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AD1A9-6513-146C-8A98-E6EB5DC7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800B00-B279-50DA-DBD9-6C613A9D8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C20CA-FD74-F909-C6A2-CAFF4EC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E8ED-E97E-4CFC-B351-EB5CC50D3C31}" type="datetime1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E8670-D013-EC8F-D118-AB063F6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3CD7B-732D-B650-F141-5F79FB19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7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DBC3-3401-A3D2-B219-259F44F8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29A8F6-B5A7-41C2-5EDB-B3AC72B59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2B7809-70B0-CFDE-77FE-019E49D8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4786D-E5B0-5995-B806-7759C6B7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0A70-F271-492F-B27C-0ADDEFD2EC30}" type="datetime1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C364B-4223-A58F-49EE-FDCB6E1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41AD-07A8-879B-D075-7E057EE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2E53-480A-BCC2-AF43-0C32667B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777D6-06A6-D2A5-0BEA-E9A8A19A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FBCF5-1061-4ADF-5028-EB2D461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0071-4AA2-47B8-AEBA-2275E2FEEC31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448D7-E146-7AC9-3404-C4353F5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4F478F-8BE1-E167-FE88-5357CBE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0F69-9B91-0B85-B18D-29C478C3E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CEE54A-78BE-B888-5435-1F4BB92E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9EE3-9541-F7F1-FC4A-5B0F583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E9C3-3A7B-4B80-9C62-C34371012B5B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835FE-3B42-0F74-F3A7-1EC2D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5329-397C-FC63-6BE6-8BC5E6B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4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392734-EB08-7F99-9C05-CEFB6E1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2EE65-2666-D63F-D25E-DE0E33A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0C4-E182-7218-6B83-DB95542FC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ADA62-40EC-4DCE-88FD-C0DC3962553F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4A0E7-B671-9258-1B0E-12AFF67F1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0868-9CE7-5A9C-049A-DF55CBD7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7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mir.silveira@cefet-rj.b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LK97IGxw6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ython.org/" TargetMode="External"/><Relationship Id="rId4" Type="http://schemas.openxmlformats.org/officeDocument/2006/relationships/hyperlink" Target="http://www.livrosgratis.com.br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python.org/" TargetMode="External"/><Relationship Id="rId7" Type="http://schemas.openxmlformats.org/officeDocument/2006/relationships/hyperlink" Target="https://memoria.ifrn.edu.br/bitstream/handle/1044/2090/EBOOK%20-%20INTRODU%c3%87%c3%83O%20A%20PYTHON%20%28EDITORA%20IFRN%29.pdf?sequence=1&amp;isAllowed=y" TargetMode="External"/><Relationship Id="rId2" Type="http://schemas.openxmlformats.org/officeDocument/2006/relationships/hyperlink" Target="https://penseallen.github.io/PensePython2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" TargetMode="External"/><Relationship Id="rId5" Type="http://schemas.openxmlformats.org/officeDocument/2006/relationships/hyperlink" Target="https://pythonreference.readthedocs.io/en/latest/" TargetMode="External"/><Relationship Id="rId4" Type="http://schemas.openxmlformats.org/officeDocument/2006/relationships/hyperlink" Target="https://www.caelum.com.br/apostila-python-orientacao-a-objetos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lura.com.br/artigos/inteligencia-artificial-ia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customXml" Target="../ink/ink1.xml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The_Meaning_of_Life_(filme)" TargetMode="External"/><Relationship Id="rId2" Type="http://schemas.openxmlformats.org/officeDocument/2006/relationships/hyperlink" Target="https://pt.wikipedia.org/wiki/Life_of_Bria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://www.python.org/" TargetMode="External"/><Relationship Id="rId4" Type="http://schemas.openxmlformats.org/officeDocument/2006/relationships/hyperlink" Target="https://pt.wikipedia.org/wiki/Monty_Python_and_the_Holy_Grai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pycharm/" TargetMode="External"/><Relationship Id="rId2" Type="http://schemas.openxmlformats.org/officeDocument/2006/relationships/hyperlink" Target="https://www.spyder-ide.or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doc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1F5CF-F3D8-8E84-650F-4E814460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   </a:t>
            </a: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8C47089-690A-D7B1-04D0-A0AE1038A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52" y="265114"/>
            <a:ext cx="1639279" cy="988218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8509AA0-7FB4-0CD8-CBAC-7F91FD195B0D}"/>
              </a:ext>
            </a:extLst>
          </p:cNvPr>
          <p:cNvSpPr txBox="1"/>
          <p:nvPr/>
        </p:nvSpPr>
        <p:spPr>
          <a:xfrm>
            <a:off x="3122930" y="1871822"/>
            <a:ext cx="640207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pt-BR" sz="4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Programação Python</a:t>
            </a:r>
          </a:p>
          <a:p>
            <a:pPr marL="0" indent="0" algn="ctr">
              <a:buNone/>
            </a:pPr>
            <a:endParaRPr lang="pt-BR" sz="3200" b="1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pt-BR" sz="32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Almir Silveira</a:t>
            </a:r>
          </a:p>
          <a:p>
            <a:pPr marL="0" indent="0" algn="ctr">
              <a:buNone/>
            </a:pPr>
            <a:r>
              <a:rPr lang="pt-BR" sz="3200" u="sng" dirty="0">
                <a:solidFill>
                  <a:srgbClr val="0000FF"/>
                </a:solidFill>
                <a:latin typeface="Arial" panose="020B0604020202020204" pitchFamily="34" charset="0"/>
                <a:hlinkClick r:id="rId3"/>
              </a:rPr>
              <a:t>a</a:t>
            </a:r>
            <a:r>
              <a:rPr lang="pt-BR" sz="3200" b="0" i="0" u="sng" strike="noStrike" baseline="0" dirty="0">
                <a:solidFill>
                  <a:srgbClr val="0000FF"/>
                </a:solidFill>
                <a:latin typeface="Arial" panose="020B0604020202020204" pitchFamily="34" charset="0"/>
                <a:hlinkClick r:id="rId3"/>
              </a:rPr>
              <a:t>lmir.silveira@cefet-rj.br</a:t>
            </a:r>
            <a:endParaRPr lang="pt-BR" sz="3200" b="0" i="0" u="sng" strike="noStrike" baseline="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pt-BR" sz="3200" b="0" i="0" u="sng" strike="noStrike" baseline="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pt-BR" sz="3200" b="0" i="0" u="sng" strike="noStrike" baseline="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pt-BR" sz="2400" b="1" i="0" u="none" strike="noStrike" baseline="0" dirty="0">
                <a:solidFill>
                  <a:srgbClr val="7E7E7E"/>
                </a:solidFill>
                <a:latin typeface="Arial" panose="020B0604020202020204" pitchFamily="34" charset="0"/>
              </a:rPr>
              <a:t>Apresentação do Curso</a:t>
            </a:r>
            <a:endParaRPr lang="pt-BR" sz="2400" dirty="0"/>
          </a:p>
          <a:p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043329-300A-52B9-FF38-7EE00B9C3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B93C-E6F2-43F7-BBDE-A8C4891D6322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03954-26EB-C9F3-31C6-76B40210B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54E032-171C-7F9C-0D1B-18BE43A1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061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5C6A1B-B42D-97AA-6E2D-CC2DD52B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</a:t>
            </a: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3F93AE-CC61-84FA-B813-FE5A675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81416-7B4B-4457-A720-5FC926129C35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5ABB53-4A29-DA28-55A7-C099606F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948" y="6356349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C0536A0-9280-5193-6FB9-ED255F9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760" y="6356351"/>
            <a:ext cx="538089" cy="365124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</a:t>
            </a:fld>
            <a:endParaRPr lang="pt-BR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FACD24-BD62-72C2-991F-8DBA2BDB6F87}"/>
              </a:ext>
            </a:extLst>
          </p:cNvPr>
          <p:cNvSpPr txBox="1"/>
          <p:nvPr/>
        </p:nvSpPr>
        <p:spPr>
          <a:xfrm>
            <a:off x="1847948" y="2021840"/>
            <a:ext cx="89419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Algoritmos Computacionais e</a:t>
            </a:r>
          </a:p>
          <a:p>
            <a:pPr algn="ctr"/>
            <a:r>
              <a:rPr lang="pt-BR" sz="4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Estrutura de Dados em Python</a:t>
            </a:r>
          </a:p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– Cap-01 – </a:t>
            </a:r>
          </a:p>
          <a:p>
            <a:pPr algn="ctr"/>
            <a:endParaRPr lang="pt-B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92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E5F80BC-6420-2983-6D3C-A5810199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23D94-6697-4747-967F-F52A0AE05014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73786A-F394-B635-84AA-1D5606AD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0F5935-C3E6-2D0F-A6D9-CFDDFF5BC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C7FF59E-9F6B-8388-4432-FB0FBBF18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1" y="242154"/>
            <a:ext cx="9886334" cy="1200330"/>
          </a:xfrm>
        </p:spPr>
        <p:txBody>
          <a:bodyPr>
            <a:normAutofit/>
          </a:bodyPr>
          <a:lstStyle/>
          <a:p>
            <a:pPr algn="ctr"/>
            <a:r>
              <a:rPr lang="pt-BR" sz="22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2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2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2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2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4D3260C-1E0F-F553-1B76-1228097EBFF8}"/>
              </a:ext>
            </a:extLst>
          </p:cNvPr>
          <p:cNvSpPr txBox="1"/>
          <p:nvPr/>
        </p:nvSpPr>
        <p:spPr>
          <a:xfrm>
            <a:off x="3916680" y="2784774"/>
            <a:ext cx="4358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REGRAS DO JOGO</a:t>
            </a:r>
            <a:endParaRPr lang="pt-BR" sz="40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59FE0B7-5418-06AF-9FC4-4F1A945EB4F3}"/>
              </a:ext>
            </a:extLst>
          </p:cNvPr>
          <p:cNvSpPr txBox="1"/>
          <p:nvPr/>
        </p:nvSpPr>
        <p:spPr>
          <a:xfrm>
            <a:off x="2612942" y="4367729"/>
            <a:ext cx="8793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Linguagem “Python” – Programação</a:t>
            </a:r>
          </a:p>
        </p:txBody>
      </p:sp>
    </p:spTree>
    <p:extLst>
      <p:ext uri="{BB962C8B-B14F-4D97-AF65-F5344CB8AC3E}">
        <p14:creationId xmlns:p14="http://schemas.microsoft.com/office/powerpoint/2010/main" val="39709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 hidden="1">
            <a:extLst>
              <a:ext uri="{FF2B5EF4-FFF2-40B4-BE49-F238E27FC236}">
                <a16:creationId xmlns:a16="http://schemas.microsoft.com/office/drawing/2014/main" id="{9D418C30-E2EC-14AE-7601-464427C53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C10B8FA-BEE9-4BD9-AC8D-FA02A9C14B59}" type="datetime1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Número de Slide 3" hidden="1">
            <a:extLst>
              <a:ext uri="{FF2B5EF4-FFF2-40B4-BE49-F238E27FC236}">
                <a16:creationId xmlns:a16="http://schemas.microsoft.com/office/drawing/2014/main" id="{0BF2D561-B8C6-AA22-AAC3-C9C3A445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50292FE-8D56-4E3A-9427-CB428FF60A53}" type="slidenum">
              <a:rPr lang="pt-BR" smtClean="0"/>
              <a:pPr>
                <a:spcAft>
                  <a:spcPts val="600"/>
                </a:spcAft>
              </a:pPr>
              <a:t>4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A93C17E-81A2-0D44-6028-9DC8894FE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7" y="0"/>
            <a:ext cx="12192001" cy="6857999"/>
          </a:xfrm>
          <a:prstGeom prst="rect">
            <a:avLst/>
          </a:prstGeom>
        </p:spPr>
      </p:pic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98049CA-60E0-0F8F-12EC-73674031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200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8009490-7F31-526B-EBD3-EED188DB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DB1CF-C525-407F-9711-3B7DB7E8CDA9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1B78FF-A1E4-9C92-07F0-FE8E9D6B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DD1C70-E9CA-F7C9-3E58-D064E348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2D6850E-8A45-8688-06FD-628714FF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15" y="318055"/>
            <a:ext cx="9886334" cy="988219"/>
          </a:xfrm>
        </p:spPr>
        <p:txBody>
          <a:bodyPr>
            <a:normAutofit/>
          </a:bodyPr>
          <a:lstStyle/>
          <a:p>
            <a:pPr algn="ctr"/>
            <a:r>
              <a:rPr lang="pt-BR" sz="4400" b="1" i="1" dirty="0"/>
              <a:t>Provas, Listas, Trabalho e Calendário.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0C95E7B-C45D-6D99-12E0-F1BBCF13EF2B}"/>
              </a:ext>
            </a:extLst>
          </p:cNvPr>
          <p:cNvSpPr txBox="1"/>
          <p:nvPr/>
        </p:nvSpPr>
        <p:spPr>
          <a:xfrm>
            <a:off x="239151" y="1429544"/>
            <a:ext cx="1184616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Aplicação da 1ª prova ( terá matéria até a última aula da semana anterior a data da prova);</a:t>
            </a:r>
          </a:p>
          <a:p>
            <a:endParaRPr lang="pt-B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Teremos duas listas de </a:t>
            </a:r>
            <a:r>
              <a:rPr lang="pt-BR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EXERCÍCIOS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 para 1ª Prova:  a 1ª lista e 2ª lista, que somarão 5% e 5%, respectivamente, das notas tiradas pelo aluno na 1ª prova, porém, somente se o(a) aluno(a) tiver feito todos os exercícios das duas listas; As listas terão de 10 a 15 exercícios;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Teremos duas lista de </a:t>
            </a:r>
            <a:r>
              <a:rPr lang="pt-BR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EXERCÍCIOS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 para 2ª Prova: a 3ª lista e 4ª lista, que somarão 5% e 5%, respectivamente, das notas tiradas pelo aluno na 2ª prova, porém, somente  se o(a) aluno)a) tiver feito todos os exercícios das duas listas; As listas terão de 10 a 20 exercícios;</a:t>
            </a:r>
          </a:p>
          <a:p>
            <a:endParaRPr lang="pt-B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Todas as listas poderão ser feitas no máximo por dois alunos e os alunos não poderão trocar de grupos, uma vez que, já tenham escolhido o grupo para 1ª lista.</a:t>
            </a:r>
          </a:p>
        </p:txBody>
      </p:sp>
    </p:spTree>
    <p:extLst>
      <p:ext uri="{BB962C8B-B14F-4D97-AF65-F5344CB8AC3E}">
        <p14:creationId xmlns:p14="http://schemas.microsoft.com/office/powerpoint/2010/main" val="1391123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840E2BB-BD60-7760-06CC-0B5DEBD9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808D-1124-4691-B2D4-605805981306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64CD21-5CA3-6811-82E2-688157AA3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B0300C-7196-B059-A587-281ADD3E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5680" y="6356350"/>
            <a:ext cx="87336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09C8465-5737-B081-8E9F-2BBE627E2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20" y="365125"/>
            <a:ext cx="9916814" cy="988219"/>
          </a:xfrm>
        </p:spPr>
        <p:txBody>
          <a:bodyPr>
            <a:normAutofit/>
          </a:bodyPr>
          <a:lstStyle/>
          <a:p>
            <a:pPr algn="ctr"/>
            <a:r>
              <a:rPr lang="pt-BR" sz="4400" b="1" i="1" dirty="0"/>
              <a:t>Provas, Listas, Trabalho e Calendário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50C9DB-F3AB-31B4-FCFF-F6BF1B147144}"/>
              </a:ext>
            </a:extLst>
          </p:cNvPr>
          <p:cNvSpPr txBox="1"/>
          <p:nvPr/>
        </p:nvSpPr>
        <p:spPr>
          <a:xfrm>
            <a:off x="200032" y="1233328"/>
            <a:ext cx="11867533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 listas não são obrigatórias.  Mas é fortemente conveniente que sejam feitas ! </a:t>
            </a:r>
          </a:p>
          <a:p>
            <a:endParaRPr lang="pt-BR" sz="2000" b="1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Por exemplo: Nota da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1ª prova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= 7,0 </a:t>
            </a:r>
          </a:p>
          <a:p>
            <a:pPr marL="365125" indent="-365125"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 1ª lista = 7,0 *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5%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0,35  «»  2ª lista = 7,0 *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5%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0,35 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«»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Nota final da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1ª prova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= 7,0 + 0,35 + 0,35 = 7,7.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entrega da 1ª e a 2ª listas será uma semana antes da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1ª pr.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 a entrega das 3ª e 4ª listas será uma semana antes da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2ª pr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Nota da 2ª prova será formada pela soma da 2ª nota, que vale no máximo 8,0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Trabalho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que valerá no máximo 2,0  pontos, e que deverá ser feito pelos mesmos grupos das listas 1 e 2. Soma-se à  2ª prova com os 2 pontos do trabalho, mais 5% dessa nota pela 3ª lista + 5% pela 4ª lista, caso o aluno tenha feito todos os exercícios das duas listas.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Por exemplo: Nota da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2ª prova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= 4,0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«»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trabalho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2,0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«»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Nota resultante = 4,0 + 2,0 = 6.0  </a:t>
            </a:r>
          </a:p>
          <a:p>
            <a:pPr marL="274638" algn="just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3ª lista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= 6,0 *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5%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0,3 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«»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4ª lista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= 6,0 *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5%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= 0,3  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«»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Nota final da 2ª pr.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= 6,0 + 0,3 + 0,3 = 6,6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«»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Logo, (1ª Prova = 6,6 + 2ª Prova=  6,6) / 2 =  6,6  </a:t>
            </a: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Ficou de prova Final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558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6792ECB-4D09-F544-65AF-6ACB255F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EFD1-77D7-495B-B8DF-24EB4454BB0C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8A55B89-899D-2F8E-A419-C98114A4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119987-B4BE-AA3B-E567-52082AA4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AD42D0C-C8F7-AB2E-B9B1-D58B5CE3C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733934" cy="988219"/>
          </a:xfrm>
        </p:spPr>
        <p:txBody>
          <a:bodyPr/>
          <a:lstStyle/>
          <a:p>
            <a:pPr algn="ctr"/>
            <a:r>
              <a:rPr lang="pt-BR" sz="4400" b="1" i="1" dirty="0"/>
              <a:t>Provas, Listas, Trabalho e Calendário.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A6E4A6C-4F18-0A9B-B1D4-169AA1FBF805}"/>
              </a:ext>
            </a:extLst>
          </p:cNvPr>
          <p:cNvSpPr txBox="1"/>
          <p:nvPr/>
        </p:nvSpPr>
        <p:spPr>
          <a:xfrm>
            <a:off x="495299" y="1311191"/>
            <a:ext cx="11457549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defTabSz="457207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pt-BR" sz="2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 prova final será aplicada para os alunos que tiverem a média entre 3,0 e 6,9. e será necessário obter o valor que complete 10,0 pontos, para a aprovação com a prova final; Por exemplo, se o aluno tiver média 5,5, terá que obter grau </a:t>
            </a:r>
            <a:r>
              <a:rPr lang="pt-BR" sz="2000" dirty="0"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10,0 – 5,5 = </a:t>
            </a:r>
            <a:r>
              <a:rPr lang="pt-BR" sz="20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4,5</a:t>
            </a:r>
            <a:r>
              <a:rPr lang="pt-BR" sz="2000" dirty="0"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pt-BR" sz="2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para obter a aprovação com a Prova Final;</a:t>
            </a:r>
          </a:p>
          <a:p>
            <a:pPr marL="285750" indent="-285750" algn="just" defTabSz="457207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endParaRPr lang="pt-BR" sz="20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285750" indent="-285750" algn="just" defTabSz="457207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pt-BR" sz="2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 1ª Prova é </a:t>
            </a: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sem consulta</a:t>
            </a:r>
            <a:r>
              <a:rPr lang="pt-BR" sz="2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porém a 2ª Prova, a 2ª Chamada e a Final serão </a:t>
            </a:r>
            <a:r>
              <a:rPr lang="pt-BR" sz="2000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 consulta </a:t>
            </a:r>
            <a:r>
              <a:rPr lang="pt-BR" sz="2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ao próprio material, somente papel.</a:t>
            </a:r>
          </a:p>
          <a:p>
            <a:pPr marL="285750" indent="-285750" algn="just" defTabSz="457207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endParaRPr lang="pt-BR" sz="20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342900" indent="-342900" algn="just" defTabSz="457207"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aluno(a) só poderá fazer </a:t>
            </a:r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 única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2ª chamada. Ou seja, só poderá fazer uma prova de segunda chamada, que será aplicada após a segunda prova e antes da prova final;</a:t>
            </a:r>
          </a:p>
          <a:p>
            <a:pPr marL="285750" indent="-285750" defTabSz="457207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457207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Casos extraordinários serão tratados separadamente;</a:t>
            </a:r>
          </a:p>
          <a:p>
            <a:pPr marL="285750" indent="-285750" defTabSz="457207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 defTabSz="457207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É fortemente recomendado que não façam a segunda chamada, procurando não faltar às datas previamente marcadas para a 1ª e 2ª prova, bem como a Prova Final, a qual somente em caso excepcional será aplicada uma 2ª chamada da final.</a:t>
            </a:r>
          </a:p>
        </p:txBody>
      </p:sp>
    </p:spTree>
    <p:extLst>
      <p:ext uri="{BB962C8B-B14F-4D97-AF65-F5344CB8AC3E}">
        <p14:creationId xmlns:p14="http://schemas.microsoft.com/office/powerpoint/2010/main" val="1147997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F7FD35-1F81-605D-B2F8-F62BD1B5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38A-7E76-4D65-A1D3-72A26A2D3BA6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D47B4B-806C-27F7-C2C9-BC5535B58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AFE375-67BE-0B81-2C61-FF4D7891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B3DE639-01A5-7900-1AF5-E89D1CF2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Planilha de Notas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03F8031D-BFC0-2BDF-1A0F-DB21D5BA8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445" y="3736975"/>
            <a:ext cx="484611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262AC97F-7C6C-D86F-105B-E1A86EC0B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4329113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" name="AutoShape 39">
            <a:extLst>
              <a:ext uri="{FF2B5EF4-FFF2-40B4-BE49-F238E27FC236}">
                <a16:creationId xmlns:a16="http://schemas.microsoft.com/office/drawing/2014/main" id="{AEAD6797-B98F-2A62-D2C3-6255F00D0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4491038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B2476CD-84A8-0E18-B609-B4F9AA1DD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826550"/>
              </p:ext>
            </p:extLst>
          </p:nvPr>
        </p:nvGraphicFramePr>
        <p:xfrm>
          <a:off x="55024" y="2630791"/>
          <a:ext cx="12081950" cy="2378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2301">
                  <a:extLst>
                    <a:ext uri="{9D8B030D-6E8A-4147-A177-3AD203B41FA5}">
                      <a16:colId xmlns:a16="http://schemas.microsoft.com/office/drawing/2014/main" val="1691630832"/>
                    </a:ext>
                  </a:extLst>
                </a:gridCol>
                <a:gridCol w="894888">
                  <a:extLst>
                    <a:ext uri="{9D8B030D-6E8A-4147-A177-3AD203B41FA5}">
                      <a16:colId xmlns:a16="http://schemas.microsoft.com/office/drawing/2014/main" val="449748430"/>
                    </a:ext>
                  </a:extLst>
                </a:gridCol>
                <a:gridCol w="462240">
                  <a:extLst>
                    <a:ext uri="{9D8B030D-6E8A-4147-A177-3AD203B41FA5}">
                      <a16:colId xmlns:a16="http://schemas.microsoft.com/office/drawing/2014/main" val="1751066000"/>
                    </a:ext>
                  </a:extLst>
                </a:gridCol>
                <a:gridCol w="644333">
                  <a:extLst>
                    <a:ext uri="{9D8B030D-6E8A-4147-A177-3AD203B41FA5}">
                      <a16:colId xmlns:a16="http://schemas.microsoft.com/office/drawing/2014/main" val="1911389281"/>
                    </a:ext>
                  </a:extLst>
                </a:gridCol>
                <a:gridCol w="700363">
                  <a:extLst>
                    <a:ext uri="{9D8B030D-6E8A-4147-A177-3AD203B41FA5}">
                      <a16:colId xmlns:a16="http://schemas.microsoft.com/office/drawing/2014/main" val="3516829119"/>
                    </a:ext>
                  </a:extLst>
                </a:gridCol>
                <a:gridCol w="476246">
                  <a:extLst>
                    <a:ext uri="{9D8B030D-6E8A-4147-A177-3AD203B41FA5}">
                      <a16:colId xmlns:a16="http://schemas.microsoft.com/office/drawing/2014/main" val="574637529"/>
                    </a:ext>
                  </a:extLst>
                </a:gridCol>
                <a:gridCol w="588304">
                  <a:extLst>
                    <a:ext uri="{9D8B030D-6E8A-4147-A177-3AD203B41FA5}">
                      <a16:colId xmlns:a16="http://schemas.microsoft.com/office/drawing/2014/main" val="1480766247"/>
                    </a:ext>
                  </a:extLst>
                </a:gridCol>
                <a:gridCol w="350181">
                  <a:extLst>
                    <a:ext uri="{9D8B030D-6E8A-4147-A177-3AD203B41FA5}">
                      <a16:colId xmlns:a16="http://schemas.microsoft.com/office/drawing/2014/main" val="187838888"/>
                    </a:ext>
                  </a:extLst>
                </a:gridCol>
                <a:gridCol w="504261">
                  <a:extLst>
                    <a:ext uri="{9D8B030D-6E8A-4147-A177-3AD203B41FA5}">
                      <a16:colId xmlns:a16="http://schemas.microsoft.com/office/drawing/2014/main" val="3852291552"/>
                    </a:ext>
                  </a:extLst>
                </a:gridCol>
                <a:gridCol w="563415">
                  <a:extLst>
                    <a:ext uri="{9D8B030D-6E8A-4147-A177-3AD203B41FA5}">
                      <a16:colId xmlns:a16="http://schemas.microsoft.com/office/drawing/2014/main" val="976162078"/>
                    </a:ext>
                  </a:extLst>
                </a:gridCol>
                <a:gridCol w="291027">
                  <a:extLst>
                    <a:ext uri="{9D8B030D-6E8A-4147-A177-3AD203B41FA5}">
                      <a16:colId xmlns:a16="http://schemas.microsoft.com/office/drawing/2014/main" val="2310446067"/>
                    </a:ext>
                  </a:extLst>
                </a:gridCol>
                <a:gridCol w="760979">
                  <a:extLst>
                    <a:ext uri="{9D8B030D-6E8A-4147-A177-3AD203B41FA5}">
                      <a16:colId xmlns:a16="http://schemas.microsoft.com/office/drawing/2014/main" val="4277223871"/>
                    </a:ext>
                  </a:extLst>
                </a:gridCol>
                <a:gridCol w="233535">
                  <a:extLst>
                    <a:ext uri="{9D8B030D-6E8A-4147-A177-3AD203B41FA5}">
                      <a16:colId xmlns:a16="http://schemas.microsoft.com/office/drawing/2014/main" val="924639482"/>
                    </a:ext>
                  </a:extLst>
                </a:gridCol>
                <a:gridCol w="766590">
                  <a:extLst>
                    <a:ext uri="{9D8B030D-6E8A-4147-A177-3AD203B41FA5}">
                      <a16:colId xmlns:a16="http://schemas.microsoft.com/office/drawing/2014/main" val="2870886722"/>
                    </a:ext>
                  </a:extLst>
                </a:gridCol>
                <a:gridCol w="842962">
                  <a:extLst>
                    <a:ext uri="{9D8B030D-6E8A-4147-A177-3AD203B41FA5}">
                      <a16:colId xmlns:a16="http://schemas.microsoft.com/office/drawing/2014/main" val="1616589538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937069394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1927816025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10601067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952099048"/>
                    </a:ext>
                  </a:extLst>
                </a:gridCol>
              </a:tblGrid>
              <a:tr h="11725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NOMES –</a:t>
                      </a:r>
                    </a:p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 Turma: 410054 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P1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Fez L1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Lista 01 = 5% de P1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Fez L2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Lista 02 = 5% de P1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P1 + %Listas 1 e 2</a:t>
                      </a:r>
                      <a:endParaRPr lang="pt-BR" sz="14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P2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Trab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P2 + </a:t>
                      </a:r>
                      <a:r>
                        <a:rPr lang="pt-BR" sz="1400" u="none" strike="noStrike" dirty="0" err="1">
                          <a:effectLst/>
                        </a:rPr>
                        <a:t>Trab</a:t>
                      </a:r>
                      <a:r>
                        <a:rPr lang="pt-BR" sz="1400" u="none" strike="noStrike" dirty="0">
                          <a:effectLst/>
                        </a:rPr>
                        <a:t> </a:t>
                      </a:r>
                      <a:endParaRPr lang="pt-BR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Fez L3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Lista 03  =  5% de (P2+Trab)</a:t>
                      </a:r>
                      <a:endParaRPr lang="pt-B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Fez L4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Lista 04  =  5% de (P2+Trab)</a:t>
                      </a:r>
                      <a:endParaRPr lang="pt-B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P2 + </a:t>
                      </a:r>
                      <a:r>
                        <a:rPr lang="pt-BR" sz="1400" u="none" strike="noStrike" dirty="0" err="1">
                          <a:effectLst/>
                        </a:rPr>
                        <a:t>Trab</a:t>
                      </a:r>
                      <a:r>
                        <a:rPr lang="pt-BR" sz="1400" u="none" strike="noStrike" dirty="0">
                          <a:effectLst/>
                        </a:rPr>
                        <a:t> Final + % Listas 3 e 4</a:t>
                      </a:r>
                      <a:endParaRPr lang="pt-BR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MÉDIA Provas</a:t>
                      </a:r>
                      <a:endParaRPr lang="pt-B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PROVA FINAL</a:t>
                      </a:r>
                      <a:endParaRPr lang="pt-BR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MÉDIA FINAL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COND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9128135"/>
                  </a:ext>
                </a:extLst>
              </a:tr>
              <a:tr h="2345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ZE NANE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10,0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0,50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0,50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10,0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7,0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2,0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9,0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0,45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0,45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10,00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10,0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10,0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80"/>
                          </a:highlight>
                        </a:rPr>
                        <a:t>APROV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00008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386026"/>
                  </a:ext>
                </a:extLst>
              </a:tr>
              <a:tr h="2345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JUCA DA CREIDI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4,0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0,20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0,50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4,4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2,8</a:t>
                      </a:r>
                      <a:endParaRPr lang="pt-B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2,0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effectLst/>
                          <a:latin typeface="Arial" panose="020B0604020202020204" pitchFamily="34" charset="0"/>
                        </a:rPr>
                        <a:t>4,8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0,24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0,24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5,28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4,8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2,4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u="none" strike="noStrike" dirty="0">
                          <a:solidFill>
                            <a:srgbClr val="00206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FINAL</a:t>
                      </a:r>
                      <a:endParaRPr lang="pt-BR" sz="1400" b="1" i="0" u="none" strike="noStrike" dirty="0">
                        <a:solidFill>
                          <a:srgbClr val="002060"/>
                        </a:solidFill>
                        <a:effectLst/>
                        <a:highlight>
                          <a:srgbClr val="FFFF00"/>
                        </a:highlight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98726663"/>
                  </a:ext>
                </a:extLst>
              </a:tr>
              <a:tr h="2345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HOMER SIMPSON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8,0</a:t>
                      </a:r>
                      <a:endParaRPr lang="pt-B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0,40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0,40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9,0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6,0</a:t>
                      </a:r>
                      <a:endParaRPr lang="pt-B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2,0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9,0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0,68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0,45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10,00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9,5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9,5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80"/>
                          </a:highlight>
                        </a:rPr>
                        <a:t>APROV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00008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1703204"/>
                  </a:ext>
                </a:extLst>
              </a:tr>
              <a:tr h="2345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JUCA PEDROSO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1,0</a:t>
                      </a:r>
                      <a:endParaRPr lang="pt-B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0,05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0,05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1,1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2,0</a:t>
                      </a:r>
                      <a:endParaRPr lang="pt-B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2,0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4,0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0,2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4,4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2,75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effectLst/>
                          <a:latin typeface="Arial" panose="020B0604020202020204" pitchFamily="34" charset="0"/>
                        </a:rPr>
                        <a:t>2,75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REPR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FF00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36227863"/>
                  </a:ext>
                </a:extLst>
              </a:tr>
              <a:tr h="2677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effectLst/>
                          <a:latin typeface="Arial" panose="020B0604020202020204" pitchFamily="34" charset="0"/>
                        </a:rPr>
                        <a:t>DONA CHICA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5,0</a:t>
                      </a:r>
                      <a:endParaRPr lang="pt-B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0,25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0,25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5,25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1,5</a:t>
                      </a:r>
                      <a:endParaRPr lang="pt-B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3,0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4,5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x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0,225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x</a:t>
                      </a:r>
                      <a:endParaRPr lang="pt-B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effectLst/>
                          <a:latin typeface="Arial" panose="020B0604020202020204" pitchFamily="34" charset="0"/>
                        </a:rPr>
                        <a:t>0,225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effectLst/>
                          <a:latin typeface="Arial" panose="020B0604020202020204" pitchFamily="34" charset="0"/>
                        </a:rPr>
                        <a:t>4,95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5,1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6,5 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5,65</a:t>
                      </a:r>
                      <a:endParaRPr lang="pt-B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80"/>
                          </a:highlight>
                        </a:rPr>
                        <a:t>APROV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highlight>
                          <a:srgbClr val="00008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41883892"/>
                  </a:ext>
                </a:extLst>
              </a:tr>
            </a:tbl>
          </a:graphicData>
        </a:graphic>
      </p:graphicFrame>
      <p:sp>
        <p:nvSpPr>
          <p:cNvPr id="14" name="AutoShape 1">
            <a:extLst>
              <a:ext uri="{FF2B5EF4-FFF2-40B4-BE49-F238E27FC236}">
                <a16:creationId xmlns:a16="http://schemas.microsoft.com/office/drawing/2014/main" id="{03722D60-98DE-9217-480A-327AE5E17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2586038"/>
            <a:ext cx="304800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A4B62005-9127-99CD-DF96-038582CBB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3789363"/>
            <a:ext cx="3048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3BDAF249-7B17-0B28-D829-CCCA0A8E6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638" y="3460750"/>
            <a:ext cx="3048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536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FB8547-1908-F806-BCA2-41626F56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E2E4-B984-4A39-8860-0DBAE123B040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DB808A-24F8-E592-EC38-AD9000C9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6BA8FC-ADB4-1D2A-F9D0-071FD437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2621C16-6A9E-F6F6-AF16-AEB40331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                                         </a:t>
            </a:r>
            <a:r>
              <a:rPr lang="pt-BR" b="1" i="1" dirty="0"/>
              <a:t>Bibliografia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60A4BF0-B0FE-9A70-12E1-30CAA9DC60C8}"/>
              </a:ext>
            </a:extLst>
          </p:cNvPr>
          <p:cNvSpPr txBox="1"/>
          <p:nvPr/>
        </p:nvSpPr>
        <p:spPr>
          <a:xfrm>
            <a:off x="324464" y="1410355"/>
            <a:ext cx="1154306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i="0" u="none" strike="noStrike" baseline="0" dirty="0">
                <a:latin typeface="PalatinoLinotype-Roman"/>
              </a:rPr>
              <a:t>Antes de qualquer estudo nesse material, entre no site abaixo, assista até o final e depois continue seus estudos nesse Capítulo do Curso.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400" b="1" i="0" u="none" strike="noStrike" baseline="0" dirty="0">
              <a:solidFill>
                <a:srgbClr val="FF0000"/>
              </a:solidFill>
              <a:latin typeface="PalatinoLinotype-Roman"/>
            </a:endParaRPr>
          </a:p>
          <a:p>
            <a:pPr algn="l"/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BR" sz="24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https://www.youtube.com/watch?v=GLK97IGxw6Y</a:t>
            </a:r>
            <a:endParaRPr lang="pt-BR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pt-BR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latin typeface="PalatinoLinotype-Roman"/>
              </a:rPr>
              <a:t>Python para desenvolvedores - </a:t>
            </a:r>
            <a:r>
              <a:rPr lang="pt-BR" sz="2400" b="0" i="0" u="none" strike="noStrike" baseline="0" dirty="0">
                <a:latin typeface="PalatinoLinotype-Roman"/>
              </a:rPr>
              <a:t>1º Edição –  Luiz Eduardo Borges</a:t>
            </a:r>
          </a:p>
          <a:p>
            <a:pPr marL="274638" algn="ctr"/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http://www.livrosgratis.com.br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274638" algn="l"/>
            <a:endParaRPr lang="pt-BR" sz="2400" dirty="0">
              <a:latin typeface="PalatinoLinotype-Roma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2400" b="1" dirty="0">
                <a:latin typeface="PalatinoLinotype-Roman"/>
              </a:rPr>
              <a:t>Aprendendo Python </a:t>
            </a:r>
            <a:r>
              <a:rPr lang="pt-BR" sz="2400" dirty="0">
                <a:latin typeface="PalatinoLinotype-Roman"/>
              </a:rPr>
              <a:t>– Mark Lutz e Davis Archer (já disponibilizado em </a:t>
            </a:r>
            <a:r>
              <a:rPr lang="pt-BR" sz="2400" dirty="0" err="1">
                <a:latin typeface="PalatinoLinotype-Roman"/>
              </a:rPr>
              <a:t>pdf</a:t>
            </a:r>
            <a:r>
              <a:rPr lang="pt-BR" sz="2400" dirty="0">
                <a:latin typeface="PalatinoLinotype-Roman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400" dirty="0">
              <a:latin typeface="PalatinoLinotype-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Site </a:t>
            </a:r>
            <a:r>
              <a:rPr lang="pt-BR" sz="2400" b="1" dirty="0" err="1"/>
              <a:t>Ofical</a:t>
            </a:r>
            <a:r>
              <a:rPr lang="pt-BR" sz="2400" b="1" dirty="0"/>
              <a:t> do Python :  </a:t>
            </a:r>
            <a:r>
              <a:rPr lang="pt-BR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https://www.python.org/</a:t>
            </a:r>
            <a:endParaRPr lang="pt-BR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400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FA3556E2-7461-449A-190B-2F30C889AC98}"/>
              </a:ext>
            </a:extLst>
          </p:cNvPr>
          <p:cNvCxnSpPr>
            <a:cxnSpLocks/>
          </p:cNvCxnSpPr>
          <p:nvPr/>
        </p:nvCxnSpPr>
        <p:spPr>
          <a:xfrm flipH="1">
            <a:off x="8931388" y="2925085"/>
            <a:ext cx="1352844" cy="0"/>
          </a:xfrm>
          <a:prstGeom prst="straightConnector1">
            <a:avLst/>
          </a:prstGeom>
          <a:ln w="1174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1365F43-5D6F-4AB9-DE7A-2B22681A22B4}"/>
              </a:ext>
            </a:extLst>
          </p:cNvPr>
          <p:cNvCxnSpPr>
            <a:cxnSpLocks/>
          </p:cNvCxnSpPr>
          <p:nvPr/>
        </p:nvCxnSpPr>
        <p:spPr>
          <a:xfrm flipH="1">
            <a:off x="7145535" y="5467394"/>
            <a:ext cx="1352844" cy="0"/>
          </a:xfrm>
          <a:prstGeom prst="straightConnector1">
            <a:avLst/>
          </a:prstGeom>
          <a:ln w="1174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658FEAA1-0623-F612-08AF-BB41F8EED7D4}"/>
              </a:ext>
            </a:extLst>
          </p:cNvPr>
          <p:cNvCxnSpPr>
            <a:cxnSpLocks/>
          </p:cNvCxnSpPr>
          <p:nvPr/>
        </p:nvCxnSpPr>
        <p:spPr>
          <a:xfrm>
            <a:off x="738554" y="2925085"/>
            <a:ext cx="1420836" cy="0"/>
          </a:xfrm>
          <a:prstGeom prst="straightConnector1">
            <a:avLst/>
          </a:prstGeom>
          <a:ln w="1174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9138075-16C0-197F-8430-4D43C0040505}"/>
              </a:ext>
            </a:extLst>
          </p:cNvPr>
          <p:cNvCxnSpPr>
            <a:cxnSpLocks/>
          </p:cNvCxnSpPr>
          <p:nvPr/>
        </p:nvCxnSpPr>
        <p:spPr>
          <a:xfrm>
            <a:off x="2765474" y="4037605"/>
            <a:ext cx="1420836" cy="0"/>
          </a:xfrm>
          <a:prstGeom prst="straightConnector1">
            <a:avLst/>
          </a:prstGeom>
          <a:ln w="1174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D32AD1-AAF4-7BA7-3D1D-34E8D530AE6C}"/>
              </a:ext>
            </a:extLst>
          </p:cNvPr>
          <p:cNvCxnSpPr>
            <a:cxnSpLocks/>
          </p:cNvCxnSpPr>
          <p:nvPr/>
        </p:nvCxnSpPr>
        <p:spPr>
          <a:xfrm flipH="1">
            <a:off x="8254966" y="4037605"/>
            <a:ext cx="1352844" cy="0"/>
          </a:xfrm>
          <a:prstGeom prst="straightConnector1">
            <a:avLst/>
          </a:prstGeom>
          <a:ln w="1174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08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66E5AD4-4714-6829-2B0B-4CF3DDB6E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27FE5-87E2-4E29-9EBD-69DA1D0D9317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34A584-EACD-0D3E-C8B6-34671C82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BD7ED9E-F7B1-0090-B4C4-CE3D8C8EE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100" y="179247"/>
            <a:ext cx="10009749" cy="988219"/>
          </a:xfrm>
        </p:spPr>
        <p:txBody>
          <a:bodyPr/>
          <a:lstStyle/>
          <a:p>
            <a:pPr algn="ctr"/>
            <a:r>
              <a:rPr lang="pt-BR" b="1" i="1" dirty="0"/>
              <a:t>Bibliografia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DFAB08-3DBB-E8B4-877C-936BA6AB82CF}"/>
              </a:ext>
            </a:extLst>
          </p:cNvPr>
          <p:cNvSpPr txBox="1"/>
          <p:nvPr/>
        </p:nvSpPr>
        <p:spPr>
          <a:xfrm>
            <a:off x="81492" y="1244401"/>
            <a:ext cx="1187135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</a:rPr>
              <a:t>PensePython2e – Tradução do livro Pense em Python (2ª ed.), de Allen B. Downey. Disponível em: </a:t>
            </a:r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  <a:hlinkClick r:id="rId2"/>
              </a:rPr>
              <a:t>https://penseallen.github.io/PensePython2e/</a:t>
            </a:r>
            <a:endParaRPr lang="pt-BR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opensans"/>
            </a:endParaRPr>
          </a:p>
          <a:p>
            <a:pPr algn="l"/>
            <a:endParaRPr lang="pt-BR" sz="2400" b="1" dirty="0">
              <a:latin typeface="PalatinoLinotype-Roman"/>
            </a:endParaRPr>
          </a:p>
          <a:p>
            <a:pPr marL="266700" indent="-266700" algn="l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opensans"/>
              </a:rPr>
              <a:t>Python. Disponível em: </a:t>
            </a:r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  <a:hlinkClick r:id="rId3"/>
              </a:rPr>
              <a:t>https://www.python.org/</a:t>
            </a:r>
            <a:endParaRPr lang="pt-BR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open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t-BR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opensans"/>
            </a:endParaRPr>
          </a:p>
          <a:p>
            <a:pPr marL="266700" indent="-266700" algn="l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</a:rPr>
              <a:t>Python e Orientação a Objetos. Disponível em: </a:t>
            </a:r>
          </a:p>
          <a:p>
            <a:pPr marL="361950" indent="-93663" algn="l"/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  <a:hlinkClick r:id="rId4"/>
              </a:rPr>
              <a:t>https://www.caelum.com.br/apostila-python-orientacao-a-objetos</a:t>
            </a:r>
            <a:endParaRPr lang="pt-BR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opensans"/>
            </a:endParaRPr>
          </a:p>
          <a:p>
            <a:pPr marL="5829300" indent="-5829300" algn="l"/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</a:rPr>
              <a:t> </a:t>
            </a:r>
          </a:p>
          <a:p>
            <a:pPr marL="266700" indent="-266700" algn="l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</a:rPr>
              <a:t>Python </a:t>
            </a:r>
            <a:r>
              <a:rPr lang="pt-BR" sz="24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</a:rPr>
              <a:t>Reference</a:t>
            </a:r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</a:rPr>
              <a:t> (The Right Way). Disponível em: </a:t>
            </a:r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  <a:hlinkClick r:id="rId5"/>
              </a:rPr>
              <a:t>https://pythonreference.readthedocs.io/en/latest/</a:t>
            </a:r>
            <a:endParaRPr lang="pt-BR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opensans"/>
            </a:endParaRPr>
          </a:p>
          <a:p>
            <a:pPr algn="l"/>
            <a:endParaRPr lang="pt-BR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open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</a:rPr>
              <a:t>   Python Tutorial. Disponível em:  </a:t>
            </a:r>
            <a:r>
              <a:rPr lang="pt-BR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sans"/>
                <a:hlinkClick r:id="rId6"/>
              </a:rPr>
              <a:t>https://www.w3schools.com/python/</a:t>
            </a:r>
            <a:endParaRPr lang="pt-BR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open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open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opensans"/>
              </a:rPr>
              <a:t>Introdução a Python em S.O.:  </a:t>
            </a:r>
            <a:r>
              <a:rPr lang="pt-BR" b="1" u="sng" dirty="0">
                <a:hlinkClick r:id="rId7"/>
              </a:rPr>
              <a:t>EBOOK - INTRODUÇÃO A PYTHON (EDITORA IFRN).pdf (4.472Mb)</a:t>
            </a:r>
            <a:endParaRPr lang="pt-BR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opensan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7E26CFD-1675-C113-CD34-4F88CAEC11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879975"/>
            <a:ext cx="1066800" cy="1476375"/>
          </a:xfrm>
          <a:prstGeom prst="rect">
            <a:avLst/>
          </a:prstGeom>
        </p:spPr>
      </p:pic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200506C-365A-7A59-8137-E236052B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964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EFA030-B7AC-695C-D9CD-DB5AAB7F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E72D-F8BA-44FA-B9CB-440DFCEC962F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C409990-9710-3B4C-5D2C-A64117D5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6AC442-DC37-52E3-0FFB-5ED9FB7B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A281449-078E-271B-8626-841AC5944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733934" cy="988219"/>
          </a:xfrm>
        </p:spPr>
        <p:txBody>
          <a:bodyPr/>
          <a:lstStyle/>
          <a:p>
            <a:pPr algn="ctr"/>
            <a:r>
              <a:rPr lang="pt-BR" b="1" i="1" dirty="0"/>
              <a:t>Múltiplo Propósito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F315E8D-AE4C-FFDF-1CC6-CD2C7BDC349F}"/>
              </a:ext>
            </a:extLst>
          </p:cNvPr>
          <p:cNvSpPr txBox="1"/>
          <p:nvPr/>
        </p:nvSpPr>
        <p:spPr>
          <a:xfrm>
            <a:off x="441960" y="1554480"/>
            <a:ext cx="111360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  <a:latin typeface="Inter" panose="020B0502030000000004" pitchFamily="34" charset="0"/>
              </a:rPr>
              <a:t>O Python é utilizado para desenvolvimento de software, análise de dados, </a:t>
            </a:r>
            <a:r>
              <a:rPr lang="pt-BR" sz="3200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Inter" panose="020B05020300000000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inteligência artificial</a:t>
            </a:r>
            <a:r>
              <a:rPr lang="pt-BR" sz="3200" b="0" i="0" dirty="0">
                <a:effectLst/>
                <a:latin typeface="Inter" panose="020B0502030000000004" pitchFamily="34" charset="0"/>
              </a:rPr>
              <a:t>, automação de tarefas, criação de aplicativos web e daí por diante.</a:t>
            </a:r>
          </a:p>
          <a:p>
            <a:pPr algn="l"/>
            <a:endParaRPr lang="pt-BR" sz="3200" b="0" i="0" dirty="0">
              <a:effectLst/>
              <a:latin typeface="Inter" panose="020B05020300000000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200" b="0" i="0" dirty="0">
                <a:effectLst/>
                <a:latin typeface="Inter" panose="020B0502030000000004" pitchFamily="34" charset="0"/>
              </a:rPr>
              <a:t>Ele também possui uma vasta biblioteca padrão e uma comunidade ativa de pessoas desenvolvedoras, o que facilita encontrar soluções e recursos para diferentes projetos.</a:t>
            </a:r>
          </a:p>
        </p:txBody>
      </p:sp>
    </p:spTree>
    <p:extLst>
      <p:ext uri="{BB962C8B-B14F-4D97-AF65-F5344CB8AC3E}">
        <p14:creationId xmlns:p14="http://schemas.microsoft.com/office/powerpoint/2010/main" val="3947508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19511AD-DA64-3208-3E84-566ACAD1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D1044-4351-4B65-9A88-63290AF91B03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E104826-A0AD-DE52-B1B7-F39F5C2D0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358634-B2F4-21BC-7FC9-40E6A8BF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12</a:t>
            </a:fld>
            <a:endParaRPr lang="pt-BR" b="1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0273532C-8D1F-FB43-16A4-57DCB93D7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380" y="769571"/>
            <a:ext cx="3935618" cy="3828516"/>
          </a:xfrm>
          <a:prstGeom prst="rect">
            <a:avLst/>
          </a:prstGeom>
          <a:solidFill>
            <a:srgbClr val="FFDE75"/>
          </a:solidFill>
          <a:effectLst>
            <a:outerShdw blurRad="50800" dist="50800" dir="5400000" algn="ctr" rotWithShape="0">
              <a:srgbClr val="376D9C"/>
            </a:outerShdw>
          </a:effec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DE30B26-CDE8-EC99-0823-F03A574B5B1E}"/>
              </a:ext>
            </a:extLst>
          </p:cNvPr>
          <p:cNvSpPr/>
          <p:nvPr/>
        </p:nvSpPr>
        <p:spPr>
          <a:xfrm>
            <a:off x="4512702" y="4922984"/>
            <a:ext cx="3917393" cy="92333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</a:rPr>
              <a:t>O</a:t>
            </a:r>
            <a:r>
              <a:rPr lang="pt-B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pt-BR" sz="5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</a:rPr>
              <a:t>Py</a:t>
            </a:r>
            <a:r>
              <a:rPr lang="pt-B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pt-B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</a:rPr>
              <a:t>tá</a:t>
            </a:r>
            <a:r>
              <a:rPr lang="pt-B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pt-BR" sz="5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</a:rPr>
              <a:t>on</a:t>
            </a:r>
            <a:r>
              <a:rPr lang="pt-B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pt-B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</a:rPr>
              <a:t>!</a:t>
            </a:r>
            <a:endParaRPr lang="pt-BR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2">
                  <a:lumMod val="50000"/>
                  <a:lumOff val="50000"/>
                </a:schemeClr>
              </a:solidFill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F203B506-B976-FACD-7E2E-B3EB6D0BC522}"/>
                  </a:ext>
                </a:extLst>
              </p14:cNvPr>
              <p14:cNvContentPartPr/>
              <p14:nvPr/>
            </p14:nvContentPartPr>
            <p14:xfrm>
              <a:off x="8498998" y="1618796"/>
              <a:ext cx="360" cy="36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F203B506-B976-FACD-7E2E-B3EB6D0BC5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90358" y="160979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FD286A9-ECE0-13B6-ED0E-440533955B51}"/>
              </a:ext>
            </a:extLst>
          </p:cNvPr>
          <p:cNvGrpSpPr/>
          <p:nvPr/>
        </p:nvGrpSpPr>
        <p:grpSpPr>
          <a:xfrm>
            <a:off x="8394238" y="1558676"/>
            <a:ext cx="360" cy="360"/>
            <a:chOff x="8394238" y="1558676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005A4B2B-C67E-5279-3F12-C837E0519D51}"/>
                    </a:ext>
                  </a:extLst>
                </p14:cNvPr>
                <p14:cNvContentPartPr/>
                <p14:nvPr/>
              </p14:nvContentPartPr>
              <p14:xfrm>
                <a:off x="8394238" y="1558676"/>
                <a:ext cx="360" cy="36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005A4B2B-C67E-5279-3F12-C837E0519D5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85598" y="15496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133E4F91-F909-5376-7C73-9907D99D9B1A}"/>
                    </a:ext>
                  </a:extLst>
                </p14:cNvPr>
                <p14:cNvContentPartPr/>
                <p14:nvPr/>
              </p14:nvContentPartPr>
              <p14:xfrm>
                <a:off x="8394238" y="1558676"/>
                <a:ext cx="360" cy="36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133E4F91-F909-5376-7C73-9907D99D9B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85598" y="15496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6" name="Imagem 35">
            <a:extLst>
              <a:ext uri="{FF2B5EF4-FFF2-40B4-BE49-F238E27FC236}">
                <a16:creationId xmlns:a16="http://schemas.microsoft.com/office/drawing/2014/main" id="{276AA11B-4026-D686-39DD-B157B7DBB8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CrisscrossEtching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785977" y="1011686"/>
            <a:ext cx="1490423" cy="524796"/>
          </a:xfrm>
          <a:prstGeom prst="rect">
            <a:avLst/>
          </a:prstGeom>
          <a:effectLst>
            <a:glow rad="127000">
              <a:srgbClr val="376D9C"/>
            </a:glow>
            <a:outerShdw blurRad="50800" dist="50800" dir="5400000" algn="ctr" rotWithShape="0">
              <a:schemeClr val="accent4">
                <a:lumMod val="75000"/>
              </a:schemeClr>
            </a:outerShdw>
          </a:effectLst>
        </p:spPr>
      </p:pic>
      <p:pic>
        <p:nvPicPr>
          <p:cNvPr id="39" name="Imagem 38" descr="Tela de jogo de vídeo game&#10;&#10;O conteúdo gerado por IA pode estar incorreto.">
            <a:extLst>
              <a:ext uri="{FF2B5EF4-FFF2-40B4-BE49-F238E27FC236}">
                <a16:creationId xmlns:a16="http://schemas.microsoft.com/office/drawing/2014/main" id="{8E598CEA-BC99-A2FF-129C-855EE28F4D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5766780" y="3773072"/>
            <a:ext cx="1490423" cy="582875"/>
          </a:xfrm>
          <a:prstGeom prst="rect">
            <a:avLst/>
          </a:prstGeom>
          <a:noFill/>
          <a:ln>
            <a:solidFill>
              <a:srgbClr val="FED847"/>
            </a:solidFill>
          </a:ln>
          <a:effectLst>
            <a:glow rad="127000">
              <a:srgbClr val="FFDE75"/>
            </a:glow>
          </a:effectLst>
        </p:spPr>
      </p:pic>
    </p:spTree>
    <p:extLst>
      <p:ext uri="{BB962C8B-B14F-4D97-AF65-F5344CB8AC3E}">
        <p14:creationId xmlns:p14="http://schemas.microsoft.com/office/powerpoint/2010/main" val="15501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54057-358E-4A87-A298-2E0B3B6A6F04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    </a:t>
            </a:r>
            <a:r>
              <a:rPr lang="pt-BR" b="1" i="1" dirty="0"/>
              <a:t>Ementa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D8675E-C969-7206-1CE2-4CB7953CF3C4}"/>
              </a:ext>
            </a:extLst>
          </p:cNvPr>
          <p:cNvSpPr txBox="1"/>
          <p:nvPr/>
        </p:nvSpPr>
        <p:spPr>
          <a:xfrm>
            <a:off x="86751" y="1239040"/>
            <a:ext cx="611592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Breve histórico sobre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Conceito de programação estruturada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Definição de algoritmos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Propriedades de um algoritmo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Tipos de dados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Tipos de expressões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Conceito de variável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Formatação de identificadores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Operação de Atribuição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Comandos de entrada e saída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Estruturas de seleção ou condicional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Uso de Bibliotecas e suas Funções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5A042E2-407D-50F2-D179-06C36C054248}"/>
              </a:ext>
            </a:extLst>
          </p:cNvPr>
          <p:cNvSpPr txBox="1"/>
          <p:nvPr/>
        </p:nvSpPr>
        <p:spPr>
          <a:xfrm>
            <a:off x="6135594" y="1239040"/>
            <a:ext cx="599544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Estruturas de seleção ou condicional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Estruturas de repetição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Listas – Vetor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Listas de listas – Matriz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endParaRPr lang="pt-BR" sz="2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Tuplas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Dicionários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Função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Recursão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Arquivos (Texto e Binário)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Aplicações com Telas Gráficas com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3075506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921F73-7603-DF51-2CC5-0C53B6E39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B14B-D39D-494D-A459-2F8B34D93D1C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F16D7D-167A-EF2C-10B4-33602BD2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1846B8-94DD-0F9A-8205-91CB95BE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E1ABA33-CBF5-162A-328C-0F7B30B9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1" y="301625"/>
            <a:ext cx="11543069" cy="988219"/>
          </a:xfrm>
        </p:spPr>
        <p:txBody>
          <a:bodyPr/>
          <a:lstStyle/>
          <a:p>
            <a:r>
              <a:rPr lang="pt-BR" b="1" dirty="0"/>
              <a:t>                     </a:t>
            </a:r>
            <a:r>
              <a:rPr lang="pt-BR" b="1" i="1" dirty="0"/>
              <a:t>Breve Histórico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B3A75D0-2E98-F9B0-8B5A-521993D160D5}"/>
              </a:ext>
            </a:extLst>
          </p:cNvPr>
          <p:cNvSpPr txBox="1"/>
          <p:nvPr/>
        </p:nvSpPr>
        <p:spPr>
          <a:xfrm>
            <a:off x="239151" y="1411933"/>
            <a:ext cx="812662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Python foi criada, em 1990, por Guido Van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Rossum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no Centro de Matemática Stichting. </a:t>
            </a:r>
            <a:r>
              <a:rPr lang="pt-BR" sz="2000" b="0" i="0" u="none" strike="noStrike" baseline="0" dirty="0">
                <a:latin typeface="PalatinoLinotype-Roman"/>
              </a:rPr>
              <a:t>tinha como foco original usuários como físicos e engenheiros.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Python foi concebido a partir de outra linguagem existente na época, chamada ABC.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Python é uma linguagem de altíssimo nível.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Python é uma linguagem orientada a objeto, porém permite que seja programado de forma procedural (objetivo do curso).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nome Python surgiu de um programa chamado: Monty Python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Circus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Filmes: </a:t>
            </a:r>
            <a:r>
              <a:rPr lang="pt-BR" sz="2000" b="0" i="1" u="none" strike="noStrike" dirty="0">
                <a:solidFill>
                  <a:srgbClr val="202122"/>
                </a:solidFill>
                <a:effectLst/>
                <a:latin typeface="Arial" panose="020B0604020202020204"/>
                <a:hlinkClick r:id="rId2" tooltip="Life of Brian"/>
              </a:rPr>
              <a:t>A Vida de Brian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b="0" i="1" u="sng" dirty="0">
                <a:solidFill>
                  <a:srgbClr val="202122"/>
                </a:solidFill>
                <a:effectLst/>
                <a:latin typeface="Arial" panose="020B0604020202020204"/>
                <a:hlinkClick r:id="rId3"/>
              </a:rPr>
              <a:t>O Sentido da Vida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2000" b="0" i="1" u="none" strike="noStrike" dirty="0">
                <a:solidFill>
                  <a:srgbClr val="202122"/>
                </a:solidFill>
                <a:effectLst/>
                <a:latin typeface="Arial" panose="020B0604020202020204"/>
                <a:hlinkClick r:id="rId4" tooltip="Monty Python and the Holy Grail"/>
              </a:rPr>
              <a:t>Em Busca do Cálice Sagrado</a:t>
            </a:r>
            <a:r>
              <a:rPr lang="pt-BR" sz="2000" i="1" dirty="0">
                <a:solidFill>
                  <a:srgbClr val="202122"/>
                </a:solidFill>
                <a:latin typeface="Arial" panose="020B0604020202020204"/>
              </a:rPr>
              <a:t>, (Puro humor inglês)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4B3FA6-83A3-E805-A3D9-199631A10EAD}"/>
              </a:ext>
            </a:extLst>
          </p:cNvPr>
          <p:cNvSpPr txBox="1"/>
          <p:nvPr/>
        </p:nvSpPr>
        <p:spPr>
          <a:xfrm>
            <a:off x="239151" y="5635572"/>
            <a:ext cx="693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PalatinoLinotype-Roman"/>
              </a:rPr>
              <a:t>Página oficial: </a:t>
            </a:r>
            <a:r>
              <a:rPr lang="pt-BR" sz="1800" b="0" i="0" u="none" strike="noStrike" baseline="0" dirty="0">
                <a:solidFill>
                  <a:srgbClr val="004587"/>
                </a:solidFill>
                <a:latin typeface="PalatinoLinotype-Roman"/>
                <a:hlinkClick r:id="rId5"/>
              </a:rPr>
              <a:t>http://www.python.org/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PalatinoLinotype-Roman"/>
              </a:rPr>
              <a:t>.</a:t>
            </a:r>
          </a:p>
          <a:p>
            <a:pPr algn="l"/>
            <a:r>
              <a:rPr lang="pt-BR" sz="1800" b="0" i="0" u="none" strike="noStrike" baseline="0" dirty="0">
                <a:solidFill>
                  <a:srgbClr val="000000"/>
                </a:solidFill>
                <a:latin typeface="PalatinoLinotype-Roman"/>
              </a:rPr>
              <a:t>2.   Endereço na internet da PSF: </a:t>
            </a:r>
            <a:r>
              <a:rPr lang="pt-BR" sz="1800" b="0" i="0" u="none" strike="noStrike" baseline="0" dirty="0">
                <a:solidFill>
                  <a:srgbClr val="004587"/>
                </a:solidFill>
                <a:latin typeface="PalatinoLinotype-Roman"/>
              </a:rPr>
              <a:t>http://www.python.org/</a:t>
            </a:r>
            <a:r>
              <a:rPr lang="pt-BR" sz="1800" b="0" i="0" u="none" strike="noStrike" baseline="0" dirty="0" err="1">
                <a:solidFill>
                  <a:srgbClr val="004587"/>
                </a:solidFill>
                <a:latin typeface="PalatinoLinotype-Roman"/>
              </a:rPr>
              <a:t>psf</a:t>
            </a:r>
            <a:r>
              <a:rPr lang="pt-BR" sz="1800" b="0" i="0" u="none" strike="noStrike" baseline="0" dirty="0">
                <a:solidFill>
                  <a:srgbClr val="004587"/>
                </a:solidFill>
                <a:latin typeface="PalatinoLinotype-Roman"/>
              </a:rPr>
              <a:t>/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PalatinoLinotype-Roman"/>
              </a:rPr>
              <a:t>.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A097804-D22A-FADE-EE36-D4C6A289DA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2939" y="1604850"/>
            <a:ext cx="3587069" cy="4473262"/>
          </a:xfrm>
          <a:prstGeom prst="rect">
            <a:avLst/>
          </a:prstGeom>
        </p:spPr>
      </p:pic>
      <p:sp>
        <p:nvSpPr>
          <p:cNvPr id="6" name="Balão de Pensamento: Nuvem 5">
            <a:extLst>
              <a:ext uri="{FF2B5EF4-FFF2-40B4-BE49-F238E27FC236}">
                <a16:creationId xmlns:a16="http://schemas.microsoft.com/office/drawing/2014/main" id="{AE9AC5DE-B1BB-3503-381F-5C575FE136D6}"/>
              </a:ext>
            </a:extLst>
          </p:cNvPr>
          <p:cNvSpPr/>
          <p:nvPr/>
        </p:nvSpPr>
        <p:spPr>
          <a:xfrm>
            <a:off x="7574280" y="301626"/>
            <a:ext cx="1812579" cy="1229292"/>
          </a:xfrm>
          <a:prstGeom prst="cloudCallout">
            <a:avLst>
              <a:gd name="adj1" fmla="val 47834"/>
              <a:gd name="adj2" fmla="val 131632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i="1" dirty="0">
                <a:solidFill>
                  <a:srgbClr val="FF0000"/>
                </a:solidFill>
              </a:rPr>
              <a:t>Só bebo Brahma</a:t>
            </a:r>
          </a:p>
        </p:txBody>
      </p:sp>
    </p:spTree>
    <p:extLst>
      <p:ext uri="{BB962C8B-B14F-4D97-AF65-F5344CB8AC3E}">
        <p14:creationId xmlns:p14="http://schemas.microsoft.com/office/powerpoint/2010/main" val="293442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82F11A-B86B-1177-957D-1307EFA8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C806-9077-44B6-B567-FE06D5AEC0DB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7C787C5-61B3-FEAD-0A18-11C75DAA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261A0B-A0E4-8B01-B037-4F4BF3E1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F1FA7F4-5B96-9F92-DBC6-55EA3506C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1" y="288925"/>
            <a:ext cx="11713699" cy="988219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                </a:t>
            </a:r>
            <a:r>
              <a:rPr lang="pt-BR" sz="4000" b="1" i="1" dirty="0"/>
              <a:t>Ambiente Integral de Desenvolvimento - IDE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716D64-0CE8-6314-CE19-44014FA7EF6F}"/>
              </a:ext>
            </a:extLst>
          </p:cNvPr>
          <p:cNvSpPr txBox="1"/>
          <p:nvPr/>
        </p:nvSpPr>
        <p:spPr>
          <a:xfrm>
            <a:off x="1448971" y="1879600"/>
            <a:ext cx="909710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</a:t>
            </a:r>
            <a:r>
              <a:rPr lang="pt-BR" sz="24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 (Ambiente Integral de Desenvolvimento)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usar ?</a:t>
            </a:r>
          </a:p>
          <a:p>
            <a:pPr algn="l"/>
            <a:endParaRPr lang="pt-BR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quem vem do MATLAB ou R, </a:t>
            </a:r>
            <a:r>
              <a:rPr lang="pt-BR" sz="2400" b="1" i="0" u="none" strike="noStrike" baseline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Spyder</a:t>
            </a:r>
            <a:r>
              <a:rPr lang="pt-BR" sz="2400" b="0" i="0" u="none" strike="noStrike" baseline="0" dirty="0">
                <a:solidFill>
                  <a:srgbClr val="00B1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 ser muito útil.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https://www.spyder-ide.org/</a:t>
            </a:r>
            <a:endParaRPr lang="pt-BR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400" b="1" i="0" u="none" strike="noStrike" baseline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Pycharm</a:t>
            </a:r>
            <a:r>
              <a:rPr lang="pt-BR" sz="2400" b="0" i="0" u="none" strike="noStrike" baseline="0" dirty="0">
                <a:solidFill>
                  <a:srgbClr val="00B1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outro IDE muito utilizado na comunidade.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563C2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https://www.jetbrains.com/pycharm/</a:t>
            </a:r>
            <a:endParaRPr lang="pt-BR" sz="2400" b="0" i="0" u="none" strike="noStrike" baseline="0" dirty="0">
              <a:solidFill>
                <a:srgbClr val="0563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2400" b="0" i="0" u="none" strike="noStrike" baseline="0" dirty="0">
              <a:solidFill>
                <a:srgbClr val="0563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pt-BR" sz="24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curso</a:t>
            </a:r>
            <a:r>
              <a:rPr lang="pt-BR" sz="2400" b="0" i="0" u="none" strike="noStrike" baseline="0" dirty="0">
                <a:solidFill>
                  <a:srgbClr val="00B1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será utilizado o </a:t>
            </a:r>
            <a:r>
              <a:rPr lang="pt-BR" sz="2400" b="1" i="0" u="none" strike="noStrike" baseline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Spyder</a:t>
            </a:r>
            <a:endParaRPr lang="pt-BR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245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AF2DC0A-4FCD-A347-752C-2350753F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C0D5-954A-4321-9879-3ACB1F81B5F0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C2B8EB3-6DE6-5E46-550A-398F5EC3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27C866-5C55-C3D2-3281-6A96D931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A24FCD2-C0D7-298D-B960-45B41D35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Programação Estruturada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A5C3FEA-1CF9-1AEE-64F9-B63A6CB912C3}"/>
              </a:ext>
            </a:extLst>
          </p:cNvPr>
          <p:cNvSpPr txBox="1"/>
          <p:nvPr/>
        </p:nvSpPr>
        <p:spPr>
          <a:xfrm>
            <a:off x="533400" y="3149600"/>
            <a:ext cx="1308100" cy="4001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Problema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E91E7C-0BF8-7905-A7D5-606361B378C8}"/>
              </a:ext>
            </a:extLst>
          </p:cNvPr>
          <p:cNvSpPr txBox="1"/>
          <p:nvPr/>
        </p:nvSpPr>
        <p:spPr>
          <a:xfrm>
            <a:off x="3197860" y="1857829"/>
            <a:ext cx="5763260" cy="4001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Calcular a média de todos os alunos da turma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479A2F6-E8E8-40CB-1F04-67CA2E137D00}"/>
              </a:ext>
            </a:extLst>
          </p:cNvPr>
          <p:cNvSpPr txBox="1"/>
          <p:nvPr/>
        </p:nvSpPr>
        <p:spPr>
          <a:xfrm>
            <a:off x="4397829" y="3033486"/>
            <a:ext cx="2540000" cy="70788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Descrição da Solução ( </a:t>
            </a:r>
            <a:r>
              <a:rPr lang="pt-BR" sz="2000" b="1" dirty="0" err="1">
                <a:solidFill>
                  <a:schemeClr val="bg1"/>
                </a:solidFill>
              </a:rPr>
              <a:t>Algorítmo</a:t>
            </a:r>
            <a:r>
              <a:rPr lang="pt-BR" sz="20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464712E-FD2D-1C10-4CC3-ED9415067CA6}"/>
              </a:ext>
            </a:extLst>
          </p:cNvPr>
          <p:cNvSpPr txBox="1"/>
          <p:nvPr/>
        </p:nvSpPr>
        <p:spPr>
          <a:xfrm>
            <a:off x="5620769" y="4134437"/>
            <a:ext cx="54587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Obter número de alunos da turma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Obter nota de cada aluno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Somar todas as notas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Dividir a soma de todas as notas pelo  número de alunos da turma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AEBC5B1-1E2A-CEEF-1145-BD4337DD790E}"/>
              </a:ext>
            </a:extLst>
          </p:cNvPr>
          <p:cNvCxnSpPr>
            <a:cxnSpLocks/>
          </p:cNvCxnSpPr>
          <p:nvPr/>
        </p:nvCxnSpPr>
        <p:spPr>
          <a:xfrm flipV="1">
            <a:off x="1088571" y="2072640"/>
            <a:ext cx="1989909" cy="960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480EC78-7240-2F2C-BA8C-B276F4911F7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841500" y="3349655"/>
            <a:ext cx="25563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3D1C4ECC-D520-32C0-2122-84D8C14BC8A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5667829" y="3741372"/>
            <a:ext cx="1449251" cy="393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80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3E5D46F-46AA-DF00-1219-C9BA78F2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77D4-C8D6-4468-8961-84B9ACD5F8BB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42A38D-BFAC-DF1B-19A6-968F33EE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68B9B1-EE49-FD61-8F9E-A0878F2A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64D728A-FD51-D1F0-D313-FB143C54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Programação Estruturada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4B7C86-762E-F1D1-2C60-C88D5F5642F9}"/>
              </a:ext>
            </a:extLst>
          </p:cNvPr>
          <p:cNvSpPr txBox="1"/>
          <p:nvPr/>
        </p:nvSpPr>
        <p:spPr>
          <a:xfrm>
            <a:off x="382529" y="3753514"/>
            <a:ext cx="1308100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Problema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39274EF-739C-4917-EBF8-DEC024D9AA47}"/>
              </a:ext>
            </a:extLst>
          </p:cNvPr>
          <p:cNvSpPr txBox="1"/>
          <p:nvPr/>
        </p:nvSpPr>
        <p:spPr>
          <a:xfrm>
            <a:off x="2308683" y="3476515"/>
            <a:ext cx="1785257" cy="9233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Descrição da Solução 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 ( </a:t>
            </a:r>
            <a:r>
              <a:rPr lang="pt-BR" b="1" dirty="0" err="1">
                <a:solidFill>
                  <a:schemeClr val="bg1"/>
                </a:solidFill>
              </a:rPr>
              <a:t>Algorítmo</a:t>
            </a:r>
            <a:r>
              <a:rPr lang="pt-BR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21C0AC-19F5-61D9-8120-824A7C3D9FE7}"/>
              </a:ext>
            </a:extLst>
          </p:cNvPr>
          <p:cNvSpPr txBox="1"/>
          <p:nvPr/>
        </p:nvSpPr>
        <p:spPr>
          <a:xfrm>
            <a:off x="5139873" y="3512333"/>
            <a:ext cx="1912252" cy="9233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Linguagem de Alto Nível (Programa fonte)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1C78274-CA96-50AD-C0F5-FF4344C3AC8E}"/>
              </a:ext>
            </a:extLst>
          </p:cNvPr>
          <p:cNvSpPr txBox="1"/>
          <p:nvPr/>
        </p:nvSpPr>
        <p:spPr>
          <a:xfrm>
            <a:off x="7854950" y="3235334"/>
            <a:ext cx="1912252" cy="14773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Linguagem de Máquina (Programa Compilado ou traduzido)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E289C64-9243-2BF6-C30F-05D1872037AD}"/>
              </a:ext>
            </a:extLst>
          </p:cNvPr>
          <p:cNvSpPr txBox="1"/>
          <p:nvPr/>
        </p:nvSpPr>
        <p:spPr>
          <a:xfrm>
            <a:off x="10425429" y="3753514"/>
            <a:ext cx="1527419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Resultados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82562E7-8B04-73F5-492E-FC803E32E3DC}"/>
              </a:ext>
            </a:extLst>
          </p:cNvPr>
          <p:cNvSpPr txBox="1"/>
          <p:nvPr/>
        </p:nvSpPr>
        <p:spPr>
          <a:xfrm>
            <a:off x="7505701" y="1586449"/>
            <a:ext cx="2676070" cy="120032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Python não Compila o  Programa fonte !!!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F7F3D35-94F0-9C53-AE9F-9B11852546F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690629" y="3938180"/>
            <a:ext cx="618054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876EDD14-BA35-BDFE-3460-C724B63BB86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093940" y="3938180"/>
            <a:ext cx="1045933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1DDBAE7C-3FD9-0F3B-E99D-2A04F5ABABD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052125" y="3973998"/>
            <a:ext cx="802825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201741AF-62E1-9B90-D985-9FC18C011D2B}"/>
              </a:ext>
            </a:extLst>
          </p:cNvPr>
          <p:cNvCxnSpPr>
            <a:stCxn id="9" idx="3"/>
          </p:cNvCxnSpPr>
          <p:nvPr/>
        </p:nvCxnSpPr>
        <p:spPr>
          <a:xfrm>
            <a:off x="9767202" y="3973998"/>
            <a:ext cx="658227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C82D809-F94F-1DF7-3F41-6FD9FADBF7DA}"/>
              </a:ext>
            </a:extLst>
          </p:cNvPr>
          <p:cNvSpPr txBox="1"/>
          <p:nvPr/>
        </p:nvSpPr>
        <p:spPr>
          <a:xfrm>
            <a:off x="1127457" y="5204947"/>
            <a:ext cx="995202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sz="2400" b="1" dirty="0"/>
              <a:t>A maioria das linguagens de programação compilam o programa fonte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24C7C5BF-64E8-700F-63D3-32B674CA3B2C}"/>
              </a:ext>
            </a:extLst>
          </p:cNvPr>
          <p:cNvCxnSpPr>
            <a:cxnSpLocks/>
          </p:cNvCxnSpPr>
          <p:nvPr/>
        </p:nvCxnSpPr>
        <p:spPr>
          <a:xfrm>
            <a:off x="8807082" y="2786778"/>
            <a:ext cx="0" cy="444102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73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C121DF-4AF7-423B-97E7-46FE55C8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A8220-BEE4-4B28-9D71-D6EDC05BD79C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581B0B-5DCE-9B4A-AE43-F184AA4E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3A3F16-ACEF-09F7-8502-77C40D0F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2431" y="6356350"/>
            <a:ext cx="87336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5284DAF-2DB5-B79D-F5C0-E216B734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Programação Estruturada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23453E-3970-D72B-F0B5-32E27B41296F}"/>
              </a:ext>
            </a:extLst>
          </p:cNvPr>
          <p:cNvSpPr txBox="1"/>
          <p:nvPr/>
        </p:nvSpPr>
        <p:spPr>
          <a:xfrm>
            <a:off x="1164101" y="2521059"/>
            <a:ext cx="99153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Python é uma linguagem interpretada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O interpretador Python  vai lendo o código fonte, traduzindo para linguagem de máquina e executando ao mesmo tempo.</a:t>
            </a:r>
          </a:p>
        </p:txBody>
      </p:sp>
    </p:spTree>
    <p:extLst>
      <p:ext uri="{BB962C8B-B14F-4D97-AF65-F5344CB8AC3E}">
        <p14:creationId xmlns:p14="http://schemas.microsoft.com/office/powerpoint/2010/main" val="4253265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C121DF-4AF7-423B-97E7-46FE55C8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4483-F5A2-4C1E-A198-37573F705C4B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581B0B-5DCE-9B4A-AE43-F184AA4E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3A3F16-ACEF-09F7-8502-77C40D0F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5284DAF-2DB5-B79D-F5C0-E216B734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Programação Estruturada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23453E-3970-D72B-F0B5-32E27B41296F}"/>
              </a:ext>
            </a:extLst>
          </p:cNvPr>
          <p:cNvSpPr txBox="1"/>
          <p:nvPr/>
        </p:nvSpPr>
        <p:spPr>
          <a:xfrm>
            <a:off x="1027610" y="1659285"/>
            <a:ext cx="100518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Filosofia da linguagem estruturada: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Dividir para conquistar </a:t>
            </a:r>
            <a:r>
              <a:rPr lang="pt-BR" sz="2800" dirty="0"/>
              <a:t>(Técnica de refinamentos sucessivos).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O problema inicial é dividido em subproblemas, que por sua vez, são divididos em problemas menores, e assim por diante.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Cada subdivisão é mais detalhada que a anterior.</a:t>
            </a:r>
          </a:p>
        </p:txBody>
      </p:sp>
    </p:spTree>
    <p:extLst>
      <p:ext uri="{BB962C8B-B14F-4D97-AF65-F5344CB8AC3E}">
        <p14:creationId xmlns:p14="http://schemas.microsoft.com/office/powerpoint/2010/main" val="2680522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4CAA14-B3CA-B5E5-7692-BE7EE1A3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D34A-C9F4-439A-9F36-AEC8CD8B99C6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713712-A0E2-A6D4-0085-3DAA6631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2DE717-31E7-78D0-2500-17FAE6F0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600B28A-9E7F-35B9-9598-1D16D753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780" y="203447"/>
            <a:ext cx="11543069" cy="988219"/>
          </a:xfrm>
        </p:spPr>
        <p:txBody>
          <a:bodyPr/>
          <a:lstStyle/>
          <a:p>
            <a:pPr algn="ctr"/>
            <a:r>
              <a:rPr lang="pt-BR" b="1" i="1" dirty="0"/>
              <a:t>Programação Estruturada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C78AC6-6F8B-D69A-1FFD-6AA03D496FCE}"/>
              </a:ext>
            </a:extLst>
          </p:cNvPr>
          <p:cNvSpPr txBox="1"/>
          <p:nvPr/>
        </p:nvSpPr>
        <p:spPr>
          <a:xfrm>
            <a:off x="7391" y="1206998"/>
            <a:ext cx="8179568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indent="-185738">
              <a:buFont typeface="Arial" panose="020B0604020202020204" pitchFamily="34" charset="0"/>
              <a:buChar char="•"/>
            </a:pPr>
            <a:r>
              <a:rPr lang="pt-BR" sz="2400" b="1" dirty="0"/>
              <a:t>Problema: </a:t>
            </a:r>
            <a:r>
              <a:rPr lang="pt-BR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Lâmpada Queimada</a:t>
            </a:r>
          </a:p>
          <a:p>
            <a:pPr marL="442913">
              <a:buFont typeface="+mj-lt"/>
              <a:buAutoNum type="arabicPeriod"/>
            </a:pPr>
            <a:r>
              <a:rPr lang="pt-BR" sz="2000" b="1" dirty="0">
                <a:solidFill>
                  <a:srgbClr val="FF0000"/>
                </a:solidFill>
              </a:rPr>
              <a:t>Retire a Lâmpada</a:t>
            </a:r>
          </a:p>
          <a:p>
            <a:pPr marL="442913"/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 Coloque a nova lâmpada</a:t>
            </a:r>
          </a:p>
          <a:p>
            <a:endParaRPr lang="pt-BR" sz="5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185738" indent="-185738">
              <a:buFont typeface="Arial" panose="020B0604020202020204" pitchFamily="34" charset="0"/>
              <a:buChar char="•"/>
            </a:pPr>
            <a:r>
              <a:rPr lang="pt-BR" sz="2400" b="1" dirty="0"/>
              <a:t>Subdivisão do problema inicial (Parte 1)</a:t>
            </a:r>
          </a:p>
          <a:p>
            <a:pPr marL="442913" lvl="1"/>
            <a:r>
              <a:rPr lang="pt-BR" sz="2000" b="1" dirty="0">
                <a:solidFill>
                  <a:srgbClr val="FF0000"/>
                </a:solidFill>
              </a:rPr>
              <a:t>1.1 Posicione a mesa embaixo da lâmpada</a:t>
            </a:r>
          </a:p>
          <a:p>
            <a:pPr marL="442913" lvl="1"/>
            <a:r>
              <a:rPr lang="pt-BR" sz="2000" b="1" dirty="0">
                <a:solidFill>
                  <a:srgbClr val="FF0000"/>
                </a:solidFill>
              </a:rPr>
              <a:t>1.2 Suba na mesa até alcançar a lâmpada</a:t>
            </a:r>
          </a:p>
          <a:p>
            <a:pPr marL="442913" lvl="1"/>
            <a:r>
              <a:rPr lang="pt-BR" sz="2000" b="1" dirty="0">
                <a:solidFill>
                  <a:srgbClr val="FF0000"/>
                </a:solidFill>
              </a:rPr>
              <a:t>1.3 Chame a rapaziada para girar a mesa</a:t>
            </a:r>
          </a:p>
          <a:p>
            <a:pPr marL="800100" lvl="1" indent="-357188"/>
            <a:r>
              <a:rPr lang="pt-BR" sz="2000" b="1" dirty="0">
                <a:solidFill>
                  <a:srgbClr val="FF0000"/>
                </a:solidFill>
              </a:rPr>
              <a:t>1.4 Peça para a rapaziada girar a mesa no sentido anti-horário até que a lâmpada se solte</a:t>
            </a:r>
          </a:p>
          <a:p>
            <a:pPr marL="536575" lvl="1"/>
            <a:endParaRPr lang="pt-BR" sz="500" b="1" dirty="0">
              <a:solidFill>
                <a:srgbClr val="FF0000"/>
              </a:solidFill>
            </a:endParaRPr>
          </a:p>
          <a:p>
            <a:pPr marL="185738" indent="-185738">
              <a:buFont typeface="Arial" panose="020B0604020202020204" pitchFamily="34" charset="0"/>
              <a:buChar char="•"/>
            </a:pPr>
            <a:r>
              <a:rPr lang="pt-BR" sz="2400" b="1" dirty="0"/>
              <a:t>Subdivisão do problema inicial (Parte 2)</a:t>
            </a:r>
          </a:p>
          <a:p>
            <a:pPr marL="442913"/>
            <a:r>
              <a:rPr lang="pt-BR" sz="2000" b="1" dirty="0">
                <a:solidFill>
                  <a:srgbClr val="FF0000"/>
                </a:solidFill>
              </a:rPr>
              <a:t>2.1 Pegue a nova lâmpada</a:t>
            </a:r>
          </a:p>
          <a:p>
            <a:pPr marL="442913"/>
            <a:r>
              <a:rPr lang="pt-BR" sz="2000" b="1" dirty="0">
                <a:solidFill>
                  <a:srgbClr val="FF0000"/>
                </a:solidFill>
              </a:rPr>
              <a:t>2.2 Posicione a nova lâmpada no bocal</a:t>
            </a:r>
          </a:p>
          <a:p>
            <a:pPr marL="800100" indent="-357188"/>
            <a:r>
              <a:rPr lang="pt-BR" sz="2000" b="1" dirty="0">
                <a:solidFill>
                  <a:srgbClr val="FF0000"/>
                </a:solidFill>
              </a:rPr>
              <a:t>2.3 Peça a rapaziada para girar a  mesa no sentido horário até que a lâmpada fique firme</a:t>
            </a:r>
          </a:p>
          <a:p>
            <a:pPr marL="442913"/>
            <a:r>
              <a:rPr lang="pt-BR" sz="2000" b="1" dirty="0">
                <a:solidFill>
                  <a:srgbClr val="FF0000"/>
                </a:solidFill>
              </a:rPr>
              <a:t>2.4 Desça da mesa</a:t>
            </a:r>
          </a:p>
          <a:p>
            <a:pPr marL="536575"/>
            <a:endParaRPr lang="pt-BR" sz="5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185738" indent="-185738">
              <a:buFont typeface="Arial" panose="020B0604020202020204" pitchFamily="34" charset="0"/>
              <a:buChar char="•"/>
            </a:pPr>
            <a:r>
              <a:rPr lang="pt-BR" sz="2400" b="1" dirty="0"/>
              <a:t>Subdivisão do problema inicial (Parte 3)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CE0E721A-F152-32E4-1F1A-FBE2D7ECF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385" y="1598272"/>
            <a:ext cx="3987568" cy="349928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4A2445FB-F4D2-F070-4795-85799A053760}"/>
              </a:ext>
            </a:extLst>
          </p:cNvPr>
          <p:cNvSpPr txBox="1"/>
          <p:nvPr/>
        </p:nvSpPr>
        <p:spPr>
          <a:xfrm>
            <a:off x="8335841" y="5259728"/>
            <a:ext cx="34227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2913" indent="-442913" algn="just"/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3.1 Pague uma rodada de cervejas e refrigerantes para a rapaziada.</a:t>
            </a:r>
          </a:p>
        </p:txBody>
      </p: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502F65EA-35C6-BB99-68E2-6FBC6880A997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5803100" y="5767560"/>
            <a:ext cx="2361285" cy="670007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ve Esquerda 23">
            <a:extLst>
              <a:ext uri="{FF2B5EF4-FFF2-40B4-BE49-F238E27FC236}">
                <a16:creationId xmlns:a16="http://schemas.microsoft.com/office/drawing/2014/main" id="{C7DCB63B-BE99-A1A6-57B8-2E06AFB9C62D}"/>
              </a:ext>
            </a:extLst>
          </p:cNvPr>
          <p:cNvSpPr/>
          <p:nvPr/>
        </p:nvSpPr>
        <p:spPr>
          <a:xfrm>
            <a:off x="8164385" y="5259728"/>
            <a:ext cx="350959" cy="101566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65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2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2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2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2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2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4CAA14-B3CA-B5E5-7692-BE7EE1A3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747C-30D0-4B3F-9E0A-B4867B2C9D4E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713712-A0E2-A6D4-0085-3DAA6631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2DE717-31E7-78D0-2500-17FAE6F0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600B28A-9E7F-35B9-9598-1D16D753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Algoritmo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C78AC6-6F8B-D69A-1FFD-6AA03D496FCE}"/>
              </a:ext>
            </a:extLst>
          </p:cNvPr>
          <p:cNvSpPr txBox="1"/>
          <p:nvPr/>
        </p:nvSpPr>
        <p:spPr>
          <a:xfrm>
            <a:off x="848164" y="1656566"/>
            <a:ext cx="10668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000000"/>
                </a:solidFill>
                <a:latin typeface="CIDFont+F2"/>
              </a:rPr>
              <a:t>No Dicionário: “Qualquer método utilizado para solução de um determinado problema”.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4000" dirty="0">
              <a:solidFill>
                <a:srgbClr val="000000"/>
              </a:solidFill>
              <a:latin typeface="CIDFont+F2"/>
            </a:endParaRPr>
          </a:p>
          <a:p>
            <a:pPr marL="261938" indent="-261938" algn="just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000000"/>
                </a:solidFill>
                <a:latin typeface="CIDFont+F2"/>
              </a:rPr>
              <a:t>Na ciência da Computação: Uma sequência ordenada e sem ambiguidade de passos que levam à solução de um problema.</a:t>
            </a:r>
          </a:p>
        </p:txBody>
      </p:sp>
    </p:spTree>
    <p:extLst>
      <p:ext uri="{BB962C8B-B14F-4D97-AF65-F5344CB8AC3E}">
        <p14:creationId xmlns:p14="http://schemas.microsoft.com/office/powerpoint/2010/main" val="414658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8634FF-6620-3068-AC9F-6786874D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3705-D667-4EAF-AE8F-7989AE8B8DAF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BEDEC6-5A92-81B6-4A35-38B9BC38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749B6-D896-C863-5CD9-41C2A2F7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481B89C-7A84-DEB2-E6D3-164FA0C8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Propriedade de um Algoritmo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EAC22A-F178-11A2-0778-BE1CEF5D700D}"/>
              </a:ext>
            </a:extLst>
          </p:cNvPr>
          <p:cNvSpPr txBox="1"/>
          <p:nvPr/>
        </p:nvSpPr>
        <p:spPr>
          <a:xfrm>
            <a:off x="841829" y="1559560"/>
            <a:ext cx="1008876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Cada </a:t>
            </a:r>
            <a:r>
              <a:rPr lang="pt-BR" sz="2800" b="0" i="0" u="none" strike="noStrike" baseline="0" dirty="0">
                <a:solidFill>
                  <a:srgbClr val="4472C5"/>
                </a:solidFill>
                <a:latin typeface="CIDFont+F2"/>
              </a:rPr>
              <a:t>operação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deve ser </a:t>
            </a:r>
            <a:r>
              <a:rPr lang="pt-BR" sz="2800" b="0" i="0" u="none" strike="noStrike" baseline="0" dirty="0">
                <a:solidFill>
                  <a:srgbClr val="4472C5"/>
                </a:solidFill>
                <a:latin typeface="CIDFont+F2"/>
              </a:rPr>
              <a:t>bem definida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(deve estar perfeitamente claro o que deve ser feito).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2800" b="0" i="0" u="none" strike="noStrike" baseline="0" dirty="0">
                <a:solidFill>
                  <a:srgbClr val="4472C5"/>
                </a:solidFill>
                <a:latin typeface="CIDFont+F2"/>
              </a:rPr>
              <a:t>Não ambíguo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2800" b="0" i="0" u="none" strike="noStrike" baseline="0" dirty="0">
                <a:solidFill>
                  <a:srgbClr val="4472C5"/>
                </a:solidFill>
                <a:latin typeface="CIDFont+F2"/>
              </a:rPr>
              <a:t>Eficaz: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consegue resolver o problema em qualquer situação. Todas as situações de exceção devem ser tratadas no algoritmo.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O algoritmo deve terminar após um </a:t>
            </a:r>
            <a:r>
              <a:rPr lang="pt-BR" sz="2800" b="0" i="0" u="none" strike="noStrike" baseline="0" dirty="0">
                <a:solidFill>
                  <a:srgbClr val="4472C5"/>
                </a:solidFill>
                <a:latin typeface="CIDFont+F2"/>
              </a:rPr>
              <a:t>número finito de passos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sz="2800" b="0" i="0" u="none" strike="noStrike" baseline="0" dirty="0">
              <a:solidFill>
                <a:srgbClr val="4472C5"/>
              </a:solidFill>
              <a:latin typeface="CIDFont+F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CIDFont+F2"/>
              </a:rPr>
              <a:t>Cada passo do algoritmo deve ser executado em um tempo finito</a:t>
            </a:r>
          </a:p>
        </p:txBody>
      </p:sp>
    </p:spTree>
    <p:extLst>
      <p:ext uri="{BB962C8B-B14F-4D97-AF65-F5344CB8AC3E}">
        <p14:creationId xmlns:p14="http://schemas.microsoft.com/office/powerpoint/2010/main" val="31025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000" decel="1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4000" decel="1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4000" decel="1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accel="4000" decel="1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accel="4000" decel="1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326BC3-131E-7DDB-59BD-12414D21B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1D5E0-F2B5-4B04-A461-1C5C300E3115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D2EEEC-4975-105F-6935-446BCB9D5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FE562F-186D-8963-DB4D-BFC8847E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C1FAFEB-3CEC-7E97-87CB-2716DAFA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Exemplo de um não Algoritmo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28D749-E99E-2AE2-C133-BDCF61DE6426}"/>
              </a:ext>
            </a:extLst>
          </p:cNvPr>
          <p:cNvSpPr txBox="1"/>
          <p:nvPr/>
        </p:nvSpPr>
        <p:spPr>
          <a:xfrm>
            <a:off x="1645921" y="18691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0" i="0" u="none" strike="noStrike" baseline="0" dirty="0">
                <a:solidFill>
                  <a:srgbClr val="4472C5"/>
                </a:solidFill>
                <a:latin typeface="CIDFont+F2"/>
              </a:rPr>
              <a:t>Cálculo de todos os números primos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BE7CB41-5233-4031-1F19-10C3F670B1E0}"/>
              </a:ext>
            </a:extLst>
          </p:cNvPr>
          <p:cNvSpPr txBox="1"/>
          <p:nvPr/>
        </p:nvSpPr>
        <p:spPr>
          <a:xfrm>
            <a:off x="1956971" y="3300849"/>
            <a:ext cx="827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0" i="0" u="none" strike="noStrike" baseline="0" dirty="0">
                <a:solidFill>
                  <a:srgbClr val="FF0000"/>
                </a:solidFill>
                <a:latin typeface="CIDFont+F2"/>
              </a:rPr>
              <a:t>Infinitos números primos (tempo infinito)</a:t>
            </a:r>
          </a:p>
          <a:p>
            <a:endParaRPr lang="pt-BR" sz="3600" dirty="0">
              <a:solidFill>
                <a:srgbClr val="FF0000"/>
              </a:solidFill>
              <a:latin typeface="CIDFont+F2"/>
            </a:endParaRPr>
          </a:p>
          <a:p>
            <a:r>
              <a:rPr lang="pt-BR" sz="3600" dirty="0">
                <a:solidFill>
                  <a:srgbClr val="FF0000"/>
                </a:solidFill>
                <a:latin typeface="CIDFont+F2"/>
              </a:rPr>
              <a:t>2, 3, 5, 7, 11, 13...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775265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9A092A6-7152-5C1D-CCD8-E74D18B0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93556-1D60-43AE-924D-281E9FCDC527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3A33C0-2DF1-02AE-C5D1-233049BF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CC8BDD-0CC1-6D27-7567-AEC0CCE3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839878A-287D-D517-C50A-DA0BBB92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Construção de Algoritmos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99320F7-534F-EEB2-A337-B974C2A4EEEC}"/>
              </a:ext>
            </a:extLst>
          </p:cNvPr>
          <p:cNvSpPr txBox="1"/>
          <p:nvPr/>
        </p:nvSpPr>
        <p:spPr>
          <a:xfrm>
            <a:off x="1843313" y="2045789"/>
            <a:ext cx="85053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b="0" i="0" u="none" strike="noStrike" baseline="0" dirty="0">
                <a:solidFill>
                  <a:srgbClr val="4472C5"/>
                </a:solidFill>
                <a:latin typeface="CIDFont+F2"/>
              </a:rPr>
              <a:t>Tipos de dados</a:t>
            </a:r>
            <a:r>
              <a:rPr lang="pt-BR" sz="4000" b="0" i="0" u="none" strike="noStrike" baseline="0" dirty="0">
                <a:solidFill>
                  <a:srgbClr val="000000"/>
                </a:solidFill>
                <a:latin typeface="CIDFont+F2"/>
              </a:rPr>
              <a:t>: define os </a:t>
            </a:r>
            <a:r>
              <a:rPr lang="pt-BR" sz="4000" b="0" i="0" u="none" strike="noStrike" baseline="0" dirty="0">
                <a:solidFill>
                  <a:srgbClr val="FF0000"/>
                </a:solidFill>
                <a:latin typeface="CIDFont+F2"/>
              </a:rPr>
              <a:t>valores </a:t>
            </a:r>
            <a:r>
              <a:rPr lang="pt-BR" sz="4000" b="0" i="0" u="none" strike="noStrike" baseline="0" dirty="0">
                <a:solidFill>
                  <a:srgbClr val="000000"/>
                </a:solidFill>
                <a:latin typeface="CIDFont+F2"/>
              </a:rPr>
              <a:t>que um </a:t>
            </a:r>
            <a:r>
              <a:rPr lang="pt-BR" sz="4000" b="0" i="0" u="none" strike="noStrike" baseline="0" dirty="0">
                <a:solidFill>
                  <a:srgbClr val="FF0000"/>
                </a:solidFill>
                <a:latin typeface="CIDFont+F2"/>
              </a:rPr>
              <a:t>dado </a:t>
            </a:r>
            <a:r>
              <a:rPr lang="pt-BR" sz="4000" b="0" i="0" u="none" strike="noStrike" baseline="0" dirty="0">
                <a:solidFill>
                  <a:srgbClr val="000000"/>
                </a:solidFill>
                <a:latin typeface="CIDFont+F2"/>
              </a:rPr>
              <a:t>pode assumir e as </a:t>
            </a:r>
            <a:r>
              <a:rPr lang="pt-BR" sz="4000" i="0" u="none" strike="noStrike" baseline="0" dirty="0">
                <a:solidFill>
                  <a:srgbClr val="FF0000"/>
                </a:solidFill>
                <a:latin typeface="CIDFont+F2"/>
              </a:rPr>
              <a:t>operações</a:t>
            </a:r>
            <a:r>
              <a:rPr lang="pt-BR" sz="4000" b="0" i="0" u="none" strike="noStrike" baseline="0" dirty="0">
                <a:solidFill>
                  <a:srgbClr val="000000"/>
                </a:solidFill>
                <a:latin typeface="CIDFont+F2"/>
              </a:rPr>
              <a:t> que podem ser </a:t>
            </a:r>
            <a:r>
              <a:rPr lang="pt-BR" sz="4000" b="0" i="0" u="none" strike="noStrike" baseline="0" dirty="0">
                <a:solidFill>
                  <a:srgbClr val="FF0000"/>
                </a:solidFill>
                <a:latin typeface="CIDFont+F2"/>
              </a:rPr>
              <a:t>efetuadas sobre o dado</a:t>
            </a:r>
            <a:r>
              <a:rPr lang="pt-BR" sz="4000" b="0" i="0" u="none" strike="noStrike" baseline="0" dirty="0">
                <a:solidFill>
                  <a:srgbClr val="000000"/>
                </a:solidFill>
                <a:latin typeface="CIDFont+F2"/>
              </a:rPr>
              <a:t>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691295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74E71C2-681B-151E-B5D1-8390620D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9CBC-2383-4DF5-8B7F-F6E5F37943A3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C6BA2A-9206-02E9-EFB4-14AD0D69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7EC216-AB77-3B84-FF61-11E9EF92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7C74047-E2ED-A0F4-FA4E-49E3C4F6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Tipos de Dados em Python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22D005-DA2D-2D8A-37B2-BCA4B1A359B4}"/>
              </a:ext>
            </a:extLst>
          </p:cNvPr>
          <p:cNvSpPr txBox="1"/>
          <p:nvPr/>
        </p:nvSpPr>
        <p:spPr>
          <a:xfrm>
            <a:off x="324465" y="1999733"/>
            <a:ext cx="94871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0" i="0" u="none" strike="noStrike" baseline="0" dirty="0">
                <a:latin typeface="CIDFont+F2"/>
              </a:rPr>
              <a:t>Os principais tipos de objetos em Python são: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53014B-6469-FCA1-18B7-F51CF9792317}"/>
              </a:ext>
            </a:extLst>
          </p:cNvPr>
          <p:cNvSpPr txBox="1"/>
          <p:nvPr/>
        </p:nvSpPr>
        <p:spPr>
          <a:xfrm>
            <a:off x="844061" y="2707678"/>
            <a:ext cx="52519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3"/>
              </a:rPr>
              <a:t>• </a:t>
            </a:r>
            <a:r>
              <a:rPr lang="pt-BR" sz="2800" b="0" i="0" u="none" strike="noStrike" baseline="0" dirty="0">
                <a:latin typeface="CIDFont+F2"/>
              </a:rPr>
              <a:t>Números inteiros</a:t>
            </a:r>
          </a:p>
          <a:p>
            <a:pPr algn="l"/>
            <a:endParaRPr lang="pt-BR" sz="2800" b="0" i="0" u="none" strike="noStrike" baseline="0" dirty="0">
              <a:latin typeface="CIDFont+F3"/>
            </a:endParaRPr>
          </a:p>
          <a:p>
            <a:pPr algn="l"/>
            <a:r>
              <a:rPr lang="pt-BR" sz="2800" b="0" i="0" u="none" strike="noStrike" baseline="0" dirty="0">
                <a:latin typeface="CIDFont+F3"/>
              </a:rPr>
              <a:t>• </a:t>
            </a:r>
            <a:r>
              <a:rPr lang="pt-BR" sz="2800" b="0" i="0" u="none" strike="noStrike" baseline="0" dirty="0">
                <a:latin typeface="CIDFont+F2"/>
              </a:rPr>
              <a:t>Números reais</a:t>
            </a:r>
          </a:p>
          <a:p>
            <a:pPr algn="l"/>
            <a:endParaRPr lang="pt-BR" sz="2800" b="0" i="0" u="none" strike="noStrike" baseline="0" dirty="0">
              <a:latin typeface="CIDFont+F3"/>
            </a:endParaRPr>
          </a:p>
          <a:p>
            <a:pPr algn="l"/>
            <a:r>
              <a:rPr lang="pt-BR" sz="2800" b="0" i="0" u="none" strike="noStrike" baseline="0" dirty="0">
                <a:latin typeface="CIDFont+F3"/>
              </a:rPr>
              <a:t>• </a:t>
            </a:r>
            <a:r>
              <a:rPr lang="pt-BR" sz="2800" b="0" i="0" u="none" strike="noStrike" baseline="0" dirty="0">
                <a:latin typeface="CIDFont+F2"/>
              </a:rPr>
              <a:t>Cadeia de caracteres (string)</a:t>
            </a:r>
            <a:endParaRPr lang="pt-BR" sz="2800" dirty="0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9CF5A4A6-81DC-A49D-8DF2-64B2B3C0ADC0}"/>
              </a:ext>
            </a:extLst>
          </p:cNvPr>
          <p:cNvSpPr/>
          <p:nvPr/>
        </p:nvSpPr>
        <p:spPr>
          <a:xfrm>
            <a:off x="5450113" y="2881914"/>
            <a:ext cx="377371" cy="217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5D61A26D-BB46-2EA2-9A43-7A71E0272539}"/>
              </a:ext>
            </a:extLst>
          </p:cNvPr>
          <p:cNvSpPr/>
          <p:nvPr/>
        </p:nvSpPr>
        <p:spPr>
          <a:xfrm>
            <a:off x="5450112" y="3722204"/>
            <a:ext cx="377371" cy="217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B5FFFA9A-6077-CF11-8943-A22A2368FA86}"/>
              </a:ext>
            </a:extLst>
          </p:cNvPr>
          <p:cNvSpPr/>
          <p:nvPr/>
        </p:nvSpPr>
        <p:spPr>
          <a:xfrm>
            <a:off x="5450112" y="4614669"/>
            <a:ext cx="377371" cy="217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A88B21-3913-42F7-B346-00F6DDE28DEA}"/>
              </a:ext>
            </a:extLst>
          </p:cNvPr>
          <p:cNvSpPr txBox="1"/>
          <p:nvPr/>
        </p:nvSpPr>
        <p:spPr>
          <a:xfrm>
            <a:off x="6173955" y="2707678"/>
            <a:ext cx="187166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latin typeface="CIDFont+F2"/>
              </a:rPr>
              <a:t>class</a:t>
            </a:r>
            <a:r>
              <a:rPr lang="pt-BR" sz="2800" dirty="0">
                <a:latin typeface="CIDFont+F2"/>
              </a:rPr>
              <a:t> 'int’</a:t>
            </a:r>
          </a:p>
          <a:p>
            <a:endParaRPr lang="pt-BR" sz="2800" dirty="0">
              <a:latin typeface="CIDFont+F2"/>
            </a:endParaRPr>
          </a:p>
          <a:p>
            <a:r>
              <a:rPr lang="pt-BR" sz="2800" dirty="0" err="1">
                <a:latin typeface="CIDFont+F2"/>
              </a:rPr>
              <a:t>class</a:t>
            </a:r>
            <a:r>
              <a:rPr lang="pt-BR" sz="2800" dirty="0">
                <a:latin typeface="CIDFont+F2"/>
              </a:rPr>
              <a:t> 'float’</a:t>
            </a:r>
          </a:p>
          <a:p>
            <a:endParaRPr lang="pt-BR" sz="2800" dirty="0">
              <a:latin typeface="CIDFont+F2"/>
            </a:endParaRPr>
          </a:p>
          <a:p>
            <a:r>
              <a:rPr lang="pt-BR" sz="2800" dirty="0" err="1">
                <a:latin typeface="CIDFont+F2"/>
              </a:rPr>
              <a:t>class</a:t>
            </a:r>
            <a:r>
              <a:rPr lang="pt-BR" sz="2800" dirty="0">
                <a:latin typeface="CIDFont+F2"/>
              </a:rPr>
              <a:t> '</a:t>
            </a:r>
            <a:r>
              <a:rPr lang="pt-BR" sz="2800" dirty="0" err="1">
                <a:latin typeface="CIDFont+F2"/>
              </a:rPr>
              <a:t>str</a:t>
            </a:r>
            <a:r>
              <a:rPr lang="pt-BR" sz="2800" dirty="0">
                <a:latin typeface="CIDFont+F2"/>
              </a:rPr>
              <a:t>'</a:t>
            </a:r>
          </a:p>
          <a:p>
            <a:endParaRPr lang="pt-BR" dirty="0">
              <a:latin typeface="CIDFont+F2"/>
            </a:endParaRPr>
          </a:p>
        </p:txBody>
      </p:sp>
    </p:spTree>
    <p:extLst>
      <p:ext uri="{BB962C8B-B14F-4D97-AF65-F5344CB8AC3E}">
        <p14:creationId xmlns:p14="http://schemas.microsoft.com/office/powerpoint/2010/main" val="261618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5CF74D-B0FF-8515-9031-FC19BB3F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8F64-F8E2-4E87-8250-1F662C455317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71299E3-E3D1-2570-9DAF-F4BEE7CB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66B1E8-172F-C42A-7FF7-60DB3D77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64A86D6-B937-9F44-E05E-41EEFBB9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Tipos de Dados em Python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FB72200-1320-A986-8119-69D360A935F3}"/>
              </a:ext>
            </a:extLst>
          </p:cNvPr>
          <p:cNvSpPr txBox="1"/>
          <p:nvPr/>
        </p:nvSpPr>
        <p:spPr>
          <a:xfrm>
            <a:off x="844060" y="1720840"/>
            <a:ext cx="104190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1. Números</a:t>
            </a:r>
          </a:p>
          <a:p>
            <a:pPr marL="533400" algn="l"/>
            <a:r>
              <a:rPr lang="pt-BR" sz="36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2"/>
              </a:rPr>
              <a:t>Inteiros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: valores inteiros, positivos ou negativos</a:t>
            </a:r>
          </a:p>
          <a:p>
            <a:pPr marL="2514600"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Ex.: 345, -10, 1321</a:t>
            </a:r>
          </a:p>
          <a:p>
            <a:pPr algn="l"/>
            <a:endParaRPr lang="pt-BR" sz="36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533400" algn="l">
              <a:tabLst>
                <a:tab pos="625475" algn="l"/>
              </a:tabLst>
            </a:pPr>
            <a:r>
              <a:rPr lang="pt-BR" sz="3600" dirty="0">
                <a:solidFill>
                  <a:srgbClr val="4472C5"/>
                </a:solidFill>
                <a:latin typeface="CIDFont+F2"/>
              </a:rPr>
              <a:t>• Reais: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valores fracionários, positivos ou negativos</a:t>
            </a:r>
          </a:p>
          <a:p>
            <a:pPr marL="2514600"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Ex.: -20.3, 38.56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804985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B392B4-C035-A4B0-E8A3-8D13680C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DDEA-1754-4388-B207-A118290F2D5E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6D8409E-B1B8-B176-6B79-89F681994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69B31A-F004-AEF6-6217-D5A0CCEE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5DCF453-D80C-233E-F58D-161E5FE0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Tipos de Dados em Python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41C480-FC76-3FFB-FDE7-FF30EE6811C1}"/>
              </a:ext>
            </a:extLst>
          </p:cNvPr>
          <p:cNvSpPr txBox="1"/>
          <p:nvPr/>
        </p:nvSpPr>
        <p:spPr>
          <a:xfrm>
            <a:off x="844061" y="1723962"/>
            <a:ext cx="43230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4472C5"/>
                </a:solidFill>
                <a:latin typeface="CIDFont+F2"/>
              </a:rPr>
              <a:t>Operações com Números</a:t>
            </a:r>
            <a:endParaRPr lang="pt-BR" sz="2800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3B1ACF9B-6D97-1F5D-443A-BC5D922D7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470875"/>
              </p:ext>
            </p:extLst>
          </p:nvPr>
        </p:nvGraphicFramePr>
        <p:xfrm>
          <a:off x="1277256" y="2371487"/>
          <a:ext cx="8200573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885">
                  <a:extLst>
                    <a:ext uri="{9D8B030D-6E8A-4147-A177-3AD203B41FA5}">
                      <a16:colId xmlns:a16="http://schemas.microsoft.com/office/drawing/2014/main" val="2468199556"/>
                    </a:ext>
                  </a:extLst>
                </a:gridCol>
                <a:gridCol w="5769688">
                  <a:extLst>
                    <a:ext uri="{9D8B030D-6E8A-4147-A177-3AD203B41FA5}">
                      <a16:colId xmlns:a16="http://schemas.microsoft.com/office/drawing/2014/main" val="4189296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Significado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209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Soma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09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Subtração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18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Multiplicação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468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Divisão (resultado é um número real)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3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Divisão truncada (resultado é um número inteiro)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581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Resto da divisão inteira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874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exponenciação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18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8496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CC34F9A-A833-DD39-D8E4-A76F60F0E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13502-733A-4A06-B35F-77E20150AE09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D50EDD-644A-B2A6-F231-9DC69BB7E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E6AA1E-2114-57BE-A42F-83A7E39A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0B6E4AC-B740-B33F-B4FC-D2CB5B8B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 Exemplos de Operações com Números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195588-416E-1660-1635-CA945A8EDDF0}"/>
              </a:ext>
            </a:extLst>
          </p:cNvPr>
          <p:cNvSpPr txBox="1"/>
          <p:nvPr/>
        </p:nvSpPr>
        <p:spPr>
          <a:xfrm>
            <a:off x="1750868" y="1756450"/>
            <a:ext cx="895047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dirty="0">
                <a:solidFill>
                  <a:srgbClr val="000000"/>
                </a:solidFill>
                <a:latin typeface="CIDFont+F2"/>
              </a:rPr>
              <a:t>p</a:t>
            </a:r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rint (2+3)     # 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CIDFont+F2"/>
              </a:rPr>
              <a:t>(soma)                                                               </a:t>
            </a:r>
            <a:r>
              <a:rPr lang="pt-BR" sz="2200" b="1" i="0" u="none" strike="noStrike" baseline="0" dirty="0">
                <a:solidFill>
                  <a:srgbClr val="FF0000"/>
                </a:solidFill>
                <a:latin typeface="CIDFont+F2"/>
              </a:rPr>
              <a:t>5</a:t>
            </a:r>
          </a:p>
          <a:p>
            <a:pPr algn="l"/>
            <a:endParaRPr lang="pt-BR" sz="2200" b="0" i="0" u="none" strike="noStrike" baseline="0" dirty="0">
              <a:solidFill>
                <a:srgbClr val="FF0000"/>
              </a:solidFill>
              <a:latin typeface="CIDFont+F2"/>
            </a:endParaRPr>
          </a:p>
          <a:p>
            <a:pPr algn="l"/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print (2-5 )    # 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CIDFont+F2"/>
              </a:rPr>
              <a:t>(subtração)                                                       </a:t>
            </a:r>
            <a:r>
              <a:rPr lang="pt-BR" sz="2200" b="1" i="0" u="none" strike="noStrike" baseline="0" dirty="0">
                <a:solidFill>
                  <a:srgbClr val="FF0000"/>
                </a:solidFill>
                <a:latin typeface="CIDFont+F2"/>
              </a:rPr>
              <a:t>-3</a:t>
            </a:r>
          </a:p>
          <a:p>
            <a:pPr algn="l"/>
            <a:endParaRPr lang="pt-BR" sz="2200" b="0" i="0" u="none" strike="noStrike" baseline="0" dirty="0">
              <a:solidFill>
                <a:srgbClr val="FF0000"/>
              </a:solidFill>
              <a:latin typeface="CIDFont+F2"/>
            </a:endParaRPr>
          </a:p>
          <a:p>
            <a:pPr algn="l"/>
            <a:r>
              <a:rPr lang="pt-BR" sz="2200" dirty="0">
                <a:solidFill>
                  <a:srgbClr val="000000"/>
                </a:solidFill>
                <a:latin typeface="CIDFont+F2"/>
              </a:rPr>
              <a:t>print (</a:t>
            </a:r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2*3)    # 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CIDFont+F2"/>
              </a:rPr>
              <a:t>(multiplicação)                                                  </a:t>
            </a:r>
            <a:r>
              <a:rPr lang="pt-BR" sz="2200" b="1" i="0" u="none" strike="noStrike" baseline="0" dirty="0">
                <a:solidFill>
                  <a:srgbClr val="FF0000"/>
                </a:solidFill>
                <a:latin typeface="CIDFont+F2"/>
              </a:rPr>
              <a:t>6</a:t>
            </a:r>
          </a:p>
          <a:p>
            <a:pPr algn="l"/>
            <a:endParaRPr lang="pt-BR" sz="2200" b="0" i="0" u="none" strike="noStrike" baseline="0" dirty="0">
              <a:solidFill>
                <a:srgbClr val="FF0000"/>
              </a:solidFill>
              <a:latin typeface="CIDFont+F2"/>
            </a:endParaRPr>
          </a:p>
          <a:p>
            <a:pPr algn="l"/>
            <a:r>
              <a:rPr lang="pt-BR" sz="2200" dirty="0">
                <a:solidFill>
                  <a:srgbClr val="000000"/>
                </a:solidFill>
                <a:latin typeface="CIDFont+F2"/>
              </a:rPr>
              <a:t>print (</a:t>
            </a:r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5/2)     # 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CIDFont+F2"/>
              </a:rPr>
              <a:t>(divisão – resultado 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CIDFont+F6"/>
              </a:rPr>
              <a:t>float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CIDFont+F2"/>
              </a:rPr>
              <a:t>)                            </a:t>
            </a:r>
            <a:r>
              <a:rPr lang="pt-BR" sz="2200" b="1" i="0" u="none" strike="noStrike" baseline="0" dirty="0">
                <a:solidFill>
                  <a:srgbClr val="FF0000"/>
                </a:solidFill>
                <a:latin typeface="CIDFont+F2"/>
              </a:rPr>
              <a:t>2.5</a:t>
            </a:r>
          </a:p>
          <a:p>
            <a:pPr algn="l"/>
            <a:endParaRPr lang="pt-BR" sz="2200" b="0" i="0" u="none" strike="noStrike" baseline="0" dirty="0">
              <a:solidFill>
                <a:srgbClr val="FF0000"/>
              </a:solidFill>
              <a:latin typeface="CIDFont+F2"/>
            </a:endParaRPr>
          </a:p>
          <a:p>
            <a:pPr algn="l"/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print (5//2)   # 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CIDFont+F2"/>
              </a:rPr>
              <a:t>(divisão – resultado truncado)                       </a:t>
            </a:r>
            <a:r>
              <a:rPr lang="pt-BR" sz="2200" b="1" i="0" u="none" strike="noStrike" baseline="0" dirty="0">
                <a:solidFill>
                  <a:srgbClr val="FF0000"/>
                </a:solidFill>
                <a:latin typeface="CIDFont+F2"/>
              </a:rPr>
              <a:t>2</a:t>
            </a:r>
          </a:p>
          <a:p>
            <a:pPr algn="l"/>
            <a:endParaRPr lang="pt-BR" sz="2200" b="0" i="0" u="none" strike="noStrike" baseline="0" dirty="0">
              <a:solidFill>
                <a:srgbClr val="FF0000"/>
              </a:solidFill>
              <a:latin typeface="CIDFont+F2"/>
            </a:endParaRPr>
          </a:p>
          <a:p>
            <a:pPr algn="l"/>
            <a:r>
              <a:rPr lang="pt-BR" sz="2200" dirty="0">
                <a:solidFill>
                  <a:srgbClr val="000000"/>
                </a:solidFill>
                <a:latin typeface="CIDFont+F2"/>
              </a:rPr>
              <a:t>print</a:t>
            </a:r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 (5%2)   # 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CIDFont+F2"/>
              </a:rPr>
              <a:t>(resto da divisão)                                              </a:t>
            </a:r>
            <a:r>
              <a:rPr lang="pt-BR" sz="2200" b="1" i="0" u="none" strike="noStrike" baseline="0" dirty="0">
                <a:solidFill>
                  <a:srgbClr val="FF0000"/>
                </a:solidFill>
                <a:latin typeface="CIDFont+F2"/>
              </a:rPr>
              <a:t>1</a:t>
            </a:r>
          </a:p>
          <a:p>
            <a:pPr algn="l"/>
            <a:endParaRPr lang="pt-BR" sz="2200" b="0" i="0" u="none" strike="noStrike" baseline="0" dirty="0">
              <a:solidFill>
                <a:srgbClr val="FF0000"/>
              </a:solidFill>
              <a:latin typeface="CIDFont+F2"/>
            </a:endParaRPr>
          </a:p>
          <a:p>
            <a:pPr algn="l"/>
            <a:r>
              <a:rPr lang="pt-BR" sz="2200" dirty="0">
                <a:solidFill>
                  <a:srgbClr val="000000"/>
                </a:solidFill>
                <a:latin typeface="CIDFont+F2"/>
              </a:rPr>
              <a:t>print (</a:t>
            </a:r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2**3)  #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CIDFont+F2"/>
              </a:rPr>
              <a:t>(exponenciação)                                                </a:t>
            </a:r>
            <a:r>
              <a:rPr lang="pt-BR" sz="2200" b="1" i="0" u="none" strike="noStrike" baseline="0" dirty="0">
                <a:solidFill>
                  <a:srgbClr val="FF0000"/>
                </a:solidFill>
                <a:latin typeface="CIDFont+F2"/>
              </a:rPr>
              <a:t>8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CIDFont+F2"/>
              </a:rPr>
              <a:t>                     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EA1B8C-438B-DD3F-F3DD-F1D0BCAFBB48}"/>
              </a:ext>
            </a:extLst>
          </p:cNvPr>
          <p:cNvSpPr txBox="1"/>
          <p:nvPr/>
        </p:nvSpPr>
        <p:spPr>
          <a:xfrm>
            <a:off x="7559039" y="1232345"/>
            <a:ext cx="1737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2369434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72AE61-636E-8BAE-1174-621B0E20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F75D-6683-4FAF-9158-AE1AB55345E7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C5AEEC-47C3-604B-CB46-F75BB891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35DC66-5AB6-C2A6-7314-6B3816B5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F45D9EE-13D2-A1DE-C7CA-FB5E99B8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65125"/>
            <a:ext cx="9657734" cy="988219"/>
          </a:xfrm>
        </p:spPr>
        <p:txBody>
          <a:bodyPr/>
          <a:lstStyle/>
          <a:p>
            <a:pPr algn="ctr"/>
            <a:r>
              <a:rPr lang="pt-BR" b="1" i="1" dirty="0"/>
              <a:t>Desenvolvimento Interativo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7782532-3518-C79A-F28F-1C2E3F9D5CC3}"/>
              </a:ext>
            </a:extLst>
          </p:cNvPr>
          <p:cNvSpPr txBox="1"/>
          <p:nvPr/>
        </p:nvSpPr>
        <p:spPr>
          <a:xfrm>
            <a:off x="162233" y="1437650"/>
            <a:ext cx="11867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 maneira mais simples de executar programas Python é digitá-los na linha de comando interativa, dentro de uma janela previamente aberta do </a:t>
            </a:r>
            <a:r>
              <a:rPr lang="pt-BR" sz="2400" b="1" dirty="0"/>
              <a:t>CMD, do Windows</a:t>
            </a:r>
            <a:r>
              <a:rPr lang="pt-BR" sz="2400" dirty="0"/>
              <a:t>. ,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F518C28-6E34-CFC3-EC46-FECD05885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96" y="2332111"/>
            <a:ext cx="5205671" cy="461665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A2726AB-3D25-0243-2D33-77C109F52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3" y="2965338"/>
            <a:ext cx="11867534" cy="3219450"/>
          </a:xfrm>
          <a:prstGeom prst="rect">
            <a:avLst/>
          </a:prstGeom>
        </p:spPr>
      </p:pic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A73D3469-9558-FA8B-4AFB-B201B0A467D1}"/>
              </a:ext>
            </a:extLst>
          </p:cNvPr>
          <p:cNvSpPr/>
          <p:nvPr/>
        </p:nvSpPr>
        <p:spPr>
          <a:xfrm>
            <a:off x="650631" y="2440209"/>
            <a:ext cx="995290" cy="27173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582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E6BC978-B6B5-A7E3-3728-0693D8AE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3F50-CC51-42A0-8316-763B61BE673B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4C88A32-B38D-9B8A-99E6-BD1674A5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BF2A8D-D34D-3E99-3D85-775D8131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C22EB42-7F33-0383-B009-1097987F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Tipos de Dados em Python</a:t>
            </a:r>
            <a:endParaRPr lang="pt-BR" b="1" i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4EC1920-C65C-B4DF-B0EC-C197326AF25C}"/>
              </a:ext>
            </a:extLst>
          </p:cNvPr>
          <p:cNvSpPr txBox="1"/>
          <p:nvPr/>
        </p:nvSpPr>
        <p:spPr>
          <a:xfrm>
            <a:off x="465221" y="1629110"/>
            <a:ext cx="98979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Em Python </a:t>
            </a:r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não é necessário </a:t>
            </a:r>
            <a:r>
              <a:rPr lang="pt-BR" sz="2400" b="1" i="0" u="none" strike="noStrike" baseline="0" dirty="0" err="1">
                <a:solidFill>
                  <a:srgbClr val="FF0000"/>
                </a:solidFill>
                <a:latin typeface="CIDFont+F2"/>
              </a:rPr>
              <a:t>tipar</a:t>
            </a:r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uma variável para u</a:t>
            </a:r>
            <a:r>
              <a:rPr lang="pt-BR" sz="2400" dirty="0">
                <a:solidFill>
                  <a:srgbClr val="000000"/>
                </a:solidFill>
                <a:latin typeface="CIDFont+F2"/>
              </a:rPr>
              <a:t>sá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-la.</a:t>
            </a:r>
          </a:p>
          <a:p>
            <a:pPr algn="l"/>
            <a:endParaRPr lang="pt-BR" sz="24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Python é uma linguagem dinamicamente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CIDFont+F2"/>
              </a:rPr>
              <a:t>tipada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.</a:t>
            </a:r>
          </a:p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Para saber qual é o tipo de dado do objeto, usamos a </a:t>
            </a:r>
            <a:r>
              <a:rPr lang="pt-BR" sz="2400" b="0" i="0" u="none" strike="noStrike" baseline="0" dirty="0">
                <a:solidFill>
                  <a:srgbClr val="FF0000"/>
                </a:solidFill>
                <a:latin typeface="CIDFont+F2"/>
              </a:rPr>
              <a:t>função </a:t>
            </a:r>
            <a:r>
              <a:rPr lang="pt-BR" sz="2400" b="0" i="0" u="none" strike="noStrike" baseline="0" dirty="0" err="1">
                <a:solidFill>
                  <a:srgbClr val="FF0000"/>
                </a:solidFill>
                <a:latin typeface="CIDFont+F6"/>
              </a:rPr>
              <a:t>type</a:t>
            </a:r>
            <a:r>
              <a:rPr lang="pt-BR" sz="2400" b="0" i="0" u="none" strike="noStrike" baseline="0" dirty="0">
                <a:solidFill>
                  <a:srgbClr val="FF0000"/>
                </a:solidFill>
                <a:latin typeface="CIDFont+F6"/>
              </a:rPr>
              <a:t>()</a:t>
            </a:r>
          </a:p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6"/>
              </a:rPr>
              <a:t>Ex.:</a:t>
            </a:r>
          </a:p>
          <a:p>
            <a:pPr algn="l"/>
            <a:r>
              <a:rPr lang="nb-NO" sz="2400" b="0" i="0" u="none" strike="noStrike" baseline="0" dirty="0">
                <a:solidFill>
                  <a:srgbClr val="000000"/>
                </a:solidFill>
                <a:latin typeface="CIDFont+F6"/>
              </a:rPr>
              <a:t>valor=2</a:t>
            </a:r>
          </a:p>
          <a:p>
            <a:pPr algn="l"/>
            <a:r>
              <a:rPr lang="nb-NO" sz="2400" b="0" i="0" u="none" strike="noStrike" baseline="0" dirty="0">
                <a:solidFill>
                  <a:srgbClr val="000000"/>
                </a:solidFill>
                <a:latin typeface="CIDFont+F6"/>
              </a:rPr>
              <a:t>print (valor)</a:t>
            </a:r>
          </a:p>
          <a:p>
            <a:pPr algn="l"/>
            <a:r>
              <a:rPr lang="nb-NO" sz="2400" b="0" i="0" u="none" strike="noStrike" baseline="0" dirty="0">
                <a:solidFill>
                  <a:srgbClr val="000000"/>
                </a:solidFill>
                <a:latin typeface="CIDFont+F6"/>
              </a:rPr>
              <a:t>print (type(valor))</a:t>
            </a:r>
          </a:p>
          <a:p>
            <a:pPr algn="l"/>
            <a:endParaRPr lang="nb-NO" sz="2400" b="0" i="0" u="none" strike="noStrike" baseline="0" dirty="0">
              <a:solidFill>
                <a:srgbClr val="000000"/>
              </a:solidFill>
              <a:latin typeface="CIDFont+F6"/>
            </a:endParaRPr>
          </a:p>
          <a:p>
            <a:pPr algn="l"/>
            <a:r>
              <a:rPr lang="nb-NO" sz="2400" b="0" i="0" u="none" strike="noStrike" baseline="0" dirty="0">
                <a:solidFill>
                  <a:srgbClr val="000000"/>
                </a:solidFill>
                <a:latin typeface="CIDFont+F6"/>
              </a:rPr>
              <a:t>valor = 4.5</a:t>
            </a:r>
          </a:p>
          <a:p>
            <a:pPr algn="l"/>
            <a:r>
              <a:rPr lang="nb-NO" sz="2400" b="0" i="0" u="none" strike="noStrike" baseline="0" dirty="0">
                <a:solidFill>
                  <a:srgbClr val="000000"/>
                </a:solidFill>
                <a:latin typeface="CIDFont+F6"/>
              </a:rPr>
              <a:t>print (valor)</a:t>
            </a:r>
          </a:p>
          <a:p>
            <a:pPr algn="l"/>
            <a:r>
              <a:rPr lang="nb-NO" sz="2400" b="0" i="0" u="none" strike="noStrike" baseline="0" dirty="0">
                <a:solidFill>
                  <a:srgbClr val="000000"/>
                </a:solidFill>
                <a:latin typeface="CIDFont+F6"/>
              </a:rPr>
              <a:t>print (type(valor))</a:t>
            </a: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85A6D05-CE92-A115-6CE6-083C436A3BB4}"/>
              </a:ext>
            </a:extLst>
          </p:cNvPr>
          <p:cNvSpPr txBox="1"/>
          <p:nvPr/>
        </p:nvSpPr>
        <p:spPr>
          <a:xfrm>
            <a:off x="10032986" y="3604636"/>
            <a:ext cx="19198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2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&lt;class 'int’&gt;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4.5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&lt;class 'float'&gt;</a:t>
            </a:r>
            <a:endParaRPr lang="pt-BR" sz="20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69C7DF1-DF59-1188-6C7C-728B049A99F7}"/>
              </a:ext>
            </a:extLst>
          </p:cNvPr>
          <p:cNvSpPr txBox="1"/>
          <p:nvPr/>
        </p:nvSpPr>
        <p:spPr>
          <a:xfrm>
            <a:off x="10119548" y="3142971"/>
            <a:ext cx="1919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Resultado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4065E42-DFD7-7ACA-8D8B-9C87D37FB34B}"/>
              </a:ext>
            </a:extLst>
          </p:cNvPr>
          <p:cNvCxnSpPr>
            <a:cxnSpLocks/>
          </p:cNvCxnSpPr>
          <p:nvPr/>
        </p:nvCxnSpPr>
        <p:spPr>
          <a:xfrm flipV="1">
            <a:off x="2181726" y="3855720"/>
            <a:ext cx="8181474" cy="27336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4D719E4-0ACA-5B4E-6008-4D3FDBCF7E54}"/>
              </a:ext>
            </a:extLst>
          </p:cNvPr>
          <p:cNvCxnSpPr>
            <a:cxnSpLocks/>
          </p:cNvCxnSpPr>
          <p:nvPr/>
        </p:nvCxnSpPr>
        <p:spPr>
          <a:xfrm>
            <a:off x="2950143" y="4429225"/>
            <a:ext cx="719988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7D666257-77B3-E7DC-C613-1ECBAD9391AA}"/>
              </a:ext>
            </a:extLst>
          </p:cNvPr>
          <p:cNvCxnSpPr>
            <a:cxnSpLocks/>
          </p:cNvCxnSpPr>
          <p:nvPr/>
        </p:nvCxnSpPr>
        <p:spPr>
          <a:xfrm flipV="1">
            <a:off x="2181726" y="5090160"/>
            <a:ext cx="8422106" cy="46166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0BB685-35F7-DA9C-622C-C690D8EF62CE}"/>
              </a:ext>
            </a:extLst>
          </p:cNvPr>
          <p:cNvCxnSpPr>
            <a:cxnSpLocks/>
          </p:cNvCxnSpPr>
          <p:nvPr/>
        </p:nvCxnSpPr>
        <p:spPr>
          <a:xfrm flipV="1">
            <a:off x="2919663" y="5667669"/>
            <a:ext cx="7199885" cy="18373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392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A7EE24-0AF5-5FB6-0C7D-D21E2C1F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A2418-49D2-458A-8BB3-6AA54B56D3FC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3B7E484-D751-6C91-788E-7BD3C816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82C393-8547-F51A-380C-2C9ED0ED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E746C22-A3E4-B214-948B-6B9C36EB4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400" b="1" i="1" u="none" strike="noStrike" baseline="0" dirty="0">
                <a:latin typeface="CIDFont+F1"/>
              </a:rPr>
              <a:t>Tipos de Dados em Python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035FEB-79BD-3880-A25E-029C9529E1ED}"/>
              </a:ext>
            </a:extLst>
          </p:cNvPr>
          <p:cNvSpPr txBox="1"/>
          <p:nvPr/>
        </p:nvSpPr>
        <p:spPr>
          <a:xfrm>
            <a:off x="609600" y="1353344"/>
            <a:ext cx="92846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u="none" strike="noStrike" baseline="0" dirty="0">
                <a:latin typeface="CIDFont+F2"/>
              </a:rPr>
              <a:t>2. Cadeia de Caracteres (</a:t>
            </a:r>
            <a:r>
              <a:rPr lang="pt-BR" sz="2400" b="1" i="0" u="none" strike="noStrike" baseline="0" dirty="0" err="1">
                <a:latin typeface="CIDFont+F2"/>
              </a:rPr>
              <a:t>strings</a:t>
            </a:r>
            <a:r>
              <a:rPr lang="pt-BR" sz="2400" b="1" i="0" u="none" strike="noStrike" baseline="0" dirty="0">
                <a:latin typeface="CIDFont+F2"/>
              </a:rPr>
              <a:t>)</a:t>
            </a:r>
          </a:p>
          <a:p>
            <a:pPr marL="274638" algn="l"/>
            <a:r>
              <a:rPr lang="pt-BR" sz="2400" b="0" i="0" u="none" strike="noStrike" baseline="0" dirty="0">
                <a:latin typeface="CIDFont+F3"/>
              </a:rPr>
              <a:t>• </a:t>
            </a:r>
            <a:r>
              <a:rPr lang="pt-BR" sz="2400" b="0" i="0" u="none" strike="noStrike" baseline="0" dirty="0" err="1">
                <a:latin typeface="CIDFont+F2"/>
              </a:rPr>
              <a:t>Strings</a:t>
            </a:r>
            <a:r>
              <a:rPr lang="pt-BR" sz="2400" b="0" i="0" u="none" strike="noStrike" baseline="0" dirty="0">
                <a:latin typeface="CIDFont+F2"/>
              </a:rPr>
              <a:t> são objetos que Python oferece para trabalhos com texto.</a:t>
            </a:r>
          </a:p>
          <a:p>
            <a:pPr marL="274638" algn="l"/>
            <a:endParaRPr lang="pt-BR" sz="2400" b="0" i="0" u="none" strike="noStrike" baseline="0" dirty="0">
              <a:latin typeface="CIDFont+F2"/>
            </a:endParaRPr>
          </a:p>
          <a:p>
            <a:pPr marL="533400" indent="-258763" algn="l"/>
            <a:r>
              <a:rPr lang="pt-BR" sz="2400" b="0" i="0" u="none" strike="noStrike" baseline="0" dirty="0">
                <a:latin typeface="CIDFont+F3"/>
              </a:rPr>
              <a:t>• </a:t>
            </a:r>
            <a:r>
              <a:rPr lang="pt-BR" sz="2400" b="0" i="0" u="none" strike="noStrike" baseline="0" dirty="0">
                <a:latin typeface="CIDFont+F2"/>
              </a:rPr>
              <a:t>Representam as letras de A até Z, os dígitos numéricos (0-9) e sinais especiais (espaço em branco, sinais de pontuação)</a:t>
            </a:r>
          </a:p>
          <a:p>
            <a:pPr marL="274638" algn="l"/>
            <a:endParaRPr lang="pt-BR" sz="2400" b="0" i="0" u="none" strike="noStrike" baseline="0" dirty="0">
              <a:latin typeface="CIDFont+F3"/>
            </a:endParaRPr>
          </a:p>
          <a:p>
            <a:pPr marL="274638" algn="l"/>
            <a:r>
              <a:rPr lang="pt-BR" sz="2400" b="0" i="0" u="none" strike="noStrike" baseline="0" dirty="0">
                <a:latin typeface="CIDFont+F3"/>
              </a:rPr>
              <a:t>• </a:t>
            </a:r>
            <a:r>
              <a:rPr lang="pt-BR" sz="2400" b="0" i="0" u="none" strike="noStrike" baseline="0" dirty="0">
                <a:latin typeface="CIDFont+F2"/>
              </a:rPr>
              <a:t>Aparecem entre aspas duplas ou entre aspas simples</a:t>
            </a:r>
          </a:p>
          <a:p>
            <a:pPr marL="274638" algn="l"/>
            <a:endParaRPr lang="pt-BR" sz="2400" b="0" i="0" u="none" strike="noStrike" baseline="0" dirty="0">
              <a:latin typeface="CIDFont+F2"/>
            </a:endParaRPr>
          </a:p>
          <a:p>
            <a:pPr marL="274638" algn="l"/>
            <a:r>
              <a:rPr lang="pt-BR" sz="2400" b="0" i="0" u="none" strike="noStrike" baseline="0" dirty="0">
                <a:latin typeface="CIDFont+F2"/>
              </a:rPr>
              <a:t>Ex.: “Maria”, “casa 8”, ‘curso de Python’</a:t>
            </a:r>
          </a:p>
          <a:p>
            <a:pPr marL="274638" algn="l"/>
            <a:endParaRPr lang="pt-BR" sz="2400" b="0" i="0" u="none" strike="noStrike" baseline="0" dirty="0">
              <a:latin typeface="CIDFont+F2"/>
            </a:endParaRPr>
          </a:p>
          <a:p>
            <a:pPr marL="898525" algn="l"/>
            <a:r>
              <a:rPr lang="pt-BR" sz="2400" b="0" i="0" u="none" strike="noStrike" baseline="0" dirty="0">
                <a:latin typeface="CIDFont+F2"/>
              </a:rPr>
              <a:t> palavra = ‘</a:t>
            </a:r>
            <a:r>
              <a:rPr lang="pt-BR" sz="2400" dirty="0">
                <a:latin typeface="CIDFont+F2"/>
              </a:rPr>
              <a:t>J</a:t>
            </a:r>
            <a:r>
              <a:rPr lang="pt-BR" sz="2400" b="0" i="0" u="none" strike="noStrike" baseline="0" dirty="0">
                <a:latin typeface="CIDFont+F2"/>
              </a:rPr>
              <a:t>oão’ </a:t>
            </a:r>
          </a:p>
          <a:p>
            <a:pPr marL="898525" algn="l"/>
            <a:r>
              <a:rPr lang="pt-BR" sz="2400" dirty="0">
                <a:latin typeface="CIDFont+F2"/>
              </a:rPr>
              <a:t> print (palavra)</a:t>
            </a:r>
            <a:endParaRPr lang="pt-BR" sz="2400" b="0" i="0" u="none" strike="noStrike" baseline="0" dirty="0">
              <a:latin typeface="CIDFont+F2"/>
            </a:endParaRPr>
          </a:p>
          <a:p>
            <a:pPr marL="898525" algn="l"/>
            <a:r>
              <a:rPr lang="pt-BR" sz="2400" b="0" i="0" u="none" strike="noStrike" baseline="0" dirty="0">
                <a:latin typeface="CIDFont+F2"/>
              </a:rPr>
              <a:t> print ( </a:t>
            </a:r>
            <a:r>
              <a:rPr lang="pt-BR" sz="2400" b="0" i="0" u="none" strike="noStrike" baseline="0" dirty="0" err="1">
                <a:latin typeface="CIDFont+F2"/>
              </a:rPr>
              <a:t>type</a:t>
            </a:r>
            <a:r>
              <a:rPr lang="pt-BR" sz="2400" b="0" i="0" u="none" strike="noStrike" baseline="0" dirty="0">
                <a:latin typeface="CIDFont+F2"/>
              </a:rPr>
              <a:t>(palavra))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C41277-464F-A5BA-12EF-A7C4CBEC70FB}"/>
              </a:ext>
            </a:extLst>
          </p:cNvPr>
          <p:cNvSpPr txBox="1"/>
          <p:nvPr/>
        </p:nvSpPr>
        <p:spPr>
          <a:xfrm>
            <a:off x="10143308" y="3227343"/>
            <a:ext cx="1872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João</a:t>
            </a:r>
          </a:p>
          <a:p>
            <a:endParaRPr lang="pt-BR" dirty="0"/>
          </a:p>
          <a:p>
            <a:r>
              <a:rPr lang="pt-BR" dirty="0"/>
              <a:t>&lt;</a:t>
            </a:r>
            <a:r>
              <a:rPr lang="pt-BR" dirty="0" err="1"/>
              <a:t>class</a:t>
            </a:r>
            <a:r>
              <a:rPr lang="pt-BR" dirty="0"/>
              <a:t> '</a:t>
            </a:r>
            <a:r>
              <a:rPr lang="pt-BR" dirty="0" err="1"/>
              <a:t>str</a:t>
            </a:r>
            <a:r>
              <a:rPr lang="pt-BR" dirty="0"/>
              <a:t>'&gt;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94A94C1-4B2B-CB7D-179E-C2D0B4AC1AB5}"/>
              </a:ext>
            </a:extLst>
          </p:cNvPr>
          <p:cNvSpPr txBox="1"/>
          <p:nvPr/>
        </p:nvSpPr>
        <p:spPr>
          <a:xfrm>
            <a:off x="10173900" y="2858011"/>
            <a:ext cx="1513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Resultado: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4E8F9030-F5CC-2DCB-B87E-FE160F6EB4A6}"/>
              </a:ext>
            </a:extLst>
          </p:cNvPr>
          <p:cNvCxnSpPr>
            <a:cxnSpLocks/>
          </p:cNvCxnSpPr>
          <p:nvPr/>
        </p:nvCxnSpPr>
        <p:spPr>
          <a:xfrm flipV="1">
            <a:off x="3489960" y="3429000"/>
            <a:ext cx="6683940" cy="222504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EB14DE67-06A6-2DDD-4DC7-424120DD1A54}"/>
              </a:ext>
            </a:extLst>
          </p:cNvPr>
          <p:cNvCxnSpPr>
            <a:cxnSpLocks/>
          </p:cNvCxnSpPr>
          <p:nvPr/>
        </p:nvCxnSpPr>
        <p:spPr>
          <a:xfrm flipV="1">
            <a:off x="4312920" y="4023360"/>
            <a:ext cx="5830388" cy="195072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626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E6BC978-B6B5-A7E3-3728-0693D8AE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3C75-BE3E-4FC4-B5FC-17A68C5DE2E2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4C88A32-B38D-9B8A-99E6-BD1674A5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BF2A8D-D34D-3E99-3D85-775D8131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C22EB42-7F33-0383-B009-1097987F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Operadores com </a:t>
            </a:r>
            <a:r>
              <a:rPr lang="pt-BR" b="1" i="1" u="none" strike="noStrike" baseline="0" dirty="0" err="1">
                <a:latin typeface="CIDFont+F1"/>
              </a:rPr>
              <a:t>String</a:t>
            </a:r>
            <a:endParaRPr lang="pt-BR" b="1" i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6F93C3-1355-04BD-4D2C-D20E75BB2179}"/>
              </a:ext>
            </a:extLst>
          </p:cNvPr>
          <p:cNvSpPr txBox="1"/>
          <p:nvPr/>
        </p:nvSpPr>
        <p:spPr>
          <a:xfrm>
            <a:off x="1052732" y="1812003"/>
            <a:ext cx="68884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b="1" i="0" u="none" strike="noStrike" baseline="0" dirty="0">
                <a:solidFill>
                  <a:srgbClr val="FF0000"/>
                </a:solidFill>
                <a:latin typeface="CIDFont+F1"/>
              </a:rPr>
              <a:t>+ </a:t>
            </a:r>
            <a:r>
              <a:rPr lang="pt-BR" sz="3200" b="0" i="0" u="none" strike="noStrike" baseline="0" dirty="0">
                <a:latin typeface="CIDFont+F1"/>
              </a:rPr>
              <a:t>                      concatena duas </a:t>
            </a:r>
            <a:r>
              <a:rPr lang="pt-BR" sz="3200" b="0" i="0" u="none" strike="noStrike" baseline="0" dirty="0" err="1">
                <a:latin typeface="CIDFont+F1"/>
              </a:rPr>
              <a:t>Strings</a:t>
            </a:r>
            <a:endParaRPr lang="pt-BR" sz="3200" dirty="0"/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F4057BD3-03BC-ECD0-5C1B-768F9386CFD6}"/>
              </a:ext>
            </a:extLst>
          </p:cNvPr>
          <p:cNvSpPr/>
          <p:nvPr/>
        </p:nvSpPr>
        <p:spPr>
          <a:xfrm>
            <a:off x="4376651" y="3381861"/>
            <a:ext cx="3408218" cy="23997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2D283D3-2DC2-7568-5E2C-5E434F044235}"/>
              </a:ext>
            </a:extLst>
          </p:cNvPr>
          <p:cNvSpPr txBox="1"/>
          <p:nvPr/>
        </p:nvSpPr>
        <p:spPr>
          <a:xfrm>
            <a:off x="4267200" y="2537301"/>
            <a:ext cx="3108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print (‘amar’ + ‘elo’)</a:t>
            </a:r>
          </a:p>
          <a:p>
            <a:r>
              <a:rPr lang="pt-BR" sz="2400" dirty="0"/>
              <a:t>print (‘\</a:t>
            </a:r>
            <a:r>
              <a:rPr lang="pt-BR" sz="2400" dirty="0" err="1"/>
              <a:t>namar</a:t>
            </a:r>
            <a:r>
              <a:rPr lang="pt-BR" sz="2400" dirty="0"/>
              <a:t>’ + ‘elo’)</a:t>
            </a:r>
          </a:p>
          <a:p>
            <a:endParaRPr lang="pt-BR" sz="24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1587A00-9164-710D-5E59-1F97AA2018AA}"/>
              </a:ext>
            </a:extLst>
          </p:cNvPr>
          <p:cNvSpPr txBox="1"/>
          <p:nvPr/>
        </p:nvSpPr>
        <p:spPr>
          <a:xfrm>
            <a:off x="1083212" y="3716635"/>
            <a:ext cx="10607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b="1" i="0" u="none" strike="noStrike" baseline="0" dirty="0">
                <a:solidFill>
                  <a:srgbClr val="FF0000"/>
                </a:solidFill>
                <a:latin typeface="CIDFont+F1"/>
              </a:rPr>
              <a:t>* </a:t>
            </a:r>
            <a:r>
              <a:rPr lang="pt-BR" sz="3200" b="0" i="0" u="none" strike="noStrike" baseline="0" dirty="0">
                <a:latin typeface="CIDFont+F1"/>
              </a:rPr>
              <a:t>                    </a:t>
            </a:r>
            <a:r>
              <a:rPr lang="pt-BR" sz="3200" b="0" i="0" u="none" strike="noStrike" baseline="0" dirty="0">
                <a:latin typeface="CIDFont+F2"/>
              </a:rPr>
              <a:t>multiplicar o conteúdo da </a:t>
            </a:r>
            <a:r>
              <a:rPr lang="pt-BR" sz="3200" b="0" i="0" u="none" strike="noStrike" baseline="0" dirty="0" err="1">
                <a:latin typeface="CIDFont+F2"/>
              </a:rPr>
              <a:t>string</a:t>
            </a:r>
            <a:r>
              <a:rPr lang="pt-BR" sz="3200" b="0" i="0" u="none" strike="noStrike" baseline="0" dirty="0">
                <a:latin typeface="CIDFont+F2"/>
              </a:rPr>
              <a:t> por um inteiro</a:t>
            </a:r>
            <a:endParaRPr lang="pt-BR" sz="3200" dirty="0"/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DEF20FC1-1709-B1B8-A39C-48E5AA9CC7E1}"/>
              </a:ext>
            </a:extLst>
          </p:cNvPr>
          <p:cNvSpPr/>
          <p:nvPr/>
        </p:nvSpPr>
        <p:spPr>
          <a:xfrm>
            <a:off x="1911538" y="3863484"/>
            <a:ext cx="1236605" cy="239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48810BE-7467-A674-6482-11D75375DF79}"/>
              </a:ext>
            </a:extLst>
          </p:cNvPr>
          <p:cNvSpPr txBox="1"/>
          <p:nvPr/>
        </p:nvSpPr>
        <p:spPr>
          <a:xfrm>
            <a:off x="4376651" y="4316799"/>
            <a:ext cx="441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dirty="0">
                <a:latin typeface="CIDFont+F2"/>
              </a:rPr>
              <a:t>valor = ‘Gol !!! ’</a:t>
            </a:r>
            <a:endParaRPr lang="pt-BR" sz="2400" b="0" i="0" u="none" strike="noStrike" baseline="0" dirty="0"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 (valor)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 (valor*3)</a:t>
            </a:r>
          </a:p>
          <a:p>
            <a:pPr algn="l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D7C842B-A47B-37D1-1504-0EF7F31F62F8}"/>
              </a:ext>
            </a:extLst>
          </p:cNvPr>
          <p:cNvSpPr txBox="1"/>
          <p:nvPr/>
        </p:nvSpPr>
        <p:spPr>
          <a:xfrm>
            <a:off x="8107680" y="3254970"/>
            <a:ext cx="1463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amarelo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DB45C55D-CCC1-DEAF-EAA7-B265509D007A}"/>
              </a:ext>
            </a:extLst>
          </p:cNvPr>
          <p:cNvSpPr/>
          <p:nvPr/>
        </p:nvSpPr>
        <p:spPr>
          <a:xfrm>
            <a:off x="4422370" y="5621267"/>
            <a:ext cx="3408218" cy="23997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ED6C4DF-3B7B-CC03-5F14-DB16E8130041}"/>
              </a:ext>
            </a:extLst>
          </p:cNvPr>
          <p:cNvSpPr txBox="1"/>
          <p:nvPr/>
        </p:nvSpPr>
        <p:spPr>
          <a:xfrm>
            <a:off x="8221235" y="5132337"/>
            <a:ext cx="1059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Gol !!!</a:t>
            </a:r>
          </a:p>
          <a:p>
            <a:r>
              <a:rPr lang="pt-BR" sz="2400" dirty="0"/>
              <a:t>Gol!!! </a:t>
            </a:r>
          </a:p>
          <a:p>
            <a:r>
              <a:rPr lang="pt-BR" sz="2400" dirty="0"/>
              <a:t>Gol !!!</a:t>
            </a: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A431E355-28F3-58C9-9E24-1ABC39EBFBFB}"/>
              </a:ext>
            </a:extLst>
          </p:cNvPr>
          <p:cNvSpPr/>
          <p:nvPr/>
        </p:nvSpPr>
        <p:spPr>
          <a:xfrm>
            <a:off x="1911538" y="2020857"/>
            <a:ext cx="1236605" cy="239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have Esquerda 5">
            <a:extLst>
              <a:ext uri="{FF2B5EF4-FFF2-40B4-BE49-F238E27FC236}">
                <a16:creationId xmlns:a16="http://schemas.microsoft.com/office/drawing/2014/main" id="{E868486E-E153-217C-370A-C99C2144A293}"/>
              </a:ext>
            </a:extLst>
          </p:cNvPr>
          <p:cNvSpPr/>
          <p:nvPr/>
        </p:nvSpPr>
        <p:spPr>
          <a:xfrm>
            <a:off x="7941211" y="5189489"/>
            <a:ext cx="325744" cy="1054151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1583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4" grpId="0"/>
      <p:bldP spid="25" grpId="0" animBg="1"/>
      <p:bldP spid="26" grpId="0"/>
      <p:bldP spid="27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EBE842-E13C-5212-B5AD-C89FFD8C1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9EF4-E21C-46FC-B632-5E73F1DE34F2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695CB1-4F88-7D9F-F416-4DCE2AC9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6A0DF9-FF7D-421B-3E23-9BBF841A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393E335-A2CD-794B-64EB-DA4EA4BF3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sz="3600" b="0" i="0" u="none" strike="noStrike" baseline="0" dirty="0">
                <a:latin typeface="CIDFont+F1"/>
              </a:rPr>
              <a:t>            </a:t>
            </a:r>
            <a:r>
              <a:rPr lang="pt-BR" b="1" i="1" u="none" strike="noStrike" baseline="0" dirty="0">
                <a:latin typeface="CIDFont+F1"/>
              </a:rPr>
              <a:t>Algumas funções que podem ser usadas com </a:t>
            </a:r>
            <a:r>
              <a:rPr lang="pt-BR" b="1" i="1" u="none" strike="noStrike" baseline="0" dirty="0" err="1">
                <a:latin typeface="CIDFont+F1"/>
              </a:rPr>
              <a:t>strings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29E51B-7B04-EEF5-56EA-F4BEDA66613F}"/>
              </a:ext>
            </a:extLst>
          </p:cNvPr>
          <p:cNvSpPr txBox="1"/>
          <p:nvPr/>
        </p:nvSpPr>
        <p:spPr>
          <a:xfrm>
            <a:off x="718039" y="1835557"/>
            <a:ext cx="818212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0" i="0" u="none" strike="noStrike" baseline="0" dirty="0" err="1">
                <a:latin typeface="CIDFont+F2"/>
              </a:rPr>
              <a:t>len</a:t>
            </a:r>
            <a:r>
              <a:rPr lang="pt-BR" sz="3600" b="0" i="0" u="none" strike="noStrike" baseline="0" dirty="0">
                <a:latin typeface="CIDFont+F2"/>
              </a:rPr>
              <a:t>()               </a:t>
            </a:r>
            <a:r>
              <a:rPr lang="pt-BR" sz="3600" b="0" i="0" u="none" strike="noStrike" baseline="0" dirty="0">
                <a:latin typeface="CIDFont+F5"/>
              </a:rPr>
              <a:t> </a:t>
            </a:r>
            <a:r>
              <a:rPr lang="pt-BR" sz="3600" b="0" i="0" u="none" strike="noStrike" baseline="0" dirty="0">
                <a:latin typeface="CIDFont+F2"/>
              </a:rPr>
              <a:t>retorna o tamanho da </a:t>
            </a:r>
            <a:r>
              <a:rPr lang="pt-BR" sz="3600" b="0" i="0" u="none" strike="noStrike" baseline="0" dirty="0" err="1">
                <a:latin typeface="CIDFont+F2"/>
              </a:rPr>
              <a:t>string</a:t>
            </a:r>
            <a:endParaRPr lang="pt-BR" sz="3600" b="0" i="0" u="none" strike="noStrike" baseline="0" dirty="0">
              <a:latin typeface="CIDFont+F2"/>
            </a:endParaRPr>
          </a:p>
          <a:p>
            <a:pPr algn="l"/>
            <a:endParaRPr lang="pt-BR" sz="3200" b="0" i="0" u="none" strike="noStrike" baseline="0" dirty="0">
              <a:latin typeface="CIDFont+F2"/>
            </a:endParaRPr>
          </a:p>
          <a:p>
            <a:pPr algn="l"/>
            <a:r>
              <a:rPr lang="pt-BR" sz="3200" b="0" i="0" u="none" strike="noStrike" baseline="0" dirty="0">
                <a:latin typeface="CIDFont+F2"/>
              </a:rPr>
              <a:t>palavra = </a:t>
            </a:r>
            <a:r>
              <a:rPr lang="pt-BR" sz="3200" dirty="0">
                <a:latin typeface="CIDFont+F2"/>
              </a:rPr>
              <a:t>‘</a:t>
            </a:r>
            <a:r>
              <a:rPr lang="pt-BR" sz="3200" b="0" i="0" u="none" strike="noStrike" baseline="0" dirty="0">
                <a:latin typeface="CIDFont+F2"/>
              </a:rPr>
              <a:t>João’</a:t>
            </a:r>
          </a:p>
          <a:p>
            <a:pPr algn="l"/>
            <a:r>
              <a:rPr lang="pt-BR" sz="3200" dirty="0">
                <a:latin typeface="CIDFont+F2"/>
              </a:rPr>
              <a:t>print (palavra)</a:t>
            </a:r>
            <a:endParaRPr lang="pt-BR" sz="3200" b="0" i="0" u="none" strike="noStrike" baseline="0" dirty="0">
              <a:latin typeface="CIDFont+F2"/>
            </a:endParaRPr>
          </a:p>
          <a:p>
            <a:pPr algn="l"/>
            <a:r>
              <a:rPr lang="pt-BR" sz="3200" b="0" i="0" u="none" strike="noStrike" baseline="0" dirty="0">
                <a:latin typeface="CIDFont+F2"/>
              </a:rPr>
              <a:t>print (</a:t>
            </a:r>
            <a:r>
              <a:rPr lang="pt-BR" sz="3200" b="0" i="0" u="none" strike="noStrike" baseline="0" dirty="0" err="1">
                <a:latin typeface="CIDFont+F2"/>
              </a:rPr>
              <a:t>type</a:t>
            </a:r>
            <a:r>
              <a:rPr lang="pt-BR" sz="3200" b="0" i="0" u="none" strike="noStrike" baseline="0" dirty="0">
                <a:latin typeface="CIDFont+F2"/>
              </a:rPr>
              <a:t>(palavra))</a:t>
            </a:r>
          </a:p>
          <a:p>
            <a:pPr algn="l"/>
            <a:r>
              <a:rPr lang="pt-BR" sz="3200" dirty="0">
                <a:latin typeface="CIDFont+F2"/>
              </a:rPr>
              <a:t>p</a:t>
            </a:r>
            <a:r>
              <a:rPr lang="pt-BR" sz="3200" b="0" i="0" u="none" strike="noStrike" baseline="0" dirty="0">
                <a:latin typeface="CIDFont+F2"/>
              </a:rPr>
              <a:t>rint (</a:t>
            </a:r>
            <a:r>
              <a:rPr lang="pt-BR" sz="3200" b="0" i="0" u="none" strike="noStrike" baseline="0" dirty="0" err="1">
                <a:latin typeface="CIDFont+F2"/>
              </a:rPr>
              <a:t>len</a:t>
            </a:r>
            <a:r>
              <a:rPr lang="pt-BR" sz="3200" b="0" i="0" u="none" strike="noStrike" baseline="0" dirty="0">
                <a:latin typeface="CIDFont+F2"/>
              </a:rPr>
              <a:t>(palavra))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41DCF2D9-EF6C-DAD4-668C-4619AA5C4DD0}"/>
              </a:ext>
            </a:extLst>
          </p:cNvPr>
          <p:cNvSpPr/>
          <p:nvPr/>
        </p:nvSpPr>
        <p:spPr>
          <a:xfrm>
            <a:off x="1911538" y="2044137"/>
            <a:ext cx="1236605" cy="239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10A53F-4FEE-78F4-49A0-672200AE6ED7}"/>
              </a:ext>
            </a:extLst>
          </p:cNvPr>
          <p:cNvSpPr txBox="1"/>
          <p:nvPr/>
        </p:nvSpPr>
        <p:spPr>
          <a:xfrm>
            <a:off x="9775783" y="2974901"/>
            <a:ext cx="16981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i="0" u="none" strike="noStrike" baseline="0" dirty="0">
                <a:latin typeface="CIDFont+F2"/>
              </a:rPr>
              <a:t>João</a:t>
            </a:r>
          </a:p>
          <a:p>
            <a:endParaRPr lang="pt-BR" sz="2400" dirty="0">
              <a:latin typeface="CIDFont+F2"/>
            </a:endParaRPr>
          </a:p>
          <a:p>
            <a:r>
              <a:rPr lang="pt-BR" sz="2400" b="0" i="0" u="none" strike="noStrike" baseline="0" dirty="0">
                <a:latin typeface="CIDFont+F2"/>
              </a:rPr>
              <a:t>&lt;</a:t>
            </a:r>
            <a:r>
              <a:rPr lang="pt-BR" sz="2400" b="0" i="0" u="none" strike="noStrike" baseline="0" dirty="0" err="1">
                <a:latin typeface="CIDFont+F2"/>
              </a:rPr>
              <a:t>class</a:t>
            </a:r>
            <a:r>
              <a:rPr lang="pt-BR" sz="2400" b="0" i="0" u="none" strike="noStrike" baseline="0" dirty="0">
                <a:latin typeface="CIDFont+F2"/>
              </a:rPr>
              <a:t> '</a:t>
            </a:r>
            <a:r>
              <a:rPr lang="pt-BR" sz="2400" b="0" i="0" u="none" strike="noStrike" baseline="0" dirty="0" err="1">
                <a:latin typeface="CIDFont+F2"/>
              </a:rPr>
              <a:t>str</a:t>
            </a:r>
            <a:r>
              <a:rPr lang="pt-BR" sz="2400" b="0" i="0" u="none" strike="noStrike" baseline="0" dirty="0">
                <a:latin typeface="CIDFont+F2"/>
              </a:rPr>
              <a:t>’&gt;</a:t>
            </a:r>
          </a:p>
          <a:p>
            <a:endParaRPr lang="pt-BR" sz="2400" dirty="0">
              <a:latin typeface="CIDFont+F2"/>
            </a:endParaRPr>
          </a:p>
          <a:p>
            <a:r>
              <a:rPr lang="pt-BR" sz="2400" dirty="0">
                <a:latin typeface="CIDFont+F2"/>
              </a:rPr>
              <a:t>4</a:t>
            </a:r>
            <a:endParaRPr lang="pt-BR" sz="2400" b="0" i="0" u="none" strike="noStrike" baseline="0" dirty="0">
              <a:latin typeface="CIDFont+F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E39CB7-BAA6-AE46-9844-1557C144898D}"/>
              </a:ext>
            </a:extLst>
          </p:cNvPr>
          <p:cNvSpPr txBox="1"/>
          <p:nvPr/>
        </p:nvSpPr>
        <p:spPr>
          <a:xfrm>
            <a:off x="9671814" y="2446531"/>
            <a:ext cx="1698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Resultado: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EFE9333-4A10-C1DE-A767-BE5A7930C7E1}"/>
              </a:ext>
            </a:extLst>
          </p:cNvPr>
          <p:cNvCxnSpPr>
            <a:cxnSpLocks/>
          </p:cNvCxnSpPr>
          <p:nvPr/>
        </p:nvCxnSpPr>
        <p:spPr>
          <a:xfrm flipV="1">
            <a:off x="3322320" y="3169920"/>
            <a:ext cx="6349494" cy="47244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23BA89F-B09E-8C12-BC7F-7FA4276891E4}"/>
              </a:ext>
            </a:extLst>
          </p:cNvPr>
          <p:cNvCxnSpPr>
            <a:endCxn id="9" idx="1"/>
          </p:cNvCxnSpPr>
          <p:nvPr/>
        </p:nvCxnSpPr>
        <p:spPr>
          <a:xfrm flipV="1">
            <a:off x="4221480" y="3944397"/>
            <a:ext cx="5554303" cy="20088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ABDA9E56-33FA-A31A-37A4-67AEC6069D60}"/>
              </a:ext>
            </a:extLst>
          </p:cNvPr>
          <p:cNvCxnSpPr/>
          <p:nvPr/>
        </p:nvCxnSpPr>
        <p:spPr>
          <a:xfrm>
            <a:off x="3992880" y="4663440"/>
            <a:ext cx="567893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7784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0BF07F-2493-F0B6-2A2E-5115D222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D54D-4117-43A7-B645-44EA0AC6C9D0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BDA047-E930-414C-759B-4650AD6D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C1EE50-4D80-75D5-CF1B-72D0C0834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6314C65-98A9-29DD-82CA-3C47C6035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800" b="1" i="1" u="none" strike="noStrike" baseline="0" dirty="0">
                <a:latin typeface="CIDFont+F1"/>
              </a:rPr>
              <a:t>Operadores Lógicos</a:t>
            </a:r>
            <a:endParaRPr lang="pt-BR" sz="48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2A2730-9EC4-7CCE-E52C-41937B13504C}"/>
              </a:ext>
            </a:extLst>
          </p:cNvPr>
          <p:cNvSpPr txBox="1"/>
          <p:nvPr/>
        </p:nvSpPr>
        <p:spPr>
          <a:xfrm>
            <a:off x="1021080" y="1688962"/>
            <a:ext cx="10728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Um valor lógico pode estar apenas em um de dois estados: </a:t>
            </a:r>
            <a:r>
              <a:rPr lang="pt-BR" sz="3600" b="0" i="0" u="none" strike="noStrike" baseline="0" dirty="0" err="1">
                <a:solidFill>
                  <a:srgbClr val="4472C5"/>
                </a:solidFill>
                <a:latin typeface="CIDFont+F2"/>
              </a:rPr>
              <a:t>True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2"/>
              </a:rPr>
              <a:t>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ou </a:t>
            </a:r>
            <a:r>
              <a:rPr lang="pt-BR" sz="3600" b="0" i="0" u="none" strike="noStrike" baseline="0" dirty="0">
                <a:solidFill>
                  <a:srgbClr val="4472C5"/>
                </a:solidFill>
                <a:latin typeface="CIDFont+F2"/>
              </a:rPr>
              <a:t>False</a:t>
            </a:r>
            <a:endParaRPr lang="pt-BR" sz="3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594E68A-1ED6-2049-E3D5-01113530894F}"/>
              </a:ext>
            </a:extLst>
          </p:cNvPr>
          <p:cNvSpPr txBox="1"/>
          <p:nvPr/>
        </p:nvSpPr>
        <p:spPr>
          <a:xfrm>
            <a:off x="1021080" y="3158385"/>
            <a:ext cx="5349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a = </a:t>
            </a:r>
            <a:r>
              <a:rPr lang="pt-BR" sz="2800" b="0" i="0" u="none" strike="noStrike" baseline="0" dirty="0" err="1">
                <a:solidFill>
                  <a:srgbClr val="000000"/>
                </a:solidFill>
                <a:latin typeface="CIDFont+F2"/>
              </a:rPr>
              <a:t>True</a:t>
            </a:r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2800" dirty="0">
                <a:solidFill>
                  <a:srgbClr val="000000"/>
                </a:solidFill>
                <a:latin typeface="CIDFont+F2"/>
              </a:rPr>
              <a:t>print (a)                 # </a:t>
            </a:r>
            <a:r>
              <a:rPr lang="pt-BR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True</a:t>
            </a:r>
            <a:endParaRPr lang="pt-BR" sz="2800" b="0" i="0" u="none" strike="noStrike" baseline="0" dirty="0">
              <a:solidFill>
                <a:schemeClr val="tx2">
                  <a:lumMod val="75000"/>
                  <a:lumOff val="25000"/>
                </a:schemeClr>
              </a:solidFill>
              <a:latin typeface="CIDFont+F2"/>
            </a:endParaRPr>
          </a:p>
          <a:p>
            <a:pPr algn="l"/>
            <a:r>
              <a:rPr lang="pt-BR" sz="2800" dirty="0">
                <a:solidFill>
                  <a:srgbClr val="000000"/>
                </a:solidFill>
                <a:latin typeface="CIDFont+F2"/>
              </a:rPr>
              <a:t>p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rint( </a:t>
            </a:r>
            <a:r>
              <a:rPr lang="pt-BR" sz="2800" b="0" i="0" u="none" strike="noStrike" baseline="0" dirty="0" err="1">
                <a:solidFill>
                  <a:srgbClr val="000000"/>
                </a:solidFill>
                <a:latin typeface="CIDFont+F2"/>
              </a:rPr>
              <a:t>type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(a))      # </a:t>
            </a:r>
            <a:r>
              <a:rPr lang="pt-BR" sz="28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&lt;</a:t>
            </a:r>
            <a:r>
              <a:rPr lang="pt-BR" sz="2800" b="0" i="0" u="none" strike="noStrike" baseline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class</a:t>
            </a:r>
            <a:r>
              <a:rPr lang="pt-BR" sz="28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‘</a:t>
            </a:r>
            <a:r>
              <a:rPr lang="pt-BR" sz="2800" b="0" i="0" u="none" strike="noStrike" baseline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bool</a:t>
            </a:r>
            <a:r>
              <a:rPr lang="pt-BR" sz="28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’&gt;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DC5A15A-B50A-248D-1645-4FA8E498083A}"/>
              </a:ext>
            </a:extLst>
          </p:cNvPr>
          <p:cNvSpPr txBox="1"/>
          <p:nvPr/>
        </p:nvSpPr>
        <p:spPr>
          <a:xfrm>
            <a:off x="6705600" y="3158385"/>
            <a:ext cx="504444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b = False</a:t>
            </a:r>
          </a:p>
          <a:p>
            <a:pPr algn="l"/>
            <a:r>
              <a:rPr lang="pt-BR" sz="2800" dirty="0">
                <a:solidFill>
                  <a:srgbClr val="000000"/>
                </a:solidFill>
                <a:latin typeface="CIDFont+F2"/>
              </a:rPr>
              <a:t>print (b)              #  </a:t>
            </a:r>
            <a:r>
              <a:rPr lang="pt-BR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False</a:t>
            </a:r>
            <a:endParaRPr lang="pt-BR" sz="2800" b="0" i="0" u="none" strike="noStrike" baseline="0" dirty="0">
              <a:solidFill>
                <a:schemeClr val="tx2">
                  <a:lumMod val="75000"/>
                  <a:lumOff val="25000"/>
                </a:schemeClr>
              </a:solidFill>
              <a:latin typeface="CIDFont+F2"/>
            </a:endParaRPr>
          </a:p>
          <a:p>
            <a:pPr algn="l"/>
            <a:r>
              <a:rPr lang="pt-BR" sz="2800" dirty="0">
                <a:solidFill>
                  <a:srgbClr val="000000"/>
                </a:solidFill>
                <a:latin typeface="CIDFont+F2"/>
              </a:rPr>
              <a:t>print(</a:t>
            </a:r>
            <a:r>
              <a:rPr lang="pt-BR" sz="2800" b="0" i="0" u="none" strike="noStrike" baseline="0" dirty="0" err="1">
                <a:solidFill>
                  <a:srgbClr val="000000"/>
                </a:solidFill>
                <a:latin typeface="CIDFont+F2"/>
              </a:rPr>
              <a:t>type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(b))    #  </a:t>
            </a:r>
            <a:r>
              <a:rPr lang="pt-BR" sz="28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&lt;</a:t>
            </a:r>
            <a:r>
              <a:rPr lang="pt-BR" sz="2800" b="0" i="0" u="none" strike="noStrike" baseline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class</a:t>
            </a:r>
            <a:r>
              <a:rPr lang="pt-BR" sz="28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'</a:t>
            </a:r>
            <a:r>
              <a:rPr lang="pt-BR" sz="2800" b="0" i="0" u="none" strike="noStrike" baseline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bool</a:t>
            </a:r>
            <a:r>
              <a:rPr lang="pt-BR" sz="28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’&gt;</a:t>
            </a:r>
          </a:p>
          <a:p>
            <a:pPr algn="l"/>
            <a:endParaRPr lang="pt-BR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E7421E2A-15E5-745A-B1FE-0C9EF467734E}"/>
              </a:ext>
            </a:extLst>
          </p:cNvPr>
          <p:cNvCxnSpPr/>
          <p:nvPr/>
        </p:nvCxnSpPr>
        <p:spPr>
          <a:xfrm>
            <a:off x="6217920" y="2889291"/>
            <a:ext cx="0" cy="2383749"/>
          </a:xfrm>
          <a:prstGeom prst="line">
            <a:avLst/>
          </a:prstGeom>
          <a:ln w="920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177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ACEC93-A06E-F8FA-B4B3-64ED922B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E06F-67F0-480A-9C3F-F41D58914B9D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63431D2-4EA9-66AD-8B7D-B90B9C07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83109A-4954-44D1-D0C4-4857C95A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F8CBFA0-3905-297F-2E29-5EF8BD41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800" b="1" i="1" u="none" strike="noStrike" baseline="0" dirty="0">
                <a:latin typeface="CIDFont+F1"/>
              </a:rPr>
              <a:t>Operadores Lógicos</a:t>
            </a:r>
            <a:endParaRPr lang="pt-BR" sz="48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F1B1D7B-9E97-4A67-3B0A-2CF341C32954}"/>
              </a:ext>
            </a:extLst>
          </p:cNvPr>
          <p:cNvSpPr txBox="1"/>
          <p:nvPr/>
        </p:nvSpPr>
        <p:spPr>
          <a:xfrm>
            <a:off x="324465" y="1764715"/>
            <a:ext cx="1154306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0" i="0" u="none" strike="noStrike" baseline="0" dirty="0">
                <a:solidFill>
                  <a:srgbClr val="000000"/>
                </a:solidFill>
                <a:latin typeface="CIDFont+F2"/>
              </a:rPr>
              <a:t>Um valor lógico pode estar apenas em um de dois estados: </a:t>
            </a:r>
            <a:r>
              <a:rPr lang="pt-BR" sz="4000" b="0" i="0" u="none" strike="noStrike" baseline="0" dirty="0" err="1">
                <a:solidFill>
                  <a:srgbClr val="4472C5"/>
                </a:solidFill>
                <a:latin typeface="CIDFont+F2"/>
              </a:rPr>
              <a:t>True</a:t>
            </a:r>
            <a:r>
              <a:rPr lang="pt-BR" sz="4000" b="0" i="0" u="none" strike="noStrike" baseline="0" dirty="0">
                <a:solidFill>
                  <a:srgbClr val="4472C5"/>
                </a:solidFill>
                <a:latin typeface="CIDFont+F2"/>
              </a:rPr>
              <a:t> </a:t>
            </a:r>
            <a:r>
              <a:rPr lang="pt-BR" sz="4000" b="0" i="0" u="none" strike="noStrike" baseline="0" dirty="0">
                <a:solidFill>
                  <a:srgbClr val="000000"/>
                </a:solidFill>
                <a:latin typeface="CIDFont+F2"/>
              </a:rPr>
              <a:t>ou </a:t>
            </a:r>
            <a:r>
              <a:rPr lang="pt-BR" sz="4000" b="0" i="0" u="none" strike="noStrike" baseline="0" dirty="0">
                <a:solidFill>
                  <a:srgbClr val="4472C5"/>
                </a:solidFill>
                <a:latin typeface="CIDFont+F2"/>
              </a:rPr>
              <a:t>False</a:t>
            </a:r>
            <a:endParaRPr lang="pt-BR" sz="4000" dirty="0"/>
          </a:p>
        </p:txBody>
      </p:sp>
      <p:sp useBgFill="1">
        <p:nvSpPr>
          <p:cNvPr id="9" name="CaixaDeTexto 8">
            <a:extLst>
              <a:ext uri="{FF2B5EF4-FFF2-40B4-BE49-F238E27FC236}">
                <a16:creationId xmlns:a16="http://schemas.microsoft.com/office/drawing/2014/main" id="{EADE0DDB-0088-2E01-C7CF-4E3678205DD5}"/>
              </a:ext>
            </a:extLst>
          </p:cNvPr>
          <p:cNvSpPr txBox="1"/>
          <p:nvPr/>
        </p:nvSpPr>
        <p:spPr>
          <a:xfrm>
            <a:off x="324465" y="3239805"/>
            <a:ext cx="1113601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2"/>
              </a:rPr>
              <a:t>Operadores:</a:t>
            </a:r>
          </a:p>
          <a:p>
            <a:pPr algn="l"/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2"/>
              </a:rPr>
              <a:t>and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2"/>
              </a:rPr>
              <a:t> 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(e): se algum estado for FALSO, então FALSO</a:t>
            </a:r>
          </a:p>
          <a:p>
            <a:pPr algn="l"/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2"/>
              </a:rPr>
              <a:t>or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2"/>
              </a:rPr>
              <a:t> 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(ou): se algum estado for VERDADEIRO, então VERDADEIRO</a:t>
            </a:r>
          </a:p>
          <a:p>
            <a:pPr algn="l"/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2"/>
              </a:rPr>
              <a:t>not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2"/>
              </a:rPr>
              <a:t> 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(não): troca o estado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8231766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B5B71E-6DC5-F639-6703-6E114782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548-908D-41E3-860B-4AD7327551C3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86F299-3DA3-FB1A-34DD-DE75AF36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F680A3-0AAD-CED1-4F4F-169DF23D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9C8F69A-59F8-6216-D940-87C099FE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800" b="1" i="1" u="none" strike="noStrike" baseline="0" dirty="0">
                <a:latin typeface="CIDFont+F1"/>
              </a:rPr>
              <a:t>Tabela Verdade</a:t>
            </a:r>
            <a:endParaRPr lang="pt-BR" sz="48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0CE4C9-E968-6082-2660-0CFDC19377C7}"/>
              </a:ext>
            </a:extLst>
          </p:cNvPr>
          <p:cNvSpPr txBox="1"/>
          <p:nvPr/>
        </p:nvSpPr>
        <p:spPr>
          <a:xfrm>
            <a:off x="533400" y="1638855"/>
            <a:ext cx="114194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latin typeface="CIDFont+F2"/>
              </a:rPr>
              <a:t>Com duas variáveis A e B, quais são os números de combinações que podemos ter, se cada uma dessas variáveis possa assumir os valores verdadeiro ou falso?</a:t>
            </a:r>
            <a:endParaRPr lang="pt-BR" sz="3200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C2A889ED-221E-B1A7-19BA-7BD2EA9C6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014833"/>
              </p:ext>
            </p:extLst>
          </p:nvPr>
        </p:nvGraphicFramePr>
        <p:xfrm>
          <a:off x="6858000" y="3494026"/>
          <a:ext cx="435277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299">
                  <a:extLst>
                    <a:ext uri="{9D8B030D-6E8A-4147-A177-3AD203B41FA5}">
                      <a16:colId xmlns:a16="http://schemas.microsoft.com/office/drawing/2014/main" val="1444639392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643832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26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05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62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69080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E553FB8B-B54D-2894-FEF2-C49827F7D49B}"/>
              </a:ext>
            </a:extLst>
          </p:cNvPr>
          <p:cNvSpPr txBox="1"/>
          <p:nvPr/>
        </p:nvSpPr>
        <p:spPr>
          <a:xfrm>
            <a:off x="533400" y="4141927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0" i="0" u="none" strike="noStrike" baseline="0" dirty="0">
                <a:latin typeface="CIDFont+F2"/>
              </a:rPr>
              <a:t>Temos 4 combinações possíveis de verdadeiro e falso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743378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B5B71E-6DC5-F639-6703-6E114782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CE19-F618-4CFD-B62C-D09F457D5B21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86F299-3DA3-FB1A-34DD-DE75AF36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F680A3-0AAD-CED1-4F4F-169DF23D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9C8F69A-59F8-6216-D940-87C099FE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800" b="1" i="1" u="none" strike="noStrike" baseline="0" dirty="0">
                <a:latin typeface="CIDFont+F1"/>
              </a:rPr>
              <a:t>Tabela Verdade</a:t>
            </a:r>
            <a:endParaRPr lang="pt-BR" sz="48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0CE4C9-E968-6082-2660-0CFDC19377C7}"/>
              </a:ext>
            </a:extLst>
          </p:cNvPr>
          <p:cNvSpPr txBox="1"/>
          <p:nvPr/>
        </p:nvSpPr>
        <p:spPr>
          <a:xfrm>
            <a:off x="533400" y="1638855"/>
            <a:ext cx="114194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>
                <a:latin typeface="CIDFont+F2"/>
              </a:rPr>
              <a:t>Com três </a:t>
            </a:r>
            <a:r>
              <a:rPr lang="pt-BR" sz="3200" b="0" i="0" u="none" strike="noStrike" baseline="0" dirty="0">
                <a:latin typeface="CIDFont+F2"/>
              </a:rPr>
              <a:t>variáveis A, B</a:t>
            </a:r>
            <a:r>
              <a:rPr lang="pt-BR" sz="3200" dirty="0">
                <a:latin typeface="CIDFont+F2"/>
              </a:rPr>
              <a:t> e C</a:t>
            </a:r>
            <a:r>
              <a:rPr lang="pt-BR" sz="3200" b="0" i="0" u="none" strike="noStrike" baseline="0" dirty="0">
                <a:latin typeface="CIDFont+F2"/>
              </a:rPr>
              <a:t>, quais são os números de combinações que podemos ter, se cada uma dessas variáveis possa assumir os valores verdadeiro ou falso?</a:t>
            </a:r>
            <a:endParaRPr lang="pt-BR" sz="32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553FB8B-B54D-2894-FEF2-C49827F7D49B}"/>
              </a:ext>
            </a:extLst>
          </p:cNvPr>
          <p:cNvSpPr txBox="1"/>
          <p:nvPr/>
        </p:nvSpPr>
        <p:spPr>
          <a:xfrm>
            <a:off x="533400" y="4141927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0" i="0" u="none" strike="noStrike" baseline="0" dirty="0">
                <a:latin typeface="CIDFont+F2"/>
              </a:rPr>
              <a:t>Temos 8 combinações possíveis de verdadeiro e falso</a:t>
            </a:r>
            <a:endParaRPr lang="pt-BR" sz="320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FA7AFB1-0A21-50CF-9D96-07BE451D5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710148"/>
              </p:ext>
            </p:extLst>
          </p:nvPr>
        </p:nvGraphicFramePr>
        <p:xfrm>
          <a:off x="9485194" y="2832399"/>
          <a:ext cx="55197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976">
                  <a:extLst>
                    <a:ext uri="{9D8B030D-6E8A-4147-A177-3AD203B41FA5}">
                      <a16:colId xmlns:a16="http://schemas.microsoft.com/office/drawing/2014/main" val="3761024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77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681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67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38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281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1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33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77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89805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E0350A7-3763-EAE1-6E06-FC96480E3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9777"/>
              </p:ext>
            </p:extLst>
          </p:nvPr>
        </p:nvGraphicFramePr>
        <p:xfrm>
          <a:off x="10036632" y="2832399"/>
          <a:ext cx="55197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976">
                  <a:extLst>
                    <a:ext uri="{9D8B030D-6E8A-4147-A177-3AD203B41FA5}">
                      <a16:colId xmlns:a16="http://schemas.microsoft.com/office/drawing/2014/main" val="3761024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77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681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67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38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281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1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33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77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89805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BD6AE255-F231-C306-A5AE-95AAFD23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038814"/>
              </p:ext>
            </p:extLst>
          </p:nvPr>
        </p:nvGraphicFramePr>
        <p:xfrm>
          <a:off x="10548457" y="2832399"/>
          <a:ext cx="55197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976">
                  <a:extLst>
                    <a:ext uri="{9D8B030D-6E8A-4147-A177-3AD203B41FA5}">
                      <a16:colId xmlns:a16="http://schemas.microsoft.com/office/drawing/2014/main" val="3761024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77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681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67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38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281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1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33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77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89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90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4" accel="800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5" presetID="2" presetClass="entr" presetSubtype="4" accel="400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FABA8F-2E47-2EBC-F67D-82CF34ED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A407-0A3F-4F29-A918-912D395CB5DC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6F6A69-9DD4-71CC-D515-28A41473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A74DE8-A288-2269-09CF-1AFE14BA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8CEB3A7-7E04-9A4D-8D7D-40568F75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Tabela Verdade</a:t>
            </a:r>
            <a:endParaRPr lang="pt-BR" b="1" i="1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EDEEB3-489E-758A-EFC6-076F93E3F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650125"/>
              </p:ext>
            </p:extLst>
          </p:nvPr>
        </p:nvGraphicFramePr>
        <p:xfrm>
          <a:off x="1816100" y="2802466"/>
          <a:ext cx="807212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8">
                  <a:extLst>
                    <a:ext uri="{9D8B030D-6E8A-4147-A177-3AD203B41FA5}">
                      <a16:colId xmlns:a16="http://schemas.microsoft.com/office/drawing/2014/main" val="2055451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799889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0520781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5200955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69342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11954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 ou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 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258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24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570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97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61180"/>
                  </a:ext>
                </a:extLst>
              </a:tr>
            </a:tbl>
          </a:graphicData>
        </a:graphic>
      </p:graphicFrame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FDEE8946-4348-8BF3-8C5E-365D0827DFE7}"/>
              </a:ext>
            </a:extLst>
          </p:cNvPr>
          <p:cNvCxnSpPr/>
          <p:nvPr/>
        </p:nvCxnSpPr>
        <p:spPr>
          <a:xfrm>
            <a:off x="2501900" y="1905000"/>
            <a:ext cx="0" cy="8974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8FE0F48C-F507-1221-F2AF-D7E95214E97B}"/>
              </a:ext>
            </a:extLst>
          </p:cNvPr>
          <p:cNvCxnSpPr/>
          <p:nvPr/>
        </p:nvCxnSpPr>
        <p:spPr>
          <a:xfrm>
            <a:off x="3733800" y="1905000"/>
            <a:ext cx="0" cy="8974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E963E866-B539-B757-2815-7B6D78E863BC}"/>
              </a:ext>
            </a:extLst>
          </p:cNvPr>
          <p:cNvCxnSpPr/>
          <p:nvPr/>
        </p:nvCxnSpPr>
        <p:spPr>
          <a:xfrm>
            <a:off x="5052291" y="1903460"/>
            <a:ext cx="0" cy="8974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A609FEC-727A-6747-3191-A59280801801}"/>
              </a:ext>
            </a:extLst>
          </p:cNvPr>
          <p:cNvCxnSpPr/>
          <p:nvPr/>
        </p:nvCxnSpPr>
        <p:spPr>
          <a:xfrm>
            <a:off x="6465455" y="1903460"/>
            <a:ext cx="0" cy="8974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0F29B131-AAD1-F34A-324F-3C02768E8E9E}"/>
              </a:ext>
            </a:extLst>
          </p:cNvPr>
          <p:cNvCxnSpPr/>
          <p:nvPr/>
        </p:nvCxnSpPr>
        <p:spPr>
          <a:xfrm>
            <a:off x="7722755" y="1903460"/>
            <a:ext cx="0" cy="8974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F0BEB736-0DF1-D27F-5D1C-599F68D59342}"/>
              </a:ext>
            </a:extLst>
          </p:cNvPr>
          <p:cNvCxnSpPr/>
          <p:nvPr/>
        </p:nvCxnSpPr>
        <p:spPr>
          <a:xfrm>
            <a:off x="9056255" y="1903460"/>
            <a:ext cx="0" cy="8974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14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E6C480-50D5-4F9A-7C3B-8731C62C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B6C2-E79E-4F4E-8308-D3D8A74B37C3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F90CFB3-5684-D14A-A101-F98E6CEE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4E4020-6C9D-4AB7-043C-5205957A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5AB7E89-FE2C-B859-5CC0-D129D887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Expressões Relacionais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CFD754-DD9F-6DDA-DE5A-D49341405CD7}"/>
              </a:ext>
            </a:extLst>
          </p:cNvPr>
          <p:cNvSpPr txBox="1"/>
          <p:nvPr/>
        </p:nvSpPr>
        <p:spPr>
          <a:xfrm>
            <a:off x="990600" y="1583035"/>
            <a:ext cx="10312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latin typeface="CIDFont+F2"/>
              </a:rPr>
              <a:t>Operações de comparação entre dois valores, que têm como resultado um valor lógico</a:t>
            </a:r>
            <a:r>
              <a:rPr lang="pt-BR" sz="1800" b="0" i="0" u="none" strike="noStrike" baseline="0" dirty="0">
                <a:latin typeface="CIDFont+F2"/>
              </a:rPr>
              <a:t>.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03ED24-9464-D100-D664-E1FBE8648E51}"/>
              </a:ext>
            </a:extLst>
          </p:cNvPr>
          <p:cNvSpPr txBox="1"/>
          <p:nvPr/>
        </p:nvSpPr>
        <p:spPr>
          <a:xfrm>
            <a:off x="990600" y="2889944"/>
            <a:ext cx="75692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2"/>
              </a:rPr>
              <a:t>Operadores:</a:t>
            </a:r>
          </a:p>
          <a:p>
            <a:pPr algn="l"/>
            <a:endParaRPr lang="pt-BR" sz="2400" b="0" i="0" u="none" strike="noStrike" baseline="0" dirty="0">
              <a:solidFill>
                <a:srgbClr val="4472C5"/>
              </a:solidFill>
              <a:latin typeface="CIDFont+F2"/>
            </a:endParaRPr>
          </a:p>
          <a:p>
            <a:pPr marL="2149475" algn="l"/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==              Igual</a:t>
            </a:r>
          </a:p>
          <a:p>
            <a:pPr marL="2149475" indent="-2149475" algn="l"/>
            <a:r>
              <a:rPr lang="pt-BR" sz="2400" dirty="0">
                <a:solidFill>
                  <a:srgbClr val="4472C5"/>
                </a:solidFill>
                <a:latin typeface="CIDFont+F2"/>
              </a:rPr>
              <a:t>                                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!=              Diferente</a:t>
            </a:r>
          </a:p>
          <a:p>
            <a:pPr marL="2149475" indent="-2149475" algn="l"/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	&gt;                Maior</a:t>
            </a:r>
          </a:p>
          <a:p>
            <a:pPr marL="2149475" indent="-2149475" algn="l"/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	&lt;                Menor</a:t>
            </a:r>
          </a:p>
          <a:p>
            <a:pPr marL="2149475" indent="-2149475" algn="l"/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	&gt;=              Maior ou igual </a:t>
            </a:r>
          </a:p>
          <a:p>
            <a:pPr marL="2149475" indent="-2149475" algn="l"/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	&lt;=              </a:t>
            </a:r>
            <a:r>
              <a:rPr lang="pt-BR" sz="2400" dirty="0">
                <a:solidFill>
                  <a:srgbClr val="4472C5"/>
                </a:solidFill>
                <a:latin typeface="CIDFont+F2"/>
              </a:rPr>
              <a:t>M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enor ou igual</a:t>
            </a:r>
            <a:endParaRPr lang="pt-BR" sz="2400" dirty="0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CEBA6927-C91B-B29B-EDEA-B5B9C3A8BA9F}"/>
              </a:ext>
            </a:extLst>
          </p:cNvPr>
          <p:cNvSpPr/>
          <p:nvPr/>
        </p:nvSpPr>
        <p:spPr>
          <a:xfrm>
            <a:off x="3742090" y="3993277"/>
            <a:ext cx="558800" cy="45719"/>
          </a:xfrm>
          <a:prstGeom prst="rightArrow">
            <a:avLst/>
          </a:prstGeom>
          <a:solidFill>
            <a:srgbClr val="FF00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1CAF7766-284E-EB69-7BCC-16079A4BED09}"/>
              </a:ext>
            </a:extLst>
          </p:cNvPr>
          <p:cNvSpPr/>
          <p:nvPr/>
        </p:nvSpPr>
        <p:spPr>
          <a:xfrm>
            <a:off x="3742090" y="4312443"/>
            <a:ext cx="558800" cy="45719"/>
          </a:xfrm>
          <a:prstGeom prst="rightArrow">
            <a:avLst/>
          </a:prstGeom>
          <a:solidFill>
            <a:srgbClr val="FF00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462B0CE2-CA58-2B71-E2F2-25BF73593040}"/>
              </a:ext>
            </a:extLst>
          </p:cNvPr>
          <p:cNvSpPr/>
          <p:nvPr/>
        </p:nvSpPr>
        <p:spPr>
          <a:xfrm>
            <a:off x="3740220" y="4735256"/>
            <a:ext cx="558800" cy="45719"/>
          </a:xfrm>
          <a:prstGeom prst="rightArrow">
            <a:avLst/>
          </a:prstGeom>
          <a:solidFill>
            <a:srgbClr val="FF00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AD379454-4148-9BCD-D9AC-17D6B6735140}"/>
              </a:ext>
            </a:extLst>
          </p:cNvPr>
          <p:cNvSpPr/>
          <p:nvPr/>
        </p:nvSpPr>
        <p:spPr>
          <a:xfrm>
            <a:off x="3740220" y="5115214"/>
            <a:ext cx="558800" cy="45719"/>
          </a:xfrm>
          <a:prstGeom prst="rightArrow">
            <a:avLst/>
          </a:prstGeom>
          <a:solidFill>
            <a:srgbClr val="FF00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436476FE-21EB-63FA-0C47-BE84C1A032D3}"/>
              </a:ext>
            </a:extLst>
          </p:cNvPr>
          <p:cNvSpPr/>
          <p:nvPr/>
        </p:nvSpPr>
        <p:spPr>
          <a:xfrm>
            <a:off x="3740220" y="5460830"/>
            <a:ext cx="558800" cy="45719"/>
          </a:xfrm>
          <a:prstGeom prst="rightArrow">
            <a:avLst/>
          </a:prstGeom>
          <a:solidFill>
            <a:srgbClr val="FF00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61A1149A-D13A-7D61-A603-DDDC4A497C4F}"/>
              </a:ext>
            </a:extLst>
          </p:cNvPr>
          <p:cNvSpPr/>
          <p:nvPr/>
        </p:nvSpPr>
        <p:spPr>
          <a:xfrm>
            <a:off x="3740220" y="5836722"/>
            <a:ext cx="558800" cy="45719"/>
          </a:xfrm>
          <a:prstGeom prst="rightArrow">
            <a:avLst/>
          </a:prstGeom>
          <a:solidFill>
            <a:srgbClr val="FF00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468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4C5F81-5BD0-BA4F-223F-04D6C1E52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F7F7-F012-4C96-B123-A4518604CE2C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E887C9-6AEA-F46E-3B79-39D6AA7D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B4AEE6-9962-8761-BAB3-8D6D4B18C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7DE3DEF-C59B-2530-F7BC-6DACE88AA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Expressões Relacionais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5B4163-1C2D-B833-0CF9-411B097CE0D8}"/>
              </a:ext>
            </a:extLst>
          </p:cNvPr>
          <p:cNvSpPr txBox="1"/>
          <p:nvPr/>
        </p:nvSpPr>
        <p:spPr>
          <a:xfrm>
            <a:off x="844060" y="1608435"/>
            <a:ext cx="102354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latin typeface="CIDFont+F2"/>
              </a:rPr>
              <a:t>Operações de comparação entre dois valores, que têm como resultado</a:t>
            </a:r>
            <a:r>
              <a:rPr lang="pt-BR" sz="3200" dirty="0">
                <a:latin typeface="CIDFont+F2"/>
              </a:rPr>
              <a:t> </a:t>
            </a:r>
            <a:r>
              <a:rPr lang="pt-BR" sz="3200" b="0" i="0" u="none" strike="noStrike" baseline="0" dirty="0">
                <a:latin typeface="CIDFont+F2"/>
              </a:rPr>
              <a:t>um valor lógico.</a:t>
            </a:r>
            <a:endParaRPr lang="pt-BR" sz="3200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B3A2E8F-4EC0-9856-9BD4-DFFE028FB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748930"/>
              </p:ext>
            </p:extLst>
          </p:nvPr>
        </p:nvGraphicFramePr>
        <p:xfrm>
          <a:off x="977900" y="2874408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627131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110440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57143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61735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SIGNIFICADO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EXEMPLO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049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IGUAL / IDÊNTICO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+ 1 == 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370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DIFERENTE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 != 2.5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94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MENOR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 &lt;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146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MENOR OU IGUAL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126 &lt;= 100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9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MAIOR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 &gt; 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374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MAIOR OU IGUAL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5.0 &gt;= 5.0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29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37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9FF554-5DED-4BEE-6FA3-954C64B7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533D-75B2-494D-A7DB-6CDF3C4DD357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4A6045-1A59-E372-E553-EC5CA36B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901E22-A8EE-ABF8-0EA7-1340FF08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3723464-7E61-95B3-3071-8C5857A6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Conceito de Variável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862F09-530C-F15C-AF08-8DC4E94DA4B2}"/>
              </a:ext>
            </a:extLst>
          </p:cNvPr>
          <p:cNvSpPr txBox="1"/>
          <p:nvPr/>
        </p:nvSpPr>
        <p:spPr>
          <a:xfrm>
            <a:off x="609600" y="1536700"/>
            <a:ext cx="11099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Variáveis</a:t>
            </a:r>
            <a:r>
              <a:rPr lang="pt-BR" sz="2400" b="0" i="0" u="none" strike="noStrike" baseline="0" dirty="0">
                <a:solidFill>
                  <a:srgbClr val="202020"/>
                </a:solidFill>
                <a:latin typeface="CIDFont+F2"/>
              </a:rPr>
              <a:t> em Python são objetos. </a:t>
            </a:r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Objetos</a:t>
            </a:r>
            <a:r>
              <a:rPr lang="pt-BR" sz="2400" b="0" i="0" u="none" strike="noStrike" baseline="0" dirty="0">
                <a:solidFill>
                  <a:srgbClr val="202020"/>
                </a:solidFill>
                <a:latin typeface="CIDFont+F2"/>
              </a:rPr>
              <a:t> são </a:t>
            </a:r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dados</a:t>
            </a:r>
            <a:r>
              <a:rPr lang="pt-BR" sz="2400" b="0" i="0" u="none" strike="noStrike" baseline="0" dirty="0">
                <a:solidFill>
                  <a:srgbClr val="202020"/>
                </a:solidFill>
                <a:latin typeface="CIDFont+F2"/>
              </a:rPr>
              <a:t> que queremos armazenar na memória do computador.</a:t>
            </a:r>
          </a:p>
          <a:p>
            <a:pPr algn="l"/>
            <a:endParaRPr lang="pt-BR" sz="2400" b="0" i="0" u="none" strike="noStrike" baseline="0" dirty="0">
              <a:solidFill>
                <a:srgbClr val="202020"/>
              </a:solidFill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solidFill>
                  <a:srgbClr val="202020"/>
                </a:solidFill>
                <a:latin typeface="CIDFont+F3"/>
              </a:rPr>
              <a:t>• </a:t>
            </a:r>
            <a:r>
              <a:rPr lang="pt-BR" sz="2400" b="0" i="0" u="none" strike="noStrike" baseline="0" dirty="0">
                <a:solidFill>
                  <a:srgbClr val="202020"/>
                </a:solidFill>
                <a:latin typeface="CIDFont+F2"/>
              </a:rPr>
              <a:t>Qualquer dado em Python é um objeto, que é de um certo </a:t>
            </a:r>
            <a:r>
              <a:rPr lang="pt-BR" sz="2400" b="1" i="0" u="none" strike="noStrike" baseline="0" dirty="0">
                <a:solidFill>
                  <a:srgbClr val="4472C5"/>
                </a:solidFill>
                <a:latin typeface="CIDFont+F2"/>
              </a:rPr>
              <a:t>tipo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 </a:t>
            </a:r>
            <a:r>
              <a:rPr lang="pt-BR" sz="2400" b="0" i="0" u="none" strike="noStrike" baseline="0" dirty="0">
                <a:solidFill>
                  <a:srgbClr val="202020"/>
                </a:solidFill>
                <a:latin typeface="CIDFont+F2"/>
              </a:rPr>
              <a:t>específico.</a:t>
            </a:r>
          </a:p>
          <a:p>
            <a:pPr algn="l"/>
            <a:endParaRPr lang="pt-BR" sz="2400" b="0" i="0" u="none" strike="noStrike" baseline="0" dirty="0">
              <a:solidFill>
                <a:srgbClr val="202020"/>
              </a:solidFill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solidFill>
                  <a:srgbClr val="202020"/>
                </a:solidFill>
                <a:latin typeface="CIDFont+F3"/>
              </a:rPr>
              <a:t>• </a:t>
            </a:r>
            <a:r>
              <a:rPr lang="pt-BR" sz="2400" b="0" i="0" u="none" strike="noStrike" baseline="0" dirty="0">
                <a:solidFill>
                  <a:srgbClr val="202020"/>
                </a:solidFill>
                <a:latin typeface="CIDFont+F2"/>
              </a:rPr>
              <a:t>O </a:t>
            </a:r>
            <a:r>
              <a:rPr lang="pt-BR" sz="2400" b="1" i="0" u="none" strike="noStrike" baseline="0" dirty="0">
                <a:solidFill>
                  <a:srgbClr val="4472C5"/>
                </a:solidFill>
                <a:latin typeface="CIDFont+F2"/>
              </a:rPr>
              <a:t>tipo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 </a:t>
            </a:r>
            <a:r>
              <a:rPr lang="pt-BR" sz="2400" b="0" i="0" u="none" strike="noStrike" baseline="0" dirty="0">
                <a:solidFill>
                  <a:srgbClr val="202020"/>
                </a:solidFill>
                <a:latin typeface="CIDFont+F2"/>
              </a:rPr>
              <a:t>de um objeto especifica quais operações podem ser realizadas sobre o objeto.</a:t>
            </a:r>
          </a:p>
          <a:p>
            <a:pPr algn="l"/>
            <a:endParaRPr lang="pt-BR" sz="2400" b="0" i="0" u="none" strike="noStrike" baseline="0" dirty="0">
              <a:solidFill>
                <a:srgbClr val="202020"/>
              </a:solidFill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Por exemplo, o número 5 é representado como um objeto 5 do tipo </a:t>
            </a:r>
            <a:r>
              <a:rPr lang="pt-BR" sz="2400" b="1" i="0" u="none" strike="noStrike" baseline="0" dirty="0" err="1">
                <a:solidFill>
                  <a:srgbClr val="4472C5"/>
                </a:solidFill>
                <a:latin typeface="CIDFont+F2"/>
              </a:rPr>
              <a:t>int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em Python.</a:t>
            </a:r>
          </a:p>
          <a:p>
            <a:pPr algn="l"/>
            <a:endParaRPr lang="pt-BR" sz="24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266700" indent="-266700" algn="l"/>
            <a:r>
              <a:rPr lang="pt-BR" sz="2400" b="0" i="0" u="none" strike="noStrike" baseline="0" dirty="0">
                <a:solidFill>
                  <a:srgbClr val="4472C5"/>
                </a:solidFill>
                <a:latin typeface="CIDFont+F3"/>
              </a:rPr>
              <a:t>• 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Variáveis são uma forma de se associar um nome dado pelo programador com um objeto.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21476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9FF554-5DED-4BEE-6FA3-954C64B7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C535-8387-497B-9296-81ABA11A2C68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4A6045-1A59-E372-E553-EC5CA36B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901E22-A8EE-ABF8-0EA7-1340FF08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3723464-7E61-95B3-3071-8C5857A6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Conceito de Variável</a:t>
            </a:r>
            <a:endParaRPr lang="pt-BR" sz="4000" b="1" i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2E2788B-BC2C-980C-686A-746ADC2CBA09}"/>
              </a:ext>
            </a:extLst>
          </p:cNvPr>
          <p:cNvSpPr txBox="1"/>
          <p:nvPr/>
        </p:nvSpPr>
        <p:spPr>
          <a:xfrm>
            <a:off x="915767" y="1363693"/>
            <a:ext cx="2463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2"/>
              </a:rPr>
              <a:t>Ex.: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altura = 10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largura = 3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a = 29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B542872-F09F-4B82-C6C6-E674EAFEDAB5}"/>
              </a:ext>
            </a:extLst>
          </p:cNvPr>
          <p:cNvSpPr txBox="1"/>
          <p:nvPr/>
        </p:nvSpPr>
        <p:spPr>
          <a:xfrm>
            <a:off x="5473698" y="2006232"/>
            <a:ext cx="1473201" cy="2322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altura</a:t>
            </a:r>
          </a:p>
          <a:p>
            <a:endParaRPr lang="pt-BR" sz="3200" dirty="0"/>
          </a:p>
          <a:p>
            <a:r>
              <a:rPr lang="pt-BR" sz="3200" dirty="0"/>
              <a:t>largura</a:t>
            </a:r>
          </a:p>
          <a:p>
            <a:endParaRPr lang="pt-BR" sz="3200" dirty="0"/>
          </a:p>
          <a:p>
            <a:r>
              <a:rPr lang="pt-BR" sz="3200" dirty="0"/>
              <a:t>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D239C31-FFD0-00A3-83C5-63561BDFD143}"/>
              </a:ext>
            </a:extLst>
          </p:cNvPr>
          <p:cNvSpPr txBox="1"/>
          <p:nvPr/>
        </p:nvSpPr>
        <p:spPr>
          <a:xfrm>
            <a:off x="8388347" y="2038430"/>
            <a:ext cx="673099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3BDDF5D-AEE6-0366-1E30-3B92E65FF73C}"/>
              </a:ext>
            </a:extLst>
          </p:cNvPr>
          <p:cNvSpPr txBox="1"/>
          <p:nvPr/>
        </p:nvSpPr>
        <p:spPr>
          <a:xfrm>
            <a:off x="5887329" y="1348898"/>
            <a:ext cx="2995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Memória  /  Objetos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4840ECF-3F24-6FFA-A29C-EFAF1CCD723A}"/>
              </a:ext>
            </a:extLst>
          </p:cNvPr>
          <p:cNvSpPr txBox="1"/>
          <p:nvPr/>
        </p:nvSpPr>
        <p:spPr>
          <a:xfrm>
            <a:off x="8388346" y="3799433"/>
            <a:ext cx="673099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29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8FFF8F4-3295-35BC-F93C-6C86AC269786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7770151" y="2223096"/>
            <a:ext cx="618196" cy="7866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BDA136B6-3613-76CA-8CE4-B2D879945D9C}"/>
              </a:ext>
            </a:extLst>
          </p:cNvPr>
          <p:cNvCxnSpPr>
            <a:cxnSpLocks/>
          </p:cNvCxnSpPr>
          <p:nvPr/>
        </p:nvCxnSpPr>
        <p:spPr>
          <a:xfrm flipV="1">
            <a:off x="8012189" y="2999511"/>
            <a:ext cx="382506" cy="6508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DD6EBAF5-DE43-5DE7-DA3C-C8F94C24792A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017431" y="3984099"/>
            <a:ext cx="1370915" cy="18125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41BCB022-FC68-2627-4DC0-706F3599B471}"/>
              </a:ext>
            </a:extLst>
          </p:cNvPr>
          <p:cNvSpPr/>
          <p:nvPr/>
        </p:nvSpPr>
        <p:spPr>
          <a:xfrm>
            <a:off x="6741841" y="1870878"/>
            <a:ext cx="1286416" cy="3116244"/>
          </a:xfrm>
          <a:custGeom>
            <a:avLst/>
            <a:gdLst>
              <a:gd name="connsiteX0" fmla="*/ 482788 w 1295588"/>
              <a:gd name="connsiteY0" fmla="*/ 0 h 3048000"/>
              <a:gd name="connsiteX1" fmla="*/ 1193988 w 1295588"/>
              <a:gd name="connsiteY1" fmla="*/ 1117600 h 3048000"/>
              <a:gd name="connsiteX2" fmla="*/ 188 w 1295588"/>
              <a:gd name="connsiteY2" fmla="*/ 2438400 h 3048000"/>
              <a:gd name="connsiteX3" fmla="*/ 1295588 w 1295588"/>
              <a:gd name="connsiteY3" fmla="*/ 3048000 h 3048000"/>
              <a:gd name="connsiteX4" fmla="*/ 1295588 w 1295588"/>
              <a:gd name="connsiteY4" fmla="*/ 304800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5588" h="3048000">
                <a:moveTo>
                  <a:pt x="482788" y="0"/>
                </a:moveTo>
                <a:cubicBezTo>
                  <a:pt x="878604" y="355600"/>
                  <a:pt x="1274421" y="711200"/>
                  <a:pt x="1193988" y="1117600"/>
                </a:cubicBezTo>
                <a:cubicBezTo>
                  <a:pt x="1113555" y="1524000"/>
                  <a:pt x="-16745" y="2116667"/>
                  <a:pt x="188" y="2438400"/>
                </a:cubicBezTo>
                <a:cubicBezTo>
                  <a:pt x="17121" y="2760133"/>
                  <a:pt x="1295588" y="3048000"/>
                  <a:pt x="1295588" y="3048000"/>
                </a:cubicBezTo>
                <a:lnTo>
                  <a:pt x="1295588" y="304800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8961671-81C1-C248-F427-BABC3CDDD736}"/>
              </a:ext>
            </a:extLst>
          </p:cNvPr>
          <p:cNvSpPr txBox="1"/>
          <p:nvPr/>
        </p:nvSpPr>
        <p:spPr>
          <a:xfrm>
            <a:off x="622300" y="4682888"/>
            <a:ext cx="101523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Declaração de Variáveis:</a:t>
            </a:r>
          </a:p>
          <a:p>
            <a:pPr algn="l"/>
            <a:endParaRPr lang="pt-BR" sz="24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266700" indent="-266700"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Para criar uma variável em Python, basta especificar </a:t>
            </a:r>
            <a:r>
              <a:rPr lang="pt-BR" sz="2400" i="0" u="none" strike="noStrike" baseline="0" dirty="0">
                <a:solidFill>
                  <a:srgbClr val="000000"/>
                </a:solidFill>
                <a:latin typeface="CIDFont+F2"/>
              </a:rPr>
              <a:t>o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pt-BR" sz="2400" b="1" i="0" u="none" strike="noStrike" baseline="0" dirty="0">
                <a:solidFill>
                  <a:srgbClr val="4472C5"/>
                </a:solidFill>
                <a:latin typeface="CIDFont+F2"/>
              </a:rPr>
              <a:t>nome da variável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, e em seguida, atribuir um </a:t>
            </a:r>
            <a:r>
              <a:rPr lang="pt-BR" sz="2400" b="1" i="0" u="none" strike="noStrike" baseline="0" dirty="0">
                <a:solidFill>
                  <a:srgbClr val="4472C5"/>
                </a:solidFill>
                <a:latin typeface="CIDFont+F2"/>
              </a:rPr>
              <a:t>valor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a ela.</a:t>
            </a:r>
            <a:endParaRPr lang="pt-BR" sz="2400" dirty="0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73BF378D-F413-FCB8-B3F3-073FED611509}"/>
              </a:ext>
            </a:extLst>
          </p:cNvPr>
          <p:cNvCxnSpPr>
            <a:cxnSpLocks/>
          </p:cNvCxnSpPr>
          <p:nvPr/>
        </p:nvCxnSpPr>
        <p:spPr>
          <a:xfrm flipV="1">
            <a:off x="6671309" y="2324100"/>
            <a:ext cx="895351" cy="7297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B2C40F64-3A4B-CFB7-C4FD-848536F98635}"/>
              </a:ext>
            </a:extLst>
          </p:cNvPr>
          <p:cNvCxnSpPr>
            <a:cxnSpLocks/>
          </p:cNvCxnSpPr>
          <p:nvPr/>
        </p:nvCxnSpPr>
        <p:spPr>
          <a:xfrm flipV="1">
            <a:off x="6865275" y="3098866"/>
            <a:ext cx="904876" cy="19097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DF5A8866-30CE-0B07-7898-CFF8999732D1}"/>
              </a:ext>
            </a:extLst>
          </p:cNvPr>
          <p:cNvCxnSpPr>
            <a:cxnSpLocks/>
          </p:cNvCxnSpPr>
          <p:nvPr/>
        </p:nvCxnSpPr>
        <p:spPr>
          <a:xfrm flipV="1">
            <a:off x="5887329" y="4168765"/>
            <a:ext cx="843405" cy="11515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6D2584-A30F-2CAD-E2BC-C466EB7E953C}"/>
              </a:ext>
            </a:extLst>
          </p:cNvPr>
          <p:cNvSpPr txBox="1"/>
          <p:nvPr/>
        </p:nvSpPr>
        <p:spPr>
          <a:xfrm>
            <a:off x="8407395" y="2814845"/>
            <a:ext cx="673099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B746159-07BF-BEA8-D99A-F1734BFC1DAD}"/>
              </a:ext>
            </a:extLst>
          </p:cNvPr>
          <p:cNvSpPr txBox="1"/>
          <p:nvPr/>
        </p:nvSpPr>
        <p:spPr>
          <a:xfrm>
            <a:off x="9201150" y="2038430"/>
            <a:ext cx="67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45h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052A7BB-F41C-6194-FCFA-04B2A2495AC3}"/>
              </a:ext>
            </a:extLst>
          </p:cNvPr>
          <p:cNvSpPr txBox="1"/>
          <p:nvPr/>
        </p:nvSpPr>
        <p:spPr>
          <a:xfrm>
            <a:off x="9244014" y="2852055"/>
            <a:ext cx="67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46h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6260934-9E98-A53B-FEA1-27822433EF25}"/>
              </a:ext>
            </a:extLst>
          </p:cNvPr>
          <p:cNvSpPr txBox="1"/>
          <p:nvPr/>
        </p:nvSpPr>
        <p:spPr>
          <a:xfrm>
            <a:off x="9201150" y="3788331"/>
            <a:ext cx="67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47h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AD8BEED-D6CE-BDAE-2E8A-134A615EBA05}"/>
              </a:ext>
            </a:extLst>
          </p:cNvPr>
          <p:cNvSpPr txBox="1"/>
          <p:nvPr/>
        </p:nvSpPr>
        <p:spPr>
          <a:xfrm>
            <a:off x="10669012" y="2665511"/>
            <a:ext cx="1443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Endereços de Memória</a:t>
            </a:r>
          </a:p>
        </p:txBody>
      </p:sp>
      <p:sp>
        <p:nvSpPr>
          <p:cNvPr id="19" name="Chave Direita 18">
            <a:extLst>
              <a:ext uri="{FF2B5EF4-FFF2-40B4-BE49-F238E27FC236}">
                <a16:creationId xmlns:a16="http://schemas.microsoft.com/office/drawing/2014/main" id="{27C89D62-B35D-9613-39FA-A9E73A10123B}"/>
              </a:ext>
            </a:extLst>
          </p:cNvPr>
          <p:cNvSpPr/>
          <p:nvPr/>
        </p:nvSpPr>
        <p:spPr>
          <a:xfrm>
            <a:off x="9917112" y="2038430"/>
            <a:ext cx="793755" cy="2119233"/>
          </a:xfrm>
          <a:prstGeom prst="rightBrace">
            <a:avLst>
              <a:gd name="adj1" fmla="val 8333"/>
              <a:gd name="adj2" fmla="val 4865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351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0"/>
                            </p:stCondLst>
                            <p:childTnLst>
                              <p:par>
                                <p:cTn id="4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000"/>
                            </p:stCondLst>
                            <p:childTnLst>
                              <p:par>
                                <p:cTn id="4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6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446D58-1B63-5A2A-FEFD-A600287B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A372B-2D86-41E9-9C60-151F1754F794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4006857-A23D-65F0-D2DD-FEF8B440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BA46C4-2BAA-5B5E-5E46-928C8F577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93946A3-9BA7-FDE0-B50C-BEF5AF35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Declaração de Variável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5616E75-3937-1058-BF0C-B3C26F798516}"/>
              </a:ext>
            </a:extLst>
          </p:cNvPr>
          <p:cNvSpPr txBox="1"/>
          <p:nvPr/>
        </p:nvSpPr>
        <p:spPr>
          <a:xfrm>
            <a:off x="1261402" y="1568450"/>
            <a:ext cx="483459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6"/>
              </a:rPr>
              <a:t>Exemplo:</a:t>
            </a:r>
          </a:p>
          <a:p>
            <a:pPr algn="l"/>
            <a:endParaRPr lang="pt-BR" sz="2400" dirty="0">
              <a:latin typeface="CIDFont+F6"/>
            </a:endParaRPr>
          </a:p>
          <a:p>
            <a:pPr algn="l"/>
            <a:r>
              <a:rPr lang="pt-BR" sz="2400" b="0" i="0" u="none" strike="noStrike" baseline="0" dirty="0">
                <a:latin typeface="CIDFont+F6"/>
              </a:rPr>
              <a:t>valor=2</a:t>
            </a:r>
          </a:p>
          <a:p>
            <a:pPr algn="l"/>
            <a:r>
              <a:rPr lang="pt-BR" sz="2400" dirty="0">
                <a:latin typeface="CIDFont+F6"/>
              </a:rPr>
              <a:t>p</a:t>
            </a:r>
            <a:r>
              <a:rPr lang="pt-BR" sz="2400" b="0" i="0" u="none" strike="noStrike" baseline="0" dirty="0">
                <a:latin typeface="CIDFont+F6"/>
              </a:rPr>
              <a:t>rint (valor)                   #   2</a:t>
            </a:r>
          </a:p>
          <a:p>
            <a:r>
              <a:rPr lang="pt-BR" sz="2400" b="0" i="0" u="none" strike="noStrike" baseline="0" dirty="0">
                <a:latin typeface="CIDFont+F6"/>
              </a:rPr>
              <a:t>print(</a:t>
            </a:r>
            <a:r>
              <a:rPr lang="pt-BR" sz="2400" b="0" i="0" u="none" strike="noStrike" baseline="0" dirty="0" err="1">
                <a:latin typeface="CIDFont+F6"/>
              </a:rPr>
              <a:t>type</a:t>
            </a:r>
            <a:r>
              <a:rPr lang="pt-BR" sz="2400" b="0" i="0" u="none" strike="noStrike" baseline="0" dirty="0">
                <a:latin typeface="CIDFont+F6"/>
              </a:rPr>
              <a:t>(valor))         #  &lt;</a:t>
            </a:r>
            <a:r>
              <a:rPr lang="pt-BR" sz="2400" b="0" i="0" u="none" strike="noStrike" baseline="0" dirty="0" err="1">
                <a:latin typeface="CIDFont+F6"/>
              </a:rPr>
              <a:t>class</a:t>
            </a:r>
            <a:r>
              <a:rPr lang="pt-BR" sz="2400" b="0" i="0" u="none" strike="noStrike" baseline="0" dirty="0">
                <a:latin typeface="CIDFont+F6"/>
              </a:rPr>
              <a:t> '</a:t>
            </a:r>
            <a:r>
              <a:rPr lang="pt-BR" sz="2400" b="0" i="0" u="none" strike="noStrike" baseline="0" dirty="0" err="1">
                <a:latin typeface="CIDFont+F6"/>
              </a:rPr>
              <a:t>int</a:t>
            </a:r>
            <a:r>
              <a:rPr lang="pt-BR" sz="2400" b="0" i="0" u="none" strike="noStrike" baseline="0" dirty="0">
                <a:latin typeface="CIDFont+F6"/>
              </a:rPr>
              <a:t>’&gt;</a:t>
            </a:r>
          </a:p>
          <a:p>
            <a:pPr algn="l"/>
            <a:endParaRPr lang="pt-BR" sz="2400" dirty="0">
              <a:latin typeface="CIDFont+F6"/>
            </a:endParaRP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valor = 4.5</a:t>
            </a:r>
          </a:p>
          <a:p>
            <a:pPr algn="l"/>
            <a:r>
              <a:rPr lang="pt-BR" sz="2400" dirty="0">
                <a:latin typeface="CIDFont+F2"/>
              </a:rPr>
              <a:t>p</a:t>
            </a:r>
            <a:r>
              <a:rPr lang="pt-BR" sz="2400" b="0" i="0" u="none" strike="noStrike" baseline="0" dirty="0">
                <a:latin typeface="CIDFont+F2"/>
              </a:rPr>
              <a:t>rint (valor)                  #  4.5</a:t>
            </a:r>
          </a:p>
          <a:p>
            <a:r>
              <a:rPr lang="pt-BR" sz="2400" dirty="0">
                <a:latin typeface="CIDFont+F2"/>
              </a:rPr>
              <a:t>p</a:t>
            </a:r>
            <a:r>
              <a:rPr lang="pt-BR" sz="2400" b="0" i="0" u="none" strike="noStrike" baseline="0" dirty="0">
                <a:latin typeface="CIDFont+F2"/>
              </a:rPr>
              <a:t>rint(</a:t>
            </a:r>
            <a:r>
              <a:rPr lang="pt-BR" sz="2400" b="0" i="0" u="none" strike="noStrike" baseline="0" dirty="0" err="1">
                <a:latin typeface="CIDFont+F2"/>
              </a:rPr>
              <a:t>type</a:t>
            </a:r>
            <a:r>
              <a:rPr lang="pt-BR" sz="2400" b="0" i="0" u="none" strike="noStrike" baseline="0" dirty="0">
                <a:latin typeface="CIDFont+F2"/>
              </a:rPr>
              <a:t>(valor))        # &lt;</a:t>
            </a:r>
            <a:r>
              <a:rPr lang="pt-BR" sz="2400" b="0" i="0" u="none" strike="noStrike" baseline="0" dirty="0" err="1">
                <a:latin typeface="CIDFont+F2"/>
              </a:rPr>
              <a:t>class</a:t>
            </a:r>
            <a:r>
              <a:rPr lang="pt-BR" sz="2400" b="0" i="0" u="none" strike="noStrike" baseline="0" dirty="0">
                <a:latin typeface="CIDFont+F2"/>
              </a:rPr>
              <a:t> 'float'&gt;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787539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DD39BE-CF04-B103-811D-50C33C71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3BEB-64D6-4B00-A6B2-F55A7E645604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FF9928-293A-1164-B02A-668C1632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259FEE-7022-5EAA-6242-EBDA671D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07B88F4-21F9-1CE8-36FF-7C19D82D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Formatação de Identificadores</a:t>
            </a:r>
            <a:endParaRPr lang="pt-BR" sz="4000" b="1" i="1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9ABF505-F097-7837-B72A-40BFF2D41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55155"/>
              </p:ext>
            </p:extLst>
          </p:nvPr>
        </p:nvGraphicFramePr>
        <p:xfrm>
          <a:off x="2031999" y="231648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2974081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17562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Identificador Válido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Identificador Inválido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91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4Arquivo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004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UmNomeMuitoComprido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Casa 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937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Lado2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x +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21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Duas_palavras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266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|123                             ?                     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8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3117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02E707F-C58E-B4FB-764E-B2EAD189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3E21-7DC2-4D68-880C-838ED0938076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12AF04-DD2E-00B7-6E18-BE2D23D3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245B7B-F2FF-C036-884A-7CB7FFEA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A660121-20D4-909F-06F7-4CD17F97B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43" y="221406"/>
            <a:ext cx="11543069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dirty="0"/>
              <a:t>Operações Básicas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1799E4E-942D-AF27-E3B2-EB384EAF1150}"/>
              </a:ext>
            </a:extLst>
          </p:cNvPr>
          <p:cNvSpPr txBox="1"/>
          <p:nvPr/>
        </p:nvSpPr>
        <p:spPr>
          <a:xfrm>
            <a:off x="239151" y="1444784"/>
            <a:ext cx="11840894" cy="46474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b="0" i="0" u="none" strike="noStrike" baseline="0" dirty="0">
                <a:solidFill>
                  <a:srgbClr val="000000"/>
                </a:solidFill>
                <a:latin typeface="CIDFont+F1"/>
              </a:rPr>
              <a:t>Operação de Atribuição</a:t>
            </a:r>
          </a:p>
          <a:p>
            <a:pPr marL="274638" indent="-274638"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O comando 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=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do Python é o comando de 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atribuição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. Ele 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associa a  variável do lado esquerdo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do comando com o </a:t>
            </a:r>
            <a:r>
              <a:rPr lang="pt-BR" sz="2400" b="0" i="0" u="none" strike="noStrike" baseline="0" dirty="0">
                <a:solidFill>
                  <a:srgbClr val="4472C5"/>
                </a:solidFill>
                <a:latin typeface="CIDFont+F2"/>
              </a:rPr>
              <a:t>objeto do lado direito do comando.</a:t>
            </a:r>
          </a:p>
          <a:p>
            <a:pPr algn="l"/>
            <a:endParaRPr lang="pt-BR" sz="2000" b="0" i="0" u="none" strike="noStrike" baseline="0" dirty="0">
              <a:solidFill>
                <a:srgbClr val="4472C5"/>
              </a:solidFill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Um objeto pode ter um nome associado com ele, mais de um nome ou nenhum nome.</a:t>
            </a:r>
          </a:p>
          <a:p>
            <a:pPr algn="l"/>
            <a:endParaRPr lang="pt-BR" sz="24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3200" b="1" i="0" u="none" strike="noStrike" baseline="0" dirty="0">
                <a:solidFill>
                  <a:srgbClr val="FF0000"/>
                </a:solidFill>
                <a:latin typeface="CIDFont+F2"/>
              </a:rPr>
              <a:t> Cuidado:               =</a:t>
            </a:r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 </a:t>
            </a:r>
            <a:r>
              <a:rPr lang="pt-BR" sz="2400" b="0" i="0" u="none" strike="noStrike" baseline="0" dirty="0">
                <a:solidFill>
                  <a:srgbClr val="FF0000"/>
                </a:solidFill>
                <a:latin typeface="CIDFont+F2"/>
              </a:rPr>
              <a:t> 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é u</a:t>
            </a:r>
            <a:r>
              <a:rPr lang="pt-BR" sz="2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sado para atribuição       </a:t>
            </a:r>
            <a:r>
              <a:rPr lang="pt-BR" sz="2400" b="0" i="0" u="none" strike="noStrike" baseline="0" dirty="0">
                <a:solidFill>
                  <a:srgbClr val="FF0000"/>
                </a:solidFill>
                <a:latin typeface="CIDFont+F2"/>
                <a:sym typeface="Wingdings" panose="05000000000000000000" pitchFamily="2" charset="2"/>
              </a:rPr>
              <a:t>        </a:t>
            </a:r>
            <a:r>
              <a:rPr lang="pt-BR" sz="3200" b="1" i="0" u="none" strike="noStrike" baseline="0" dirty="0">
                <a:solidFill>
                  <a:srgbClr val="FF0000"/>
                </a:solidFill>
                <a:latin typeface="CIDFont+F2"/>
              </a:rPr>
              <a:t>==</a:t>
            </a:r>
            <a:r>
              <a:rPr lang="pt-BR" sz="2400" b="0" i="0" u="none" strike="noStrike" baseline="0" dirty="0">
                <a:solidFill>
                  <a:srgbClr val="FF0000"/>
                </a:solidFill>
                <a:latin typeface="CIDFont+F2"/>
              </a:rPr>
              <a:t>  </a:t>
            </a:r>
            <a:r>
              <a:rPr lang="pt-BR" sz="2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é usado para comparação</a:t>
            </a:r>
          </a:p>
          <a:p>
            <a:pPr algn="l"/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                                                </a:t>
            </a:r>
            <a:r>
              <a:rPr lang="pt-BR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Variável_A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CIDFont+F2"/>
              </a:rPr>
              <a:t>=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</a:t>
            </a:r>
            <a:r>
              <a:rPr lang="pt-BR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Variável_B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                      Se </a:t>
            </a:r>
            <a:r>
              <a:rPr lang="pt-BR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Variável_A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CIDFont+F2"/>
              </a:rPr>
              <a:t>==</a:t>
            </a:r>
            <a:r>
              <a:rPr lang="pt-BR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</a:t>
            </a:r>
            <a:r>
              <a:rPr lang="pt-BR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Variável_B</a:t>
            </a:r>
            <a:endParaRPr lang="pt-BR" sz="2400" dirty="0">
              <a:solidFill>
                <a:schemeClr val="tx2">
                  <a:lumMod val="75000"/>
                  <a:lumOff val="25000"/>
                </a:schemeClr>
              </a:solidFill>
              <a:latin typeface="CIDFont+F2"/>
            </a:endParaRPr>
          </a:p>
          <a:p>
            <a:pPr algn="l"/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                                                              </a:t>
            </a:r>
          </a:p>
          <a:p>
            <a:pPr algn="l"/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        </a:t>
            </a:r>
          </a:p>
          <a:p>
            <a:pPr algn="l"/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                                     </a:t>
            </a:r>
          </a:p>
          <a:p>
            <a:pPr algn="l"/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                                       </a:t>
            </a:r>
            <a:r>
              <a:rPr lang="pt-BR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Lado_Esq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</a:t>
            </a:r>
            <a:r>
              <a:rPr lang="pt-BR" sz="2400" dirty="0">
                <a:solidFill>
                  <a:srgbClr val="FF0000"/>
                </a:solidFill>
                <a:latin typeface="CIDFont+F2"/>
              </a:rPr>
              <a:t>(recebe) </a:t>
            </a:r>
            <a:r>
              <a:rPr lang="pt-BR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Lado_Dir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           </a:t>
            </a:r>
            <a:r>
              <a:rPr lang="pt-BR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Lado_Esq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 </a:t>
            </a:r>
            <a:r>
              <a:rPr lang="pt-BR" sz="2400" dirty="0">
                <a:solidFill>
                  <a:srgbClr val="FF0000"/>
                </a:solidFill>
                <a:latin typeface="CIDFont+F2"/>
              </a:rPr>
              <a:t>(igual / idêntico ?) </a:t>
            </a:r>
            <a:r>
              <a:rPr lang="pt-B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2"/>
              </a:rPr>
              <a:t>Lado Dir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740F3F85-5E91-B25D-2B87-290CCC75D54F}"/>
              </a:ext>
            </a:extLst>
          </p:cNvPr>
          <p:cNvSpPr/>
          <p:nvPr/>
        </p:nvSpPr>
        <p:spPr>
          <a:xfrm>
            <a:off x="1448972" y="5760360"/>
            <a:ext cx="961591" cy="2518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Curva para Cima 9">
            <a:extLst>
              <a:ext uri="{FF2B5EF4-FFF2-40B4-BE49-F238E27FC236}">
                <a16:creationId xmlns:a16="http://schemas.microsoft.com/office/drawing/2014/main" id="{880B3114-76A0-48D5-DDAE-4A14827F1B84}"/>
              </a:ext>
            </a:extLst>
          </p:cNvPr>
          <p:cNvSpPr/>
          <p:nvPr/>
        </p:nvSpPr>
        <p:spPr>
          <a:xfrm rot="10800000">
            <a:off x="3183108" y="4770368"/>
            <a:ext cx="2697481" cy="466904"/>
          </a:xfrm>
          <a:prstGeom prst="curvedUpArrow">
            <a:avLst>
              <a:gd name="adj1" fmla="val 25000"/>
              <a:gd name="adj2" fmla="val 109223"/>
              <a:gd name="adj3" fmla="val 25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Igual a 11">
            <a:extLst>
              <a:ext uri="{FF2B5EF4-FFF2-40B4-BE49-F238E27FC236}">
                <a16:creationId xmlns:a16="http://schemas.microsoft.com/office/drawing/2014/main" id="{3B38735E-26C7-CBD9-99E9-11A6627DD7B9}"/>
              </a:ext>
            </a:extLst>
          </p:cNvPr>
          <p:cNvSpPr/>
          <p:nvPr/>
        </p:nvSpPr>
        <p:spPr>
          <a:xfrm rot="10800000">
            <a:off x="4591343" y="5282566"/>
            <a:ext cx="345834" cy="365125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Igual a 5">
            <a:extLst>
              <a:ext uri="{FF2B5EF4-FFF2-40B4-BE49-F238E27FC236}">
                <a16:creationId xmlns:a16="http://schemas.microsoft.com/office/drawing/2014/main" id="{4E51176C-B34D-EC52-5927-8C941CD5988B}"/>
              </a:ext>
            </a:extLst>
          </p:cNvPr>
          <p:cNvSpPr/>
          <p:nvPr/>
        </p:nvSpPr>
        <p:spPr>
          <a:xfrm rot="10800000">
            <a:off x="9447935" y="5287010"/>
            <a:ext cx="345834" cy="365125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Igual a 8">
            <a:extLst>
              <a:ext uri="{FF2B5EF4-FFF2-40B4-BE49-F238E27FC236}">
                <a16:creationId xmlns:a16="http://schemas.microsoft.com/office/drawing/2014/main" id="{CDD05064-F7CE-D948-1FA7-9F8F00C4825A}"/>
              </a:ext>
            </a:extLst>
          </p:cNvPr>
          <p:cNvSpPr/>
          <p:nvPr/>
        </p:nvSpPr>
        <p:spPr>
          <a:xfrm rot="10800000">
            <a:off x="9126421" y="5287010"/>
            <a:ext cx="345834" cy="365125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9BEC6A-0A7D-C3C6-D17C-C3241DE55B01}"/>
              </a:ext>
            </a:extLst>
          </p:cNvPr>
          <p:cNvSpPr txBox="1"/>
          <p:nvPr/>
        </p:nvSpPr>
        <p:spPr>
          <a:xfrm>
            <a:off x="316844" y="5127040"/>
            <a:ext cx="11283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Leia desta forma</a:t>
            </a:r>
          </a:p>
        </p:txBody>
      </p:sp>
      <p:sp>
        <p:nvSpPr>
          <p:cNvPr id="14" name="Seta: Curva para Cima 13">
            <a:extLst>
              <a:ext uri="{FF2B5EF4-FFF2-40B4-BE49-F238E27FC236}">
                <a16:creationId xmlns:a16="http://schemas.microsoft.com/office/drawing/2014/main" id="{CE8CB747-A5B5-7BD3-D670-1E3487EF5099}"/>
              </a:ext>
            </a:extLst>
          </p:cNvPr>
          <p:cNvSpPr/>
          <p:nvPr/>
        </p:nvSpPr>
        <p:spPr>
          <a:xfrm flipV="1">
            <a:off x="7522143" y="4898250"/>
            <a:ext cx="1765767" cy="384741"/>
          </a:xfrm>
          <a:prstGeom prst="curvedUpArrow">
            <a:avLst>
              <a:gd name="adj1" fmla="val 45177"/>
              <a:gd name="adj2" fmla="val 109223"/>
              <a:gd name="adj3" fmla="val 25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5" name="Seta: Curva para Cima 14">
            <a:extLst>
              <a:ext uri="{FF2B5EF4-FFF2-40B4-BE49-F238E27FC236}">
                <a16:creationId xmlns:a16="http://schemas.microsoft.com/office/drawing/2014/main" id="{EC90A1F2-843D-8D1D-1F47-219B6124D8DC}"/>
              </a:ext>
            </a:extLst>
          </p:cNvPr>
          <p:cNvSpPr/>
          <p:nvPr/>
        </p:nvSpPr>
        <p:spPr>
          <a:xfrm flipH="1" flipV="1">
            <a:off x="9517975" y="4892288"/>
            <a:ext cx="1898172" cy="384739"/>
          </a:xfrm>
          <a:prstGeom prst="curvedUpArrow">
            <a:avLst>
              <a:gd name="adj1" fmla="val 45177"/>
              <a:gd name="adj2" fmla="val 109223"/>
              <a:gd name="adj3" fmla="val 2896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30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2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5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8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7" presetClass="emph" presetSubtype="0" repeatCount="3000" fill="remove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0" dur="1500" autoRev="1" fill="remove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1" dur="1500" autoRev="1" fill="remove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2" dur="1500" autoRev="1" fill="remove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1500" autoRev="1" fill="remove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6" grpId="0" animBg="1"/>
      <p:bldP spid="9" grpId="0" animBg="1"/>
      <p:bldP spid="14" grpId="0" animBg="1"/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A88156-DAD5-CDBA-324A-0E85D681E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906A4-A462-470F-8ECD-B1666D167542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6C7DB5-25C2-BEF7-BB15-DB4EC679C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7C7E36-3FA5-AC0E-E601-65998E25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6D4C812-47E1-8AC9-EE06-A4B5B753B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024" y="192593"/>
            <a:ext cx="9748691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Operação de Atribuição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A936107-26AD-A223-1DC5-83C0A06F8776}"/>
              </a:ext>
            </a:extLst>
          </p:cNvPr>
          <p:cNvSpPr txBox="1"/>
          <p:nvPr/>
        </p:nvSpPr>
        <p:spPr>
          <a:xfrm>
            <a:off x="4884421" y="4073653"/>
            <a:ext cx="914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u="none" strike="noStrike" baseline="0" dirty="0">
                <a:latin typeface="CIDFont+F2"/>
              </a:rPr>
              <a:t>a = 10</a:t>
            </a:r>
          </a:p>
          <a:p>
            <a:pPr algn="l"/>
            <a:r>
              <a:rPr lang="pt-BR" sz="2000" b="0" i="0" u="none" strike="noStrike" baseline="0" dirty="0">
                <a:latin typeface="CIDFont+F2"/>
              </a:rPr>
              <a:t>b = 11</a:t>
            </a:r>
          </a:p>
          <a:p>
            <a:pPr algn="l"/>
            <a:r>
              <a:rPr lang="pt-BR" sz="2000" b="0" i="0" u="none" strike="noStrike" baseline="0" dirty="0">
                <a:latin typeface="CIDFont+F2"/>
              </a:rPr>
              <a:t>c = 10</a:t>
            </a:r>
          </a:p>
          <a:p>
            <a:pPr algn="l"/>
            <a:r>
              <a:rPr lang="pt-BR" sz="2000" b="0" i="0" u="none" strike="noStrike" baseline="0" dirty="0">
                <a:latin typeface="CIDFont+F2"/>
              </a:rPr>
              <a:t>b = 20</a:t>
            </a:r>
            <a:endParaRPr lang="pt-BR" sz="2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39D5B60-F50C-15C9-0C55-3B272FA97796}"/>
              </a:ext>
            </a:extLst>
          </p:cNvPr>
          <p:cNvSpPr txBox="1"/>
          <p:nvPr/>
        </p:nvSpPr>
        <p:spPr>
          <a:xfrm>
            <a:off x="10180796" y="2187252"/>
            <a:ext cx="1264920" cy="461665"/>
          </a:xfrm>
          <a:prstGeom prst="rect">
            <a:avLst/>
          </a:prstGeom>
          <a:noFill/>
          <a:ln w="254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10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61783D0-E0D5-6B07-6BB6-74BD10610BBC}"/>
              </a:ext>
            </a:extLst>
          </p:cNvPr>
          <p:cNvSpPr txBox="1"/>
          <p:nvPr/>
        </p:nvSpPr>
        <p:spPr>
          <a:xfrm>
            <a:off x="6029710" y="2607892"/>
            <a:ext cx="112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</a:t>
            </a: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2ACB979-0CC1-117A-5F87-5B1F6DE74D8B}"/>
              </a:ext>
            </a:extLst>
          </p:cNvPr>
          <p:cNvSpPr/>
          <p:nvPr/>
        </p:nvSpPr>
        <p:spPr>
          <a:xfrm>
            <a:off x="7548801" y="2167556"/>
            <a:ext cx="1224437" cy="2789695"/>
          </a:xfrm>
          <a:custGeom>
            <a:avLst/>
            <a:gdLst>
              <a:gd name="connsiteX0" fmla="*/ 92994 w 1224437"/>
              <a:gd name="connsiteY0" fmla="*/ 0 h 2789695"/>
              <a:gd name="connsiteX1" fmla="*/ 1208872 w 1224437"/>
              <a:gd name="connsiteY1" fmla="*/ 681925 h 2789695"/>
              <a:gd name="connsiteX2" fmla="*/ 4 w 1224437"/>
              <a:gd name="connsiteY2" fmla="*/ 1332854 h 2789695"/>
              <a:gd name="connsiteX3" fmla="*/ 1224370 w 1224437"/>
              <a:gd name="connsiteY3" fmla="*/ 2030278 h 2789695"/>
              <a:gd name="connsiteX4" fmla="*/ 61997 w 1224437"/>
              <a:gd name="connsiteY4" fmla="*/ 2789695 h 2789695"/>
              <a:gd name="connsiteX5" fmla="*/ 61997 w 1224437"/>
              <a:gd name="connsiteY5" fmla="*/ 2789695 h 2789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4437" h="2789695">
                <a:moveTo>
                  <a:pt x="92994" y="0"/>
                </a:moveTo>
                <a:cubicBezTo>
                  <a:pt x="658682" y="229891"/>
                  <a:pt x="1224370" y="459783"/>
                  <a:pt x="1208872" y="681925"/>
                </a:cubicBezTo>
                <a:cubicBezTo>
                  <a:pt x="1193374" y="904067"/>
                  <a:pt x="-2579" y="1108129"/>
                  <a:pt x="4" y="1332854"/>
                </a:cubicBezTo>
                <a:cubicBezTo>
                  <a:pt x="2587" y="1557579"/>
                  <a:pt x="1214038" y="1787471"/>
                  <a:pt x="1224370" y="2030278"/>
                </a:cubicBezTo>
                <a:cubicBezTo>
                  <a:pt x="1234702" y="2273085"/>
                  <a:pt x="61997" y="2789695"/>
                  <a:pt x="61997" y="2789695"/>
                </a:cubicBezTo>
                <a:lnTo>
                  <a:pt x="61997" y="2789695"/>
                </a:lnTo>
              </a:path>
            </a:pathLst>
          </a:custGeom>
          <a:noFill/>
          <a:ln w="349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9434DB3-221F-B2E8-AC3C-214F2EFF5C81}"/>
              </a:ext>
            </a:extLst>
          </p:cNvPr>
          <p:cNvCxnSpPr>
            <a:cxnSpLocks/>
          </p:cNvCxnSpPr>
          <p:nvPr/>
        </p:nvCxnSpPr>
        <p:spPr>
          <a:xfrm flipV="1">
            <a:off x="6462696" y="2334785"/>
            <a:ext cx="3718100" cy="51248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D1B62D71-A5F8-C5B8-05A4-D05E66C4358F}"/>
              </a:ext>
            </a:extLst>
          </p:cNvPr>
          <p:cNvSpPr/>
          <p:nvPr/>
        </p:nvSpPr>
        <p:spPr>
          <a:xfrm>
            <a:off x="4129653" y="4191000"/>
            <a:ext cx="754768" cy="1459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DB2D7AF-CE42-46DC-B463-72E5EADDCD9D}"/>
              </a:ext>
            </a:extLst>
          </p:cNvPr>
          <p:cNvSpPr txBox="1"/>
          <p:nvPr/>
        </p:nvSpPr>
        <p:spPr>
          <a:xfrm>
            <a:off x="6029710" y="3212951"/>
            <a:ext cx="112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b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8D56899-8EA7-4EDD-9374-C8A91B63FEAB}"/>
              </a:ext>
            </a:extLst>
          </p:cNvPr>
          <p:cNvSpPr txBox="1"/>
          <p:nvPr/>
        </p:nvSpPr>
        <p:spPr>
          <a:xfrm>
            <a:off x="6022758" y="3909089"/>
            <a:ext cx="112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</a:t>
            </a: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328ADCA2-A12E-6A1F-210B-872C1AAE40DA}"/>
              </a:ext>
            </a:extLst>
          </p:cNvPr>
          <p:cNvSpPr/>
          <p:nvPr/>
        </p:nvSpPr>
        <p:spPr>
          <a:xfrm>
            <a:off x="4129653" y="4494476"/>
            <a:ext cx="754768" cy="1459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D7AF0FFA-4783-1D55-4C47-A142E924ACD9}"/>
              </a:ext>
            </a:extLst>
          </p:cNvPr>
          <p:cNvSpPr/>
          <p:nvPr/>
        </p:nvSpPr>
        <p:spPr>
          <a:xfrm>
            <a:off x="4129653" y="4814883"/>
            <a:ext cx="754768" cy="1459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5376933D-6E6A-3B71-671A-8AB337A674F2}"/>
              </a:ext>
            </a:extLst>
          </p:cNvPr>
          <p:cNvSpPr/>
          <p:nvPr/>
        </p:nvSpPr>
        <p:spPr>
          <a:xfrm>
            <a:off x="4129653" y="5108114"/>
            <a:ext cx="754768" cy="1459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D1B54DE-4650-A4D5-E519-BEA2B6A32C7A}"/>
              </a:ext>
            </a:extLst>
          </p:cNvPr>
          <p:cNvSpPr txBox="1"/>
          <p:nvPr/>
        </p:nvSpPr>
        <p:spPr>
          <a:xfrm>
            <a:off x="8892172" y="1462067"/>
            <a:ext cx="3043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u="none" strike="noStrike" baseline="0" dirty="0">
                <a:solidFill>
                  <a:srgbClr val="FF0000"/>
                </a:solidFill>
                <a:latin typeface="CIDFont+F2"/>
              </a:rPr>
              <a:t>Memória / Objetos</a:t>
            </a:r>
            <a:endParaRPr lang="pt-BR" sz="2800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BC1783F-4005-3760-60AA-47752A944472}"/>
              </a:ext>
            </a:extLst>
          </p:cNvPr>
          <p:cNvSpPr txBox="1"/>
          <p:nvPr/>
        </p:nvSpPr>
        <p:spPr>
          <a:xfrm>
            <a:off x="239151" y="5388257"/>
            <a:ext cx="117665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u="none" strike="noStrike" baseline="0" dirty="0">
                <a:solidFill>
                  <a:srgbClr val="FF0000"/>
                </a:solidFill>
                <a:latin typeface="CIDFont+F2"/>
              </a:rPr>
              <a:t>Quando o objeto não tem mais referência, ele é removido da memória e o espaço que ele ocupava é automaticamente liberado.</a:t>
            </a:r>
            <a:endParaRPr lang="pt-BR" sz="2800" dirty="0"/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D7B1C002-1951-3C71-A6D6-437809ACE197}"/>
              </a:ext>
            </a:extLst>
          </p:cNvPr>
          <p:cNvCxnSpPr>
            <a:cxnSpLocks/>
          </p:cNvCxnSpPr>
          <p:nvPr/>
        </p:nvCxnSpPr>
        <p:spPr>
          <a:xfrm>
            <a:off x="6462696" y="3427676"/>
            <a:ext cx="3277825" cy="1292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C985C5C-07CE-C922-F714-20F4873883D1}"/>
              </a:ext>
            </a:extLst>
          </p:cNvPr>
          <p:cNvSpPr txBox="1"/>
          <p:nvPr/>
        </p:nvSpPr>
        <p:spPr>
          <a:xfrm>
            <a:off x="10157459" y="3209771"/>
            <a:ext cx="1264920" cy="461665"/>
          </a:xfrm>
          <a:prstGeom prst="rect">
            <a:avLst/>
          </a:prstGeom>
          <a:noFill/>
          <a:ln w="254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11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20D7487D-AFFB-B254-47F6-31987428F1FC}"/>
              </a:ext>
            </a:extLst>
          </p:cNvPr>
          <p:cNvCxnSpPr>
            <a:cxnSpLocks/>
          </p:cNvCxnSpPr>
          <p:nvPr/>
        </p:nvCxnSpPr>
        <p:spPr>
          <a:xfrm flipV="1">
            <a:off x="6462696" y="2686113"/>
            <a:ext cx="3637852" cy="143103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B254A07-778C-37B9-1E55-E4787DB7993D}"/>
              </a:ext>
            </a:extLst>
          </p:cNvPr>
          <p:cNvSpPr txBox="1"/>
          <p:nvPr/>
        </p:nvSpPr>
        <p:spPr>
          <a:xfrm>
            <a:off x="10233660" y="4501956"/>
            <a:ext cx="1264920" cy="461665"/>
          </a:xfrm>
          <a:prstGeom prst="rect">
            <a:avLst/>
          </a:prstGeom>
          <a:noFill/>
          <a:ln w="254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20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8640B108-D79D-441F-5124-7BA8152BB566}"/>
              </a:ext>
            </a:extLst>
          </p:cNvPr>
          <p:cNvCxnSpPr>
            <a:cxnSpLocks/>
          </p:cNvCxnSpPr>
          <p:nvPr/>
        </p:nvCxnSpPr>
        <p:spPr>
          <a:xfrm>
            <a:off x="6462696" y="3636106"/>
            <a:ext cx="3694763" cy="102250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lipse 39">
            <a:extLst>
              <a:ext uri="{FF2B5EF4-FFF2-40B4-BE49-F238E27FC236}">
                <a16:creationId xmlns:a16="http://schemas.microsoft.com/office/drawing/2014/main" id="{5FC59955-FF61-C6C8-EBF1-3D9F9B472297}"/>
              </a:ext>
            </a:extLst>
          </p:cNvPr>
          <p:cNvSpPr/>
          <p:nvPr/>
        </p:nvSpPr>
        <p:spPr>
          <a:xfrm>
            <a:off x="9859342" y="2949703"/>
            <a:ext cx="1873751" cy="987173"/>
          </a:xfrm>
          <a:prstGeom prst="ellipse">
            <a:avLst/>
          </a:prstGeom>
          <a:noFill/>
          <a:ln w="476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4EB5F2-9172-A7AC-CAAE-C187A67831AB}"/>
              </a:ext>
            </a:extLst>
          </p:cNvPr>
          <p:cNvSpPr txBox="1"/>
          <p:nvPr/>
        </p:nvSpPr>
        <p:spPr>
          <a:xfrm>
            <a:off x="51604" y="1506930"/>
            <a:ext cx="543505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b="0" i="0" u="none" strike="noStrike" baseline="0" dirty="0">
                <a:solidFill>
                  <a:srgbClr val="000000"/>
                </a:solidFill>
                <a:latin typeface="CIDFont+F2"/>
              </a:rPr>
              <a:t>Neste exemplo, após todos os comando serem executados, o</a:t>
            </a:r>
            <a:r>
              <a:rPr lang="pt-BR" sz="2600" dirty="0">
                <a:solidFill>
                  <a:srgbClr val="000000"/>
                </a:solidFill>
                <a:latin typeface="CIDFont+F2"/>
              </a:rPr>
              <a:t> </a:t>
            </a:r>
            <a:r>
              <a:rPr lang="pt-BR" sz="2600" b="0" i="0" u="none" strike="noStrike" baseline="0" dirty="0">
                <a:solidFill>
                  <a:srgbClr val="000000"/>
                </a:solidFill>
                <a:latin typeface="CIDFont+F2"/>
              </a:rPr>
              <a:t>objeto 10 terá duas variáveis associadas a ele, o objeto 20 uma variável associada a ele e o objeto 11 nenhuma variável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associada a ele.</a:t>
            </a:r>
          </a:p>
        </p:txBody>
      </p:sp>
    </p:spTree>
    <p:extLst>
      <p:ext uri="{BB962C8B-B14F-4D97-AF65-F5344CB8AC3E}">
        <p14:creationId xmlns:p14="http://schemas.microsoft.com/office/powerpoint/2010/main" val="67574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9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4" grpId="0"/>
      <p:bldP spid="27" grpId="0" animBg="1"/>
      <p:bldP spid="29" grpId="0" animBg="1"/>
      <p:bldP spid="4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FF4685-1AB6-D612-9A09-962B7164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2C825-61F2-4C03-BFAE-7D7AF99C4221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884B93-E5C0-03FD-6DEE-D0EC03335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491593-F85E-9593-8365-0295DB4A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9D5FFD3-CFA6-23E6-5C4B-033005486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7388" y="365125"/>
            <a:ext cx="9910146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Operação de Atribuição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C8C46F-701E-A1FD-2010-3790126529F7}"/>
              </a:ext>
            </a:extLst>
          </p:cNvPr>
          <p:cNvSpPr txBox="1"/>
          <p:nvPr/>
        </p:nvSpPr>
        <p:spPr>
          <a:xfrm>
            <a:off x="375046" y="1405067"/>
            <a:ext cx="63543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0" i="0" u="none" strike="noStrike" baseline="0" dirty="0">
                <a:latin typeface="CIDFont+F2"/>
              </a:rPr>
              <a:t>Ex.: Sejam A e B variáveis do tipo </a:t>
            </a:r>
            <a:r>
              <a:rPr lang="pt-BR" sz="3200" b="0" i="0" u="none" strike="noStrike" baseline="0" dirty="0" err="1">
                <a:latin typeface="CIDFont+F6"/>
              </a:rPr>
              <a:t>int</a:t>
            </a:r>
            <a:endParaRPr lang="pt-BR" sz="3200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FD6C39D-7AA3-25D1-4BA4-9FC485CCC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785307"/>
              </p:ext>
            </p:extLst>
          </p:nvPr>
        </p:nvGraphicFramePr>
        <p:xfrm>
          <a:off x="392776" y="3113579"/>
          <a:ext cx="5947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567">
                  <a:extLst>
                    <a:ext uri="{9D8B030D-6E8A-4147-A177-3AD203B41FA5}">
                      <a16:colId xmlns:a16="http://schemas.microsoft.com/office/drawing/2014/main" val="3645100429"/>
                    </a:ext>
                  </a:extLst>
                </a:gridCol>
                <a:gridCol w="961493">
                  <a:extLst>
                    <a:ext uri="{9D8B030D-6E8A-4147-A177-3AD203B41FA5}">
                      <a16:colId xmlns:a16="http://schemas.microsoft.com/office/drawing/2014/main" val="2657602568"/>
                    </a:ext>
                  </a:extLst>
                </a:gridCol>
                <a:gridCol w="3003642">
                  <a:extLst>
                    <a:ext uri="{9D8B030D-6E8A-4147-A177-3AD203B41FA5}">
                      <a16:colId xmlns:a16="http://schemas.microsoft.com/office/drawing/2014/main" val="2230294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7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Objeto ainda não existe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531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 =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230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A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87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 = A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834726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473AA596-E56A-EFAF-5AC6-F0E18D839160}"/>
              </a:ext>
            </a:extLst>
          </p:cNvPr>
          <p:cNvSpPr txBox="1"/>
          <p:nvPr/>
        </p:nvSpPr>
        <p:spPr>
          <a:xfrm>
            <a:off x="8824442" y="1288400"/>
            <a:ext cx="3043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u="none" strike="noStrike" baseline="0" dirty="0">
                <a:solidFill>
                  <a:srgbClr val="FF0000"/>
                </a:solidFill>
                <a:latin typeface="CIDFont+F2"/>
              </a:rPr>
              <a:t>Memória / Objetos</a:t>
            </a:r>
            <a:endParaRPr lang="pt-BR" sz="2800" b="1" dirty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1B5E8676-7611-9DDA-E909-6740405C58B2}"/>
              </a:ext>
            </a:extLst>
          </p:cNvPr>
          <p:cNvSpPr/>
          <p:nvPr/>
        </p:nvSpPr>
        <p:spPr>
          <a:xfrm>
            <a:off x="8539843" y="2462509"/>
            <a:ext cx="1364033" cy="3495368"/>
          </a:xfrm>
          <a:custGeom>
            <a:avLst/>
            <a:gdLst>
              <a:gd name="connsiteX0" fmla="*/ 92994 w 1224437"/>
              <a:gd name="connsiteY0" fmla="*/ 0 h 2789695"/>
              <a:gd name="connsiteX1" fmla="*/ 1208872 w 1224437"/>
              <a:gd name="connsiteY1" fmla="*/ 681925 h 2789695"/>
              <a:gd name="connsiteX2" fmla="*/ 4 w 1224437"/>
              <a:gd name="connsiteY2" fmla="*/ 1332854 h 2789695"/>
              <a:gd name="connsiteX3" fmla="*/ 1224370 w 1224437"/>
              <a:gd name="connsiteY3" fmla="*/ 2030278 h 2789695"/>
              <a:gd name="connsiteX4" fmla="*/ 61997 w 1224437"/>
              <a:gd name="connsiteY4" fmla="*/ 2789695 h 2789695"/>
              <a:gd name="connsiteX5" fmla="*/ 61997 w 1224437"/>
              <a:gd name="connsiteY5" fmla="*/ 2789695 h 2789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4437" h="2789695">
                <a:moveTo>
                  <a:pt x="92994" y="0"/>
                </a:moveTo>
                <a:cubicBezTo>
                  <a:pt x="658682" y="229891"/>
                  <a:pt x="1224370" y="459783"/>
                  <a:pt x="1208872" y="681925"/>
                </a:cubicBezTo>
                <a:cubicBezTo>
                  <a:pt x="1193374" y="904067"/>
                  <a:pt x="-2579" y="1108129"/>
                  <a:pt x="4" y="1332854"/>
                </a:cubicBezTo>
                <a:cubicBezTo>
                  <a:pt x="2587" y="1557579"/>
                  <a:pt x="1214038" y="1787471"/>
                  <a:pt x="1224370" y="2030278"/>
                </a:cubicBezTo>
                <a:cubicBezTo>
                  <a:pt x="1234702" y="2273085"/>
                  <a:pt x="61997" y="2789695"/>
                  <a:pt x="61997" y="2789695"/>
                </a:cubicBezTo>
                <a:lnTo>
                  <a:pt x="61997" y="2789695"/>
                </a:lnTo>
              </a:path>
            </a:pathLst>
          </a:custGeom>
          <a:noFill/>
          <a:ln w="349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C7A8D5BD-58C7-761E-7F05-21097BA88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884395"/>
              </p:ext>
            </p:extLst>
          </p:nvPr>
        </p:nvGraphicFramePr>
        <p:xfrm>
          <a:off x="375046" y="3124038"/>
          <a:ext cx="5947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567">
                  <a:extLst>
                    <a:ext uri="{9D8B030D-6E8A-4147-A177-3AD203B41FA5}">
                      <a16:colId xmlns:a16="http://schemas.microsoft.com/office/drawing/2014/main" val="3645100429"/>
                    </a:ext>
                  </a:extLst>
                </a:gridCol>
                <a:gridCol w="961493">
                  <a:extLst>
                    <a:ext uri="{9D8B030D-6E8A-4147-A177-3AD203B41FA5}">
                      <a16:colId xmlns:a16="http://schemas.microsoft.com/office/drawing/2014/main" val="2657602568"/>
                    </a:ext>
                  </a:extLst>
                </a:gridCol>
                <a:gridCol w="3003642">
                  <a:extLst>
                    <a:ext uri="{9D8B030D-6E8A-4147-A177-3AD203B41FA5}">
                      <a16:colId xmlns:a16="http://schemas.microsoft.com/office/drawing/2014/main" val="2230294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7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Objeto ainda não existe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531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 =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230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A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87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 = A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834726"/>
                  </a:ext>
                </a:extLst>
              </a:tr>
            </a:tbl>
          </a:graphicData>
        </a:graphic>
      </p:graphicFrame>
      <p:sp>
        <p:nvSpPr>
          <p:cNvPr id="20" name="CaixaDeTexto 19">
            <a:extLst>
              <a:ext uri="{FF2B5EF4-FFF2-40B4-BE49-F238E27FC236}">
                <a16:creationId xmlns:a16="http://schemas.microsoft.com/office/drawing/2014/main" id="{5F056487-E586-6F03-62C4-BF92E573B223}"/>
              </a:ext>
            </a:extLst>
          </p:cNvPr>
          <p:cNvSpPr txBox="1"/>
          <p:nvPr/>
        </p:nvSpPr>
        <p:spPr>
          <a:xfrm>
            <a:off x="7427163" y="4217430"/>
            <a:ext cx="429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6AA7A1C-4AE5-75BC-1742-BE1215F44428}"/>
              </a:ext>
            </a:extLst>
          </p:cNvPr>
          <p:cNvSpPr txBox="1"/>
          <p:nvPr/>
        </p:nvSpPr>
        <p:spPr>
          <a:xfrm>
            <a:off x="7427163" y="5243797"/>
            <a:ext cx="429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B</a:t>
            </a: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53EE278B-8A2F-E0A1-3E70-A822A455106F}"/>
              </a:ext>
            </a:extLst>
          </p:cNvPr>
          <p:cNvCxnSpPr>
            <a:stCxn id="20" idx="3"/>
          </p:cNvCxnSpPr>
          <p:nvPr/>
        </p:nvCxnSpPr>
        <p:spPr>
          <a:xfrm flipV="1">
            <a:off x="7856371" y="3628686"/>
            <a:ext cx="2556587" cy="81957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030B8D2-5374-BC2E-C91A-545FCC3B6765}"/>
              </a:ext>
            </a:extLst>
          </p:cNvPr>
          <p:cNvSpPr txBox="1"/>
          <p:nvPr/>
        </p:nvSpPr>
        <p:spPr>
          <a:xfrm>
            <a:off x="10580909" y="3503642"/>
            <a:ext cx="485192" cy="46166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2</a:t>
            </a:r>
          </a:p>
        </p:txBody>
      </p:sp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B90D437A-4FDC-8C3F-ACB3-00CBBBB37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476232"/>
              </p:ext>
            </p:extLst>
          </p:nvPr>
        </p:nvGraphicFramePr>
        <p:xfrm>
          <a:off x="367976" y="3141475"/>
          <a:ext cx="5947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567">
                  <a:extLst>
                    <a:ext uri="{9D8B030D-6E8A-4147-A177-3AD203B41FA5}">
                      <a16:colId xmlns:a16="http://schemas.microsoft.com/office/drawing/2014/main" val="3645100429"/>
                    </a:ext>
                  </a:extLst>
                </a:gridCol>
                <a:gridCol w="961493">
                  <a:extLst>
                    <a:ext uri="{9D8B030D-6E8A-4147-A177-3AD203B41FA5}">
                      <a16:colId xmlns:a16="http://schemas.microsoft.com/office/drawing/2014/main" val="2657602568"/>
                    </a:ext>
                  </a:extLst>
                </a:gridCol>
                <a:gridCol w="3003642">
                  <a:extLst>
                    <a:ext uri="{9D8B030D-6E8A-4147-A177-3AD203B41FA5}">
                      <a16:colId xmlns:a16="http://schemas.microsoft.com/office/drawing/2014/main" val="2230294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7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Objeto ainda não existe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531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 =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230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A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87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 = A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834726"/>
                  </a:ext>
                </a:extLst>
              </a:tr>
            </a:tbl>
          </a:graphicData>
        </a:graphic>
      </p:graphicFrame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CFB1C63A-610F-414F-5AAA-DAA97AD290DE}"/>
              </a:ext>
            </a:extLst>
          </p:cNvPr>
          <p:cNvCxnSpPr>
            <a:cxnSpLocks/>
          </p:cNvCxnSpPr>
          <p:nvPr/>
        </p:nvCxnSpPr>
        <p:spPr>
          <a:xfrm flipV="1">
            <a:off x="7856371" y="3957699"/>
            <a:ext cx="2556587" cy="143073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ela 33">
            <a:extLst>
              <a:ext uri="{FF2B5EF4-FFF2-40B4-BE49-F238E27FC236}">
                <a16:creationId xmlns:a16="http://schemas.microsoft.com/office/drawing/2014/main" id="{06EA3087-86E4-BC92-BE3D-875A2E97D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42733"/>
              </p:ext>
            </p:extLst>
          </p:nvPr>
        </p:nvGraphicFramePr>
        <p:xfrm>
          <a:off x="367976" y="3121643"/>
          <a:ext cx="5947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567">
                  <a:extLst>
                    <a:ext uri="{9D8B030D-6E8A-4147-A177-3AD203B41FA5}">
                      <a16:colId xmlns:a16="http://schemas.microsoft.com/office/drawing/2014/main" val="3645100429"/>
                    </a:ext>
                  </a:extLst>
                </a:gridCol>
                <a:gridCol w="961493">
                  <a:extLst>
                    <a:ext uri="{9D8B030D-6E8A-4147-A177-3AD203B41FA5}">
                      <a16:colId xmlns:a16="http://schemas.microsoft.com/office/drawing/2014/main" val="2657602568"/>
                    </a:ext>
                  </a:extLst>
                </a:gridCol>
                <a:gridCol w="3003642">
                  <a:extLst>
                    <a:ext uri="{9D8B030D-6E8A-4147-A177-3AD203B41FA5}">
                      <a16:colId xmlns:a16="http://schemas.microsoft.com/office/drawing/2014/main" val="2230294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7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Objeto ainda não existe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531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 =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230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A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87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 = A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834726"/>
                  </a:ext>
                </a:extLst>
              </a:tr>
            </a:tbl>
          </a:graphicData>
        </a:graphic>
      </p:graphicFrame>
      <p:sp>
        <p:nvSpPr>
          <p:cNvPr id="37" name="CaixaDeTexto 36">
            <a:extLst>
              <a:ext uri="{FF2B5EF4-FFF2-40B4-BE49-F238E27FC236}">
                <a16:creationId xmlns:a16="http://schemas.microsoft.com/office/drawing/2014/main" id="{5D478CE9-C4E4-121E-2946-0AE8AE2F60FA}"/>
              </a:ext>
            </a:extLst>
          </p:cNvPr>
          <p:cNvSpPr txBox="1"/>
          <p:nvPr/>
        </p:nvSpPr>
        <p:spPr>
          <a:xfrm>
            <a:off x="10580909" y="2596243"/>
            <a:ext cx="485192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5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1262239B-3552-42BF-EB09-08AA6BFE730E}"/>
              </a:ext>
            </a:extLst>
          </p:cNvPr>
          <p:cNvCxnSpPr/>
          <p:nvPr/>
        </p:nvCxnSpPr>
        <p:spPr>
          <a:xfrm flipV="1">
            <a:off x="7856371" y="2841171"/>
            <a:ext cx="2556587" cy="137625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ela 39">
            <a:extLst>
              <a:ext uri="{FF2B5EF4-FFF2-40B4-BE49-F238E27FC236}">
                <a16:creationId xmlns:a16="http://schemas.microsoft.com/office/drawing/2014/main" id="{5FE1032C-F07B-DC74-32CA-9CFCF4BD0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182038"/>
              </p:ext>
            </p:extLst>
          </p:nvPr>
        </p:nvGraphicFramePr>
        <p:xfrm>
          <a:off x="361822" y="3116602"/>
          <a:ext cx="5947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567">
                  <a:extLst>
                    <a:ext uri="{9D8B030D-6E8A-4147-A177-3AD203B41FA5}">
                      <a16:colId xmlns:a16="http://schemas.microsoft.com/office/drawing/2014/main" val="3645100429"/>
                    </a:ext>
                  </a:extLst>
                </a:gridCol>
                <a:gridCol w="961493">
                  <a:extLst>
                    <a:ext uri="{9D8B030D-6E8A-4147-A177-3AD203B41FA5}">
                      <a16:colId xmlns:a16="http://schemas.microsoft.com/office/drawing/2014/main" val="2657602568"/>
                    </a:ext>
                  </a:extLst>
                </a:gridCol>
                <a:gridCol w="3003642">
                  <a:extLst>
                    <a:ext uri="{9D8B030D-6E8A-4147-A177-3AD203B41FA5}">
                      <a16:colId xmlns:a16="http://schemas.microsoft.com/office/drawing/2014/main" val="2230294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7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Objeto ainda não existe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531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 =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230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A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87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 = A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834726"/>
                  </a:ext>
                </a:extLst>
              </a:tr>
            </a:tbl>
          </a:graphicData>
        </a:graphic>
      </p:graphicFrame>
      <p:sp>
        <p:nvSpPr>
          <p:cNvPr id="42" name="CaixaDeTexto 41">
            <a:extLst>
              <a:ext uri="{FF2B5EF4-FFF2-40B4-BE49-F238E27FC236}">
                <a16:creationId xmlns:a16="http://schemas.microsoft.com/office/drawing/2014/main" id="{65E618FB-7C44-3862-6591-1E8ACCAF5350}"/>
              </a:ext>
            </a:extLst>
          </p:cNvPr>
          <p:cNvSpPr txBox="1"/>
          <p:nvPr/>
        </p:nvSpPr>
        <p:spPr>
          <a:xfrm>
            <a:off x="10580909" y="4502150"/>
            <a:ext cx="515521" cy="46166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7</a:t>
            </a:r>
          </a:p>
        </p:txBody>
      </p: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37FCDA16-A532-E301-E885-8A9060C89113}"/>
              </a:ext>
            </a:extLst>
          </p:cNvPr>
          <p:cNvCxnSpPr>
            <a:stCxn id="22" idx="3"/>
          </p:cNvCxnSpPr>
          <p:nvPr/>
        </p:nvCxnSpPr>
        <p:spPr>
          <a:xfrm flipV="1">
            <a:off x="7856371" y="4679095"/>
            <a:ext cx="2430629" cy="79553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26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3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3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3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3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3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4" dur="3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3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20" grpId="0"/>
      <p:bldP spid="22" grpId="0"/>
      <p:bldP spid="27" grpId="0" animBg="1"/>
      <p:bldP spid="37" grpId="0" animBg="1"/>
      <p:bldP spid="4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EDC12A4-10A1-2654-2F3E-1EF3F36D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8286-C124-4EC0-94C2-08D5D310A2DD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ED11268-48FA-68FF-4B68-7C3F81DE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A21D3D-685A-F135-599A-384924F7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9A71301-3D9A-D984-BA10-CD66B26A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dirty="0">
                <a:latin typeface="CIDFont+F1"/>
              </a:rPr>
              <a:t>Memória e Endereços</a:t>
            </a:r>
            <a:endParaRPr lang="pt-BR" sz="4000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F0104F8-9B3B-A1B3-A0E0-2735701300BF}"/>
              </a:ext>
            </a:extLst>
          </p:cNvPr>
          <p:cNvSpPr txBox="1"/>
          <p:nvPr/>
        </p:nvSpPr>
        <p:spPr>
          <a:xfrm>
            <a:off x="2308272" y="1200944"/>
            <a:ext cx="840544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A = 2</a:t>
            </a:r>
          </a:p>
          <a:p>
            <a:r>
              <a:rPr lang="pt-BR" sz="2000" dirty="0"/>
              <a:t>print('A = ', A)                                             #  A =  2</a:t>
            </a:r>
          </a:p>
          <a:p>
            <a:r>
              <a:rPr lang="pt-BR" sz="2000" dirty="0"/>
              <a:t>print('Endereço de A: ', </a:t>
            </a:r>
            <a:r>
              <a:rPr lang="pt-BR" sz="2000" b="1" dirty="0">
                <a:solidFill>
                  <a:srgbClr val="FF0000"/>
                </a:solidFill>
              </a:rPr>
              <a:t>id</a:t>
            </a:r>
            <a:r>
              <a:rPr lang="pt-BR" sz="2000" dirty="0"/>
              <a:t>(A))             #  de A:  140735502979912</a:t>
            </a:r>
          </a:p>
          <a:p>
            <a:endParaRPr lang="pt-BR" sz="2000" dirty="0"/>
          </a:p>
          <a:p>
            <a:r>
              <a:rPr lang="pt-BR" sz="2000" dirty="0"/>
              <a:t>B = A</a:t>
            </a:r>
          </a:p>
          <a:p>
            <a:r>
              <a:rPr lang="pt-BR" sz="2000" dirty="0"/>
              <a:t>print('B = ', B)                                            # B =  2</a:t>
            </a:r>
          </a:p>
          <a:p>
            <a:r>
              <a:rPr lang="pt-BR" sz="2000" dirty="0"/>
              <a:t>print('Endereço de B: ', </a:t>
            </a:r>
            <a:r>
              <a:rPr lang="pt-BR" sz="2000" b="1" dirty="0">
                <a:solidFill>
                  <a:srgbClr val="FF0000"/>
                </a:solidFill>
              </a:rPr>
              <a:t>id</a:t>
            </a:r>
            <a:r>
              <a:rPr lang="pt-BR" sz="2000" dirty="0"/>
              <a:t>(B))            # Endereço de B:  140735502979912</a:t>
            </a:r>
          </a:p>
          <a:p>
            <a:endParaRPr lang="pt-BR" sz="2000" dirty="0"/>
          </a:p>
          <a:p>
            <a:r>
              <a:rPr lang="pt-BR" sz="2000" dirty="0"/>
              <a:t>A = A + 3</a:t>
            </a:r>
          </a:p>
          <a:p>
            <a:r>
              <a:rPr lang="pt-BR" sz="2000" dirty="0"/>
              <a:t>print('A = ', A)                                             # A =  5</a:t>
            </a:r>
          </a:p>
          <a:p>
            <a:r>
              <a:rPr lang="pt-BR" sz="2000" dirty="0"/>
              <a:t>print('Endereço de A: ', </a:t>
            </a:r>
            <a:r>
              <a:rPr lang="pt-BR" sz="2000" b="1" dirty="0">
                <a:solidFill>
                  <a:srgbClr val="FF0000"/>
                </a:solidFill>
              </a:rPr>
              <a:t>id</a:t>
            </a:r>
            <a:r>
              <a:rPr lang="pt-BR" sz="2000" dirty="0"/>
              <a:t>(A))             # Endereço de A:  140735502980008</a:t>
            </a:r>
          </a:p>
          <a:p>
            <a:endParaRPr lang="pt-BR" sz="2000" dirty="0"/>
          </a:p>
          <a:p>
            <a:r>
              <a:rPr lang="pt-BR" sz="2000" dirty="0"/>
              <a:t>B = A + B           </a:t>
            </a:r>
          </a:p>
          <a:p>
            <a:r>
              <a:rPr lang="pt-BR" sz="2000" dirty="0"/>
              <a:t>print('B = ', B)                                            # B =  7</a:t>
            </a:r>
          </a:p>
          <a:p>
            <a:r>
              <a:rPr lang="pt-BR" sz="2000" dirty="0"/>
              <a:t>print('Endereço de B: ', </a:t>
            </a:r>
            <a:r>
              <a:rPr lang="pt-BR" sz="2000" b="1" dirty="0">
                <a:solidFill>
                  <a:srgbClr val="FF0000"/>
                </a:solidFill>
              </a:rPr>
              <a:t>id</a:t>
            </a:r>
            <a:r>
              <a:rPr lang="pt-BR" sz="2000" dirty="0"/>
              <a:t>(B))            # Endereço de B:  140735502980072</a:t>
            </a:r>
          </a:p>
          <a:p>
            <a:r>
              <a:rPr lang="pt-BR" sz="2000" dirty="0"/>
              <a:t>print('A = ', A)                                            #  A =  5</a:t>
            </a:r>
          </a:p>
          <a:p>
            <a:r>
              <a:rPr lang="pt-BR" sz="2000" dirty="0"/>
              <a:t>print('Endereço de A: ', </a:t>
            </a:r>
            <a:r>
              <a:rPr lang="pt-BR" sz="2000" b="1" dirty="0">
                <a:solidFill>
                  <a:srgbClr val="FF0000"/>
                </a:solidFill>
              </a:rPr>
              <a:t>id</a:t>
            </a:r>
            <a:r>
              <a:rPr lang="pt-BR" sz="2000" dirty="0"/>
              <a:t>(A))            # Endereço de A:  140735502980008</a:t>
            </a:r>
          </a:p>
        </p:txBody>
      </p:sp>
    </p:spTree>
    <p:extLst>
      <p:ext uri="{BB962C8B-B14F-4D97-AF65-F5344CB8AC3E}">
        <p14:creationId xmlns:p14="http://schemas.microsoft.com/office/powerpoint/2010/main" val="38375751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1572AF-1BAD-943C-E8B1-F3E9D722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CBE9-6997-491C-8C5D-9B76BB65906F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6ECCE8F-5468-D544-3A26-D4B6F6F6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C2A86C-B6EE-9554-C4D1-C2542810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BF22837-F317-1014-CAC5-1608159AB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239" y="350612"/>
            <a:ext cx="9719418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Operadores Especiais em Python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EA99C4E-90C1-7177-7641-3916CCA5B813}"/>
              </a:ext>
            </a:extLst>
          </p:cNvPr>
          <p:cNvSpPr txBox="1"/>
          <p:nvPr/>
        </p:nvSpPr>
        <p:spPr>
          <a:xfrm>
            <a:off x="4013200" y="1462703"/>
            <a:ext cx="562428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u="none" strike="noStrike" baseline="0" dirty="0">
                <a:latin typeface="CIDFont+F2"/>
              </a:rPr>
              <a:t>A=A+3;</a:t>
            </a:r>
            <a:r>
              <a:rPr lang="pt-BR" sz="2400" b="1" dirty="0">
                <a:latin typeface="CIDFont+F2"/>
              </a:rPr>
              <a:t>					</a:t>
            </a:r>
            <a:r>
              <a:rPr lang="pt-BR" sz="2400" b="1" i="0" u="none" strike="noStrike" baseline="0" dirty="0">
                <a:latin typeface="CIDFont+F2"/>
              </a:rPr>
              <a:t>A+=3; </a:t>
            </a:r>
          </a:p>
          <a:p>
            <a:pPr algn="l"/>
            <a:endParaRPr lang="pt-BR" sz="2400" b="1" i="0" u="none" strike="noStrike" baseline="0" dirty="0">
              <a:latin typeface="CIDFont+F2"/>
            </a:endParaRP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B=B-4;					B-=4;</a:t>
            </a:r>
          </a:p>
          <a:p>
            <a:pPr algn="l"/>
            <a:endParaRPr lang="pt-BR" sz="2400" b="1" i="0" u="none" strike="noStrike" baseline="0" dirty="0">
              <a:latin typeface="CIDFont+F2"/>
            </a:endParaRP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C=C*2; 				C*=2;</a:t>
            </a:r>
          </a:p>
          <a:p>
            <a:pPr algn="l"/>
            <a:endParaRPr lang="pt-BR" sz="2400" b="1" i="0" u="none" strike="noStrike" baseline="0" dirty="0">
              <a:latin typeface="CIDFont+F2"/>
            </a:endParaRP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D=D/5;					D/=5;</a:t>
            </a:r>
          </a:p>
          <a:p>
            <a:pPr algn="l"/>
            <a:endParaRPr lang="pt-BR" sz="2400" b="1" i="0" u="none" strike="noStrike" baseline="0" dirty="0">
              <a:latin typeface="CIDFont+F2"/>
            </a:endParaRP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E=E%2; 				E%=2;</a:t>
            </a:r>
          </a:p>
          <a:p>
            <a:pPr algn="l"/>
            <a:endParaRPr lang="pt-BR" sz="2400" b="1" i="0" u="none" strike="noStrike" baseline="0" dirty="0">
              <a:latin typeface="CIDFont+F2"/>
            </a:endParaRP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F=F//3; 			             F//=3;</a:t>
            </a:r>
            <a:endParaRPr lang="nn-NO" sz="2400" b="1" i="0" u="none" strike="noStrike" baseline="0" dirty="0">
              <a:latin typeface="CIDFont+F2"/>
            </a:endParaRPr>
          </a:p>
          <a:p>
            <a:pPr algn="l"/>
            <a:endParaRPr lang="nn-NO" sz="2400" b="1" i="0" u="none" strike="noStrike" baseline="0" dirty="0">
              <a:latin typeface="CIDFont+F2"/>
            </a:endParaRPr>
          </a:p>
          <a:p>
            <a:pPr algn="l"/>
            <a:r>
              <a:rPr lang="nn-NO" sz="2400" b="1" i="0" u="none" strike="noStrike" baseline="0" dirty="0">
                <a:latin typeface="CIDFont+F2"/>
              </a:rPr>
              <a:t>G=G**2; 			             G**=2</a:t>
            </a:r>
            <a:r>
              <a:rPr lang="nn-NO" sz="1800" b="1" i="0" u="none" strike="noStrike" baseline="0" dirty="0">
                <a:latin typeface="CIDFont+F2"/>
              </a:rPr>
              <a:t>;</a:t>
            </a:r>
            <a:endParaRPr lang="pt-BR" b="1" dirty="0"/>
          </a:p>
        </p:txBody>
      </p:sp>
      <p:sp>
        <p:nvSpPr>
          <p:cNvPr id="8" name="Seta: da Esquerda para a Direita 7">
            <a:extLst>
              <a:ext uri="{FF2B5EF4-FFF2-40B4-BE49-F238E27FC236}">
                <a16:creationId xmlns:a16="http://schemas.microsoft.com/office/drawing/2014/main" id="{9DE0E0BF-8C99-E114-4B39-93B56806B253}"/>
              </a:ext>
            </a:extLst>
          </p:cNvPr>
          <p:cNvSpPr/>
          <p:nvPr/>
        </p:nvSpPr>
        <p:spPr>
          <a:xfrm>
            <a:off x="6230257" y="1516242"/>
            <a:ext cx="1190172" cy="3651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da Esquerda para a Direita 18">
            <a:extLst>
              <a:ext uri="{FF2B5EF4-FFF2-40B4-BE49-F238E27FC236}">
                <a16:creationId xmlns:a16="http://schemas.microsoft.com/office/drawing/2014/main" id="{190FD640-E3ED-4613-944B-A4441B10434D}"/>
              </a:ext>
            </a:extLst>
          </p:cNvPr>
          <p:cNvSpPr/>
          <p:nvPr/>
        </p:nvSpPr>
        <p:spPr>
          <a:xfrm>
            <a:off x="6230257" y="6032517"/>
            <a:ext cx="1190172" cy="3651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: da Esquerda para a Direita 19">
            <a:extLst>
              <a:ext uri="{FF2B5EF4-FFF2-40B4-BE49-F238E27FC236}">
                <a16:creationId xmlns:a16="http://schemas.microsoft.com/office/drawing/2014/main" id="{87088215-9544-8502-75FE-510ACA70DEAC}"/>
              </a:ext>
            </a:extLst>
          </p:cNvPr>
          <p:cNvSpPr/>
          <p:nvPr/>
        </p:nvSpPr>
        <p:spPr>
          <a:xfrm>
            <a:off x="6230257" y="2207468"/>
            <a:ext cx="1190172" cy="3651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: da Esquerda para a Direita 20">
            <a:extLst>
              <a:ext uri="{FF2B5EF4-FFF2-40B4-BE49-F238E27FC236}">
                <a16:creationId xmlns:a16="http://schemas.microsoft.com/office/drawing/2014/main" id="{D33FE4F4-F1B6-A48E-66CE-AB574D37A821}"/>
              </a:ext>
            </a:extLst>
          </p:cNvPr>
          <p:cNvSpPr/>
          <p:nvPr/>
        </p:nvSpPr>
        <p:spPr>
          <a:xfrm>
            <a:off x="6230257" y="2976070"/>
            <a:ext cx="1190172" cy="3651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da Esquerda para a Direita 21">
            <a:extLst>
              <a:ext uri="{FF2B5EF4-FFF2-40B4-BE49-F238E27FC236}">
                <a16:creationId xmlns:a16="http://schemas.microsoft.com/office/drawing/2014/main" id="{059C734B-62AA-FCC2-2A60-A30EE6AC42AA}"/>
              </a:ext>
            </a:extLst>
          </p:cNvPr>
          <p:cNvSpPr/>
          <p:nvPr/>
        </p:nvSpPr>
        <p:spPr>
          <a:xfrm>
            <a:off x="6230257" y="3753733"/>
            <a:ext cx="1190172" cy="3651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da Esquerda para a Direita 22">
            <a:extLst>
              <a:ext uri="{FF2B5EF4-FFF2-40B4-BE49-F238E27FC236}">
                <a16:creationId xmlns:a16="http://schemas.microsoft.com/office/drawing/2014/main" id="{0F440951-4F00-9A4C-9196-008AEB5FF9D9}"/>
              </a:ext>
            </a:extLst>
          </p:cNvPr>
          <p:cNvSpPr/>
          <p:nvPr/>
        </p:nvSpPr>
        <p:spPr>
          <a:xfrm>
            <a:off x="6230257" y="4548646"/>
            <a:ext cx="1190172" cy="3651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: da Esquerda para a Direita 23">
            <a:extLst>
              <a:ext uri="{FF2B5EF4-FFF2-40B4-BE49-F238E27FC236}">
                <a16:creationId xmlns:a16="http://schemas.microsoft.com/office/drawing/2014/main" id="{79D4281D-647A-D722-DF4B-7E6029C6BB66}"/>
              </a:ext>
            </a:extLst>
          </p:cNvPr>
          <p:cNvSpPr/>
          <p:nvPr/>
        </p:nvSpPr>
        <p:spPr>
          <a:xfrm>
            <a:off x="6230257" y="5237604"/>
            <a:ext cx="1190172" cy="3651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891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BA9CA1B-AA27-8B52-70AD-3A0F4F7F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B67B-7475-46F2-80F5-7D87C1A2E3D9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A2821D-6A10-6991-67E3-3C1362B0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71BF4C-B151-4C76-D455-8D702A2E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F2B39D2-D201-B5FC-B582-57B31FCBE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285" y="136525"/>
            <a:ext cx="9864563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Bibliotecas em Python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500AA7-90E0-8B11-8105-7D129FF520A2}"/>
              </a:ext>
            </a:extLst>
          </p:cNvPr>
          <p:cNvSpPr txBox="1"/>
          <p:nvPr/>
        </p:nvSpPr>
        <p:spPr>
          <a:xfrm>
            <a:off x="631876" y="1416834"/>
            <a:ext cx="1044760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 algn="l"/>
            <a:r>
              <a:rPr lang="pt-B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 biblioteca padrão do Python é uma coleção de módulos de script, utilizado para simplificar o processo de programação.</a:t>
            </a:r>
          </a:p>
          <a:p>
            <a:pPr marL="174625" indent="-174625" algn="l"/>
            <a:endParaRPr lang="pt-BR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7188" indent="-357188" algn="l"/>
            <a:r>
              <a:rPr lang="pt-B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Uma lista de módulos de bibliotecas pode ser encontrada em </a:t>
            </a:r>
            <a:r>
              <a:rPr lang="pt-BR" b="0" i="0" u="none" strike="noStrike" baseline="0" dirty="0">
                <a:solidFill>
                  <a:srgbClr val="0563C2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http://www.python.org/doc</a:t>
            </a:r>
            <a:endParaRPr lang="pt-BR" b="0" i="0" u="none" strike="noStrike" baseline="0" dirty="0">
              <a:solidFill>
                <a:srgbClr val="0563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pt-BR" sz="1600" b="0" i="0" u="none" strike="noStrike" baseline="0" dirty="0">
              <a:solidFill>
                <a:srgbClr val="0563C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Algumas bibliotecas:  Biblioteca </a:t>
            </a:r>
            <a:r>
              <a:rPr lang="pt-BR" b="0" i="0" u="none" strike="noStrike" baseline="0" dirty="0" err="1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r>
              <a:rPr lang="pt-BR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(funções matemáticas).</a:t>
            </a:r>
            <a:endParaRPr lang="pt-BR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Biblioteca </a:t>
            </a:r>
            <a:r>
              <a:rPr lang="pt-BR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</a:t>
            </a:r>
            <a:r>
              <a:rPr lang="pt-B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(gera números aleatórios)</a:t>
            </a:r>
          </a:p>
          <a:p>
            <a:pPr marL="261938" algn="l"/>
            <a:endParaRPr lang="pt-BR" sz="16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1938" indent="-261938"/>
            <a:r>
              <a:rPr lang="pt-B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Para fazer referência às bibliotecas deve-se declarar o arquivo em que se encontra a biblioteca.</a:t>
            </a:r>
          </a:p>
          <a:p>
            <a:pPr marL="365125" algn="l"/>
            <a:r>
              <a:rPr lang="pt-BR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Ex.: </a:t>
            </a:r>
            <a:r>
              <a:rPr lang="pt-BR" b="0" i="0" u="none" strike="noStrike" baseline="0" dirty="0" err="1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0" i="0" u="none" strike="noStrike" baseline="0" dirty="0" err="1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r>
              <a:rPr lang="pt-BR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  </a:t>
            </a:r>
            <a:r>
              <a:rPr lang="pt-BR" b="0" i="0" u="none" strike="noStrike" baseline="0" dirty="0" err="1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0" i="0" u="none" strike="noStrike" baseline="0" dirty="0" err="1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randon</a:t>
            </a:r>
            <a:r>
              <a:rPr lang="pt-BR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pt-BR" b="0" i="0" u="none" strike="noStrike" baseline="0" dirty="0" err="1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os,  </a:t>
            </a:r>
            <a:r>
              <a:rPr lang="pt-BR" b="0" i="0" u="none" strike="noStrike" baseline="0" dirty="0" err="1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0" i="0" u="none" strike="noStrike" baseline="0" dirty="0" err="1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r>
              <a:rPr lang="pt-BR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b="0" i="0" u="none" strike="noStrike" baseline="0" dirty="0" err="1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b="0" i="0" u="none" strike="noStrike" baseline="0" dirty="0">
                <a:solidFill>
                  <a:srgbClr val="4472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date. . .</a:t>
            </a:r>
          </a:p>
          <a:p>
            <a:pPr algn="l"/>
            <a:endParaRPr lang="pt-BR" sz="1600" dirty="0">
              <a:solidFill>
                <a:srgbClr val="4472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Pode-se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importar apenas uma função específica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de uma biblioteca em Python usando a sintaxe:   </a:t>
            </a:r>
            <a:r>
              <a:rPr lang="pt-B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pt-BR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nome_da_biblioteca</a:t>
            </a:r>
            <a:r>
              <a:rPr lang="pt-B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nome_da_função</a:t>
            </a:r>
            <a:r>
              <a:rPr lang="pt-B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       </a:t>
            </a:r>
          </a:p>
          <a:p>
            <a:pPr marL="808038" indent="-533400"/>
            <a:endParaRPr lang="pt-BR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8038" indent="-533400"/>
            <a:r>
              <a:rPr lang="pt-B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Exemplo:  from </a:t>
            </a:r>
            <a:r>
              <a:rPr lang="pt-B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r>
              <a:rPr lang="pt-B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pt-B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sqrt</a:t>
            </a:r>
            <a:endParaRPr lang="pt-BR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31925"/>
            <a:r>
              <a:rPr lang="pt-B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 = </a:t>
            </a:r>
            <a:r>
              <a:rPr lang="pt-B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math.sqrt</a:t>
            </a:r>
            <a:r>
              <a:rPr lang="pt-B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(16)</a:t>
            </a:r>
          </a:p>
          <a:p>
            <a:pPr marL="4038600" indent="-2606675">
              <a:tabLst>
                <a:tab pos="1431925" algn="l"/>
              </a:tabLst>
            </a:pPr>
            <a:r>
              <a:rPr lang="pt-B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print(resultado)  # Saída: 4.0</a:t>
            </a:r>
            <a:endParaRPr lang="pt-BR" sz="2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7B20DB-FA54-C72C-875A-1B7D3C8E040F}"/>
              </a:ext>
            </a:extLst>
          </p:cNvPr>
          <p:cNvSpPr txBox="1"/>
          <p:nvPr/>
        </p:nvSpPr>
        <p:spPr>
          <a:xfrm>
            <a:off x="478303" y="2771051"/>
            <a:ext cx="114745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2400" b="1" dirty="0" err="1">
                <a:solidFill>
                  <a:srgbClr val="FF0000"/>
                </a:solidFill>
                <a:latin typeface="Arial Unicode MS" panose="020B0604020202020204" pitchFamily="34" charset="-128"/>
              </a:rPr>
              <a:t>import</a:t>
            </a:r>
            <a:r>
              <a:rPr lang="pt-BR" altLang="pt-BR" sz="2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 biblioteca</a:t>
            </a:r>
            <a:r>
              <a:rPr lang="pt-BR" altLang="pt-BR" sz="2400" b="1" dirty="0">
                <a:solidFill>
                  <a:srgbClr val="FF0000"/>
                </a:solidFill>
              </a:rPr>
              <a:t> </a:t>
            </a:r>
            <a:r>
              <a:rPr lang="pt-BR" altLang="pt-BR" sz="2400" b="1" dirty="0"/>
              <a:t>→</a:t>
            </a:r>
            <a:r>
              <a:rPr lang="pt-BR" altLang="pt-BR" sz="2400" dirty="0"/>
              <a:t> </a:t>
            </a:r>
            <a:r>
              <a:rPr lang="pt-BR" altLang="pt-BR" sz="2400" b="1" dirty="0">
                <a:solidFill>
                  <a:schemeClr val="accent1"/>
                </a:solidFill>
              </a:rPr>
              <a:t>importa a biblioteca toda.</a:t>
            </a:r>
          </a:p>
          <a:p>
            <a:endParaRPr lang="pt-BR" altLang="pt-BR" sz="2400" b="1" dirty="0">
              <a:solidFill>
                <a:schemeClr val="accent1"/>
              </a:solidFill>
            </a:endParaRPr>
          </a:p>
          <a:p>
            <a:r>
              <a:rPr lang="pt-BR" altLang="pt-BR" sz="2400" dirty="0"/>
              <a:t> </a:t>
            </a:r>
            <a:r>
              <a:rPr lang="pt-BR" altLang="pt-BR" sz="2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from biblioteca </a:t>
            </a:r>
            <a:r>
              <a:rPr lang="pt-BR" altLang="pt-BR" sz="2400" b="1" dirty="0" err="1">
                <a:solidFill>
                  <a:srgbClr val="FF0000"/>
                </a:solidFill>
                <a:latin typeface="Arial Unicode MS" panose="020B0604020202020204" pitchFamily="34" charset="-128"/>
              </a:rPr>
              <a:t>import</a:t>
            </a:r>
            <a:r>
              <a:rPr lang="pt-BR" altLang="pt-BR" sz="2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 </a:t>
            </a:r>
            <a:r>
              <a:rPr lang="pt-BR" altLang="pt-BR" sz="2400" b="1" dirty="0" err="1">
                <a:solidFill>
                  <a:srgbClr val="FF0000"/>
                </a:solidFill>
                <a:latin typeface="Arial Unicode MS" panose="020B0604020202020204" pitchFamily="34" charset="-128"/>
              </a:rPr>
              <a:t>funcao</a:t>
            </a:r>
            <a:r>
              <a:rPr lang="pt-BR" altLang="pt-BR" sz="2400" b="1" dirty="0">
                <a:solidFill>
                  <a:srgbClr val="FF0000"/>
                </a:solidFill>
              </a:rPr>
              <a:t> </a:t>
            </a:r>
            <a:r>
              <a:rPr lang="pt-BR" altLang="pt-BR" sz="2400" b="1" dirty="0"/>
              <a:t>→</a:t>
            </a:r>
            <a:r>
              <a:rPr lang="pt-BR" altLang="pt-BR" sz="2400" dirty="0"/>
              <a:t> </a:t>
            </a:r>
            <a:r>
              <a:rPr lang="pt-BR" altLang="pt-BR" sz="2400" b="1" dirty="0">
                <a:solidFill>
                  <a:schemeClr val="accent1"/>
                </a:solidFill>
              </a:rPr>
              <a:t>importa só a função </a:t>
            </a:r>
          </a:p>
          <a:p>
            <a:endParaRPr lang="pt-BR" altLang="pt-BR" sz="2400" dirty="0">
              <a:latin typeface="Arial" panose="020B0604020202020204" pitchFamily="34" charset="0"/>
            </a:endParaRPr>
          </a:p>
          <a:p>
            <a:r>
              <a:rPr lang="pt-BR" altLang="pt-BR" sz="2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from biblioteca </a:t>
            </a:r>
            <a:r>
              <a:rPr lang="pt-BR" altLang="pt-BR" sz="2400" b="1" dirty="0" err="1">
                <a:solidFill>
                  <a:srgbClr val="FF0000"/>
                </a:solidFill>
                <a:latin typeface="Arial Unicode MS" panose="020B0604020202020204" pitchFamily="34" charset="-128"/>
              </a:rPr>
              <a:t>import</a:t>
            </a:r>
            <a:r>
              <a:rPr lang="pt-BR" altLang="pt-BR" sz="2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 função as apelido</a:t>
            </a:r>
            <a:r>
              <a:rPr lang="pt-BR" altLang="pt-BR" sz="2400" b="1" dirty="0">
                <a:solidFill>
                  <a:srgbClr val="FF0000"/>
                </a:solidFill>
              </a:rPr>
              <a:t> </a:t>
            </a:r>
            <a:r>
              <a:rPr lang="pt-BR" altLang="pt-BR" sz="2400" b="1" dirty="0"/>
              <a:t>→</a:t>
            </a:r>
            <a:r>
              <a:rPr lang="pt-BR" altLang="pt-BR" sz="2400" dirty="0"/>
              <a:t> </a:t>
            </a:r>
            <a:r>
              <a:rPr lang="pt-BR" altLang="pt-BR" sz="2400" b="1" dirty="0">
                <a:solidFill>
                  <a:schemeClr val="accent1"/>
                </a:solidFill>
              </a:rPr>
              <a:t>importa a função com nome diferente </a:t>
            </a:r>
            <a:endParaRPr lang="pt-BR" altLang="pt-BR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13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2C29EB4-525F-E7FA-38D1-282DA0E8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633E-F85D-4DD1-8B1E-0819F9DD2D2D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E0FE28-DD94-D86D-5946-13D1A9B9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24EA84-2C78-7F84-DBC1-9E81B5A3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378A608-68D0-65BB-9469-B30339A18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086" y="365125"/>
            <a:ext cx="9748448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Comandos de Entrada e Saída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AD80A1-3DC3-46DB-924B-FD3F51AA6B7C}"/>
              </a:ext>
            </a:extLst>
          </p:cNvPr>
          <p:cNvSpPr txBox="1"/>
          <p:nvPr/>
        </p:nvSpPr>
        <p:spPr>
          <a:xfrm>
            <a:off x="624115" y="1577592"/>
            <a:ext cx="110598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4000" b="0" i="0" u="none" strike="noStrike" baseline="0" dirty="0">
                <a:latin typeface="CIDFont+F2"/>
              </a:rPr>
              <a:t>print() - Função utilizada para escrever alguma coisa na tela. A função escreve e pula uma linha.</a:t>
            </a:r>
            <a:endParaRPr lang="pt-BR" sz="4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3CCF7F-4B77-B66C-8902-C7AFAE100338}"/>
              </a:ext>
            </a:extLst>
          </p:cNvPr>
          <p:cNvSpPr txBox="1"/>
          <p:nvPr/>
        </p:nvSpPr>
        <p:spPr>
          <a:xfrm>
            <a:off x="624115" y="2705847"/>
            <a:ext cx="103064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BR" sz="3200" b="0" i="0" u="none" strike="noStrike" baseline="0" dirty="0">
              <a:latin typeface="CIDFont+F2"/>
            </a:endParaRPr>
          </a:p>
          <a:p>
            <a:pPr algn="l"/>
            <a:r>
              <a:rPr lang="pt-BR" sz="3200" b="0" i="0" u="none" strike="noStrike" baseline="0" dirty="0">
                <a:latin typeface="CIDFont+F2"/>
              </a:rPr>
              <a:t>print('Aula de Python')</a:t>
            </a:r>
          </a:p>
          <a:p>
            <a:pPr algn="l"/>
            <a:r>
              <a:rPr lang="pt-BR" sz="3200" b="0" i="0" u="none" strike="noStrike" baseline="0" dirty="0">
                <a:latin typeface="CIDFont+F2"/>
              </a:rPr>
              <a:t>nome='João'</a:t>
            </a:r>
          </a:p>
          <a:p>
            <a:pPr algn="l"/>
            <a:r>
              <a:rPr lang="pt-BR" sz="3200" b="0" i="0" u="none" strike="noStrike" baseline="0" dirty="0">
                <a:latin typeface="CIDFont+F2"/>
              </a:rPr>
              <a:t>idade=19</a:t>
            </a:r>
          </a:p>
          <a:p>
            <a:pPr algn="l"/>
            <a:r>
              <a:rPr lang="pt-BR" sz="3200" b="0" i="0" u="none" strike="noStrike" baseline="0" dirty="0">
                <a:latin typeface="CIDFont+F2"/>
              </a:rPr>
              <a:t>altura=1.77</a:t>
            </a:r>
          </a:p>
          <a:p>
            <a:pPr algn="l"/>
            <a:r>
              <a:rPr lang="pt-BR" sz="3200" b="0" i="0" u="none" strike="noStrike" baseline="0" dirty="0">
                <a:latin typeface="CIDFont+F2"/>
              </a:rPr>
              <a:t>print(nome,' tem ',idade,' anos e ',altura,' metros de altura')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7CC9039-C802-93E7-5615-EB44143AE220}"/>
              </a:ext>
            </a:extLst>
          </p:cNvPr>
          <p:cNvSpPr txBox="1"/>
          <p:nvPr/>
        </p:nvSpPr>
        <p:spPr>
          <a:xfrm>
            <a:off x="6096000" y="3585029"/>
            <a:ext cx="4688114" cy="9233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highlight>
                  <a:srgbClr val="FFFF00"/>
                </a:highlight>
              </a:rPr>
              <a:t>Aula de Python</a:t>
            </a:r>
          </a:p>
          <a:p>
            <a:endParaRPr lang="pt-BR" b="1" dirty="0">
              <a:highlight>
                <a:srgbClr val="FFFF00"/>
              </a:highlight>
            </a:endParaRPr>
          </a:p>
          <a:p>
            <a:r>
              <a:rPr lang="pt-BR" b="1" dirty="0">
                <a:highlight>
                  <a:srgbClr val="FFFF00"/>
                </a:highlight>
              </a:rPr>
              <a:t>João  tem  19  anos e  1.77  metros de altura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BD6F3543-CFEA-794F-CE19-1387CBD9F002}"/>
              </a:ext>
            </a:extLst>
          </p:cNvPr>
          <p:cNvCxnSpPr/>
          <p:nvPr/>
        </p:nvCxnSpPr>
        <p:spPr>
          <a:xfrm>
            <a:off x="4601029" y="3504546"/>
            <a:ext cx="1364342" cy="298197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65C3DA9B-9DE8-11F2-570D-5804DAACEA61}"/>
              </a:ext>
            </a:extLst>
          </p:cNvPr>
          <p:cNvCxnSpPr>
            <a:cxnSpLocks/>
          </p:cNvCxnSpPr>
          <p:nvPr/>
        </p:nvCxnSpPr>
        <p:spPr>
          <a:xfrm flipV="1">
            <a:off x="3743346" y="4267200"/>
            <a:ext cx="2018825" cy="901712"/>
          </a:xfrm>
          <a:prstGeom prst="bentConnector3">
            <a:avLst>
              <a:gd name="adj1" fmla="val -1045"/>
            </a:avLst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960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BF002C9-9901-8E01-9CCA-7CDCB8065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11E60-156D-4EFF-BBC9-EC38C0423019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7262A7-9D8F-CFF2-C2FB-5197E99E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902180-1329-5C42-791A-B6F4DFAAA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52</a:t>
            </a:fld>
            <a:endParaRPr lang="pt-BR" b="1" dirty="0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DCBA6DCC-DB6C-9DDD-2767-D800958F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913" y="365125"/>
            <a:ext cx="9647237" cy="989013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Comandos de Entrada e Saída</a:t>
            </a:r>
            <a:endParaRPr lang="pt-BR" sz="4000" b="1" i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38C62C-B69F-ED59-3BD3-E722EA836AE8}"/>
              </a:ext>
            </a:extLst>
          </p:cNvPr>
          <p:cNvSpPr txBox="1"/>
          <p:nvPr/>
        </p:nvSpPr>
        <p:spPr>
          <a:xfrm>
            <a:off x="495872" y="1425775"/>
            <a:ext cx="113722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40075" indent="-3140075" algn="l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Função input( ) - Função utilizada para receber (ler) alguma coisa do teclado.</a:t>
            </a:r>
          </a:p>
          <a:p>
            <a:pPr marL="363538" indent="-363538" algn="l"/>
            <a:endParaRPr lang="pt-BR" sz="32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3200" b="0" i="0" u="none" strike="noStrike" baseline="0" dirty="0">
                <a:solidFill>
                  <a:srgbClr val="4472C5"/>
                </a:solidFill>
                <a:latin typeface="CIDFont+F2"/>
              </a:rPr>
              <a:t>                              </a:t>
            </a:r>
            <a:r>
              <a:rPr lang="pt-BR" sz="3200" b="0" i="0" u="none" strike="noStrike" baseline="0" dirty="0">
                <a:solidFill>
                  <a:srgbClr val="4472C5"/>
                </a:solidFill>
                <a:effectLst>
                  <a:outerShdw blurRad="50800" dist="50800" dir="5400000" algn="ctr" rotWithShape="0">
                    <a:schemeClr val="tx2">
                      <a:lumMod val="75000"/>
                      <a:lumOff val="25000"/>
                    </a:schemeClr>
                  </a:outerShdw>
                </a:effectLst>
                <a:latin typeface="CIDFont+F2"/>
              </a:rPr>
              <a:t>Sempre devolve uma 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effectLst>
                  <a:outerShdw blurRad="50800" dist="50800" dir="5400000" algn="ctr" rotWithShape="0">
                    <a:schemeClr val="tx2">
                      <a:lumMod val="75000"/>
                      <a:lumOff val="25000"/>
                    </a:schemeClr>
                  </a:outerShdw>
                </a:effectLst>
                <a:latin typeface="CIDFont+F2"/>
              </a:rPr>
              <a:t>string</a:t>
            </a:r>
            <a:r>
              <a:rPr lang="pt-BR" sz="3200" b="0" i="0" u="none" strike="noStrike" baseline="0" dirty="0">
                <a:solidFill>
                  <a:srgbClr val="4472C5"/>
                </a:solidFill>
                <a:effectLst>
                  <a:outerShdw blurRad="50800" dist="50800" dir="5400000" algn="ctr" rotWithShape="0">
                    <a:schemeClr val="tx2">
                      <a:lumMod val="75000"/>
                      <a:lumOff val="25000"/>
                    </a:schemeClr>
                  </a:outerShdw>
                </a:effectLst>
                <a:latin typeface="CIDFont+F2"/>
              </a:rPr>
              <a:t>!!!!!!!!!!!!!!!</a:t>
            </a:r>
            <a:endParaRPr lang="pt-BR" sz="3200" dirty="0">
              <a:effectLst>
                <a:outerShdw blurRad="50800" dist="50800" dir="5400000" algn="ctr" rotWithShape="0">
                  <a:schemeClr val="tx2">
                    <a:lumMod val="75000"/>
                    <a:lumOff val="25000"/>
                  </a:schemeClr>
                </a:outerShdw>
              </a:effectLst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15395EB-7719-2CD7-7A61-7A8B15F43BB0}"/>
              </a:ext>
            </a:extLst>
          </p:cNvPr>
          <p:cNvSpPr txBox="1"/>
          <p:nvPr/>
        </p:nvSpPr>
        <p:spPr>
          <a:xfrm>
            <a:off x="495872" y="3862565"/>
            <a:ext cx="107664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/>
              <a:t>nome  = (input ('\</a:t>
            </a:r>
            <a:r>
              <a:rPr lang="pt-BR" sz="2800" dirty="0" err="1"/>
              <a:t>nDigite</a:t>
            </a:r>
            <a:r>
              <a:rPr lang="pt-BR" sz="2800" dirty="0"/>
              <a:t> seu nome : ‘))   # </a:t>
            </a:r>
            <a:r>
              <a:rPr lang="pt-BR" sz="2800" b="1" dirty="0">
                <a:solidFill>
                  <a:srgbClr val="FF0000"/>
                </a:solidFill>
              </a:rPr>
              <a:t>\n  -&gt;</a:t>
            </a:r>
            <a:r>
              <a:rPr lang="pt-BR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pt-BR" sz="2800" b="1" dirty="0">
                <a:solidFill>
                  <a:srgbClr val="FF0000"/>
                </a:solidFill>
              </a:rPr>
              <a:t>pula uma linha</a:t>
            </a:r>
          </a:p>
          <a:p>
            <a:pPr algn="l"/>
            <a:r>
              <a:rPr lang="pt-BR" sz="2800" dirty="0"/>
              <a:t>print ('nome : ',nome)</a:t>
            </a:r>
          </a:p>
          <a:p>
            <a:pPr algn="l"/>
            <a:r>
              <a:rPr lang="pt-BR" sz="2800" dirty="0"/>
              <a:t>nome= (input('\</a:t>
            </a:r>
            <a:r>
              <a:rPr lang="pt-BR" sz="2800" dirty="0" err="1"/>
              <a:t>nDigite</a:t>
            </a:r>
            <a:r>
              <a:rPr lang="pt-BR" sz="2800" dirty="0"/>
              <a:t> seu nome :\t’))    # </a:t>
            </a:r>
            <a:r>
              <a:rPr lang="pt-BR" sz="2800" b="1" dirty="0">
                <a:solidFill>
                  <a:srgbClr val="FF0000"/>
                </a:solidFill>
              </a:rPr>
              <a:t>\t     =&gt; faz uma tabulação</a:t>
            </a:r>
          </a:p>
          <a:p>
            <a:pPr algn="l"/>
            <a:r>
              <a:rPr lang="pt-BR" sz="2800" dirty="0"/>
              <a:t>print (‘\n’,nome)</a:t>
            </a:r>
          </a:p>
        </p:txBody>
      </p:sp>
    </p:spTree>
    <p:extLst>
      <p:ext uri="{BB962C8B-B14F-4D97-AF65-F5344CB8AC3E}">
        <p14:creationId xmlns:p14="http://schemas.microsoft.com/office/powerpoint/2010/main" val="235245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705C10-194F-3FE3-2CEE-576CE07D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F94A0-ACAB-4238-8F7E-73C2A2CEFAF0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A6F2A7-FA70-1530-9869-1930B332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D2FE51-D161-C603-CE3E-ACBCB788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BA192D0-770F-9FB5-B465-175CF67C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271" y="365125"/>
            <a:ext cx="9775263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Comandos de Entrada e Saída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B70347E-932A-90D6-A782-C9A23B0CB897}"/>
              </a:ext>
            </a:extLst>
          </p:cNvPr>
          <p:cNvSpPr txBox="1"/>
          <p:nvPr/>
        </p:nvSpPr>
        <p:spPr>
          <a:xfrm>
            <a:off x="461074" y="1422928"/>
            <a:ext cx="114064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11425" indent="-2511425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Função input( ) - Função utilizada para receber (ler) alguma coisa do teclado. </a:t>
            </a:r>
            <a:r>
              <a:rPr lang="pt-BR" sz="2800" b="0" i="0" u="none" strike="noStrike" baseline="0" dirty="0">
                <a:solidFill>
                  <a:srgbClr val="4472C5"/>
                </a:solidFill>
                <a:latin typeface="CIDFont+F2"/>
              </a:rPr>
              <a:t>Sempre devolve uma </a:t>
            </a:r>
            <a:r>
              <a:rPr lang="pt-BR" sz="2800" b="0" i="0" u="none" strike="noStrike" baseline="0" dirty="0" err="1">
                <a:solidFill>
                  <a:srgbClr val="4472C5"/>
                </a:solidFill>
                <a:latin typeface="CIDFont+F2"/>
              </a:rPr>
              <a:t>string</a:t>
            </a:r>
            <a:r>
              <a:rPr lang="pt-BR" sz="2800" b="0" i="0" u="none" strike="noStrike" baseline="0" dirty="0">
                <a:solidFill>
                  <a:srgbClr val="4472C5"/>
                </a:solidFill>
                <a:latin typeface="CIDFont+F2"/>
              </a:rPr>
              <a:t>!!!!!!!!!!!!!!!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C527E7-36F9-84A3-5728-FFC2F1F9E5F2}"/>
              </a:ext>
            </a:extLst>
          </p:cNvPr>
          <p:cNvSpPr txBox="1"/>
          <p:nvPr/>
        </p:nvSpPr>
        <p:spPr>
          <a:xfrm>
            <a:off x="59532" y="2379298"/>
            <a:ext cx="342664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Programa Fonte</a:t>
            </a:r>
          </a:p>
          <a:p>
            <a:pPr algn="l"/>
            <a:endParaRPr lang="pt-BR" sz="2000" dirty="0">
              <a:solidFill>
                <a:srgbClr val="000000"/>
              </a:solidFill>
              <a:latin typeface="CIDFont+F2"/>
            </a:endParaRPr>
          </a:p>
          <a:p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nome =  (input(‘Seu nome : '))</a:t>
            </a:r>
          </a:p>
          <a:p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print(nome)</a:t>
            </a:r>
          </a:p>
          <a:p>
            <a:pPr marL="542925" indent="-542925"/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idade=(input(‘\</a:t>
            </a:r>
            <a:r>
              <a:rPr lang="pt-BR" sz="2000" b="0" i="0" u="none" strike="noStrike" baseline="0" dirty="0" err="1">
                <a:solidFill>
                  <a:srgbClr val="000000"/>
                </a:solidFill>
                <a:latin typeface="CIDFont+F2"/>
              </a:rPr>
              <a:t>nSua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 idade : '))</a:t>
            </a:r>
          </a:p>
          <a:p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print (idade) </a:t>
            </a:r>
          </a:p>
          <a:p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altura= (input(‘\</a:t>
            </a:r>
            <a:r>
              <a:rPr lang="pt-BR" sz="2000" b="0" i="0" u="none" strike="noStrike" baseline="0" dirty="0" err="1">
                <a:solidFill>
                  <a:srgbClr val="000000"/>
                </a:solidFill>
                <a:latin typeface="CIDFont+F2"/>
              </a:rPr>
              <a:t>nSua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 altura : '))</a:t>
            </a:r>
          </a:p>
          <a:p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print (altura)</a:t>
            </a:r>
            <a:endParaRPr lang="pt-BR" sz="2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E5F54B-46D0-A69D-E727-6D2C6EBA617D}"/>
              </a:ext>
            </a:extLst>
          </p:cNvPr>
          <p:cNvSpPr txBox="1"/>
          <p:nvPr/>
        </p:nvSpPr>
        <p:spPr>
          <a:xfrm>
            <a:off x="5387349" y="2339285"/>
            <a:ext cx="158494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Execução  na Tela</a:t>
            </a:r>
          </a:p>
          <a:p>
            <a:pPr algn="ctr"/>
            <a:endParaRPr lang="pt-BR" sz="20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ctr"/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'Ana’</a:t>
            </a:r>
          </a:p>
          <a:p>
            <a:pPr algn="ctr"/>
            <a:endParaRPr lang="pt-BR" sz="20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ctr"/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'17’</a:t>
            </a:r>
          </a:p>
          <a:p>
            <a:pPr algn="ctr"/>
            <a:endParaRPr lang="pt-BR" sz="20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ctr"/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‘1.65’</a:t>
            </a:r>
          </a:p>
          <a:p>
            <a:pPr algn="ctr"/>
            <a:r>
              <a:rPr lang="pt-BR" sz="2000" b="1" i="1" u="none" strike="noStrike" cap="small" dirty="0" err="1">
                <a:solidFill>
                  <a:srgbClr val="FF0000"/>
                </a:solidFill>
                <a:latin typeface="CIDFont+F2"/>
              </a:rPr>
              <a:t>String</a:t>
            </a:r>
            <a:r>
              <a:rPr lang="pt-BR" sz="2000" b="1" i="1" u="none" strike="noStrike" cap="small" dirty="0">
                <a:solidFill>
                  <a:srgbClr val="FF0000"/>
                </a:solidFill>
                <a:latin typeface="CIDFont+F2"/>
              </a:rPr>
              <a:t> !!!!!</a:t>
            </a:r>
            <a:endParaRPr lang="pt-BR" sz="2000" b="1" i="1" cap="small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3F8A293-3629-6350-A286-166A24223BD6}"/>
              </a:ext>
            </a:extLst>
          </p:cNvPr>
          <p:cNvSpPr txBox="1"/>
          <p:nvPr/>
        </p:nvSpPr>
        <p:spPr>
          <a:xfrm>
            <a:off x="3486176" y="2422317"/>
            <a:ext cx="19185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  <a:effectLst/>
              </a:rPr>
              <a:t>Tela</a:t>
            </a:r>
          </a:p>
          <a:p>
            <a:pPr marL="263525" indent="-263525"/>
            <a:endParaRPr lang="pt-BR" sz="2000" dirty="0">
              <a:effectLst/>
            </a:endParaRPr>
          </a:p>
          <a:p>
            <a:pPr marL="263525" indent="-263525"/>
            <a:r>
              <a:rPr lang="pt-BR" sz="2000" dirty="0">
                <a:effectLst/>
              </a:rPr>
              <a:t>Seu nome: Ana</a:t>
            </a:r>
          </a:p>
          <a:p>
            <a:pPr marL="263525" indent="-263525"/>
            <a:endParaRPr lang="pt-BR" sz="2000" dirty="0">
              <a:effectLst/>
            </a:endParaRPr>
          </a:p>
          <a:p>
            <a:pPr marL="263525" indent="-263525"/>
            <a:r>
              <a:rPr lang="pt-BR" sz="2000" dirty="0">
                <a:effectLst/>
              </a:rPr>
              <a:t>Sua idade: 17</a:t>
            </a:r>
          </a:p>
          <a:p>
            <a:pPr marL="263525" indent="-263525"/>
            <a:endParaRPr lang="pt-BR" sz="20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263525" indent="-263525"/>
            <a:r>
              <a:rPr lang="pt-BR" sz="2000" b="0" i="0" u="none" strike="noStrike" baseline="0" dirty="0">
                <a:solidFill>
                  <a:srgbClr val="000000"/>
                </a:solidFill>
                <a:latin typeface="CIDFont+F2"/>
              </a:rPr>
              <a:t>Sua altura:</a:t>
            </a:r>
            <a:r>
              <a:rPr lang="pt-BR" sz="2000" dirty="0"/>
              <a:t>  1.65</a:t>
            </a:r>
            <a:r>
              <a:rPr lang="pt-BR" sz="2000" dirty="0">
                <a:effectLst/>
              </a:rPr>
              <a:t> </a:t>
            </a:r>
            <a:endParaRPr lang="pt-BR" sz="20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07E42DA-E6BB-A496-DC2B-738067ED6CF5}"/>
              </a:ext>
            </a:extLst>
          </p:cNvPr>
          <p:cNvSpPr txBox="1"/>
          <p:nvPr/>
        </p:nvSpPr>
        <p:spPr>
          <a:xfrm>
            <a:off x="59532" y="5395442"/>
            <a:ext cx="9198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CIDFont+F2"/>
              </a:rPr>
              <a:t>Como transformar idade em número inteiro e altura em  número real </a:t>
            </a:r>
            <a:r>
              <a:rPr lang="pt-BR" sz="20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CIDFont+F2"/>
              </a:rPr>
              <a:t>?</a:t>
            </a:r>
            <a:endParaRPr lang="pt-B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6CE8845-7897-E62F-EFDE-16C947785426}"/>
              </a:ext>
            </a:extLst>
          </p:cNvPr>
          <p:cNvSpPr txBox="1"/>
          <p:nvPr/>
        </p:nvSpPr>
        <p:spPr>
          <a:xfrm>
            <a:off x="7173282" y="2350909"/>
            <a:ext cx="453430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dirty="0">
                <a:solidFill>
                  <a:srgbClr val="FF0000"/>
                </a:solidFill>
                <a:latin typeface="CIDFont+F2"/>
              </a:rPr>
              <a:t>Passando para Tipo diferentes de </a:t>
            </a:r>
            <a:r>
              <a:rPr lang="pt-BR" sz="2400" b="1" dirty="0" err="1">
                <a:solidFill>
                  <a:srgbClr val="FF0000"/>
                </a:solidFill>
                <a:latin typeface="CIDFont+F2"/>
              </a:rPr>
              <a:t>string</a:t>
            </a:r>
            <a:endParaRPr lang="pt-BR" sz="2400" b="1" dirty="0">
              <a:solidFill>
                <a:srgbClr val="FF0000"/>
              </a:solidFill>
              <a:latin typeface="CIDFont+F2"/>
            </a:endParaRPr>
          </a:p>
          <a:p>
            <a:pPr algn="l"/>
            <a:r>
              <a:rPr lang="pt-BR" sz="2000" dirty="0"/>
              <a:t>idade =  </a:t>
            </a:r>
            <a:r>
              <a:rPr lang="pt-BR" sz="2000" dirty="0" err="1"/>
              <a:t>int</a:t>
            </a:r>
            <a:r>
              <a:rPr lang="pt-BR" sz="2000" dirty="0"/>
              <a:t>(input('\</a:t>
            </a:r>
            <a:r>
              <a:rPr lang="pt-BR" sz="2000" dirty="0" err="1"/>
              <a:t>nDigite</a:t>
            </a:r>
            <a:r>
              <a:rPr lang="pt-BR" sz="2000" dirty="0"/>
              <a:t> a idade : '))</a:t>
            </a:r>
          </a:p>
          <a:p>
            <a:pPr algn="l"/>
            <a:r>
              <a:rPr lang="pt-BR" sz="2000" dirty="0"/>
              <a:t>altura = float(input('\</a:t>
            </a:r>
            <a:r>
              <a:rPr lang="pt-BR" sz="2000" dirty="0" err="1"/>
              <a:t>nDigite</a:t>
            </a:r>
            <a:r>
              <a:rPr lang="pt-BR" sz="2000" dirty="0"/>
              <a:t> a altura : '))</a:t>
            </a:r>
          </a:p>
          <a:p>
            <a:pPr algn="l"/>
            <a:r>
              <a:rPr lang="pt-BR" sz="2000" dirty="0"/>
              <a:t>print (</a:t>
            </a:r>
            <a:r>
              <a:rPr lang="pt-BR" sz="2000" dirty="0" err="1"/>
              <a:t>type</a:t>
            </a:r>
            <a:r>
              <a:rPr lang="pt-BR" sz="2000" dirty="0"/>
              <a:t>(idade))</a:t>
            </a:r>
          </a:p>
          <a:p>
            <a:pPr algn="l"/>
            <a:r>
              <a:rPr lang="pt-BR" sz="2000" dirty="0"/>
              <a:t>print (</a:t>
            </a:r>
            <a:r>
              <a:rPr lang="pt-BR" sz="2000" dirty="0" err="1"/>
              <a:t>type</a:t>
            </a:r>
            <a:r>
              <a:rPr lang="pt-BR" sz="2000" dirty="0"/>
              <a:t>(altura))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E723DBE9-B563-9E5F-29B6-B8E3CE6B9EC9}"/>
              </a:ext>
            </a:extLst>
          </p:cNvPr>
          <p:cNvCxnSpPr>
            <a:cxnSpLocks/>
          </p:cNvCxnSpPr>
          <p:nvPr/>
        </p:nvCxnSpPr>
        <p:spPr>
          <a:xfrm flipV="1">
            <a:off x="8784589" y="4731768"/>
            <a:ext cx="211382" cy="68439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ve Esquerda 17">
            <a:extLst>
              <a:ext uri="{FF2B5EF4-FFF2-40B4-BE49-F238E27FC236}">
                <a16:creationId xmlns:a16="http://schemas.microsoft.com/office/drawing/2014/main" id="{6DFC1469-5991-BA05-E03A-FDC9C3859569}"/>
              </a:ext>
            </a:extLst>
          </p:cNvPr>
          <p:cNvSpPr/>
          <p:nvPr/>
        </p:nvSpPr>
        <p:spPr>
          <a:xfrm rot="16200000">
            <a:off x="9155764" y="2175016"/>
            <a:ext cx="569342" cy="4534304"/>
          </a:xfrm>
          <a:prstGeom prst="leftBrace">
            <a:avLst>
              <a:gd name="adj1" fmla="val 8333"/>
              <a:gd name="adj2" fmla="val 3991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CB9C11D-4087-3CA4-5C21-004FF778EBA6}"/>
              </a:ext>
            </a:extLst>
          </p:cNvPr>
          <p:cNvSpPr txBox="1"/>
          <p:nvPr/>
        </p:nvSpPr>
        <p:spPr>
          <a:xfrm>
            <a:off x="9521483" y="4910522"/>
            <a:ext cx="24690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b="1" dirty="0"/>
          </a:p>
          <a:p>
            <a:r>
              <a:rPr lang="pt-BR" b="1" dirty="0"/>
              <a:t>Digite a idade : 15</a:t>
            </a:r>
          </a:p>
          <a:p>
            <a:r>
              <a:rPr lang="pt-BR" b="1" dirty="0"/>
              <a:t>Digite a altura : 1.56</a:t>
            </a:r>
          </a:p>
          <a:p>
            <a:r>
              <a:rPr lang="pt-BR" b="1" dirty="0"/>
              <a:t>&lt;</a:t>
            </a:r>
            <a:r>
              <a:rPr lang="pt-BR" b="1" dirty="0" err="1"/>
              <a:t>class</a:t>
            </a:r>
            <a:r>
              <a:rPr lang="pt-BR" b="1" dirty="0"/>
              <a:t> '</a:t>
            </a:r>
            <a:r>
              <a:rPr lang="pt-BR" b="1" dirty="0" err="1"/>
              <a:t>int</a:t>
            </a:r>
            <a:r>
              <a:rPr lang="pt-BR" b="1" dirty="0"/>
              <a:t>'&gt;</a:t>
            </a:r>
          </a:p>
          <a:p>
            <a:r>
              <a:rPr lang="pt-BR" b="1" dirty="0"/>
              <a:t>&lt;</a:t>
            </a:r>
            <a:r>
              <a:rPr lang="pt-BR" b="1" dirty="0" err="1"/>
              <a:t>class</a:t>
            </a:r>
            <a:r>
              <a:rPr lang="pt-BR" b="1" dirty="0"/>
              <a:t> 'float'&gt;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58B55AD-38E0-8275-863C-BEFE0B553690}"/>
              </a:ext>
            </a:extLst>
          </p:cNvPr>
          <p:cNvSpPr txBox="1"/>
          <p:nvPr/>
        </p:nvSpPr>
        <p:spPr>
          <a:xfrm>
            <a:off x="59531" y="5916154"/>
            <a:ext cx="2032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Resultado : 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7B6F03AF-9B73-72DB-0677-6D37D18FD039}"/>
              </a:ext>
            </a:extLst>
          </p:cNvPr>
          <p:cNvCxnSpPr>
            <a:cxnSpLocks/>
          </p:cNvCxnSpPr>
          <p:nvPr/>
        </p:nvCxnSpPr>
        <p:spPr>
          <a:xfrm flipV="1">
            <a:off x="2042696" y="5825734"/>
            <a:ext cx="7215604" cy="365125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ave Esquerda 27">
            <a:extLst>
              <a:ext uri="{FF2B5EF4-FFF2-40B4-BE49-F238E27FC236}">
                <a16:creationId xmlns:a16="http://schemas.microsoft.com/office/drawing/2014/main" id="{A4D3A7C3-FC69-18BF-1BF7-49F9D9D52761}"/>
              </a:ext>
            </a:extLst>
          </p:cNvPr>
          <p:cNvSpPr/>
          <p:nvPr/>
        </p:nvSpPr>
        <p:spPr>
          <a:xfrm>
            <a:off x="9391439" y="5242284"/>
            <a:ext cx="211382" cy="105050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B916081-271F-70E4-56E9-E3E4CFEAE76C}"/>
              </a:ext>
            </a:extLst>
          </p:cNvPr>
          <p:cNvCxnSpPr>
            <a:cxnSpLocks/>
          </p:cNvCxnSpPr>
          <p:nvPr/>
        </p:nvCxnSpPr>
        <p:spPr>
          <a:xfrm>
            <a:off x="1645921" y="3596640"/>
            <a:ext cx="406907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88F2E27C-E31D-EB2E-C883-806E48B34BB9}"/>
              </a:ext>
            </a:extLst>
          </p:cNvPr>
          <p:cNvCxnSpPr>
            <a:cxnSpLocks/>
          </p:cNvCxnSpPr>
          <p:nvPr/>
        </p:nvCxnSpPr>
        <p:spPr>
          <a:xfrm>
            <a:off x="1645921" y="4145280"/>
            <a:ext cx="406907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0A9EE199-967D-A9C6-2A49-8E3EDDC615BD}"/>
              </a:ext>
            </a:extLst>
          </p:cNvPr>
          <p:cNvCxnSpPr>
            <a:cxnSpLocks/>
          </p:cNvCxnSpPr>
          <p:nvPr/>
        </p:nvCxnSpPr>
        <p:spPr>
          <a:xfrm>
            <a:off x="1645921" y="4803039"/>
            <a:ext cx="406907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90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5" grpId="0"/>
      <p:bldP spid="18" grpId="0" animBg="1"/>
      <p:bldP spid="20" grpId="0"/>
      <p:bldP spid="25" grpId="0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F690FF-2260-C83C-39A5-7B54FE8D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0737-EF54-49CF-A328-0D5073897E23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3069E3D-EE88-27B0-4261-A8D98FDDA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EE4F1D-9EC3-34F5-963E-7255949A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44655FB-2EBC-1C72-9141-559EF7497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365125"/>
            <a:ext cx="958153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Conversões de Tipos em Python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4B9064-8CA4-7741-8096-36C98E74B1EE}"/>
              </a:ext>
            </a:extLst>
          </p:cNvPr>
          <p:cNvSpPr txBox="1"/>
          <p:nvPr/>
        </p:nvSpPr>
        <p:spPr>
          <a:xfrm>
            <a:off x="239151" y="1714500"/>
            <a:ext cx="1134324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55825" indent="-2155825" algn="l"/>
            <a:r>
              <a:rPr lang="pt-BR" sz="2800" b="0" i="0" u="none" strike="noStrike" baseline="0" dirty="0">
                <a:solidFill>
                  <a:srgbClr val="FF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0" i="0" u="none" strike="noStrike" baseline="0" dirty="0">
                <a:solidFill>
                  <a:srgbClr val="FF0000"/>
                </a:solidFill>
                <a:latin typeface="CIDFont+F2"/>
              </a:rPr>
              <a:t>( ) </a:t>
            </a:r>
            <a:r>
              <a:rPr lang="pt-BR" sz="2800" b="0" i="0" u="none" strike="noStrike" baseline="0" dirty="0">
                <a:solidFill>
                  <a:srgbClr val="FF0000"/>
                </a:solidFill>
                <a:latin typeface="CIDFont+F5"/>
              </a:rPr>
              <a:t>              </a:t>
            </a:r>
            <a:r>
              <a:rPr lang="pt-BR" sz="2800" b="0" i="0" u="none" strike="noStrike" baseline="0" dirty="0">
                <a:solidFill>
                  <a:srgbClr val="FF0000"/>
                </a:solidFill>
                <a:latin typeface="CIDFont+F2"/>
              </a:rPr>
              <a:t>converte uma </a:t>
            </a:r>
            <a:r>
              <a:rPr lang="pt-BR" sz="2800" b="0" i="0" u="none" strike="noStrike" baseline="0" dirty="0" err="1">
                <a:solidFill>
                  <a:srgbClr val="FF0000"/>
                </a:solidFill>
                <a:latin typeface="CIDFont+F2"/>
              </a:rPr>
              <a:t>string</a:t>
            </a:r>
            <a:r>
              <a:rPr lang="pt-BR" sz="2800" b="0" i="0" u="none" strike="noStrike" baseline="0" dirty="0">
                <a:solidFill>
                  <a:srgbClr val="FF0000"/>
                </a:solidFill>
                <a:latin typeface="CIDFont+F2"/>
              </a:rPr>
              <a:t> para um número inteiro, ou  converte  um número real em um número inteiro (valor truncado).</a:t>
            </a:r>
          </a:p>
          <a:p>
            <a:pPr marL="2155825" indent="-2155825" algn="l"/>
            <a:r>
              <a:rPr lang="pt-BR" sz="2800" b="0" i="0" u="none" strike="noStrike" baseline="0" dirty="0">
                <a:solidFill>
                  <a:srgbClr val="FFC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FFC000"/>
                </a:solidFill>
                <a:latin typeface="CIDFont+F2"/>
              </a:rPr>
              <a:t>float( )        </a:t>
            </a:r>
            <a:r>
              <a:rPr lang="pt-BR" sz="2800" b="0" i="0" u="none" strike="noStrike" baseline="0" dirty="0">
                <a:solidFill>
                  <a:srgbClr val="FFC000"/>
                </a:solidFill>
                <a:latin typeface="CIDFont+F5"/>
              </a:rPr>
              <a:t>   </a:t>
            </a:r>
            <a:r>
              <a:rPr lang="pt-BR" sz="2800" b="0" i="0" u="none" strike="noStrike" baseline="0" dirty="0">
                <a:solidFill>
                  <a:srgbClr val="FFC000"/>
                </a:solidFill>
                <a:latin typeface="CIDFont+F2"/>
              </a:rPr>
              <a:t>converte uma </a:t>
            </a:r>
            <a:r>
              <a:rPr lang="pt-BR" sz="2800" b="0" i="0" u="none" strike="noStrike" baseline="0" dirty="0" err="1">
                <a:solidFill>
                  <a:srgbClr val="FFC000"/>
                </a:solidFill>
                <a:latin typeface="CIDFont+F2"/>
              </a:rPr>
              <a:t>string</a:t>
            </a:r>
            <a:r>
              <a:rPr lang="pt-BR" sz="2800" b="0" i="0" u="none" strike="noStrike" baseline="0" dirty="0">
                <a:solidFill>
                  <a:srgbClr val="FFC000"/>
                </a:solidFill>
                <a:latin typeface="CIDFont+F2"/>
              </a:rPr>
              <a:t> para um número real, ou um número inteiro em um número real.</a:t>
            </a:r>
          </a:p>
          <a:p>
            <a:pPr marL="2236788" indent="-2236788" algn="l"/>
            <a:r>
              <a:rPr lang="pt-BR" sz="2800" b="1" i="0" u="none" strike="noStrike" baseline="0" dirty="0">
                <a:solidFill>
                  <a:srgbClr val="00B050"/>
                </a:solidFill>
                <a:latin typeface="CIDFont+F3"/>
              </a:rPr>
              <a:t>• </a:t>
            </a:r>
            <a:r>
              <a:rPr lang="pt-BR" sz="2800" b="1" i="0" u="none" strike="noStrike" baseline="0" dirty="0" err="1">
                <a:solidFill>
                  <a:srgbClr val="00B050"/>
                </a:solidFill>
                <a:latin typeface="CIDFont+F2"/>
              </a:rPr>
              <a:t>str</a:t>
            </a:r>
            <a:r>
              <a:rPr lang="pt-BR" sz="2800" b="1" i="0" u="none" strike="noStrike" baseline="0" dirty="0">
                <a:solidFill>
                  <a:srgbClr val="00B050"/>
                </a:solidFill>
                <a:latin typeface="CIDFont+F2"/>
              </a:rPr>
              <a:t>( ) </a:t>
            </a:r>
            <a:r>
              <a:rPr lang="pt-BR" sz="2800" b="1" i="0" u="none" strike="noStrike" baseline="0" dirty="0">
                <a:solidFill>
                  <a:srgbClr val="00B050"/>
                </a:solidFill>
                <a:latin typeface="CIDFont+F5"/>
              </a:rPr>
              <a:t>             </a:t>
            </a:r>
            <a:r>
              <a:rPr lang="pt-BR" sz="2800" b="1" i="0" u="none" strike="noStrike" baseline="0" dirty="0">
                <a:solidFill>
                  <a:srgbClr val="00B050"/>
                </a:solidFill>
                <a:latin typeface="CIDFont+F2"/>
              </a:rPr>
              <a:t>converte um número inteiro ou real para uma </a:t>
            </a:r>
            <a:r>
              <a:rPr lang="pt-BR" sz="2800" b="1" i="0" u="none" strike="noStrike" baseline="0" dirty="0" err="1">
                <a:solidFill>
                  <a:srgbClr val="00B050"/>
                </a:solidFill>
                <a:latin typeface="CIDFont+F2"/>
              </a:rPr>
              <a:t>string</a:t>
            </a:r>
            <a:endParaRPr lang="pt-BR" sz="2800" b="1" i="0" u="none" strike="noStrike" baseline="0" dirty="0">
              <a:solidFill>
                <a:srgbClr val="00B050"/>
              </a:solidFill>
              <a:latin typeface="CIDFont+F2"/>
            </a:endParaRP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27C93629-8335-15E6-BC59-0C75DD0D2FD3}"/>
              </a:ext>
            </a:extLst>
          </p:cNvPr>
          <p:cNvSpPr/>
          <p:nvPr/>
        </p:nvSpPr>
        <p:spPr>
          <a:xfrm>
            <a:off x="1626329" y="2715419"/>
            <a:ext cx="636814" cy="24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50E9B3FF-B4D1-83FD-3E2D-BAF7CDC65F86}"/>
              </a:ext>
            </a:extLst>
          </p:cNvPr>
          <p:cNvSpPr/>
          <p:nvPr/>
        </p:nvSpPr>
        <p:spPr>
          <a:xfrm>
            <a:off x="1626329" y="1847566"/>
            <a:ext cx="636814" cy="24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F7374797-B796-E733-EF1A-15270B9CE40A}"/>
              </a:ext>
            </a:extLst>
          </p:cNvPr>
          <p:cNvSpPr/>
          <p:nvPr/>
        </p:nvSpPr>
        <p:spPr>
          <a:xfrm>
            <a:off x="1611636" y="3583272"/>
            <a:ext cx="636814" cy="24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B8D02E-210C-740B-750F-24BD7004AD80}"/>
              </a:ext>
            </a:extLst>
          </p:cNvPr>
          <p:cNvSpPr txBox="1"/>
          <p:nvPr/>
        </p:nvSpPr>
        <p:spPr>
          <a:xfrm>
            <a:off x="157045" y="3988973"/>
            <a:ext cx="41180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  <a:latin typeface="CIDFont+F2"/>
              </a:rPr>
              <a:t>p</a:t>
            </a:r>
            <a:r>
              <a:rPr lang="pt-BR" sz="2800" b="1" i="0" u="none" strike="noStrike" baseline="0" dirty="0">
                <a:solidFill>
                  <a:srgbClr val="FF0000"/>
                </a:solidFill>
                <a:latin typeface="CIDFont+F2"/>
              </a:rPr>
              <a:t>rint (</a:t>
            </a:r>
            <a:r>
              <a:rPr lang="pt-BR" sz="2800" b="1" i="0" u="none" strike="noStrike" baseline="0" dirty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1" i="0" u="none" strike="noStrike" baseline="0" dirty="0">
                <a:solidFill>
                  <a:srgbClr val="FF0000"/>
                </a:solidFill>
                <a:latin typeface="CIDFont+F2"/>
              </a:rPr>
              <a:t>('12’))                12</a:t>
            </a:r>
          </a:p>
          <a:p>
            <a:pPr algn="l"/>
            <a:r>
              <a:rPr lang="pt-BR" sz="2800" b="1" dirty="0">
                <a:solidFill>
                  <a:srgbClr val="FF0000"/>
                </a:solidFill>
                <a:latin typeface="CIDFont+F2"/>
              </a:rPr>
              <a:t>p</a:t>
            </a:r>
            <a:r>
              <a:rPr lang="pt-BR" sz="2800" b="1" i="0" u="none" strike="noStrike" baseline="0" dirty="0">
                <a:solidFill>
                  <a:srgbClr val="FF0000"/>
                </a:solidFill>
                <a:latin typeface="CIDFont+F2"/>
              </a:rPr>
              <a:t>rint (</a:t>
            </a:r>
            <a:r>
              <a:rPr lang="pt-BR" sz="2800" b="1" i="0" u="none" strike="noStrike" baseline="0" dirty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1" i="0" u="none" strike="noStrike" baseline="0" dirty="0">
                <a:solidFill>
                  <a:srgbClr val="FF0000"/>
                </a:solidFill>
                <a:latin typeface="CIDFont+F2"/>
              </a:rPr>
              <a:t>(-7.895))            -7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3AC68729-1D2E-FA57-A5E3-BD4A1B7E41E9}"/>
              </a:ext>
            </a:extLst>
          </p:cNvPr>
          <p:cNvSpPr/>
          <p:nvPr/>
        </p:nvSpPr>
        <p:spPr>
          <a:xfrm>
            <a:off x="2856510" y="4132479"/>
            <a:ext cx="770545" cy="24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44234582-4C01-108E-8580-13436003CB6D}"/>
              </a:ext>
            </a:extLst>
          </p:cNvPr>
          <p:cNvSpPr/>
          <p:nvPr/>
        </p:nvSpPr>
        <p:spPr>
          <a:xfrm>
            <a:off x="2856511" y="4556188"/>
            <a:ext cx="770545" cy="24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F431963-5FE3-29EC-54BE-D6BD1DC8B38B}"/>
              </a:ext>
            </a:extLst>
          </p:cNvPr>
          <p:cNvSpPr txBox="1"/>
          <p:nvPr/>
        </p:nvSpPr>
        <p:spPr>
          <a:xfrm>
            <a:off x="7266214" y="3988973"/>
            <a:ext cx="46866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rgbClr val="FFC000"/>
                </a:solidFill>
                <a:latin typeface="CIDFont+F2"/>
              </a:rPr>
              <a:t>p</a:t>
            </a:r>
            <a:r>
              <a:rPr lang="pt-BR" sz="2800" b="1" i="0" u="none" strike="noStrike" baseline="0" dirty="0">
                <a:solidFill>
                  <a:srgbClr val="FFC000"/>
                </a:solidFill>
                <a:latin typeface="CIDFont+F2"/>
              </a:rPr>
              <a:t>rint (float(3))                   3.0</a:t>
            </a:r>
          </a:p>
          <a:p>
            <a:pPr algn="l"/>
            <a:r>
              <a:rPr lang="pt-BR" sz="2800" b="1" i="0" u="none" strike="noStrike" baseline="0" dirty="0">
                <a:solidFill>
                  <a:srgbClr val="FFC000"/>
                </a:solidFill>
                <a:latin typeface="CIDFont+F2"/>
              </a:rPr>
              <a:t>print float('3.89’)            3.89</a:t>
            </a:r>
            <a:endParaRPr lang="pt-BR" sz="2800" b="1" dirty="0">
              <a:solidFill>
                <a:srgbClr val="FFC000"/>
              </a:solidFill>
            </a:endParaRP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BD12CAE8-BE88-0ED9-7BBC-9325D4F9B71E}"/>
              </a:ext>
            </a:extLst>
          </p:cNvPr>
          <p:cNvSpPr/>
          <p:nvPr/>
        </p:nvSpPr>
        <p:spPr>
          <a:xfrm>
            <a:off x="9966034" y="4132479"/>
            <a:ext cx="770545" cy="24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5638DE68-38B3-9687-7C4B-5535F612E559}"/>
              </a:ext>
            </a:extLst>
          </p:cNvPr>
          <p:cNvSpPr/>
          <p:nvPr/>
        </p:nvSpPr>
        <p:spPr>
          <a:xfrm>
            <a:off x="9966035" y="4556188"/>
            <a:ext cx="770545" cy="24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6528237-25C1-EE65-2A97-E9E2A4A6B42A}"/>
              </a:ext>
            </a:extLst>
          </p:cNvPr>
          <p:cNvSpPr txBox="1"/>
          <p:nvPr/>
        </p:nvSpPr>
        <p:spPr>
          <a:xfrm>
            <a:off x="3241784" y="5325580"/>
            <a:ext cx="6098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dirty="0">
                <a:solidFill>
                  <a:srgbClr val="00B050"/>
                </a:solidFill>
                <a:latin typeface="CIDFont+F2"/>
              </a:rPr>
              <a:t>print </a:t>
            </a:r>
            <a:r>
              <a:rPr lang="pt-BR" sz="2800" b="1" i="0" u="none" strike="noStrike" baseline="0" dirty="0">
                <a:solidFill>
                  <a:srgbClr val="00B050"/>
                </a:solidFill>
                <a:latin typeface="CIDFont+F2"/>
              </a:rPr>
              <a:t> </a:t>
            </a:r>
            <a:r>
              <a:rPr lang="pt-BR" sz="2800" b="1" i="0" u="none" strike="noStrike" baseline="0" dirty="0" err="1">
                <a:solidFill>
                  <a:srgbClr val="00B050"/>
                </a:solidFill>
                <a:latin typeface="CIDFont+F2"/>
              </a:rPr>
              <a:t>str</a:t>
            </a:r>
            <a:r>
              <a:rPr lang="pt-BR" sz="2800" b="1" i="0" u="none" strike="noStrike" baseline="0" dirty="0">
                <a:solidFill>
                  <a:srgbClr val="00B050"/>
                </a:solidFill>
                <a:latin typeface="CIDFont+F2"/>
              </a:rPr>
              <a:t>(63)                 '63’</a:t>
            </a:r>
          </a:p>
          <a:p>
            <a:pPr algn="l"/>
            <a:r>
              <a:rPr lang="pt-BR" sz="2800" b="1" dirty="0">
                <a:solidFill>
                  <a:srgbClr val="00B050"/>
                </a:solidFill>
                <a:latin typeface="CIDFont+F2"/>
              </a:rPr>
              <a:t>p</a:t>
            </a:r>
            <a:r>
              <a:rPr lang="pt-BR" sz="2800" b="1" i="0" u="none" strike="noStrike" baseline="0" dirty="0">
                <a:solidFill>
                  <a:srgbClr val="00B050"/>
                </a:solidFill>
                <a:latin typeface="CIDFont+F2"/>
              </a:rPr>
              <a:t>rint </a:t>
            </a:r>
            <a:r>
              <a:rPr lang="pt-BR" sz="2800" b="1" i="0" u="none" strike="noStrike" baseline="0" dirty="0" err="1">
                <a:solidFill>
                  <a:srgbClr val="00B050"/>
                </a:solidFill>
                <a:latin typeface="CIDFont+F2"/>
              </a:rPr>
              <a:t>str</a:t>
            </a:r>
            <a:r>
              <a:rPr lang="pt-BR" sz="2800" b="1" i="0" u="none" strike="noStrike" baseline="0" dirty="0">
                <a:solidFill>
                  <a:srgbClr val="00B050"/>
                </a:solidFill>
                <a:latin typeface="CIDFont+F2"/>
              </a:rPr>
              <a:t>(3.143)            '3.143</a:t>
            </a:r>
            <a:r>
              <a:rPr lang="pt-BR" sz="2800" b="0" i="0" u="none" strike="noStrike" baseline="0" dirty="0">
                <a:latin typeface="CIDFont+F2"/>
              </a:rPr>
              <a:t>'</a:t>
            </a:r>
            <a:endParaRPr lang="pt-BR" sz="2800" dirty="0"/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DADA128D-AA27-F0C9-3B91-53FAF3CC62D4}"/>
              </a:ext>
            </a:extLst>
          </p:cNvPr>
          <p:cNvSpPr/>
          <p:nvPr/>
        </p:nvSpPr>
        <p:spPr>
          <a:xfrm>
            <a:off x="5678069" y="5473369"/>
            <a:ext cx="770545" cy="24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a Direita 22">
            <a:extLst>
              <a:ext uri="{FF2B5EF4-FFF2-40B4-BE49-F238E27FC236}">
                <a16:creationId xmlns:a16="http://schemas.microsoft.com/office/drawing/2014/main" id="{9E6C397D-093A-F2B5-E657-04E74B63BBEF}"/>
              </a:ext>
            </a:extLst>
          </p:cNvPr>
          <p:cNvSpPr/>
          <p:nvPr/>
        </p:nvSpPr>
        <p:spPr>
          <a:xfrm>
            <a:off x="5682571" y="5863367"/>
            <a:ext cx="770545" cy="24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07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2" grpId="0"/>
      <p:bldP spid="13" grpId="0" animBg="1"/>
      <p:bldP spid="14" grpId="0" animBg="1"/>
      <p:bldP spid="16" grpId="0"/>
      <p:bldP spid="17" grpId="0" animBg="1"/>
      <p:bldP spid="18" grpId="0" animBg="1"/>
      <p:bldP spid="20" grpId="0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85EB0D7-62AA-0F1F-7049-EBFE6746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DA45-49DE-4DCF-BC0C-3E3A84F79146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90BE496-8F6A-E0E2-F12F-116846A7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15DD42-9F70-A1C6-A363-E6277C59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8C113C5-9AC4-3596-2BCE-AD70640C9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357" y="365125"/>
            <a:ext cx="9663177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Comentários em Python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4A3E61A-D3B9-7A4D-D045-3276EFD81347}"/>
              </a:ext>
            </a:extLst>
          </p:cNvPr>
          <p:cNvSpPr txBox="1"/>
          <p:nvPr/>
        </p:nvSpPr>
        <p:spPr>
          <a:xfrm>
            <a:off x="395150" y="1714500"/>
            <a:ext cx="1144633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 dirty="0">
                <a:latin typeface="CIDFont+F3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Notação </a:t>
            </a:r>
            <a:r>
              <a:rPr lang="pt-BR" sz="3200" b="0" i="0" u="none" strike="noStrike" baseline="0" dirty="0" err="1">
                <a:latin typeface="CIDFont+F2"/>
              </a:rPr>
              <a:t>inline</a:t>
            </a:r>
            <a:r>
              <a:rPr lang="pt-BR" sz="3200" b="0" i="0" u="none" strike="noStrike" baseline="0" dirty="0">
                <a:latin typeface="CIDFont+F2"/>
              </a:rPr>
              <a:t>         </a:t>
            </a:r>
            <a:r>
              <a:rPr lang="pt-BR" sz="3200" b="0" i="0" u="none" strike="noStrike" baseline="0" dirty="0">
                <a:latin typeface="CIDFont+F5"/>
              </a:rPr>
              <a:t>    </a:t>
            </a:r>
            <a:r>
              <a:rPr lang="pt-BR" sz="3200" b="0" i="0" u="none" strike="noStrike" baseline="0" dirty="0">
                <a:latin typeface="CIDFont+F2"/>
              </a:rPr>
              <a:t> </a:t>
            </a:r>
          </a:p>
          <a:p>
            <a:pPr marL="365125" algn="just"/>
            <a:r>
              <a:rPr lang="pt-BR" sz="3200" b="0" i="0" u="none" strike="noStrike" baseline="0" dirty="0">
                <a:latin typeface="CIDFont+F2"/>
              </a:rPr>
              <a:t>Tudo que estiver na frente do </a:t>
            </a:r>
            <a:r>
              <a:rPr lang="pt-BR" sz="3200" b="0" i="0" u="none" strike="noStrike" baseline="0" dirty="0">
                <a:solidFill>
                  <a:srgbClr val="FF0000"/>
                </a:solidFill>
                <a:latin typeface="CIDFont+F2"/>
              </a:rPr>
              <a:t>#</a:t>
            </a:r>
            <a:r>
              <a:rPr lang="pt-BR" sz="3200" b="0" i="0" u="none" strike="noStrike" baseline="0" dirty="0">
                <a:latin typeface="CIDFont+F2"/>
              </a:rPr>
              <a:t> será ignorado pelo interpretador do Python (Comentário).</a:t>
            </a:r>
          </a:p>
          <a:p>
            <a:pPr algn="l"/>
            <a:endParaRPr lang="pt-BR" sz="3200" b="0" i="0" u="none" strike="noStrike" baseline="0" dirty="0">
              <a:latin typeface="CIDFont+F2"/>
            </a:endParaRPr>
          </a:p>
          <a:p>
            <a:pPr marL="365125" indent="-365125" algn="just"/>
            <a:r>
              <a:rPr lang="pt-BR" sz="3200" b="0" i="0" u="none" strike="noStrike" baseline="0" dirty="0">
                <a:latin typeface="CIDFont+F3"/>
              </a:rPr>
              <a:t>• </a:t>
            </a:r>
            <a:r>
              <a:rPr lang="pt-BR" sz="3200" b="0" i="0" u="none" strike="noStrike" baseline="0" dirty="0">
                <a:latin typeface="CIDFont+F2"/>
              </a:rPr>
              <a:t>Notação </a:t>
            </a:r>
            <a:r>
              <a:rPr lang="pt-BR" sz="3200" b="0" i="0" u="none" strike="noStrike" baseline="0" dirty="0" err="1">
                <a:latin typeface="CIDFont+F2"/>
              </a:rPr>
              <a:t>multilines</a:t>
            </a:r>
            <a:r>
              <a:rPr lang="pt-BR" sz="3200" b="0" i="0" u="none" strike="noStrike" baseline="0" dirty="0">
                <a:latin typeface="CIDFont+F2"/>
              </a:rPr>
              <a:t> (Aspas simples ou aspas duplas tripadas), tudo que estiver entre 3 aspas simples ou entre 3 aspas duplas será ignorado pelo interpretador Python             </a:t>
            </a:r>
            <a:r>
              <a:rPr lang="pt-BR" sz="2400" dirty="0">
                <a:latin typeface="CIDFont+F2"/>
              </a:rPr>
              <a:t>              </a:t>
            </a:r>
            <a:endParaRPr lang="pt-BR" sz="2400" dirty="0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DA0CDB31-4513-B64B-8172-4E3A757DBFA8}"/>
              </a:ext>
            </a:extLst>
          </p:cNvPr>
          <p:cNvSpPr/>
          <p:nvPr/>
        </p:nvSpPr>
        <p:spPr>
          <a:xfrm>
            <a:off x="3859152" y="1905571"/>
            <a:ext cx="770545" cy="24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rgbClr val="000000"/>
                </a:solidFill>
                <a:latin typeface="CIDFont+F3"/>
              </a:rPr>
              <a:t>•</a:t>
            </a:r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092D524-6978-E866-10AB-B32C60B2F530}"/>
              </a:ext>
            </a:extLst>
          </p:cNvPr>
          <p:cNvSpPr txBox="1"/>
          <p:nvPr/>
        </p:nvSpPr>
        <p:spPr>
          <a:xfrm>
            <a:off x="4945380" y="1794570"/>
            <a:ext cx="456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#  A partir daqui é comentário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406E11AC-A082-A3B7-F96C-4E34312DA842}"/>
              </a:ext>
            </a:extLst>
          </p:cNvPr>
          <p:cNvSpPr/>
          <p:nvPr/>
        </p:nvSpPr>
        <p:spPr>
          <a:xfrm>
            <a:off x="7035945" y="4831651"/>
            <a:ext cx="770545" cy="365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000000"/>
                </a:solidFill>
                <a:latin typeface="CIDFont+F3"/>
              </a:rPr>
              <a:t>•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ED94355-4400-EFF7-3CBC-C2F9D4B83E2A}"/>
              </a:ext>
            </a:extLst>
          </p:cNvPr>
          <p:cNvSpPr txBox="1"/>
          <p:nvPr/>
        </p:nvSpPr>
        <p:spPr>
          <a:xfrm>
            <a:off x="8290560" y="4725134"/>
            <a:ext cx="91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”””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    Blá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    Blá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    Blá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”””</a:t>
            </a:r>
          </a:p>
        </p:txBody>
      </p:sp>
    </p:spTree>
    <p:extLst>
      <p:ext uri="{BB962C8B-B14F-4D97-AF65-F5344CB8AC3E}">
        <p14:creationId xmlns:p14="http://schemas.microsoft.com/office/powerpoint/2010/main" val="28477534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410E23-E646-CF18-D011-B80996CAC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DB26-F278-43AB-BFD4-F2CBC44585B1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7EEB32-5BC4-8FBD-B55F-FEB62E3A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0F8904-3051-0DD2-51C7-9AF0EA7A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9102C5F-2F52-E023-9F10-3CF191AC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314" y="365125"/>
            <a:ext cx="9516220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Formatação de </a:t>
            </a:r>
            <a:r>
              <a:rPr lang="pt-BR" sz="4000" b="1" i="1" u="none" strike="noStrike" baseline="0" dirty="0" err="1">
                <a:latin typeface="CIDFont+F1"/>
              </a:rPr>
              <a:t>Strings</a:t>
            </a:r>
            <a:endParaRPr lang="pt-BR" sz="4000" b="1" i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0332624-8BE9-2868-7CF0-FDA4BFDEC013}"/>
              </a:ext>
            </a:extLst>
          </p:cNvPr>
          <p:cNvSpPr txBox="1"/>
          <p:nvPr/>
        </p:nvSpPr>
        <p:spPr>
          <a:xfrm>
            <a:off x="519434" y="4149176"/>
            <a:ext cx="87617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2"/>
              </a:rPr>
              <a:t>Tipos :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%s </a:t>
            </a:r>
            <a:r>
              <a:rPr lang="pt-BR" sz="2800" b="0" i="0" u="none" strike="noStrike" baseline="0" dirty="0">
                <a:latin typeface="CIDFont+F5"/>
              </a:rPr>
              <a:t>         </a:t>
            </a:r>
            <a:r>
              <a:rPr lang="pt-BR" sz="2800" b="0" i="0" u="none" strike="noStrike" baseline="0" dirty="0">
                <a:latin typeface="CIDFont+F2"/>
              </a:rPr>
              <a:t>será inserido uma </a:t>
            </a:r>
            <a:r>
              <a:rPr lang="pt-BR" sz="2800" b="0" i="0" u="none" strike="noStrike" baseline="0" dirty="0" err="1">
                <a:latin typeface="CIDFont+F2"/>
              </a:rPr>
              <a:t>string</a:t>
            </a:r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%f </a:t>
            </a:r>
            <a:r>
              <a:rPr lang="pt-BR" sz="2800" b="0" i="0" u="none" strike="noStrike" baseline="0" dirty="0">
                <a:latin typeface="CIDFont+F5"/>
              </a:rPr>
              <a:t>         </a:t>
            </a:r>
            <a:r>
              <a:rPr lang="pt-BR" sz="2800" b="0" i="0" u="none" strike="noStrike" baseline="0" dirty="0">
                <a:latin typeface="CIDFont+F2"/>
              </a:rPr>
              <a:t>será inserido um número real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%d </a:t>
            </a:r>
            <a:r>
              <a:rPr lang="pt-BR" sz="2800" b="0" i="0" u="none" strike="noStrike" baseline="0" dirty="0">
                <a:latin typeface="CIDFont+F5"/>
              </a:rPr>
              <a:t>        </a:t>
            </a:r>
            <a:r>
              <a:rPr lang="pt-BR" sz="2800" b="0" i="0" u="none" strike="noStrike" baseline="0" dirty="0">
                <a:latin typeface="CIDFont+F2"/>
              </a:rPr>
              <a:t>será inserido um número inteiro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%e </a:t>
            </a:r>
            <a:r>
              <a:rPr lang="pt-BR" sz="2800" b="0" i="0" u="none" strike="noStrike" baseline="0" dirty="0">
                <a:latin typeface="CIDFont+F5"/>
              </a:rPr>
              <a:t>        </a:t>
            </a:r>
            <a:r>
              <a:rPr lang="pt-BR" sz="2800" b="0" i="0" u="none" strike="noStrike" baseline="0" dirty="0">
                <a:latin typeface="CIDFont+F2"/>
              </a:rPr>
              <a:t>será inserido um número real em notação científica</a:t>
            </a:r>
            <a:endParaRPr lang="pt-BR" sz="2800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706D7F33-3DC2-5823-014B-C6931361C3C5}"/>
              </a:ext>
            </a:extLst>
          </p:cNvPr>
          <p:cNvCxnSpPr/>
          <p:nvPr/>
        </p:nvCxnSpPr>
        <p:spPr>
          <a:xfrm>
            <a:off x="1097280" y="4739640"/>
            <a:ext cx="6400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D6B78437-1C85-5D80-07BD-D7F44BE9EE5C}"/>
              </a:ext>
            </a:extLst>
          </p:cNvPr>
          <p:cNvCxnSpPr/>
          <p:nvPr/>
        </p:nvCxnSpPr>
        <p:spPr>
          <a:xfrm>
            <a:off x="1082040" y="5166360"/>
            <a:ext cx="6400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2E25106B-ABD4-C504-6DA7-AE363DF1AB12}"/>
              </a:ext>
            </a:extLst>
          </p:cNvPr>
          <p:cNvCxnSpPr/>
          <p:nvPr/>
        </p:nvCxnSpPr>
        <p:spPr>
          <a:xfrm>
            <a:off x="1097280" y="5605572"/>
            <a:ext cx="6400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080B4D7D-FD39-2657-48C7-9CCE54C2215B}"/>
              </a:ext>
            </a:extLst>
          </p:cNvPr>
          <p:cNvCxnSpPr/>
          <p:nvPr/>
        </p:nvCxnSpPr>
        <p:spPr>
          <a:xfrm>
            <a:off x="1082040" y="6019800"/>
            <a:ext cx="6400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7AA3B9-42F7-D444-0011-64CAE28D9C42}"/>
              </a:ext>
            </a:extLst>
          </p:cNvPr>
          <p:cNvSpPr txBox="1"/>
          <p:nvPr/>
        </p:nvSpPr>
        <p:spPr>
          <a:xfrm>
            <a:off x="549915" y="1183813"/>
            <a:ext cx="1131761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                                         Marcador</a:t>
            </a:r>
          </a:p>
          <a:p>
            <a:endParaRPr lang="pt-BR" sz="2400" b="1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pt-BR" sz="2400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&gt;&gt;&gt;</a:t>
            </a:r>
            <a:r>
              <a:rPr lang="pt-BR" sz="2400" dirty="0"/>
              <a:t> </a:t>
            </a:r>
            <a:r>
              <a:rPr lang="pt-BR" sz="2400" b="1" dirty="0">
                <a:solidFill>
                  <a:srgbClr val="FF0000"/>
                </a:solidFill>
              </a:rPr>
              <a:t>print</a:t>
            </a:r>
            <a:r>
              <a:rPr lang="pt-BR" sz="2400" dirty="0"/>
              <a:t>   </a:t>
            </a:r>
            <a:r>
              <a:rPr lang="pt-BR" sz="2400" b="1" dirty="0">
                <a:solidFill>
                  <a:srgbClr val="00B050"/>
                </a:solidFill>
              </a:rPr>
              <a:t>“string  %tipo”      </a:t>
            </a:r>
            <a:r>
              <a:rPr lang="pt-BR" sz="2400" b="1" dirty="0"/>
              <a:t>%variável</a:t>
            </a:r>
          </a:p>
          <a:p>
            <a:endParaRPr lang="pt-BR" sz="2400" b="1" dirty="0"/>
          </a:p>
          <a:p>
            <a:r>
              <a:rPr lang="pt-BR" sz="2400" b="1" dirty="0"/>
              <a:t>                                                                         </a:t>
            </a: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variável que será inserida dentro da string</a:t>
            </a:r>
          </a:p>
          <a:p>
            <a:endParaRPr lang="pt-BR" sz="2400" b="1" dirty="0"/>
          </a:p>
          <a:p>
            <a:r>
              <a:rPr lang="pt-BR" sz="2400" b="1" dirty="0"/>
              <a:t>                                              </a:t>
            </a: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tipo da variável que será inserida</a:t>
            </a:r>
            <a:endParaRPr lang="pt-BR" b="1" dirty="0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43699F9A-4624-4581-FC32-63CC4A0F849D}"/>
              </a:ext>
            </a:extLst>
          </p:cNvPr>
          <p:cNvCxnSpPr>
            <a:cxnSpLocks/>
          </p:cNvCxnSpPr>
          <p:nvPr/>
        </p:nvCxnSpPr>
        <p:spPr>
          <a:xfrm>
            <a:off x="3215640" y="1539240"/>
            <a:ext cx="0" cy="838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DDB4A883-ECEF-2EDC-C4EC-6915B0AED5B3}"/>
              </a:ext>
            </a:extLst>
          </p:cNvPr>
          <p:cNvCxnSpPr>
            <a:cxnSpLocks/>
          </p:cNvCxnSpPr>
          <p:nvPr/>
        </p:nvCxnSpPr>
        <p:spPr>
          <a:xfrm>
            <a:off x="4465320" y="1539240"/>
            <a:ext cx="0" cy="838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9BAE215-E96B-EB43-AF7C-F257E5B97B66}"/>
              </a:ext>
            </a:extLst>
          </p:cNvPr>
          <p:cNvCxnSpPr/>
          <p:nvPr/>
        </p:nvCxnSpPr>
        <p:spPr>
          <a:xfrm flipV="1">
            <a:off x="5212080" y="2621280"/>
            <a:ext cx="0" cy="50292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4CF6AC10-28B0-03A5-BB9A-7BB628131A11}"/>
              </a:ext>
            </a:extLst>
          </p:cNvPr>
          <p:cNvCxnSpPr/>
          <p:nvPr/>
        </p:nvCxnSpPr>
        <p:spPr>
          <a:xfrm flipV="1">
            <a:off x="3535680" y="2621280"/>
            <a:ext cx="0" cy="11582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0027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070B8D-5FB8-6A23-50CB-8EE193CE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92F7-0B74-439D-9B47-E47315895ED6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A21CE0E-4F8E-5036-AA4A-7CD2C402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DA02E5-00E0-D18A-FBAB-F7EC2F9E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6855A47-D1F1-303D-D726-E6DF66C50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971" y="365125"/>
            <a:ext cx="9483563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Formatação de </a:t>
            </a:r>
            <a:r>
              <a:rPr lang="pt-BR" sz="4000" b="1" i="1" u="none" strike="noStrike" baseline="0" dirty="0" err="1">
                <a:latin typeface="CIDFont+F1"/>
              </a:rPr>
              <a:t>Strings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A89F3F-2392-1C9E-AD42-9255414E13C2}"/>
              </a:ext>
            </a:extLst>
          </p:cNvPr>
          <p:cNvSpPr txBox="1"/>
          <p:nvPr/>
        </p:nvSpPr>
        <p:spPr>
          <a:xfrm>
            <a:off x="376311" y="1322546"/>
            <a:ext cx="1111464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0" i="0" u="none" strike="noStrike" baseline="0" dirty="0">
                <a:latin typeface="CIDFont+F2"/>
              </a:rPr>
              <a:t>Ex.: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nome = 'Ana’</a:t>
            </a:r>
          </a:p>
          <a:p>
            <a:pPr algn="l"/>
            <a:r>
              <a:rPr lang="pt-BR" sz="2400" dirty="0">
                <a:latin typeface="CIDFont+F2"/>
              </a:rPr>
              <a:t>print (nome)</a:t>
            </a:r>
            <a:r>
              <a:rPr lang="pt-BR" sz="2400" b="0" i="0" u="none" strike="noStrike" baseline="0" dirty="0">
                <a:latin typeface="CIDFont+F2"/>
              </a:rPr>
              <a:t> </a:t>
            </a:r>
          </a:p>
          <a:p>
            <a:pPr algn="l"/>
            <a:r>
              <a:rPr lang="pt-BR" sz="2400" dirty="0">
                <a:latin typeface="CIDFont+F2"/>
              </a:rPr>
              <a:t>idade </a:t>
            </a:r>
            <a:r>
              <a:rPr lang="pt-BR" sz="2400" b="0" i="0" u="none" strike="noStrike" baseline="0" dirty="0">
                <a:latin typeface="CIDFont+F2"/>
              </a:rPr>
              <a:t>= 17</a:t>
            </a:r>
          </a:p>
          <a:p>
            <a:pPr algn="l"/>
            <a:r>
              <a:rPr lang="pt-BR" sz="2400" dirty="0">
                <a:latin typeface="CIDFont+F2"/>
              </a:rPr>
              <a:t>print(idade)</a:t>
            </a:r>
            <a:endParaRPr lang="pt-BR" sz="2400" b="0" i="0" u="none" strike="noStrike" baseline="0" dirty="0"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altura = 1.645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print('%s tem %d anos e %.2f metros de altura!' %(</a:t>
            </a:r>
            <a:r>
              <a:rPr lang="pt-BR" sz="2400" b="0" i="0" u="none" strike="noStrike" baseline="0" dirty="0" err="1">
                <a:latin typeface="CIDFont+F2"/>
              </a:rPr>
              <a:t>nome,idade,altura</a:t>
            </a:r>
            <a:r>
              <a:rPr lang="pt-BR" sz="2400" b="0" i="0" u="none" strike="noStrike" baseline="0" dirty="0">
                <a:latin typeface="CIDFont+F2"/>
              </a:rPr>
              <a:t>))</a:t>
            </a:r>
          </a:p>
          <a:p>
            <a:endParaRPr lang="pt-BR" sz="2400" dirty="0">
              <a:latin typeface="CIDFont+F2"/>
            </a:endParaRPr>
          </a:p>
          <a:p>
            <a:r>
              <a:rPr lang="pt-BR" sz="2400" dirty="0">
                <a:latin typeface="CIDFont+F2"/>
              </a:rPr>
              <a:t>print(f'{nome} tem {idade} anos e {altura:.2f} metros de altura!’)</a:t>
            </a:r>
          </a:p>
          <a:p>
            <a:endParaRPr lang="pt-BR" sz="2400" dirty="0">
              <a:latin typeface="CIDFont+F2"/>
            </a:endParaRPr>
          </a:p>
          <a:p>
            <a:endParaRPr lang="pt-BR" sz="2400" dirty="0">
              <a:latin typeface="CIDFont+F2"/>
            </a:endParaRPr>
          </a:p>
          <a:p>
            <a:endParaRPr lang="pt-BR" sz="2400" b="0" i="0" u="none" strike="noStrike" baseline="0" dirty="0">
              <a:latin typeface="CIDFont+F2"/>
            </a:endParaRPr>
          </a:p>
          <a:p>
            <a:endParaRPr lang="pt-BR" sz="1200" b="0" i="0" u="none" strike="noStrike" baseline="0" dirty="0">
              <a:latin typeface="CIDFont+F2"/>
            </a:endParaRPr>
          </a:p>
          <a:p>
            <a:pPr algn="l"/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Ana tem 17 anos e 1.65 metros de altura!</a:t>
            </a:r>
            <a:endParaRPr lang="pt-BR" sz="2400" b="1" dirty="0">
              <a:solidFill>
                <a:srgbClr val="FF0000"/>
              </a:solidFill>
            </a:endParaRPr>
          </a:p>
        </p:txBody>
      </p:sp>
      <p:sp>
        <p:nvSpPr>
          <p:cNvPr id="6" name="Igual a 5">
            <a:extLst>
              <a:ext uri="{FF2B5EF4-FFF2-40B4-BE49-F238E27FC236}">
                <a16:creationId xmlns:a16="http://schemas.microsoft.com/office/drawing/2014/main" id="{99A75B2C-F251-6676-24BA-C82DF1ACB4FE}"/>
              </a:ext>
            </a:extLst>
          </p:cNvPr>
          <p:cNvSpPr/>
          <p:nvPr/>
        </p:nvSpPr>
        <p:spPr>
          <a:xfrm>
            <a:off x="9812638" y="3954035"/>
            <a:ext cx="611522" cy="365125"/>
          </a:xfrm>
          <a:prstGeom prst="mathEqua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13CA331-8310-819B-5232-4FBD06648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1" y="4979462"/>
            <a:ext cx="997734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antes da string indica que é uma 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f-string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chaves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{ }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servem para colocar variáveis diretamente dentro do texto.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have Direita 8">
            <a:extLst>
              <a:ext uri="{FF2B5EF4-FFF2-40B4-BE49-F238E27FC236}">
                <a16:creationId xmlns:a16="http://schemas.microsoft.com/office/drawing/2014/main" id="{022B103B-D005-780A-D44A-287F5975F186}"/>
              </a:ext>
            </a:extLst>
          </p:cNvPr>
          <p:cNvSpPr/>
          <p:nvPr/>
        </p:nvSpPr>
        <p:spPr>
          <a:xfrm>
            <a:off x="9326880" y="3611880"/>
            <a:ext cx="320040" cy="98821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C67EFFD8-8294-D4FB-BC95-E40B4F60AAD4}"/>
              </a:ext>
            </a:extLst>
          </p:cNvPr>
          <p:cNvSpPr/>
          <p:nvPr/>
        </p:nvSpPr>
        <p:spPr>
          <a:xfrm rot="964332">
            <a:off x="405338" y="4025308"/>
            <a:ext cx="797169" cy="26431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68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A18CAB7-F8D1-22B2-0F83-DF5FACA6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D1044-4351-4B65-9A88-63290AF91B03}" type="datetime1">
              <a:rPr lang="pt-BR" smtClean="0"/>
              <a:t>21/06/2026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FC710B-CAF5-1AA4-EA05-EF3D0B7B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57A205-9312-A31C-BE9C-3DB0CC64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B612311-E1E1-07C9-F865-3AFFEC53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 </a:t>
            </a:r>
            <a:r>
              <a:rPr lang="pt-BR" b="1" i="1" dirty="0"/>
              <a:t>Até a próxima aula...</a:t>
            </a:r>
          </a:p>
        </p:txBody>
      </p:sp>
      <p:pic>
        <p:nvPicPr>
          <p:cNvPr id="1026" name="Picture 2" descr="Feliz aquele que transfere o que sabe e aprende o que ensina.... Frase de Cora Coralina.">
            <a:extLst>
              <a:ext uri="{FF2B5EF4-FFF2-40B4-BE49-F238E27FC236}">
                <a16:creationId xmlns:a16="http://schemas.microsoft.com/office/drawing/2014/main" id="{8EFE20EF-F80B-4E6C-C9C8-BC97837E1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545" y="1380465"/>
            <a:ext cx="7742591" cy="488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9274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a7b03c-4792-4e17-9dab-b93b92a33270">
      <Terms xmlns="http://schemas.microsoft.com/office/infopath/2007/PartnerControls"/>
    </lcf76f155ced4ddcb4097134ff3c332f>
    <TaxCatchAll xmlns="5c7a6bef-5354-4968-b627-13d8ea6c420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3A580C3F0644BAE65217E90A3571B" ma:contentTypeVersion="10" ma:contentTypeDescription="Crie um novo documento." ma:contentTypeScope="" ma:versionID="17db1123b059ccd9b7a0137fb695dfba">
  <xsd:schema xmlns:xsd="http://www.w3.org/2001/XMLSchema" xmlns:xs="http://www.w3.org/2001/XMLSchema" xmlns:p="http://schemas.microsoft.com/office/2006/metadata/properties" xmlns:ns2="30a7b03c-4792-4e17-9dab-b93b92a33270" xmlns:ns3="5c7a6bef-5354-4968-b627-13d8ea6c420d" targetNamespace="http://schemas.microsoft.com/office/2006/metadata/properties" ma:root="true" ma:fieldsID="8a52f4d396bca3b056e9e32e12d83d9c" ns2:_="" ns3:_="">
    <xsd:import namespace="30a7b03c-4792-4e17-9dab-b93b92a33270"/>
    <xsd:import namespace="5c7a6bef-5354-4968-b627-13d8ea6c42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b03c-4792-4e17-9dab-b93b92a332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666036a-182f-4ecd-b44e-d420e52619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6bef-5354-4968-b627-13d8ea6c42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3475c2-86e0-40c6-a7f9-d735a9095961}" ma:internalName="TaxCatchAll" ma:showField="CatchAllData" ma:web="5c7a6bef-5354-4968-b627-13d8ea6c42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3F62AA-CE74-450E-A143-323208242650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46de67d5-7915-4c3d-88dd-29e97494f6fc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  <ds:schemaRef ds:uri="30a7b03c-4792-4e17-9dab-b93b92a33270"/>
    <ds:schemaRef ds:uri="5c7a6bef-5354-4968-b627-13d8ea6c420d"/>
  </ds:schemaRefs>
</ds:datastoreItem>
</file>

<file path=customXml/itemProps2.xml><?xml version="1.0" encoding="utf-8"?>
<ds:datastoreItem xmlns:ds="http://schemas.openxmlformats.org/officeDocument/2006/customXml" ds:itemID="{4E73F451-0B9B-48EF-B060-08BD424664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b03c-4792-4e17-9dab-b93b92a33270"/>
    <ds:schemaRef ds:uri="5c7a6bef-5354-4968-b627-13d8ea6c42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F61661-13A6-4CC9-8A34-C730D0B8E0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5706</TotalTime>
  <Words>4588</Words>
  <Application>Microsoft Office PowerPoint</Application>
  <PresentationFormat>Widescreen</PresentationFormat>
  <Paragraphs>984</Paragraphs>
  <Slides>58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59" baseType="lpstr">
      <vt:lpstr>Tema do Office</vt:lpstr>
      <vt:lpstr>                 Centro Federal de Educação Tecnológica Celso Suckow da Fonseca Escola de Informática e Computação Ciência da Computação</vt:lpstr>
      <vt:lpstr>              Centro Federal de Educação Tecnológica Celso Suckow da Fonseca Escola de Informática e Computação Ciência da Computação</vt:lpstr>
      <vt:lpstr>Centro Federal de Educação Tecnológica Celso Suckow da Fonseca Escola de Informática e Computação Ciência da Computação</vt:lpstr>
      <vt:lpstr>Apresentação do PowerPoint</vt:lpstr>
      <vt:lpstr>Provas, Listas, Trabalho e Calendário.</vt:lpstr>
      <vt:lpstr>Provas, Listas, Trabalho e Calendário</vt:lpstr>
      <vt:lpstr>Provas, Listas, Trabalho e Calendário.</vt:lpstr>
      <vt:lpstr>Planilha de Notas</vt:lpstr>
      <vt:lpstr>                                          Bibliografia</vt:lpstr>
      <vt:lpstr>Bibliografia</vt:lpstr>
      <vt:lpstr>Múltiplo Propósito</vt:lpstr>
      <vt:lpstr>Apresentação do PowerPoint</vt:lpstr>
      <vt:lpstr>    Ementa</vt:lpstr>
      <vt:lpstr>                     Breve Histórico</vt:lpstr>
      <vt:lpstr>                Ambiente Integral de Desenvolvimento - IDE</vt:lpstr>
      <vt:lpstr>Programação Estruturada</vt:lpstr>
      <vt:lpstr>Programação Estruturada</vt:lpstr>
      <vt:lpstr>Programação Estruturada</vt:lpstr>
      <vt:lpstr>Programação Estruturada</vt:lpstr>
      <vt:lpstr>Programação Estruturada</vt:lpstr>
      <vt:lpstr>Algoritmo</vt:lpstr>
      <vt:lpstr>Propriedade de um Algoritmo</vt:lpstr>
      <vt:lpstr>Exemplo de um não Algoritmo</vt:lpstr>
      <vt:lpstr>Construção de Algoritmos</vt:lpstr>
      <vt:lpstr>Tipos de Dados em Python</vt:lpstr>
      <vt:lpstr>Tipos de Dados em Python</vt:lpstr>
      <vt:lpstr>Tipos de Dados em Python</vt:lpstr>
      <vt:lpstr> Exemplos de Operações com Números</vt:lpstr>
      <vt:lpstr>Desenvolvimento Interativo</vt:lpstr>
      <vt:lpstr>Tipos de Dados em Python</vt:lpstr>
      <vt:lpstr>Tipos de Dados em Python</vt:lpstr>
      <vt:lpstr>Operadores com String</vt:lpstr>
      <vt:lpstr>            Algumas funções que podem ser usadas com strings</vt:lpstr>
      <vt:lpstr>Operadores Lógicos</vt:lpstr>
      <vt:lpstr>Operadores Lógicos</vt:lpstr>
      <vt:lpstr>Tabela Verdade</vt:lpstr>
      <vt:lpstr>Tabela Verdade</vt:lpstr>
      <vt:lpstr>Tabela Verdade</vt:lpstr>
      <vt:lpstr>Expressões Relacionais</vt:lpstr>
      <vt:lpstr>Expressões Relacionais</vt:lpstr>
      <vt:lpstr>Conceito de Variável</vt:lpstr>
      <vt:lpstr>Conceito de Variável</vt:lpstr>
      <vt:lpstr>Declaração de Variável</vt:lpstr>
      <vt:lpstr>Formatação de Identificadores</vt:lpstr>
      <vt:lpstr>Operações Básicas</vt:lpstr>
      <vt:lpstr>Operação de Atribuição</vt:lpstr>
      <vt:lpstr>Operação de Atribuição</vt:lpstr>
      <vt:lpstr>Memória e Endereços</vt:lpstr>
      <vt:lpstr>Operadores Especiais em Python</vt:lpstr>
      <vt:lpstr>Bibliotecas em Python</vt:lpstr>
      <vt:lpstr>Comandos de Entrada e Saída</vt:lpstr>
      <vt:lpstr>Comandos de Entrada e Saída</vt:lpstr>
      <vt:lpstr>Comandos de Entrada e Saída</vt:lpstr>
      <vt:lpstr>Conversões de Tipos em Python</vt:lpstr>
      <vt:lpstr>Comentários em Python</vt:lpstr>
      <vt:lpstr>Formatação de Strings</vt:lpstr>
      <vt:lpstr>Formatação de Strings</vt:lpstr>
      <vt:lpstr> Até a próxima aula...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ALMIR SILVA DA SILVEIRA</dc:creator>
  <cp:lastModifiedBy>ALMIR SILVA DA SILVEIRA</cp:lastModifiedBy>
  <cp:revision>192</cp:revision>
  <dcterms:created xsi:type="dcterms:W3CDTF">2024-07-25T18:00:53Z</dcterms:created>
  <dcterms:modified xsi:type="dcterms:W3CDTF">2026-06-21T17:38:52Z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0x01010024A3A580C3F0644BAE65217E90A3571B</vt:lpwstr>
  </property>
  <property fmtid="{D5CDD505-2E9C-101B-9397-08002B2CF9AE}" pid="3" name="MediaServiceImageTags">
    <vt:lpwstr/>
  </property>
</Properties>
</file>