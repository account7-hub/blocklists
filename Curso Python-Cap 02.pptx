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07" r:id="rId17"/>
    <p:sldId id="319" r:id="rId18"/>
    <p:sldId id="320" r:id="rId19"/>
    <p:sldId id="270" r:id="rId20"/>
    <p:sldId id="308" r:id="rId21"/>
    <p:sldId id="310" r:id="rId22"/>
    <p:sldId id="309" r:id="rId23"/>
    <p:sldId id="318" r:id="rId24"/>
    <p:sldId id="311" r:id="rId25"/>
    <p:sldId id="317" r:id="rId26"/>
    <p:sldId id="312" r:id="rId27"/>
    <p:sldId id="313" r:id="rId28"/>
    <p:sldId id="314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A TROTTA SILVEIRA" userId="S::18200369790@cefet-rj.br::5e18e8ca-67e6-4902-b3a3-5059fd113c90" providerId="AD" clId="Web-{F4EE719E-7D7C-3719-03C1-60DF5DF87793}"/>
    <pc:docChg chg="addSld delSld">
      <pc:chgData name="MARIANNA TROTTA SILVEIRA" userId="S::18200369790@cefet-rj.br::5e18e8ca-67e6-4902-b3a3-5059fd113c90" providerId="AD" clId="Web-{F4EE719E-7D7C-3719-03C1-60DF5DF87793}" dt="2026-04-24T22:03:14.157" v="1"/>
      <pc:docMkLst>
        <pc:docMk/>
      </pc:docMkLst>
      <pc:sldChg chg="new del">
        <pc:chgData name="MARIANNA TROTTA SILVEIRA" userId="S::18200369790@cefet-rj.br::5e18e8ca-67e6-4902-b3a3-5059fd113c90" providerId="AD" clId="Web-{F4EE719E-7D7C-3719-03C1-60DF5DF87793}" dt="2026-04-24T22:03:14.157" v="1"/>
        <pc:sldMkLst>
          <pc:docMk/>
          <pc:sldMk cId="654828390" sldId="321"/>
        </pc:sldMkLst>
      </pc:sldChg>
    </pc:docChg>
  </pc:docChgLst>
  <pc:docChgLst>
    <pc:chgData name="JOAQUIM MONTEIRO LEOTE" userId="S::20061015792@cefet-rj.br::adab3c55-dd51-4144-945e-2d2e42f46045" providerId="AD" clId="Web-{00685E29-28F5-F402-A669-F537794E3D99}"/>
    <pc:docChg chg="modSld">
      <pc:chgData name="JOAQUIM MONTEIRO LEOTE" userId="S::20061015792@cefet-rj.br::adab3c55-dd51-4144-945e-2d2e42f46045" providerId="AD" clId="Web-{00685E29-28F5-F402-A669-F537794E3D99}" dt="2026-04-08T17:35:40.729" v="2" actId="20577"/>
      <pc:docMkLst>
        <pc:docMk/>
      </pc:docMkLst>
      <pc:sldChg chg="modSp">
        <pc:chgData name="JOAQUIM MONTEIRO LEOTE" userId="S::20061015792@cefet-rj.br::adab3c55-dd51-4144-945e-2d2e42f46045" providerId="AD" clId="Web-{00685E29-28F5-F402-A669-F537794E3D99}" dt="2026-04-08T17:35:40.729" v="2" actId="20577"/>
        <pc:sldMkLst>
          <pc:docMk/>
          <pc:sldMk cId="3075506600" sldId="260"/>
        </pc:sldMkLst>
        <pc:spChg chg="mod">
          <ac:chgData name="JOAQUIM MONTEIRO LEOTE" userId="S::20061015792@cefet-rj.br::adab3c55-dd51-4144-945e-2d2e42f46045" providerId="AD" clId="Web-{00685E29-28F5-F402-A669-F537794E3D99}" dt="2026-04-08T17:35:40.729" v="2" actId="20577"/>
          <ac:spMkLst>
            <pc:docMk/>
            <pc:sldMk cId="3075506600" sldId="260"/>
            <ac:spMk id="11" creationId="{9BF49A11-627A-7848-07FE-C2890D388D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03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951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49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631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72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487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658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67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D7B70-38A2-4C59-A61C-66BCC9755C30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fld id="{086EE048-77EE-4C7D-8D58-1152A13B28D9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E1F2-57D6-4B42-B86D-C6DB7136755A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0729-0E39-4757-AB80-0A3E66C84F81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DA898-17D3-4081-8B62-749C6F892552}" type="datetime1">
              <a:rPr lang="pt-BR" smtClean="0"/>
              <a:t>21/06/2026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A59F5-D431-4C4E-A0EC-648151BB5EA6}" type="datetime1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31CF-230C-490E-819E-25B14BF6D943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B53F5-D5D2-4FBC-896E-8C6B46E96542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524D-052A-4730-985D-4F168624060F}" type="datetime1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116A-2778-4306-A0B8-B061C3C6B356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8726-4DDA-4A81-AB03-739040532D67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A5D8D-AF79-4FC6-ACE4-F1CECAEAD83C}" type="datetime1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5E25-83C0-43C3-9290-2D69291C16D2}" type="datetime1">
              <a:rPr lang="pt-BR" smtClean="0"/>
              <a:t>21/06/2026</a:t>
            </a:fld>
            <a:endParaRPr 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fld id="{250292FE-8D56-4E3A-9427-CB428FF60A53}" type="slidenum">
              <a:rPr lang="pt-BR" smtClean="0"/>
              <a:pPr/>
              <a:t>1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1448972" y="2028616"/>
            <a:ext cx="99683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>
                <a:latin typeface="Arial" panose="020B0604020202020204" pitchFamily="34" charset="0"/>
                <a:cs typeface="Arial" panose="020B0604020202020204" pitchFamily="34" charset="0"/>
              </a:rPr>
              <a:t>– Cap-02 – </a:t>
            </a:r>
          </a:p>
          <a:p>
            <a:pPr algn="ctr"/>
            <a:r>
              <a:rPr lang="pt-BR" sz="4400" b="1">
                <a:latin typeface="Arial" panose="020B0604020202020204" pitchFamily="34" charset="0"/>
                <a:cs typeface="Arial" panose="020B0604020202020204" pitchFamily="34" charset="0"/>
              </a:rPr>
              <a:t>Comandos de Seleção</a:t>
            </a:r>
          </a:p>
          <a:p>
            <a:pPr algn="ctr"/>
            <a:endParaRPr lang="pt-BR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FB8547-1908-F806-BCA2-41626F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99D2-7C6A-4120-91D0-304926AD7648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DB808A-24F8-E592-EC38-AD9000C9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BA8FC-ADB4-1D2A-F9D0-071FD43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2621C16-6A9E-F6F6-AF16-AEB40331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760" y="365125"/>
            <a:ext cx="9596774" cy="988219"/>
          </a:xfrm>
        </p:spPr>
        <p:txBody>
          <a:bodyPr>
            <a:normAutofit/>
          </a:bodyPr>
          <a:lstStyle/>
          <a:p>
            <a:pPr algn="ctr"/>
            <a:r>
              <a:rPr lang="pt-BR" sz="3600" b="1" i="0" u="none" strike="noStrike" baseline="0">
                <a:latin typeface="CIDFont+F1"/>
              </a:rPr>
              <a:t>Estrutura de Seleção ou Condicional em Python</a:t>
            </a:r>
            <a:endParaRPr lang="pt-BR" sz="3600" b="1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6E6065-85F8-30B5-02CD-F2CCD729BEEB}"/>
              </a:ext>
            </a:extLst>
          </p:cNvPr>
          <p:cNvSpPr txBox="1"/>
          <p:nvPr/>
        </p:nvSpPr>
        <p:spPr>
          <a:xfrm>
            <a:off x="777240" y="1674674"/>
            <a:ext cx="99974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>
                <a:solidFill>
                  <a:srgbClr val="000000"/>
                </a:solidFill>
                <a:latin typeface="CIDFont+F2"/>
              </a:rPr>
              <a:t>Mecanismos de decisão:</a:t>
            </a:r>
          </a:p>
          <a:p>
            <a:pPr algn="l"/>
            <a:r>
              <a:rPr lang="pt-BR" sz="2800" b="1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CIDFont+F3"/>
              </a:rPr>
              <a:t>• 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if</a:t>
            </a:r>
            <a:r>
              <a:rPr lang="pt-BR" sz="2800" b="1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 </a:t>
            </a:r>
            <a:r>
              <a:rPr lang="pt-BR" sz="2800" b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...</a:t>
            </a:r>
            <a:endParaRPr lang="pt-BR" sz="2800" b="0" i="0" u="none" strike="noStrike" baseline="0">
              <a:solidFill>
                <a:srgbClr val="000000"/>
              </a:solidFill>
              <a:latin typeface="CIDFont+F4"/>
            </a:endParaRPr>
          </a:p>
          <a:p>
            <a:pPr marL="274638" algn="l"/>
            <a:r>
              <a:rPr lang="pt-BR" sz="2800" b="0" i="0" u="none" strike="noStrike" baseline="0">
                <a:solidFill>
                  <a:srgbClr val="464653"/>
                </a:solidFill>
                <a:latin typeface="CIDFont+F2"/>
              </a:rPr>
              <a:t>Executa algo somente quando uma condição é verdadeira</a:t>
            </a:r>
          </a:p>
          <a:p>
            <a:pPr algn="l"/>
            <a:endParaRPr lang="pt-BR" sz="2800" b="0" i="0" u="none" strike="noStrike" baseline="0">
              <a:solidFill>
                <a:srgbClr val="464653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>
                <a:solidFill>
                  <a:srgbClr val="00B1F1"/>
                </a:solidFill>
                <a:latin typeface="CIDFont+F3"/>
              </a:rPr>
              <a:t>• 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if</a:t>
            </a:r>
            <a:r>
              <a:rPr lang="pt-BR" sz="2800" b="1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CIDFont+F2"/>
              </a:rPr>
              <a:t>... 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2"/>
              </a:rPr>
              <a:t>e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lse</a:t>
            </a:r>
            <a:r>
              <a:rPr lang="pt-BR" sz="2800" b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...</a:t>
            </a:r>
            <a:endParaRPr lang="pt-BR" sz="2800" b="1" i="0" u="none" strike="noStrike" baseline="0">
              <a:solidFill>
                <a:schemeClr val="tx2">
                  <a:lumMod val="50000"/>
                  <a:lumOff val="50000"/>
                </a:schemeClr>
              </a:solidFill>
              <a:latin typeface="CIDFont+F4"/>
            </a:endParaRPr>
          </a:p>
          <a:p>
            <a:pPr marL="274638" algn="l"/>
            <a:r>
              <a:rPr lang="pt-BR" sz="2800" b="0" i="0" u="none" strike="noStrike" baseline="0">
                <a:solidFill>
                  <a:srgbClr val="464653"/>
                </a:solidFill>
                <a:latin typeface="CIDFont+F2"/>
              </a:rPr>
              <a:t>Bifurca a execução do código em função de uma condição</a:t>
            </a:r>
          </a:p>
          <a:p>
            <a:pPr algn="l"/>
            <a:endParaRPr lang="pt-BR" sz="2800" b="0" i="0" u="none" strike="noStrike" baseline="0">
              <a:solidFill>
                <a:srgbClr val="464653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>
                <a:solidFill>
                  <a:srgbClr val="727CA5"/>
                </a:solidFill>
                <a:latin typeface="CIDFont+F3"/>
              </a:rPr>
              <a:t>• 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if</a:t>
            </a:r>
            <a:r>
              <a:rPr lang="pt-BR" sz="2800" b="1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CIDFont+F2"/>
              </a:rPr>
              <a:t>... </a:t>
            </a:r>
            <a:r>
              <a:rPr lang="pt-BR" sz="2800" b="1" i="0" u="none" strike="noStrike" baseline="0" err="1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elif</a:t>
            </a:r>
            <a:r>
              <a:rPr lang="pt-BR" sz="2800" b="1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CIDFont+F4"/>
              </a:rPr>
              <a:t>...</a:t>
            </a:r>
          </a:p>
          <a:p>
            <a:pPr marL="274638" algn="l"/>
            <a:r>
              <a:rPr lang="pt-BR" sz="2800" b="0" i="0" u="none" strike="noStrike" baseline="0">
                <a:solidFill>
                  <a:srgbClr val="464653"/>
                </a:solidFill>
                <a:latin typeface="CIDFont+F2"/>
              </a:rPr>
              <a:t>Executa apenas o bloco em que a condição é verdadeira</a:t>
            </a:r>
            <a:endParaRPr lang="pt-BR" sz="2800"/>
          </a:p>
        </p:txBody>
      </p:sp>
    </p:spTree>
    <p:extLst>
      <p:ext uri="{BB962C8B-B14F-4D97-AF65-F5344CB8AC3E}">
        <p14:creationId xmlns:p14="http://schemas.microsoft.com/office/powerpoint/2010/main" val="286408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FB50DD81-1230-A1BF-FA37-8748BBDD1198}"/>
              </a:ext>
            </a:extLst>
          </p:cNvPr>
          <p:cNvSpPr/>
          <p:nvPr/>
        </p:nvSpPr>
        <p:spPr>
          <a:xfrm>
            <a:off x="7499637" y="2594545"/>
            <a:ext cx="28956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FFFF00"/>
              </a:highlight>
            </a:endParaRP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4E06-942C-4182-8241-4F3208484E33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endParaRPr lang="pt-BR" sz="4000" b="1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C18D7E-DD13-6FBC-503A-6F9DE69AFF39}"/>
              </a:ext>
            </a:extLst>
          </p:cNvPr>
          <p:cNvSpPr txBox="1"/>
          <p:nvPr/>
        </p:nvSpPr>
        <p:spPr>
          <a:xfrm>
            <a:off x="5248091" y="1461536"/>
            <a:ext cx="312157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 Python</a:t>
            </a:r>
          </a:p>
          <a:p>
            <a:pPr algn="ctr"/>
            <a:r>
              <a:rPr lang="pt-BR" sz="2200" b="1"/>
              <a:t>...</a:t>
            </a:r>
          </a:p>
          <a:p>
            <a:pPr algn="ctr"/>
            <a:endParaRPr lang="pt-BR" sz="2200"/>
          </a:p>
          <a:p>
            <a:pPr algn="ctr"/>
            <a:r>
              <a:rPr lang="pt-BR" sz="22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if</a:t>
            </a:r>
            <a:r>
              <a:rPr lang="pt-BR" sz="2200" b="1"/>
              <a:t> CONDIÇÃO</a:t>
            </a:r>
            <a:r>
              <a:rPr lang="pt-BR" sz="2800" b="1"/>
              <a:t>:</a:t>
            </a:r>
          </a:p>
          <a:p>
            <a:pPr algn="ctr"/>
            <a:r>
              <a:rPr lang="pt-BR" sz="2200" b="1"/>
              <a:t>                INSTRUÇÃO  1</a:t>
            </a:r>
          </a:p>
          <a:p>
            <a:pPr algn="ctr"/>
            <a:r>
              <a:rPr lang="pt-BR" sz="2200" b="1"/>
              <a:t>                INSTRUÇÃO  2</a:t>
            </a:r>
          </a:p>
          <a:p>
            <a:pPr algn="ctr"/>
            <a:r>
              <a:rPr lang="pt-BR" sz="2200" b="1"/>
              <a:t>                                                                   . . .</a:t>
            </a:r>
          </a:p>
          <a:p>
            <a:pPr algn="ctr"/>
            <a:endParaRPr lang="pt-BR" sz="2200" b="1"/>
          </a:p>
          <a:p>
            <a:pPr algn="ctr"/>
            <a:r>
              <a:rPr lang="pt-BR" sz="2200" b="1"/>
              <a:t>                 INSTRUÇÃO N</a:t>
            </a:r>
          </a:p>
          <a:p>
            <a:pPr algn="ctr"/>
            <a:endParaRPr lang="pt-BR" sz="2200" b="1"/>
          </a:p>
          <a:p>
            <a:pPr algn="ctr"/>
            <a:r>
              <a:rPr lang="pt-BR" sz="2200" b="1"/>
              <a:t>  . . .             </a:t>
            </a:r>
          </a:p>
          <a:p>
            <a:pPr algn="ctr"/>
            <a:r>
              <a:rPr lang="pt-BR" sz="2200" b="1"/>
              <a:t>    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B40B9F8-D61B-1FB2-CAEB-3A68FF31D379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7789197" y="2715413"/>
            <a:ext cx="1352177" cy="15082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F49A11-627A-7848-07FE-C2890D388D09}"/>
              </a:ext>
            </a:extLst>
          </p:cNvPr>
          <p:cNvSpPr txBox="1"/>
          <p:nvPr/>
        </p:nvSpPr>
        <p:spPr>
          <a:xfrm>
            <a:off x="9141374" y="1484000"/>
            <a:ext cx="2456179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b="1"/>
              <a:t>O Sinal    </a:t>
            </a:r>
            <a:r>
              <a:rPr lang="pt-BR" sz="3200" b="1">
                <a:solidFill>
                  <a:srgbClr val="FF0000"/>
                </a:solidFill>
              </a:rPr>
              <a:t>“</a:t>
            </a:r>
            <a:r>
              <a:rPr lang="pt-BR" sz="4400" b="1">
                <a:solidFill>
                  <a:schemeClr val="accent3"/>
                </a:solidFill>
              </a:rPr>
              <a:t>:</a:t>
            </a:r>
            <a:r>
              <a:rPr lang="pt-BR" sz="3200" b="1">
                <a:solidFill>
                  <a:srgbClr val="FF0000"/>
                </a:solidFill>
              </a:rPr>
              <a:t>”</a:t>
            </a:r>
          </a:p>
          <a:p>
            <a:pPr algn="ctr"/>
            <a:r>
              <a:rPr lang="pt-BR" sz="3200" b="1"/>
              <a:t> </a:t>
            </a:r>
            <a:r>
              <a:rPr lang="pt-BR" sz="2000" b="1"/>
              <a:t>é obrigatório para a maioria dos comandos e a indentação é </a:t>
            </a:r>
            <a:r>
              <a:rPr lang="pt-BR" sz="2000" b="1">
                <a:solidFill>
                  <a:srgbClr val="FF0000"/>
                </a:solidFill>
              </a:rPr>
              <a:t>obrigatória</a:t>
            </a:r>
            <a:r>
              <a:rPr lang="pt-BR" sz="2000" b="1"/>
              <a:t>.</a:t>
            </a:r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CCF86BA3-E1BD-C9A6-E1EF-949CCFD23E08}"/>
              </a:ext>
            </a:extLst>
          </p:cNvPr>
          <p:cNvSpPr/>
          <p:nvPr/>
        </p:nvSpPr>
        <p:spPr>
          <a:xfrm>
            <a:off x="5909438" y="2930812"/>
            <a:ext cx="579120" cy="2750324"/>
          </a:xfrm>
          <a:prstGeom prst="lef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A5B33B-B1AC-B0CB-ABD5-E43966AE9C01}"/>
              </a:ext>
            </a:extLst>
          </p:cNvPr>
          <p:cNvSpPr txBox="1"/>
          <p:nvPr/>
        </p:nvSpPr>
        <p:spPr>
          <a:xfrm>
            <a:off x="336242" y="1538481"/>
            <a:ext cx="510286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Pseudocódigo   </a:t>
            </a:r>
          </a:p>
          <a:p>
            <a:pPr algn="ctr"/>
            <a:r>
              <a:rPr lang="pt-BR" sz="2200" b="1"/>
              <a:t>    ...</a:t>
            </a:r>
          </a:p>
          <a:p>
            <a:pPr algn="ctr"/>
            <a:endParaRPr lang="pt-BR" sz="2200"/>
          </a:p>
          <a:p>
            <a:pPr algn="ctr"/>
            <a:r>
              <a:rPr lang="pt-BR" sz="2200" b="1">
                <a:solidFill>
                  <a:schemeClr val="tx2">
                    <a:lumMod val="90000"/>
                    <a:lumOff val="10000"/>
                  </a:schemeClr>
                </a:solidFill>
              </a:rPr>
              <a:t>Se</a:t>
            </a:r>
            <a:r>
              <a:rPr lang="pt-BR" sz="2200" b="1"/>
              <a:t> CONDIÇÃO </a:t>
            </a:r>
            <a:r>
              <a:rPr lang="pt-BR" sz="2200"/>
              <a:t> </a:t>
            </a:r>
            <a:r>
              <a:rPr lang="pt-BR" sz="2200" b="1"/>
              <a:t>então    </a:t>
            </a:r>
            <a:endParaRPr lang="pt-BR" sz="2200" b="1">
              <a:solidFill>
                <a:srgbClr val="FF0000"/>
              </a:solidFill>
            </a:endParaRPr>
          </a:p>
          <a:p>
            <a:pPr algn="ctr"/>
            <a:r>
              <a:rPr lang="pt-BR" sz="2200" b="1"/>
              <a:t>               INSTRUÇÃO 1                                   </a:t>
            </a:r>
          </a:p>
          <a:p>
            <a:pPr algn="ctr"/>
            <a:r>
              <a:rPr lang="pt-BR" sz="2200" b="1"/>
              <a:t>               INSTRUÇÃO 2    </a:t>
            </a:r>
          </a:p>
          <a:p>
            <a:pPr algn="ctr"/>
            <a:r>
              <a:rPr lang="pt-BR" sz="2200" b="1"/>
              <a:t>      </a:t>
            </a:r>
          </a:p>
          <a:p>
            <a:pPr algn="ctr"/>
            <a:r>
              <a:rPr lang="pt-BR" sz="2200" b="1"/>
              <a:t>     . . .                                                            </a:t>
            </a:r>
          </a:p>
          <a:p>
            <a:pPr algn="ctr"/>
            <a:endParaRPr lang="pt-BR" sz="2200" b="1"/>
          </a:p>
          <a:p>
            <a:pPr algn="ctr"/>
            <a:r>
              <a:rPr lang="pt-BR" sz="2200" b="1"/>
              <a:t>            INSTRUÇÃO N   </a:t>
            </a:r>
          </a:p>
          <a:p>
            <a:pPr algn="ctr"/>
            <a:r>
              <a:rPr lang="pt-BR" sz="2200" b="1"/>
              <a:t>   </a:t>
            </a:r>
          </a:p>
          <a:p>
            <a:pPr algn="ctr"/>
            <a:r>
              <a:rPr lang="pt-BR" sz="2200" b="1"/>
              <a:t>  . . .                                                         </a:t>
            </a:r>
          </a:p>
          <a:p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660358-9310-0F24-25FF-B004CFE167E0}"/>
              </a:ext>
            </a:extLst>
          </p:cNvPr>
          <p:cNvSpPr txBox="1"/>
          <p:nvPr/>
        </p:nvSpPr>
        <p:spPr>
          <a:xfrm>
            <a:off x="2264029" y="5738648"/>
            <a:ext cx="7869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>
                <a:solidFill>
                  <a:srgbClr val="FF0000"/>
                </a:solidFill>
              </a:rPr>
              <a:t>Os comandos estão indentados, deslocados para dentro do “</a:t>
            </a:r>
            <a:r>
              <a:rPr lang="pt-BR" sz="2000" b="1" err="1">
                <a:solidFill>
                  <a:srgbClr val="FF0000"/>
                </a:solidFill>
              </a:rPr>
              <a:t>if</a:t>
            </a:r>
            <a:r>
              <a:rPr lang="pt-BR" sz="2000" b="1">
                <a:solidFill>
                  <a:srgbClr val="FF0000"/>
                </a:solidFill>
              </a:rPr>
              <a:t>”, dão a entender que os comandos abaixo do </a:t>
            </a:r>
            <a:r>
              <a:rPr lang="pt-BR" sz="2000" b="1" err="1">
                <a:solidFill>
                  <a:srgbClr val="FF0000"/>
                </a:solidFill>
              </a:rPr>
              <a:t>if</a:t>
            </a:r>
            <a:r>
              <a:rPr lang="pt-BR" sz="2000" b="1">
                <a:solidFill>
                  <a:srgbClr val="FF0000"/>
                </a:solidFill>
              </a:rPr>
              <a:t> o pertencem.</a:t>
            </a:r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B2AEF722-6A02-8F8C-63C6-CB19DC59B7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66596" y="4556236"/>
            <a:ext cx="1418892" cy="945932"/>
          </a:xfrm>
          <a:prstGeom prst="bentConnector3">
            <a:avLst>
              <a:gd name="adj1" fmla="val 100000"/>
            </a:avLst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50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921F73-7603-DF51-2CC5-0C53B6E3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C9BAD-0F87-4B34-925E-A97A11AFE3F8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F16D7D-167A-EF2C-10B4-33602BD2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1846B8-94DD-0F9A-8205-91CB95BE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E1ABA33-CBF5-162A-328C-0F7B30B9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040" y="301625"/>
            <a:ext cx="9557180" cy="988219"/>
          </a:xfrm>
        </p:spPr>
        <p:txBody>
          <a:bodyPr>
            <a:normAutofit/>
          </a:bodyPr>
          <a:lstStyle/>
          <a:p>
            <a:pPr algn="ctr"/>
            <a:r>
              <a:rPr lang="pt-BR" b="1" i="0" u="none" strike="noStrike" baseline="0">
                <a:latin typeface="CIDFont+F1"/>
              </a:rPr>
              <a:t>Decisão do Tipo </a:t>
            </a:r>
            <a:r>
              <a:rPr lang="pt-BR" b="1" i="0" u="none" strike="noStrike" baseline="0" err="1">
                <a:latin typeface="CIDFont+F5"/>
              </a:rPr>
              <a:t>if</a:t>
            </a:r>
            <a:r>
              <a:rPr lang="pt-BR" b="1" i="0" u="none" strike="noStrike" baseline="0">
                <a:latin typeface="CIDFont+F1"/>
              </a:rPr>
              <a:t>...</a:t>
            </a:r>
            <a:endParaRPr lang="pt-BR" b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3A75D0-2E98-F9B0-8B5A-521993D160D5}"/>
              </a:ext>
            </a:extLst>
          </p:cNvPr>
          <p:cNvSpPr txBox="1"/>
          <p:nvPr/>
        </p:nvSpPr>
        <p:spPr>
          <a:xfrm>
            <a:off x="239151" y="1616604"/>
            <a:ext cx="117136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u="none" strike="noStrike" baseline="0">
                <a:solidFill>
                  <a:srgbClr val="727CA5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Executa o bloco de instruções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somente se a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condição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for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verdadeira</a:t>
            </a:r>
          </a:p>
          <a:p>
            <a:pPr algn="l"/>
            <a:endParaRPr lang="pt-BR" sz="3200" b="0" i="0" u="none" strike="noStrike" baseline="0">
              <a:solidFill>
                <a:srgbClr val="00B1F1"/>
              </a:solidFill>
              <a:latin typeface="CIDFont+F2"/>
            </a:endParaRPr>
          </a:p>
          <a:p>
            <a:pPr marL="365125" indent="-365125" algn="l"/>
            <a:r>
              <a:rPr lang="pt-BR" sz="3200" b="0" i="0" u="none" strike="noStrike" baseline="0">
                <a:solidFill>
                  <a:srgbClr val="727CA5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A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condição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é uma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expressão booleana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que pode fazer uso de quaisquer operadores</a:t>
            </a:r>
          </a:p>
          <a:p>
            <a:pPr algn="l"/>
            <a:endParaRPr lang="pt-BR" sz="3200" b="0" i="0" u="none" strike="noStrike" baseline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3200" b="0" i="0" u="none" strike="noStrike" baseline="0">
                <a:solidFill>
                  <a:srgbClr val="727CA5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O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bloco de instruções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é delimitado por 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indentação</a:t>
            </a:r>
            <a:endParaRPr lang="pt-BR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42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82F11A-B86B-1177-957D-1307EFA8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4D02-CF5C-4A9E-BA32-99201DC92D6F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C787C5-61B3-FEAD-0A18-11C75DAA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261A0B-A0E4-8B01-B037-4F4BF3E1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1FA7F4-5B96-9F92-DBC6-55EA3506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280" y="288925"/>
            <a:ext cx="9712570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endParaRPr lang="pt-BR" sz="4000" b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716D64-0CE8-6314-CE19-44014FA7EF6F}"/>
              </a:ext>
            </a:extLst>
          </p:cNvPr>
          <p:cNvSpPr txBox="1"/>
          <p:nvPr/>
        </p:nvSpPr>
        <p:spPr>
          <a:xfrm>
            <a:off x="467751" y="1431161"/>
            <a:ext cx="1157184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9475" indent="-2149475" algn="l"/>
            <a:r>
              <a:rPr lang="pt-BR" sz="3200" b="1" i="0" u="none" strike="noStrike" baseline="0">
                <a:latin typeface="CIDFont+F3"/>
              </a:rPr>
              <a:t>• </a:t>
            </a:r>
            <a:r>
              <a:rPr lang="pt-BR" sz="3200" b="1" i="0" u="none" strike="noStrike" baseline="0">
                <a:latin typeface="CIDFont+F2"/>
              </a:rPr>
              <a:t>Exemplo1</a:t>
            </a:r>
            <a:r>
              <a:rPr lang="pt-BR" sz="3200" b="0" i="0" u="none" strike="noStrike" baseline="0">
                <a:solidFill>
                  <a:srgbClr val="727CA5"/>
                </a:solidFill>
                <a:latin typeface="CIDFont+F2"/>
              </a:rPr>
              <a:t>: Ler um número inteiro e verificar se esse número é par.</a:t>
            </a:r>
          </a:p>
          <a:p>
            <a:pPr algn="l"/>
            <a:endParaRPr lang="pt-BR" sz="3200" b="0" i="0" u="none" strike="noStrike" baseline="0">
              <a:solidFill>
                <a:srgbClr val="00B1F1"/>
              </a:solidFill>
              <a:latin typeface="CIDFont+F2"/>
            </a:endParaRPr>
          </a:p>
          <a:p>
            <a:pPr algn="l"/>
            <a:r>
              <a:rPr lang="pt-BR" sz="3200">
                <a:solidFill>
                  <a:srgbClr val="00B1F1"/>
                </a:solidFill>
                <a:latin typeface="CIDFont+F2"/>
              </a:rPr>
              <a:t>n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um = </a:t>
            </a:r>
            <a:r>
              <a:rPr lang="pt-BR" sz="3200" b="0" i="0" u="none" strike="noStrike" baseline="0" err="1">
                <a:solidFill>
                  <a:srgbClr val="00B1F1"/>
                </a:solidFill>
                <a:latin typeface="CIDFont+F2"/>
              </a:rPr>
              <a:t>int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(input(‘\</a:t>
            </a:r>
            <a:r>
              <a:rPr lang="pt-BR" sz="3200" b="0" i="0" u="none" strike="noStrike" baseline="0" err="1">
                <a:solidFill>
                  <a:srgbClr val="00B1F1"/>
                </a:solidFill>
                <a:latin typeface="CIDFont+F2"/>
              </a:rPr>
              <a:t>nEntre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 com um número: '))</a:t>
            </a:r>
          </a:p>
          <a:p>
            <a:pPr algn="l"/>
            <a:r>
              <a:rPr lang="pt-BR" sz="3200" b="0" i="0" u="none" strike="noStrike" baseline="0" err="1">
                <a:solidFill>
                  <a:srgbClr val="00B1F1"/>
                </a:solidFill>
                <a:latin typeface="CIDFont+F2"/>
              </a:rPr>
              <a:t>if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 (num % 2 == 0):</a:t>
            </a:r>
          </a:p>
          <a:p>
            <a:pPr algn="l"/>
            <a:r>
              <a:rPr lang="pt-BR" sz="3200" b="0" i="0" u="none" strike="noStrike" baseline="0">
                <a:solidFill>
                  <a:srgbClr val="00B1F1"/>
                </a:solidFill>
                <a:latin typeface="CIDFont+F2"/>
              </a:rPr>
              <a:t>   print(‘\n’,num, ' é par.')</a:t>
            </a:r>
            <a:endParaRPr lang="pt-BR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2B54CD-C31D-788C-F567-4F35CC0A609C}"/>
              </a:ext>
            </a:extLst>
          </p:cNvPr>
          <p:cNvSpPr txBox="1"/>
          <p:nvPr/>
        </p:nvSpPr>
        <p:spPr>
          <a:xfrm>
            <a:off x="1275056" y="4537099"/>
            <a:ext cx="9879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rgbClr val="0070C0"/>
                </a:solidFill>
              </a:rPr>
              <a:t>Mas se o usuário entrar com uma letra ao invés de um número, o que acontecerá ? como evitar que o programa seja interrompido  ?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0851C42-BD09-0701-9398-CCE6BCAE1B22}"/>
              </a:ext>
            </a:extLst>
          </p:cNvPr>
          <p:cNvSpPr/>
          <p:nvPr/>
        </p:nvSpPr>
        <p:spPr>
          <a:xfrm>
            <a:off x="634389" y="4734931"/>
            <a:ext cx="620151" cy="2133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DCADFE9-94FC-CD3B-182D-FD0AABBEAC9F}"/>
              </a:ext>
            </a:extLst>
          </p:cNvPr>
          <p:cNvSpPr txBox="1"/>
          <p:nvPr/>
        </p:nvSpPr>
        <p:spPr>
          <a:xfrm>
            <a:off x="152400" y="1371192"/>
            <a:ext cx="11887200" cy="452431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BR" sz="3200" b="1" err="1">
                <a:solidFill>
                  <a:schemeClr val="bg1"/>
                </a:solidFill>
              </a:rPr>
              <a:t>while</a:t>
            </a:r>
            <a:r>
              <a:rPr lang="pt-BR" sz="3200" b="1">
                <a:solidFill>
                  <a:schemeClr val="bg1"/>
                </a:solidFill>
              </a:rPr>
              <a:t> True:</a:t>
            </a:r>
          </a:p>
          <a:p>
            <a:r>
              <a:rPr lang="pt-BR" sz="3200" b="1">
                <a:solidFill>
                  <a:schemeClr val="bg1"/>
                </a:solidFill>
              </a:rPr>
              <a:t>    try:</a:t>
            </a:r>
          </a:p>
          <a:p>
            <a:r>
              <a:rPr lang="pt-BR" sz="3200" b="1">
                <a:solidFill>
                  <a:schemeClr val="bg1"/>
                </a:solidFill>
              </a:rPr>
              <a:t>          numero = </a:t>
            </a:r>
            <a:r>
              <a:rPr lang="pt-BR" sz="3200" b="1" err="1">
                <a:solidFill>
                  <a:schemeClr val="bg1"/>
                </a:solidFill>
              </a:rPr>
              <a:t>int</a:t>
            </a:r>
            <a:r>
              <a:rPr lang="pt-BR" sz="3200" b="1">
                <a:solidFill>
                  <a:schemeClr val="bg1"/>
                </a:solidFill>
              </a:rPr>
              <a:t>(input("\</a:t>
            </a:r>
            <a:r>
              <a:rPr lang="pt-BR" sz="3200" b="1" err="1">
                <a:solidFill>
                  <a:schemeClr val="bg1"/>
                </a:solidFill>
              </a:rPr>
              <a:t>nDigite</a:t>
            </a:r>
            <a:r>
              <a:rPr lang="pt-BR" sz="3200" b="1">
                <a:solidFill>
                  <a:schemeClr val="bg1"/>
                </a:solidFill>
              </a:rPr>
              <a:t> um número inteiro: "))</a:t>
            </a:r>
          </a:p>
          <a:p>
            <a:r>
              <a:rPr lang="pt-BR" sz="3200" b="1">
                <a:solidFill>
                  <a:schemeClr val="bg1"/>
                </a:solidFill>
              </a:rPr>
              <a:t>          break  # sai do loop se for inteiro válido</a:t>
            </a:r>
          </a:p>
          <a:p>
            <a:endParaRPr lang="pt-BR" sz="3200" b="1">
              <a:solidFill>
                <a:schemeClr val="bg1"/>
              </a:solidFill>
            </a:endParaRPr>
          </a:p>
          <a:p>
            <a:r>
              <a:rPr lang="pt-BR" sz="3200" b="1">
                <a:solidFill>
                  <a:schemeClr val="bg1"/>
                </a:solidFill>
              </a:rPr>
              <a:t>    except </a:t>
            </a:r>
            <a:r>
              <a:rPr lang="pt-BR" sz="3200" b="1" err="1">
                <a:solidFill>
                  <a:schemeClr val="bg1"/>
                </a:solidFill>
              </a:rPr>
              <a:t>ValueError</a:t>
            </a:r>
            <a:r>
              <a:rPr lang="pt-BR" sz="3200" b="1">
                <a:solidFill>
                  <a:schemeClr val="bg1"/>
                </a:solidFill>
              </a:rPr>
              <a:t>:</a:t>
            </a:r>
          </a:p>
          <a:p>
            <a:r>
              <a:rPr lang="pt-BR" sz="3200" b="1">
                <a:solidFill>
                  <a:schemeClr val="bg1"/>
                </a:solidFill>
              </a:rPr>
              <a:t>         print("\</a:t>
            </a:r>
            <a:r>
              <a:rPr lang="pt-BR" sz="3200" b="1" err="1">
                <a:solidFill>
                  <a:schemeClr val="bg1"/>
                </a:solidFill>
              </a:rPr>
              <a:t>nEntrada</a:t>
            </a:r>
            <a:r>
              <a:rPr lang="pt-BR" sz="3200" b="1">
                <a:solidFill>
                  <a:schemeClr val="bg1"/>
                </a:solidFill>
              </a:rPr>
              <a:t> inválida! Digite apenas números inteiros.")</a:t>
            </a:r>
          </a:p>
          <a:p>
            <a:r>
              <a:rPr lang="pt-BR" sz="3200" b="1">
                <a:solidFill>
                  <a:schemeClr val="bg1"/>
                </a:solidFill>
              </a:rPr>
              <a:t>        </a:t>
            </a:r>
          </a:p>
          <a:p>
            <a:r>
              <a:rPr lang="pt-BR" sz="3200" b="1">
                <a:solidFill>
                  <a:schemeClr val="bg1"/>
                </a:solidFill>
              </a:rPr>
              <a:t>print(f"\</a:t>
            </a:r>
            <a:r>
              <a:rPr lang="pt-BR" sz="3200" b="1" err="1">
                <a:solidFill>
                  <a:schemeClr val="bg1"/>
                </a:solidFill>
              </a:rPr>
              <a:t>nVocê</a:t>
            </a:r>
            <a:r>
              <a:rPr lang="pt-BR" sz="3200" b="1">
                <a:solidFill>
                  <a:schemeClr val="bg1"/>
                </a:solidFill>
              </a:rPr>
              <a:t> digitou o número: {numero}")</a:t>
            </a:r>
          </a:p>
        </p:txBody>
      </p:sp>
    </p:spTree>
    <p:extLst>
      <p:ext uri="{BB962C8B-B14F-4D97-AF65-F5344CB8AC3E}">
        <p14:creationId xmlns:p14="http://schemas.microsoft.com/office/powerpoint/2010/main" val="280524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9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F2DC0A-4FCD-A347-752C-2350753F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5C49-5A3E-4F18-BD2D-BA73F613EBAB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2B8EB3-6DE6-5E46-550A-398F5EC3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27C866-5C55-C3D2-3281-6A96D931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A24FCD2-C0D7-298D-B960-45B41D35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r>
              <a:rPr lang="pt-BR" sz="4000" b="1" i="0" u="none" strike="noStrike" baseline="0" err="1">
                <a:latin typeface="CIDFont+F5"/>
              </a:rPr>
              <a:t>else</a:t>
            </a:r>
            <a:endParaRPr lang="pt-BR" sz="4000" b="1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4BD724-4853-6CFD-BE7E-3C8E0884C21C}"/>
              </a:ext>
            </a:extLst>
          </p:cNvPr>
          <p:cNvSpPr txBox="1"/>
          <p:nvPr/>
        </p:nvSpPr>
        <p:spPr>
          <a:xfrm>
            <a:off x="542711" y="1484967"/>
            <a:ext cx="66477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Pseudocódigo                       Python</a:t>
            </a:r>
          </a:p>
          <a:p>
            <a:pPr algn="ctr"/>
            <a:endParaRPr lang="pt-BR" sz="2400" b="1" i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b="1"/>
              <a:t>                                                                     </a:t>
            </a:r>
          </a:p>
          <a:p>
            <a:pPr algn="ctr"/>
            <a:r>
              <a:rPr lang="pt-BR" b="1">
                <a:solidFill>
                  <a:schemeClr val="tx2">
                    <a:lumMod val="90000"/>
                    <a:lumOff val="10000"/>
                  </a:schemeClr>
                </a:solidFill>
              </a:rPr>
              <a:t>Se</a:t>
            </a:r>
            <a:r>
              <a:rPr lang="pt-BR" b="1"/>
              <a:t> CONDIÇÃO </a:t>
            </a:r>
            <a:r>
              <a:rPr lang="pt-BR"/>
              <a:t> </a:t>
            </a:r>
            <a:r>
              <a:rPr lang="pt-BR" sz="2000" b="1"/>
              <a:t>então                       </a:t>
            </a:r>
            <a:r>
              <a:rPr lang="pt-BR" sz="2400" b="1" err="1">
                <a:solidFill>
                  <a:srgbClr val="FF0000"/>
                </a:solidFill>
              </a:rPr>
              <a:t>if</a:t>
            </a:r>
            <a:r>
              <a:rPr lang="pt-BR" sz="2000" b="1">
                <a:solidFill>
                  <a:srgbClr val="FF0000"/>
                </a:solidFill>
              </a:rPr>
              <a:t> </a:t>
            </a:r>
            <a:r>
              <a:rPr lang="pt-BR" b="1">
                <a:solidFill>
                  <a:srgbClr val="FF0000"/>
                </a:solidFill>
              </a:rPr>
              <a:t>CONDIÇÃO:</a:t>
            </a:r>
          </a:p>
          <a:p>
            <a:pPr algn="ctr"/>
            <a:r>
              <a:rPr lang="pt-BR" b="1"/>
              <a:t>           INSTRUÇÃO 1                                           INSTRUÇÃO 1</a:t>
            </a:r>
          </a:p>
          <a:p>
            <a:pPr algn="ctr"/>
            <a:r>
              <a:rPr lang="pt-BR" b="1"/>
              <a:t>           INSTRUÇÃO 2                                           INSTRUÇÃO 2</a:t>
            </a:r>
          </a:p>
          <a:p>
            <a:pPr algn="ctr"/>
            <a:endParaRPr lang="pt-BR" b="1"/>
          </a:p>
          <a:p>
            <a:r>
              <a:rPr lang="pt-BR" b="1"/>
              <a:t>                       INSTRUÇÃO N                                          INSTRUÇÃO N </a:t>
            </a:r>
          </a:p>
          <a:p>
            <a:r>
              <a:rPr lang="pt-BR" b="1"/>
              <a:t>               Senão                                                             </a:t>
            </a:r>
            <a:r>
              <a:rPr lang="pt-BR" sz="2000" b="1" err="1">
                <a:solidFill>
                  <a:srgbClr val="FF0000"/>
                </a:solidFill>
              </a:rPr>
              <a:t>else</a:t>
            </a:r>
            <a:r>
              <a:rPr lang="pt-BR" sz="2000" b="1">
                <a:solidFill>
                  <a:srgbClr val="FF0000"/>
                </a:solidFill>
              </a:rPr>
              <a:t>:</a:t>
            </a:r>
          </a:p>
          <a:p>
            <a:pPr algn="ctr"/>
            <a:r>
              <a:rPr lang="pt-BR" b="1"/>
              <a:t>       INSTRUÇÃO 1                                           INSTRUÇÃO 1</a:t>
            </a:r>
          </a:p>
          <a:p>
            <a:pPr algn="ctr"/>
            <a:r>
              <a:rPr lang="pt-BR" b="1"/>
              <a:t>      INSTRUÇÃO 2                                           INSTRUÇÃO 2</a:t>
            </a:r>
          </a:p>
          <a:p>
            <a:endParaRPr lang="pt-BR" b="1"/>
          </a:p>
          <a:p>
            <a:r>
              <a:rPr lang="pt-BR" b="1"/>
              <a:t>                     INSTRUÇÃO N                                          INSTRUÇÃO N</a:t>
            </a:r>
          </a:p>
          <a:p>
            <a:r>
              <a:rPr lang="pt-BR" b="1"/>
              <a:t>   </a:t>
            </a:r>
          </a:p>
          <a:p>
            <a:endParaRPr lang="pt-BR" b="1"/>
          </a:p>
          <a:p>
            <a:endParaRPr lang="pt-BR" b="1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464345B8-AA4C-41AE-2215-E973AE5466B6}"/>
              </a:ext>
            </a:extLst>
          </p:cNvPr>
          <p:cNvGrpSpPr/>
          <p:nvPr/>
        </p:nvGrpSpPr>
        <p:grpSpPr>
          <a:xfrm>
            <a:off x="1734365" y="3456469"/>
            <a:ext cx="784000" cy="204952"/>
            <a:chOff x="4356929" y="2935806"/>
            <a:chExt cx="784000" cy="204952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C7477F2-477A-31C5-1FE1-95288264066A}"/>
                </a:ext>
              </a:extLst>
            </p:cNvPr>
            <p:cNvSpPr/>
            <p:nvPr/>
          </p:nvSpPr>
          <p:spPr>
            <a:xfrm flipH="1" flipV="1">
              <a:off x="4356929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BECEC0F-A1CD-31AB-907E-A5E70AF8E089}"/>
                </a:ext>
              </a:extLst>
            </p:cNvPr>
            <p:cNvSpPr/>
            <p:nvPr/>
          </p:nvSpPr>
          <p:spPr>
            <a:xfrm flipH="1" flipV="1">
              <a:off x="4671465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8B7DE256-0B3F-0D22-9E01-DBDD21C21300}"/>
                </a:ext>
              </a:extLst>
            </p:cNvPr>
            <p:cNvSpPr/>
            <p:nvPr/>
          </p:nvSpPr>
          <p:spPr>
            <a:xfrm flipH="1" flipV="1">
              <a:off x="4979859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8D9F516D-9B75-39E5-FD41-3D2883704EF6}"/>
              </a:ext>
            </a:extLst>
          </p:cNvPr>
          <p:cNvGrpSpPr/>
          <p:nvPr/>
        </p:nvGrpSpPr>
        <p:grpSpPr>
          <a:xfrm>
            <a:off x="5138863" y="3455417"/>
            <a:ext cx="784000" cy="204952"/>
            <a:chOff x="7725507" y="2946312"/>
            <a:chExt cx="784000" cy="204952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B3BEF8C-1AB0-4C25-3D9C-F9D700F8F5D8}"/>
                </a:ext>
              </a:extLst>
            </p:cNvPr>
            <p:cNvSpPr/>
            <p:nvPr/>
          </p:nvSpPr>
          <p:spPr>
            <a:xfrm flipH="1" flipV="1">
              <a:off x="7725507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2B765155-BE33-BA3B-9063-922CC7DB766C}"/>
                </a:ext>
              </a:extLst>
            </p:cNvPr>
            <p:cNvSpPr/>
            <p:nvPr/>
          </p:nvSpPr>
          <p:spPr>
            <a:xfrm flipH="1" flipV="1">
              <a:off x="8040043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76F8A4CF-FB2C-C5BE-CFF2-BAAC951A7922}"/>
                </a:ext>
              </a:extLst>
            </p:cNvPr>
            <p:cNvSpPr/>
            <p:nvPr/>
          </p:nvSpPr>
          <p:spPr>
            <a:xfrm flipH="1" flipV="1">
              <a:off x="8348437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AB8E217F-3F13-CE3A-AF23-F6D4B91F1648}"/>
              </a:ext>
            </a:extLst>
          </p:cNvPr>
          <p:cNvGrpSpPr/>
          <p:nvPr/>
        </p:nvGrpSpPr>
        <p:grpSpPr>
          <a:xfrm>
            <a:off x="1616872" y="4859412"/>
            <a:ext cx="784000" cy="204952"/>
            <a:chOff x="4335903" y="4302152"/>
            <a:chExt cx="784000" cy="204952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B730FEC2-79D3-FD18-EE69-8E260AC97CA5}"/>
                </a:ext>
              </a:extLst>
            </p:cNvPr>
            <p:cNvSpPr/>
            <p:nvPr/>
          </p:nvSpPr>
          <p:spPr>
            <a:xfrm flipH="1" flipV="1">
              <a:off x="433590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2D21E75-3EC7-E589-129A-B7F2FDF17AD5}"/>
                </a:ext>
              </a:extLst>
            </p:cNvPr>
            <p:cNvSpPr/>
            <p:nvPr/>
          </p:nvSpPr>
          <p:spPr>
            <a:xfrm flipH="1" flipV="1">
              <a:off x="4650439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EA7772B9-7987-4BE6-E15B-305FF71B6DC9}"/>
                </a:ext>
              </a:extLst>
            </p:cNvPr>
            <p:cNvSpPr/>
            <p:nvPr/>
          </p:nvSpPr>
          <p:spPr>
            <a:xfrm flipH="1" flipV="1">
              <a:off x="495883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5D04B87-0926-6932-AD69-6196687234A7}"/>
              </a:ext>
            </a:extLst>
          </p:cNvPr>
          <p:cNvGrpSpPr/>
          <p:nvPr/>
        </p:nvGrpSpPr>
        <p:grpSpPr>
          <a:xfrm>
            <a:off x="4985173" y="4873074"/>
            <a:ext cx="784000" cy="204952"/>
            <a:chOff x="7736022" y="4281126"/>
            <a:chExt cx="784000" cy="204952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A34885E2-2073-ECBD-036A-DE864E81084F}"/>
                </a:ext>
              </a:extLst>
            </p:cNvPr>
            <p:cNvSpPr/>
            <p:nvPr/>
          </p:nvSpPr>
          <p:spPr>
            <a:xfrm flipH="1" flipV="1">
              <a:off x="7736022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14015CE-E06C-8113-5EB9-C7D57EF9BE86}"/>
                </a:ext>
              </a:extLst>
            </p:cNvPr>
            <p:cNvSpPr/>
            <p:nvPr/>
          </p:nvSpPr>
          <p:spPr>
            <a:xfrm flipH="1" flipV="1">
              <a:off x="8050558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E962BB2-6B56-9EB1-35F5-948D4BD58BE8}"/>
                </a:ext>
              </a:extLst>
            </p:cNvPr>
            <p:cNvSpPr/>
            <p:nvPr/>
          </p:nvSpPr>
          <p:spPr>
            <a:xfrm flipH="1" flipV="1">
              <a:off x="8358952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44FA1985-0F31-1760-81A2-750B12AA1326}"/>
              </a:ext>
            </a:extLst>
          </p:cNvPr>
          <p:cNvGrpSpPr/>
          <p:nvPr/>
        </p:nvGrpSpPr>
        <p:grpSpPr>
          <a:xfrm>
            <a:off x="1328072" y="5421624"/>
            <a:ext cx="784000" cy="204952"/>
            <a:chOff x="3731562" y="4832936"/>
            <a:chExt cx="784000" cy="204952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7ACF5EA-6BA7-A99D-109D-73044B121D52}"/>
                </a:ext>
              </a:extLst>
            </p:cNvPr>
            <p:cNvSpPr/>
            <p:nvPr/>
          </p:nvSpPr>
          <p:spPr>
            <a:xfrm flipH="1" flipV="1">
              <a:off x="3731562" y="483293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0772687-68E6-1ACE-4085-ED928A4FC87C}"/>
                </a:ext>
              </a:extLst>
            </p:cNvPr>
            <p:cNvSpPr/>
            <p:nvPr/>
          </p:nvSpPr>
          <p:spPr>
            <a:xfrm flipH="1" flipV="1">
              <a:off x="4046098" y="483293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CCF5B45F-65CA-8ECC-B97C-BCCCA05FC62A}"/>
                </a:ext>
              </a:extLst>
            </p:cNvPr>
            <p:cNvSpPr/>
            <p:nvPr/>
          </p:nvSpPr>
          <p:spPr>
            <a:xfrm flipH="1" flipV="1">
              <a:off x="4354492" y="483293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F57ED3C4-1833-EE83-8F9F-F8E9B52615D0}"/>
              </a:ext>
            </a:extLst>
          </p:cNvPr>
          <p:cNvGrpSpPr/>
          <p:nvPr/>
        </p:nvGrpSpPr>
        <p:grpSpPr>
          <a:xfrm>
            <a:off x="4745573" y="5387706"/>
            <a:ext cx="784000" cy="204952"/>
            <a:chOff x="7215755" y="4817170"/>
            <a:chExt cx="784000" cy="204952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175C7A3C-9060-7BDC-820F-BD432E15EDB9}"/>
                </a:ext>
              </a:extLst>
            </p:cNvPr>
            <p:cNvSpPr/>
            <p:nvPr/>
          </p:nvSpPr>
          <p:spPr>
            <a:xfrm flipH="1" flipV="1">
              <a:off x="7215755" y="4817170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67EA1D1-AA61-41A2-0B67-D904BAD7AD1A}"/>
                </a:ext>
              </a:extLst>
            </p:cNvPr>
            <p:cNvSpPr/>
            <p:nvPr/>
          </p:nvSpPr>
          <p:spPr>
            <a:xfrm flipH="1" flipV="1">
              <a:off x="7530291" y="4817170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89F7E328-8020-1376-64C3-A840206BE6B7}"/>
                </a:ext>
              </a:extLst>
            </p:cNvPr>
            <p:cNvSpPr/>
            <p:nvPr/>
          </p:nvSpPr>
          <p:spPr>
            <a:xfrm flipH="1" flipV="1">
              <a:off x="7838685" y="4817170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4834D86-2EA9-2B73-5676-1FA513A210D5}"/>
              </a:ext>
            </a:extLst>
          </p:cNvPr>
          <p:cNvGrpSpPr/>
          <p:nvPr/>
        </p:nvGrpSpPr>
        <p:grpSpPr>
          <a:xfrm>
            <a:off x="1365217" y="2195877"/>
            <a:ext cx="784000" cy="204952"/>
            <a:chOff x="3862938" y="1779658"/>
            <a:chExt cx="784000" cy="204952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92D4FA56-5D33-9152-E6AD-5F84758543B7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295BC1F8-B8D2-D0CD-25C5-8A9B22954894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C226B9C6-5919-97DD-845A-7E91801B940B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10F7E9C8-1AD2-3747-F532-BE95FD1EB23F}"/>
              </a:ext>
            </a:extLst>
          </p:cNvPr>
          <p:cNvGrpSpPr/>
          <p:nvPr/>
        </p:nvGrpSpPr>
        <p:grpSpPr>
          <a:xfrm>
            <a:off x="4816493" y="2195877"/>
            <a:ext cx="784000" cy="204952"/>
            <a:chOff x="7263058" y="1774398"/>
            <a:chExt cx="784000" cy="204952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0C74979-4708-C4A3-513F-8F95CF395D99}"/>
                </a:ext>
              </a:extLst>
            </p:cNvPr>
            <p:cNvSpPr/>
            <p:nvPr/>
          </p:nvSpPr>
          <p:spPr>
            <a:xfrm flipH="1" flipV="1">
              <a:off x="7263058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70459F73-DA74-1F07-B2F3-73E31154E87C}"/>
                </a:ext>
              </a:extLst>
            </p:cNvPr>
            <p:cNvSpPr/>
            <p:nvPr/>
          </p:nvSpPr>
          <p:spPr>
            <a:xfrm flipH="1" flipV="1">
              <a:off x="7577594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0EF20E6E-DAE7-09D7-6E7A-4D87365B531E}"/>
                </a:ext>
              </a:extLst>
            </p:cNvPr>
            <p:cNvSpPr/>
            <p:nvPr/>
          </p:nvSpPr>
          <p:spPr>
            <a:xfrm flipH="1" flipV="1">
              <a:off x="7885988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CDAEBA74-D8A7-0C0D-1F47-12461E811837}"/>
              </a:ext>
            </a:extLst>
          </p:cNvPr>
          <p:cNvCxnSpPr>
            <a:cxnSpLocks/>
          </p:cNvCxnSpPr>
          <p:nvPr/>
        </p:nvCxnSpPr>
        <p:spPr>
          <a:xfrm flipH="1">
            <a:off x="6395720" y="2715447"/>
            <a:ext cx="1391920" cy="0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0A91FD91-551E-AF56-EFC8-EB80184F4C84}"/>
              </a:ext>
            </a:extLst>
          </p:cNvPr>
          <p:cNvCxnSpPr>
            <a:cxnSpLocks/>
          </p:cNvCxnSpPr>
          <p:nvPr/>
        </p:nvCxnSpPr>
        <p:spPr>
          <a:xfrm flipH="1">
            <a:off x="5400988" y="4147257"/>
            <a:ext cx="2516704" cy="0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813F8057-2C78-8149-A82B-7E20F5FB7270}"/>
              </a:ext>
            </a:extLst>
          </p:cNvPr>
          <p:cNvSpPr txBox="1"/>
          <p:nvPr/>
        </p:nvSpPr>
        <p:spPr>
          <a:xfrm>
            <a:off x="7966231" y="1548486"/>
            <a:ext cx="36836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/>
              <a:t>O Comado</a:t>
            </a:r>
            <a:r>
              <a:rPr lang="pt-BR" sz="2400" b="1"/>
              <a:t> </a:t>
            </a:r>
            <a:r>
              <a:rPr lang="pt-BR" sz="2400" b="1" err="1">
                <a:solidFill>
                  <a:srgbClr val="FF0000"/>
                </a:solidFill>
              </a:rPr>
              <a:t>if</a:t>
            </a:r>
            <a:r>
              <a:rPr lang="pt-BR" sz="2400" b="1"/>
              <a:t> </a:t>
            </a:r>
            <a:r>
              <a:rPr lang="pt-BR" sz="2400"/>
              <a:t>e o comando </a:t>
            </a:r>
            <a:r>
              <a:rPr lang="pt-BR" sz="2400" b="1" err="1">
                <a:solidFill>
                  <a:srgbClr val="FF0000"/>
                </a:solidFill>
              </a:rPr>
              <a:t>else</a:t>
            </a:r>
            <a:r>
              <a:rPr lang="pt-BR" sz="2400"/>
              <a:t>, assim como outros comando do Python que formam um bloco, são escritos em minúsculos. E devem ter o sinal</a:t>
            </a:r>
            <a:r>
              <a:rPr lang="pt-BR" sz="2400" b="1">
                <a:solidFill>
                  <a:srgbClr val="FF0000"/>
                </a:solidFill>
              </a:rPr>
              <a:t> : </a:t>
            </a:r>
            <a:r>
              <a:rPr lang="pt-BR" sz="2400"/>
              <a:t>para  garantir que os comandos que o seguem são pertencentes ao bloco do </a:t>
            </a:r>
            <a:r>
              <a:rPr lang="pt-BR" sz="2400" b="1" err="1">
                <a:solidFill>
                  <a:srgbClr val="FF0000"/>
                </a:solidFill>
              </a:rPr>
              <a:t>if</a:t>
            </a:r>
            <a:r>
              <a:rPr lang="pt-BR" sz="2400"/>
              <a:t> ou do </a:t>
            </a:r>
            <a:r>
              <a:rPr lang="pt-BR" sz="2400" b="1" err="1">
                <a:solidFill>
                  <a:srgbClr val="FF0000"/>
                </a:solidFill>
              </a:rPr>
              <a:t>else</a:t>
            </a:r>
            <a:endParaRPr lang="pt-BR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80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E5D46F-46AA-DF00-1219-C9BA78F2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990-8CBB-4589-9F61-723E86FF4714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42A38D-BFAC-DF1B-19A6-968F33E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68B9B1-EE49-FD61-8F9E-A0878F2A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64D728A-FD51-D1F0-D313-FB143C54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0" y="365125"/>
            <a:ext cx="991681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r>
              <a:rPr lang="pt-BR" sz="4000" b="1" i="0" u="none" strike="noStrike" baseline="0" err="1">
                <a:latin typeface="CIDFont+F5"/>
              </a:rPr>
              <a:t>else</a:t>
            </a:r>
            <a:endParaRPr lang="pt-BR" sz="4000" b="1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3BB68D9-6B58-BF1F-18DA-2A37E68F95F1}"/>
              </a:ext>
            </a:extLst>
          </p:cNvPr>
          <p:cNvSpPr txBox="1"/>
          <p:nvPr/>
        </p:nvSpPr>
        <p:spPr>
          <a:xfrm>
            <a:off x="1005840" y="1463040"/>
            <a:ext cx="100736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indent="-365125" algn="l"/>
            <a:r>
              <a:rPr lang="pt-BR" sz="3200" b="0" i="0" u="none" strike="noStrike" baseline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Executa um ou o outro bloco de instruções em função da condição ser verdadeira ou falsa</a:t>
            </a:r>
          </a:p>
          <a:p>
            <a:pPr algn="l"/>
            <a:endParaRPr lang="pt-BR" sz="3200" b="0" i="0" u="none" strike="noStrike" baseline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3200" b="0" i="0" u="none" strike="noStrike" baseline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Valem as mesmas regras para </a:t>
            </a:r>
            <a:r>
              <a:rPr lang="pt-BR" sz="3200" b="0" i="0" u="none" strike="noStrike" baseline="0" err="1">
                <a:solidFill>
                  <a:srgbClr val="00B1F1"/>
                </a:solidFill>
                <a:latin typeface="CIDFont+F6"/>
              </a:rPr>
              <a:t>if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...</a:t>
            </a:r>
          </a:p>
          <a:p>
            <a:pPr algn="l"/>
            <a:endParaRPr lang="pt-BR" sz="3200" b="0" i="0" u="none" strike="noStrike" baseline="0">
              <a:solidFill>
                <a:srgbClr val="000000"/>
              </a:solidFill>
              <a:latin typeface="CIDFont+F2"/>
            </a:endParaRPr>
          </a:p>
          <a:p>
            <a:pPr marL="365125" indent="-365125" algn="l"/>
            <a:r>
              <a:rPr lang="pt-BR" sz="3200" b="0" i="0" u="none" strike="noStrike" baseline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Qualquer combinação de instrução individual ou em bloco é aceita no corpo do </a:t>
            </a:r>
            <a:r>
              <a:rPr lang="pt-BR" sz="3200" b="0" i="0" u="none" strike="noStrike" baseline="0" err="1">
                <a:solidFill>
                  <a:srgbClr val="00B1F1"/>
                </a:solidFill>
                <a:latin typeface="CIDFont+F6"/>
              </a:rPr>
              <a:t>if</a:t>
            </a:r>
            <a:r>
              <a:rPr lang="pt-BR" sz="3200" b="0" i="0" u="none" strike="noStrike" baseline="0">
                <a:solidFill>
                  <a:srgbClr val="00B1F1"/>
                </a:solidFill>
                <a:latin typeface="CIDFont+F6"/>
              </a:rPr>
              <a:t>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ou do </a:t>
            </a:r>
            <a:r>
              <a:rPr lang="pt-BR" sz="3200" b="0" i="0" u="none" strike="noStrike" baseline="0" err="1">
                <a:solidFill>
                  <a:srgbClr val="00B1F1"/>
                </a:solidFill>
                <a:latin typeface="CIDFont+F6"/>
              </a:rPr>
              <a:t>else</a:t>
            </a:r>
            <a:endParaRPr lang="pt-BR" sz="3200" b="0" i="0" u="none" strike="noStrike" baseline="0">
              <a:solidFill>
                <a:srgbClr val="00B1F1"/>
              </a:solidFill>
              <a:latin typeface="CIDFont+F6"/>
            </a:endParaRPr>
          </a:p>
          <a:p>
            <a:pPr algn="l"/>
            <a:endParaRPr lang="pt-BR" sz="3200" b="0" i="0" u="none" strike="noStrike" baseline="0">
              <a:solidFill>
                <a:srgbClr val="00B1F1"/>
              </a:solidFill>
              <a:latin typeface="CIDFont+F6"/>
            </a:endParaRPr>
          </a:p>
          <a:p>
            <a:pPr algn="l"/>
            <a:r>
              <a:rPr lang="pt-BR" sz="3200" b="0" i="0" u="none" strike="noStrike" baseline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IDFont+F2"/>
              </a:rPr>
              <a:t>Podem ser aninhados com outras estruturas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129973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C121DF-4AF7-423B-97E7-46FE55C8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141DA-B60A-490C-805A-6B9CCFDBF76D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581B0B-5DCE-9B4A-AE43-F184AA4E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3A3F16-ACEF-09F7-8502-77C40D0F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8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284DAF-2DB5-B79D-F5C0-E216B734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920" y="365125"/>
            <a:ext cx="945961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r>
              <a:rPr lang="pt-BR" sz="4000" b="1" i="0" u="none" strike="noStrike" baseline="0" err="1">
                <a:latin typeface="CIDFont+F5"/>
              </a:rPr>
              <a:t>else</a:t>
            </a:r>
            <a:endParaRPr lang="pt-BR" sz="4000" b="1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C31003-95B8-3339-7C26-5083FAC10CAE}"/>
              </a:ext>
            </a:extLst>
          </p:cNvPr>
          <p:cNvSpPr txBox="1"/>
          <p:nvPr/>
        </p:nvSpPr>
        <p:spPr>
          <a:xfrm>
            <a:off x="349669" y="2151727"/>
            <a:ext cx="112412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FF0000"/>
                </a:solidFill>
                <a:latin typeface="CIDFont+F2"/>
              </a:rPr>
              <a:t>n</a:t>
            </a:r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 = </a:t>
            </a:r>
            <a:r>
              <a:rPr lang="pt-BR" sz="32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(input('Entre com um número: </a:t>
            </a:r>
            <a:r>
              <a:rPr lang="pt-BR" sz="3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))</a:t>
            </a:r>
          </a:p>
          <a:p>
            <a:pPr algn="l"/>
            <a:r>
              <a:rPr lang="pt-BR" sz="3200" b="1" i="0" u="none" strike="noStrike" baseline="0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 (n % 2 == 0):</a:t>
            </a:r>
            <a:endParaRPr lang="pt-BR" sz="3200" b="1" i="0" u="none" strike="noStrike" baseline="0">
              <a:solidFill>
                <a:srgbClr val="FFFF00"/>
              </a:solidFill>
              <a:highlight>
                <a:srgbClr val="808080"/>
              </a:highlight>
              <a:latin typeface="CIDFont+F2"/>
            </a:endParaRPr>
          </a:p>
          <a:p>
            <a:pPr algn="l"/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   print(n, ' é par.')</a:t>
            </a:r>
          </a:p>
          <a:p>
            <a:pPr algn="l"/>
            <a:r>
              <a:rPr lang="pt-BR" sz="3200" b="1" i="0" u="none" strike="noStrike" baseline="0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:</a:t>
            </a:r>
          </a:p>
          <a:p>
            <a:pPr algn="l"/>
            <a:r>
              <a:rPr lang="pt-BR" sz="3200" b="1" i="0" u="none" strike="noStrike" baseline="0">
                <a:solidFill>
                  <a:srgbClr val="FF0000"/>
                </a:solidFill>
                <a:latin typeface="CIDFont+F2"/>
              </a:rPr>
              <a:t>   print(n,' é impar.')</a:t>
            </a:r>
            <a:endParaRPr lang="pt-BR" sz="3200" b="1">
              <a:solidFill>
                <a:srgbClr val="FF00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E6504B-0CD8-A6FC-0AFF-E6CD8FEFF889}"/>
              </a:ext>
            </a:extLst>
          </p:cNvPr>
          <p:cNvSpPr txBox="1"/>
          <p:nvPr/>
        </p:nvSpPr>
        <p:spPr>
          <a:xfrm>
            <a:off x="2956560" y="2684477"/>
            <a:ext cx="8666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/>
            <a:r>
              <a:rPr lang="pt-BR" sz="2800" b="1">
                <a:solidFill>
                  <a:srgbClr val="FFFF00"/>
                </a:solidFill>
                <a:highlight>
                  <a:srgbClr val="808080"/>
                </a:highlight>
                <a:latin typeface="CIDFont+F2"/>
              </a:rPr>
              <a:t># Número par tem o resto da divisão por dois igual a zero</a:t>
            </a:r>
            <a:endParaRPr lang="pt-BR" sz="2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30F358-2D5F-28AA-9A07-D889BC1A3121}"/>
              </a:ext>
            </a:extLst>
          </p:cNvPr>
          <p:cNvSpPr txBox="1"/>
          <p:nvPr/>
        </p:nvSpPr>
        <p:spPr>
          <a:xfrm>
            <a:off x="259079" y="5379720"/>
            <a:ext cx="11064241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sz="3200" b="1">
                <a:solidFill>
                  <a:srgbClr val="FF0000"/>
                </a:solidFill>
              </a:rPr>
              <a:t>Mas e se o usuário digitasse uma letra, o que aconteceria 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F04A98-5239-E7DE-9096-FAFF409564EB}"/>
              </a:ext>
            </a:extLst>
          </p:cNvPr>
          <p:cNvSpPr txBox="1"/>
          <p:nvPr/>
        </p:nvSpPr>
        <p:spPr>
          <a:xfrm>
            <a:off x="274903" y="1508383"/>
            <a:ext cx="116779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000" b="1">
                <a:solidFill>
                  <a:srgbClr val="000000"/>
                </a:solidFill>
                <a:latin typeface="CIDFont+F2"/>
              </a:rPr>
              <a:t>Exemplo2: Ler um número e informar se esse número é par ou impar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D42E64-DEFD-A309-52AA-65B78DA8BCCF}"/>
              </a:ext>
            </a:extLst>
          </p:cNvPr>
          <p:cNvSpPr txBox="1"/>
          <p:nvPr/>
        </p:nvSpPr>
        <p:spPr>
          <a:xfrm>
            <a:off x="213359" y="1322864"/>
            <a:ext cx="11586181" cy="50167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3200" err="1"/>
              <a:t>while</a:t>
            </a:r>
            <a:r>
              <a:rPr lang="pt-BR" sz="3200"/>
              <a:t> True:</a:t>
            </a:r>
          </a:p>
          <a:p>
            <a:r>
              <a:rPr lang="pt-BR" sz="3200"/>
              <a:t>   try:   </a:t>
            </a:r>
          </a:p>
          <a:p>
            <a:r>
              <a:rPr lang="pt-BR" sz="3200"/>
              <a:t>      n = </a:t>
            </a:r>
            <a:r>
              <a:rPr lang="pt-BR" sz="3200" err="1"/>
              <a:t>int</a:t>
            </a:r>
            <a:r>
              <a:rPr lang="pt-BR" sz="3200"/>
              <a:t>(input('\</a:t>
            </a:r>
            <a:r>
              <a:rPr lang="pt-BR" sz="3200" err="1"/>
              <a:t>nEntre</a:t>
            </a:r>
            <a:r>
              <a:rPr lang="pt-BR" sz="3200"/>
              <a:t> com um número: '))</a:t>
            </a:r>
          </a:p>
          <a:p>
            <a:r>
              <a:rPr lang="pt-BR" sz="3200"/>
              <a:t>      </a:t>
            </a:r>
            <a:r>
              <a:rPr lang="pt-BR" sz="3200" err="1"/>
              <a:t>if</a:t>
            </a:r>
            <a:r>
              <a:rPr lang="pt-BR" sz="3200"/>
              <a:t> (n % 2 == 0):</a:t>
            </a:r>
          </a:p>
          <a:p>
            <a:r>
              <a:rPr lang="pt-BR" sz="3200"/>
              <a:t>        print('\n',n, ' é par.')</a:t>
            </a:r>
          </a:p>
          <a:p>
            <a:r>
              <a:rPr lang="pt-BR" sz="3200"/>
              <a:t>      </a:t>
            </a:r>
            <a:r>
              <a:rPr lang="pt-BR" sz="3200" err="1"/>
              <a:t>else</a:t>
            </a:r>
            <a:r>
              <a:rPr lang="pt-BR" sz="3200"/>
              <a:t>:</a:t>
            </a:r>
          </a:p>
          <a:p>
            <a:r>
              <a:rPr lang="pt-BR" sz="3200"/>
              <a:t>        print('\n',n,' é impar.')</a:t>
            </a:r>
          </a:p>
          <a:p>
            <a:r>
              <a:rPr lang="pt-BR" sz="3200"/>
              <a:t>      break  </a:t>
            </a:r>
          </a:p>
          <a:p>
            <a:r>
              <a:rPr lang="pt-BR" sz="3200"/>
              <a:t>   except ValueError:    </a:t>
            </a:r>
          </a:p>
          <a:p>
            <a:r>
              <a:rPr lang="pt-BR" sz="3200"/>
              <a:t>      print('\</a:t>
            </a:r>
            <a:r>
              <a:rPr lang="pt-BR" sz="3200" err="1"/>
              <a:t>nErro</a:t>
            </a:r>
            <a:r>
              <a:rPr lang="pt-BR" sz="3200"/>
              <a:t>: Entrada inválida') </a:t>
            </a:r>
          </a:p>
        </p:txBody>
      </p:sp>
    </p:spTree>
    <p:extLst>
      <p:ext uri="{BB962C8B-B14F-4D97-AF65-F5344CB8AC3E}">
        <p14:creationId xmlns:p14="http://schemas.microsoft.com/office/powerpoint/2010/main" val="425326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C121DF-4AF7-423B-97E7-46FE55C8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E6572-DE1A-4745-80BE-A71E448E138D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581B0B-5DCE-9B4A-AE43-F184AA4E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3A3F16-ACEF-09F7-8502-77C40D0F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284DAF-2DB5-B79D-F5C0-E216B734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80" y="365125"/>
            <a:ext cx="94748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r>
              <a:rPr lang="pt-BR" sz="4000" b="1" i="0" u="none" strike="noStrike" baseline="0" err="1">
                <a:latin typeface="CIDFont+F5"/>
              </a:rPr>
              <a:t>else</a:t>
            </a:r>
            <a:endParaRPr lang="pt-BR" sz="4000" b="1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687F9F-B717-0C3E-6890-E7761889E00A}"/>
              </a:ext>
            </a:extLst>
          </p:cNvPr>
          <p:cNvSpPr txBox="1"/>
          <p:nvPr/>
        </p:nvSpPr>
        <p:spPr>
          <a:xfrm>
            <a:off x="553774" y="1608078"/>
            <a:ext cx="1139907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/>
            <a:r>
              <a:rPr lang="pt-BR" sz="3600" b="0" i="0" u="none" strike="noStrike" baseline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600" b="0" i="0" u="none" strike="noStrike" baseline="0">
                <a:solidFill>
                  <a:srgbClr val="000000"/>
                </a:solidFill>
                <a:latin typeface="CIDFont+F2"/>
              </a:rPr>
              <a:t>Exemplo3: Programa para somar ou multiplicar dois números. Digite “S” para soma e “M” para multiplicação</a:t>
            </a:r>
          </a:p>
          <a:p>
            <a:pPr algn="l"/>
            <a:endParaRPr lang="pt-BR" sz="1800" b="0" i="0" u="none" strike="noStrike" baseline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opcao = input(‘Entre com (S) para soma e (M) para multiplicação : ‘)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opcao 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opcao.upper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()  </a:t>
            </a:r>
            <a:r>
              <a:rPr lang="pt-BR" sz="2800" b="1">
                <a:solidFill>
                  <a:srgbClr val="FFFF00"/>
                </a:solidFill>
                <a:highlight>
                  <a:srgbClr val="808080"/>
                </a:highlight>
                <a:latin typeface="CIDFont+F2"/>
              </a:rPr>
              <a:t># Transforma a letra digitada em maiúscula</a:t>
            </a:r>
            <a:endParaRPr lang="pt-BR" sz="2800" b="1" i="0" u="none" strike="noStrike" baseline="0">
              <a:solidFill>
                <a:srgbClr val="FFFF00"/>
              </a:solidFill>
              <a:highlight>
                <a:srgbClr val="808080"/>
              </a:highlight>
              <a:latin typeface="CIDFont+F2"/>
            </a:endParaRP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a =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(input(‘Entre com o primeiro número : ‘))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b =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(input(‘Entre com o segundo número : ‘))</a:t>
            </a:r>
          </a:p>
          <a:p>
            <a:pPr algn="l"/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(opcao == ‘S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’)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:   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  print(‘Soma = ‘,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a+b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)</a:t>
            </a:r>
          </a:p>
          <a:p>
            <a:pPr algn="l"/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: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  print(‘Multiplicação = ‘, a*b)</a:t>
            </a:r>
            <a:endParaRPr lang="pt-BR" sz="2800" b="1">
              <a:solidFill>
                <a:srgbClr val="FF000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5CD2752-8BAA-D434-127F-04A025DD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34" y="4656157"/>
            <a:ext cx="4572000" cy="129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2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73E8-82CF-4573-BA09-88C34724440B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370" y="365125"/>
            <a:ext cx="9712164" cy="988219"/>
          </a:xfrm>
        </p:spPr>
        <p:txBody>
          <a:bodyPr>
            <a:normAutofit/>
          </a:bodyPr>
          <a:lstStyle/>
          <a:p>
            <a:pPr algn="ctr"/>
            <a:r>
              <a:rPr lang="pt-BR" b="1" i="0" u="none" strike="noStrike" baseline="0">
                <a:latin typeface="CIDFont+F1"/>
              </a:rPr>
              <a:t>Decisão do tipo </a:t>
            </a:r>
            <a:r>
              <a:rPr lang="pt-BR" b="1" i="0" u="none" strike="noStrike" baseline="0" err="1">
                <a:latin typeface="CIDFont+F5"/>
              </a:rPr>
              <a:t>if</a:t>
            </a:r>
            <a:r>
              <a:rPr lang="pt-BR" b="1" i="0" u="none" strike="noStrike" baseline="0">
                <a:latin typeface="CIDFont+F1"/>
              </a:rPr>
              <a:t>...</a:t>
            </a:r>
            <a:r>
              <a:rPr lang="pt-BR" b="1" i="0" u="none" strike="noStrike" baseline="0" err="1">
                <a:latin typeface="CIDFont+F5"/>
              </a:rPr>
              <a:t>elif</a:t>
            </a:r>
            <a:r>
              <a:rPr lang="pt-BR" b="1" i="0" u="none" strike="noStrike" baseline="0">
                <a:latin typeface="CIDFont+F5"/>
              </a:rPr>
              <a:t>...</a:t>
            </a:r>
            <a:endParaRPr lang="pt-BR" b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6D8099-974A-1C89-5AFE-67D1B8352232}"/>
              </a:ext>
            </a:extLst>
          </p:cNvPr>
          <p:cNvSpPr txBox="1"/>
          <p:nvPr/>
        </p:nvSpPr>
        <p:spPr>
          <a:xfrm>
            <a:off x="324467" y="1438586"/>
            <a:ext cx="576007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Pseudocódigo</a:t>
            </a:r>
          </a:p>
          <a:p>
            <a:pPr algn="ctr"/>
            <a:endParaRPr lang="pt-BR" sz="2400" b="1" i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b="1"/>
              <a:t>                                                                     </a:t>
            </a:r>
          </a:p>
          <a:p>
            <a:pPr algn="ctr"/>
            <a:r>
              <a:rPr lang="pt-BR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Se</a:t>
            </a:r>
            <a:r>
              <a:rPr lang="pt-BR" sz="2000" b="1"/>
              <a:t> CONDIÇÃO </a:t>
            </a:r>
            <a:r>
              <a:rPr lang="pt-BR" sz="2000"/>
              <a:t> </a:t>
            </a:r>
            <a:r>
              <a:rPr lang="pt-BR" sz="2000" b="1"/>
              <a:t>então</a:t>
            </a:r>
          </a:p>
          <a:p>
            <a:pPr algn="ctr"/>
            <a:r>
              <a:rPr lang="pt-BR" sz="2000" b="1"/>
              <a:t>INSTRUÇÃO 1</a:t>
            </a:r>
          </a:p>
          <a:p>
            <a:pPr algn="ctr"/>
            <a:r>
              <a:rPr lang="pt-BR" sz="2000" b="1"/>
              <a:t>INSTRUÇÃO 2</a:t>
            </a:r>
          </a:p>
          <a:p>
            <a:pPr algn="ctr"/>
            <a:r>
              <a:rPr lang="pt-BR" sz="2000" b="1"/>
              <a:t> </a:t>
            </a:r>
          </a:p>
          <a:p>
            <a:r>
              <a:rPr lang="pt-BR" sz="2000" b="1"/>
              <a:t>                                      INSTRUÇÃO N</a:t>
            </a:r>
          </a:p>
          <a:p>
            <a:r>
              <a:rPr lang="pt-BR" sz="2000" b="1"/>
              <a:t>                              </a:t>
            </a:r>
            <a:r>
              <a:rPr lang="pt-BR" sz="2000" b="1">
                <a:solidFill>
                  <a:srgbClr val="FF0000"/>
                </a:solidFill>
              </a:rPr>
              <a:t>Senão Se </a:t>
            </a:r>
            <a:r>
              <a:rPr lang="pt-BR" sz="2000" b="1"/>
              <a:t>CONDIÇÃO </a:t>
            </a:r>
            <a:r>
              <a:rPr lang="pt-BR" sz="2000"/>
              <a:t> </a:t>
            </a:r>
            <a:r>
              <a:rPr lang="pt-BR" sz="2000" b="1"/>
              <a:t>então                              </a:t>
            </a:r>
            <a:endParaRPr lang="pt-BR" sz="2000" b="1">
              <a:solidFill>
                <a:srgbClr val="FF0000"/>
              </a:solidFill>
            </a:endParaRPr>
          </a:p>
          <a:p>
            <a:pPr algn="ctr"/>
            <a:r>
              <a:rPr lang="pt-BR" sz="2000" b="1"/>
              <a:t>                               INSTRUÇÃO 1</a:t>
            </a:r>
          </a:p>
          <a:p>
            <a:pPr algn="ctr"/>
            <a:r>
              <a:rPr lang="pt-BR" sz="2000" b="1"/>
              <a:t>                              INSTRUÇÃO 2</a:t>
            </a:r>
          </a:p>
          <a:p>
            <a:r>
              <a:rPr lang="pt-BR" sz="2000" b="1"/>
              <a:t>        </a:t>
            </a:r>
          </a:p>
          <a:p>
            <a:r>
              <a:rPr lang="pt-BR" sz="2000" b="1"/>
              <a:t>                                                     INSTRUÇÃO N</a:t>
            </a:r>
          </a:p>
          <a:p>
            <a:r>
              <a:rPr lang="pt-BR" sz="2000" b="1"/>
              <a:t> 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F3AB0778-9B11-013A-1ADB-1793DB6CA906}"/>
              </a:ext>
            </a:extLst>
          </p:cNvPr>
          <p:cNvGrpSpPr/>
          <p:nvPr/>
        </p:nvGrpSpPr>
        <p:grpSpPr>
          <a:xfrm>
            <a:off x="2522394" y="3395673"/>
            <a:ext cx="797439" cy="204952"/>
            <a:chOff x="4356929" y="2935806"/>
            <a:chExt cx="784000" cy="204952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FA44219E-41C1-D8F9-5AE9-1BFE497B56AE}"/>
                </a:ext>
              </a:extLst>
            </p:cNvPr>
            <p:cNvSpPr/>
            <p:nvPr/>
          </p:nvSpPr>
          <p:spPr>
            <a:xfrm flipH="1" flipV="1">
              <a:off x="4356929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BEA3DA3D-C681-824D-0E71-699558A67C4E}"/>
                </a:ext>
              </a:extLst>
            </p:cNvPr>
            <p:cNvSpPr/>
            <p:nvPr/>
          </p:nvSpPr>
          <p:spPr>
            <a:xfrm flipH="1" flipV="1">
              <a:off x="4671465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1BD0B485-9E12-2372-FE4A-B4BD01297084}"/>
                </a:ext>
              </a:extLst>
            </p:cNvPr>
            <p:cNvSpPr/>
            <p:nvPr/>
          </p:nvSpPr>
          <p:spPr>
            <a:xfrm flipH="1" flipV="1">
              <a:off x="4979859" y="293580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B309C4AD-08FA-65C2-23BF-909BF5CBAE0E}"/>
              </a:ext>
            </a:extLst>
          </p:cNvPr>
          <p:cNvGrpSpPr/>
          <p:nvPr/>
        </p:nvGrpSpPr>
        <p:grpSpPr>
          <a:xfrm>
            <a:off x="3282598" y="5680943"/>
            <a:ext cx="797439" cy="204952"/>
            <a:chOff x="4335903" y="4302152"/>
            <a:chExt cx="784000" cy="20495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C29FD384-FC05-8FE8-6E0C-C05EEA00039B}"/>
                </a:ext>
              </a:extLst>
            </p:cNvPr>
            <p:cNvSpPr/>
            <p:nvPr/>
          </p:nvSpPr>
          <p:spPr>
            <a:xfrm flipH="1" flipV="1">
              <a:off x="433590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547CD7C1-A5D5-CCC8-89A6-605AE7CAC833}"/>
                </a:ext>
              </a:extLst>
            </p:cNvPr>
            <p:cNvSpPr/>
            <p:nvPr/>
          </p:nvSpPr>
          <p:spPr>
            <a:xfrm flipH="1" flipV="1">
              <a:off x="4650439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C1224D0F-4702-5704-FADE-847096A8FAD3}"/>
                </a:ext>
              </a:extLst>
            </p:cNvPr>
            <p:cNvSpPr/>
            <p:nvPr/>
          </p:nvSpPr>
          <p:spPr>
            <a:xfrm flipH="1" flipV="1">
              <a:off x="495883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75FA95F-55FD-D89E-7E65-BFD5D874B5A9}"/>
              </a:ext>
            </a:extLst>
          </p:cNvPr>
          <p:cNvGrpSpPr/>
          <p:nvPr/>
        </p:nvGrpSpPr>
        <p:grpSpPr>
          <a:xfrm>
            <a:off x="2117179" y="2192434"/>
            <a:ext cx="797439" cy="204952"/>
            <a:chOff x="3862938" y="1779658"/>
            <a:chExt cx="784000" cy="204952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3845C8C2-0719-B980-588E-1AD145C21009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576A6C5C-7690-45A9-3D74-F924936E46CB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A9B5C1D5-E070-D7D4-256D-13EE10C77896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1E79DC4F-1505-B48E-E8D3-D8A5CB75248F}"/>
              </a:ext>
            </a:extLst>
          </p:cNvPr>
          <p:cNvSpPr txBox="1"/>
          <p:nvPr/>
        </p:nvSpPr>
        <p:spPr>
          <a:xfrm>
            <a:off x="7346215" y="1438586"/>
            <a:ext cx="438388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Python</a:t>
            </a:r>
          </a:p>
          <a:p>
            <a:pPr algn="ctr"/>
            <a:endParaRPr lang="pt-BR" sz="2400" b="1" i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sz="2000" b="1"/>
              <a:t>                                                                     </a:t>
            </a:r>
          </a:p>
          <a:p>
            <a:pPr algn="ctr"/>
            <a:r>
              <a:rPr lang="pt-BR" sz="2000" b="1" err="1">
                <a:solidFill>
                  <a:srgbClr val="FF0000"/>
                </a:solidFill>
              </a:rPr>
              <a:t>if</a:t>
            </a:r>
            <a:r>
              <a:rPr lang="pt-BR" sz="2000" b="1">
                <a:solidFill>
                  <a:srgbClr val="FF0000"/>
                </a:solidFill>
              </a:rPr>
              <a:t> CONDIÇÃO:</a:t>
            </a:r>
          </a:p>
          <a:p>
            <a:pPr algn="ctr"/>
            <a:r>
              <a:rPr lang="pt-BR" sz="2000" b="1"/>
              <a:t>          INSTRUÇÃO 1</a:t>
            </a:r>
          </a:p>
          <a:p>
            <a:pPr algn="ctr"/>
            <a:r>
              <a:rPr lang="pt-BR" sz="2000" b="1"/>
              <a:t>          INSTRUÇÃO 2</a:t>
            </a:r>
          </a:p>
          <a:p>
            <a:pPr algn="ctr"/>
            <a:r>
              <a:rPr lang="pt-BR" sz="2000" b="1"/>
              <a:t>    </a:t>
            </a:r>
          </a:p>
          <a:p>
            <a:r>
              <a:rPr lang="pt-BR" sz="2000" b="1"/>
              <a:t>                              </a:t>
            </a:r>
            <a:r>
              <a:rPr lang="pt-BR" sz="2000" b="1" err="1"/>
              <a:t>INSTfRUÇÃO</a:t>
            </a:r>
            <a:r>
              <a:rPr lang="pt-BR" sz="2000" b="1"/>
              <a:t> N </a:t>
            </a:r>
          </a:p>
          <a:p>
            <a:r>
              <a:rPr lang="pt-BR" sz="2000" b="1">
                <a:solidFill>
                  <a:srgbClr val="FF0000"/>
                </a:solidFill>
              </a:rPr>
              <a:t>                        </a:t>
            </a:r>
            <a:r>
              <a:rPr lang="pt-BR" sz="2000" b="1" err="1">
                <a:solidFill>
                  <a:srgbClr val="FF0000"/>
                </a:solidFill>
              </a:rPr>
              <a:t>elif</a:t>
            </a:r>
            <a:r>
              <a:rPr lang="pt-BR" sz="2000" b="1">
                <a:solidFill>
                  <a:srgbClr val="FF0000"/>
                </a:solidFill>
              </a:rPr>
              <a:t> CONDIÇÃO:</a:t>
            </a:r>
          </a:p>
          <a:p>
            <a:r>
              <a:rPr lang="pt-BR" sz="2000" b="1">
                <a:solidFill>
                  <a:srgbClr val="FF0000"/>
                </a:solidFill>
              </a:rPr>
              <a:t>                              </a:t>
            </a:r>
            <a:r>
              <a:rPr lang="pt-BR" sz="2000" b="1"/>
              <a:t>INSTRUÇÃO 1</a:t>
            </a:r>
          </a:p>
          <a:p>
            <a:r>
              <a:rPr lang="pt-BR" sz="2000" b="1"/>
              <a:t>                              INSTRUÇÃO 2</a:t>
            </a:r>
          </a:p>
          <a:p>
            <a:r>
              <a:rPr lang="pt-BR" sz="2000" b="1"/>
              <a:t>                                    </a:t>
            </a:r>
          </a:p>
          <a:p>
            <a:r>
              <a:rPr lang="pt-BR" sz="2000" b="1"/>
              <a:t>                             INSTRUÇÃO N</a:t>
            </a:r>
          </a:p>
        </p:txBody>
      </p: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5E26FE56-321A-9727-2DDD-A4322DCD44CB}"/>
              </a:ext>
            </a:extLst>
          </p:cNvPr>
          <p:cNvGrpSpPr/>
          <p:nvPr/>
        </p:nvGrpSpPr>
        <p:grpSpPr>
          <a:xfrm>
            <a:off x="9063433" y="3424937"/>
            <a:ext cx="637855" cy="204952"/>
            <a:chOff x="7725507" y="2946312"/>
            <a:chExt cx="784000" cy="204952"/>
          </a:xfrm>
        </p:grpSpPr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ED1C6C0A-5D6B-35CE-45BC-8857EF7F2B9D}"/>
                </a:ext>
              </a:extLst>
            </p:cNvPr>
            <p:cNvSpPr/>
            <p:nvPr/>
          </p:nvSpPr>
          <p:spPr>
            <a:xfrm flipH="1" flipV="1">
              <a:off x="7725507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44287AAB-F566-8217-F2C7-0DD8F4549314}"/>
                </a:ext>
              </a:extLst>
            </p:cNvPr>
            <p:cNvSpPr/>
            <p:nvPr/>
          </p:nvSpPr>
          <p:spPr>
            <a:xfrm flipH="1" flipV="1">
              <a:off x="8040043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BAA70EC9-FA86-9BA4-CB69-4E874D682E51}"/>
                </a:ext>
              </a:extLst>
            </p:cNvPr>
            <p:cNvSpPr/>
            <p:nvPr/>
          </p:nvSpPr>
          <p:spPr>
            <a:xfrm flipH="1" flipV="1">
              <a:off x="8348437" y="294631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8A9A9417-1E9A-942F-C922-A7500DF49E1E}"/>
              </a:ext>
            </a:extLst>
          </p:cNvPr>
          <p:cNvGrpSpPr/>
          <p:nvPr/>
        </p:nvGrpSpPr>
        <p:grpSpPr>
          <a:xfrm>
            <a:off x="3300499" y="4898108"/>
            <a:ext cx="784000" cy="204952"/>
            <a:chOff x="4335903" y="4302152"/>
            <a:chExt cx="784000" cy="204952"/>
          </a:xfrm>
        </p:grpSpPr>
        <p:sp>
          <p:nvSpPr>
            <p:cNvPr id="83" name="Elipse 82">
              <a:extLst>
                <a:ext uri="{FF2B5EF4-FFF2-40B4-BE49-F238E27FC236}">
                  <a16:creationId xmlns:a16="http://schemas.microsoft.com/office/drawing/2014/main" id="{97BAFEF0-0507-12AC-0DCC-6431AE42BE27}"/>
                </a:ext>
              </a:extLst>
            </p:cNvPr>
            <p:cNvSpPr/>
            <p:nvPr/>
          </p:nvSpPr>
          <p:spPr>
            <a:xfrm flipH="1" flipV="1">
              <a:off x="433590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0B237B74-F2BA-2F66-45BB-8E029EB9F665}"/>
                </a:ext>
              </a:extLst>
            </p:cNvPr>
            <p:cNvSpPr/>
            <p:nvPr/>
          </p:nvSpPr>
          <p:spPr>
            <a:xfrm flipH="1" flipV="1">
              <a:off x="4650439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Elipse 84">
              <a:extLst>
                <a:ext uri="{FF2B5EF4-FFF2-40B4-BE49-F238E27FC236}">
                  <a16:creationId xmlns:a16="http://schemas.microsoft.com/office/drawing/2014/main" id="{6EAF1BBD-EB1A-8027-62D6-38FA61E90201}"/>
                </a:ext>
              </a:extLst>
            </p:cNvPr>
            <p:cNvSpPr/>
            <p:nvPr/>
          </p:nvSpPr>
          <p:spPr>
            <a:xfrm flipH="1" flipV="1">
              <a:off x="4958833" y="4302152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CBF9C2B2-7372-2CDB-F702-B3017091C019}"/>
              </a:ext>
            </a:extLst>
          </p:cNvPr>
          <p:cNvGrpSpPr/>
          <p:nvPr/>
        </p:nvGrpSpPr>
        <p:grpSpPr>
          <a:xfrm>
            <a:off x="9134030" y="5010234"/>
            <a:ext cx="637855" cy="204952"/>
            <a:chOff x="7736022" y="4281126"/>
            <a:chExt cx="784000" cy="204952"/>
          </a:xfrm>
        </p:grpSpPr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95C7E256-5865-B70D-3F7D-C1217DADC2CF}"/>
                </a:ext>
              </a:extLst>
            </p:cNvPr>
            <p:cNvSpPr/>
            <p:nvPr/>
          </p:nvSpPr>
          <p:spPr>
            <a:xfrm flipH="1" flipV="1">
              <a:off x="7736022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70F94EA1-F60D-2B93-8944-A2FAA19D0370}"/>
                </a:ext>
              </a:extLst>
            </p:cNvPr>
            <p:cNvSpPr/>
            <p:nvPr/>
          </p:nvSpPr>
          <p:spPr>
            <a:xfrm flipH="1" flipV="1">
              <a:off x="8050558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474F9247-8A18-E977-3E94-43D421E32EA0}"/>
                </a:ext>
              </a:extLst>
            </p:cNvPr>
            <p:cNvSpPr/>
            <p:nvPr/>
          </p:nvSpPr>
          <p:spPr>
            <a:xfrm flipH="1" flipV="1">
              <a:off x="8358952" y="4281126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94F66A61-78E4-764F-03ED-64EDCEFF5286}"/>
              </a:ext>
            </a:extLst>
          </p:cNvPr>
          <p:cNvGrpSpPr/>
          <p:nvPr/>
        </p:nvGrpSpPr>
        <p:grpSpPr>
          <a:xfrm>
            <a:off x="8804127" y="2195877"/>
            <a:ext cx="637855" cy="204952"/>
            <a:chOff x="7263058" y="1774398"/>
            <a:chExt cx="784000" cy="204952"/>
          </a:xfrm>
        </p:grpSpPr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8D894E29-C8DF-DEF9-7FFE-ED2B244D60CD}"/>
                </a:ext>
              </a:extLst>
            </p:cNvPr>
            <p:cNvSpPr/>
            <p:nvPr/>
          </p:nvSpPr>
          <p:spPr>
            <a:xfrm flipH="1" flipV="1">
              <a:off x="7263058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4884A601-EB5F-156E-CAED-9160A9864E41}"/>
                </a:ext>
              </a:extLst>
            </p:cNvPr>
            <p:cNvSpPr/>
            <p:nvPr/>
          </p:nvSpPr>
          <p:spPr>
            <a:xfrm flipH="1" flipV="1">
              <a:off x="7577594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id="{D9DCA3A1-8E4E-37B2-5F09-26C24F181593}"/>
                </a:ext>
              </a:extLst>
            </p:cNvPr>
            <p:cNvSpPr/>
            <p:nvPr/>
          </p:nvSpPr>
          <p:spPr>
            <a:xfrm flipH="1" flipV="1">
              <a:off x="7885988" y="177439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5365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03AD-7A53-47E3-A543-52413E4E3839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320" y="365125"/>
            <a:ext cx="968821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0" u="none" strike="noStrike" baseline="0">
                <a:latin typeface="CIDFont+F1"/>
              </a:rPr>
              <a:t>Decisão do tipo </a:t>
            </a:r>
            <a:r>
              <a:rPr lang="pt-BR" sz="4000" b="1" i="0" u="none" strike="noStrike" baseline="0" err="1">
                <a:latin typeface="CIDFont+F5"/>
              </a:rPr>
              <a:t>if</a:t>
            </a:r>
            <a:r>
              <a:rPr lang="pt-BR" sz="4000" b="1" i="0" u="none" strike="noStrike" baseline="0">
                <a:latin typeface="CIDFont+F1"/>
              </a:rPr>
              <a:t>...</a:t>
            </a:r>
            <a:r>
              <a:rPr lang="pt-BR" sz="4000" b="1" i="0" u="none" strike="noStrike" baseline="0" err="1">
                <a:latin typeface="CIDFont+F5"/>
              </a:rPr>
              <a:t>elif</a:t>
            </a:r>
            <a:r>
              <a:rPr lang="pt-BR" sz="4000" b="1" i="0" u="none" strike="noStrike" baseline="0">
                <a:latin typeface="CIDFont+F5"/>
              </a:rPr>
              <a:t>...</a:t>
            </a:r>
            <a:endParaRPr lang="pt-BR" sz="4000" b="1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FCC9C88-B47F-8EF0-3016-994A9DD1A8EB}"/>
              </a:ext>
            </a:extLst>
          </p:cNvPr>
          <p:cNvSpPr txBox="1"/>
          <p:nvPr/>
        </p:nvSpPr>
        <p:spPr>
          <a:xfrm>
            <a:off x="472440" y="1524000"/>
            <a:ext cx="833628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>
                <a:latin typeface="CIDFont+F3"/>
              </a:rPr>
              <a:t>• </a:t>
            </a:r>
            <a:r>
              <a:rPr lang="pt-BR" sz="2400" b="0" i="0" u="none" strike="noStrike" baseline="0">
                <a:latin typeface="CIDFont+F2"/>
              </a:rPr>
              <a:t>Apenas o bloco no qual a condição é verdadeira é executado</a:t>
            </a:r>
          </a:p>
          <a:p>
            <a:pPr algn="l"/>
            <a:endParaRPr lang="pt-BR" sz="2400" b="0" i="0" u="none" strike="noStrike" baseline="0">
              <a:latin typeface="CIDFont+F2"/>
            </a:endParaRPr>
          </a:p>
          <a:p>
            <a:pPr algn="l"/>
            <a:r>
              <a:rPr lang="pt-BR" sz="2400" b="0" i="0" u="none" strike="noStrike" baseline="0">
                <a:latin typeface="CIDFont+F3"/>
              </a:rPr>
              <a:t>• </a:t>
            </a:r>
            <a:r>
              <a:rPr lang="pt-BR" sz="2400" b="0" i="0" u="none" strike="noStrike" baseline="0">
                <a:latin typeface="CIDFont+F2"/>
              </a:rPr>
              <a:t>É possível colocar tantos </a:t>
            </a:r>
            <a:r>
              <a:rPr lang="pt-BR" sz="2400" b="1" i="0" u="none" strike="noStrike" baseline="0" err="1">
                <a:latin typeface="CIDFont+F6"/>
              </a:rPr>
              <a:t>elif</a:t>
            </a:r>
            <a:r>
              <a:rPr lang="pt-BR" sz="2400" b="0" i="0" u="none" strike="noStrike" baseline="0">
                <a:latin typeface="CIDFont+F6"/>
              </a:rPr>
              <a:t> </a:t>
            </a:r>
            <a:r>
              <a:rPr lang="pt-BR" sz="2400" b="0" i="0" u="none" strike="noStrike" baseline="0">
                <a:latin typeface="CIDFont+F2"/>
              </a:rPr>
              <a:t>quantos forem necessários</a:t>
            </a:r>
          </a:p>
          <a:p>
            <a:pPr algn="l"/>
            <a:endParaRPr lang="pt-BR" sz="2400" b="0" i="0" u="none" strike="noStrike" baseline="0">
              <a:latin typeface="CIDFont+F2"/>
            </a:endParaRPr>
          </a:p>
          <a:p>
            <a:pPr marL="274638" indent="-274638" algn="l"/>
            <a:r>
              <a:rPr lang="pt-BR" sz="2400" b="0" i="0" u="none" strike="noStrike" baseline="0">
                <a:latin typeface="CIDFont+F3"/>
              </a:rPr>
              <a:t>• </a:t>
            </a:r>
            <a:r>
              <a:rPr lang="pt-BR" sz="2400" b="0" i="0" u="none" strike="noStrike" baseline="0">
                <a:latin typeface="CIDFont+F2"/>
              </a:rPr>
              <a:t>Qualquer combinação de instrução individual ou em bloco é aceita no </a:t>
            </a:r>
            <a:r>
              <a:rPr lang="pt-BR" sz="2400" b="0" u="none" strike="noStrike" baseline="0">
                <a:latin typeface="CIDFont+F2"/>
              </a:rPr>
              <a:t>corpo d</a:t>
            </a:r>
            <a:r>
              <a:rPr lang="pt-BR" sz="2400">
                <a:latin typeface="CIDFont+F6"/>
              </a:rPr>
              <a:t>o</a:t>
            </a:r>
            <a:r>
              <a:rPr lang="pt-BR" sz="2400" b="0" u="none" strike="noStrike" baseline="0">
                <a:latin typeface="CIDFont+F2"/>
              </a:rPr>
              <a:t> </a:t>
            </a:r>
            <a:r>
              <a:rPr lang="pt-BR" sz="2400" b="1" err="1">
                <a:latin typeface="CIDFont+F6"/>
              </a:rPr>
              <a:t>if</a:t>
            </a:r>
            <a:r>
              <a:rPr lang="pt-BR" sz="2400" b="1">
                <a:latin typeface="CIDFont+F6"/>
              </a:rPr>
              <a:t> </a:t>
            </a:r>
            <a:r>
              <a:rPr lang="pt-BR" sz="2400" b="0" i="0" u="none" strike="noStrike" baseline="0">
                <a:latin typeface="CIDFont+F2"/>
              </a:rPr>
              <a:t>ou do </a:t>
            </a:r>
            <a:r>
              <a:rPr lang="pt-BR" sz="2400" b="1" err="1">
                <a:latin typeface="CIDFont+F6"/>
              </a:rPr>
              <a:t>elif</a:t>
            </a:r>
            <a:endParaRPr lang="pt-BR" sz="2400" b="1">
              <a:latin typeface="CIDFont+F6"/>
            </a:endParaRPr>
          </a:p>
          <a:p>
            <a:pPr algn="l"/>
            <a:endParaRPr lang="pt-BR" sz="2400" b="0" i="0" u="none" strike="noStrike" baseline="0">
              <a:latin typeface="CIDFont+F6"/>
            </a:endParaRPr>
          </a:p>
          <a:p>
            <a:pPr algn="l"/>
            <a:r>
              <a:rPr lang="pt-BR" sz="2400" b="0" i="0" u="none" strike="noStrike" baseline="0">
                <a:latin typeface="CIDFont+F3"/>
              </a:rPr>
              <a:t>• </a:t>
            </a:r>
            <a:r>
              <a:rPr lang="pt-BR" sz="2400" b="0" i="0" u="none" strike="noStrike" baseline="0">
                <a:latin typeface="CIDFont+F2"/>
              </a:rPr>
              <a:t>É possível adicionar um </a:t>
            </a:r>
            <a:r>
              <a:rPr lang="pt-BR" sz="2400" b="1" err="1">
                <a:latin typeface="CIDFont+F6"/>
              </a:rPr>
              <a:t>else</a:t>
            </a:r>
            <a:r>
              <a:rPr lang="pt-BR" sz="2400" b="0" i="0" u="none" strike="noStrike" baseline="0">
                <a:latin typeface="CIDFont+F6"/>
              </a:rPr>
              <a:t> </a:t>
            </a:r>
            <a:r>
              <a:rPr lang="pt-BR" sz="2400" b="0" i="0" u="none" strike="noStrike" baseline="0">
                <a:latin typeface="CIDFont+F2"/>
              </a:rPr>
              <a:t>ao final de tudo</a:t>
            </a:r>
          </a:p>
          <a:p>
            <a:pPr algn="l"/>
            <a:endParaRPr lang="pt-BR" sz="2400" b="0" i="0" u="none" strike="noStrike" baseline="0">
              <a:latin typeface="CIDFont+F2"/>
            </a:endParaRPr>
          </a:p>
          <a:p>
            <a:pPr marL="274638" indent="-274638" algn="l"/>
            <a:r>
              <a:rPr lang="pt-BR" sz="2400" b="0" i="0" u="none" strike="noStrike" baseline="0">
                <a:latin typeface="CIDFont+F3"/>
              </a:rPr>
              <a:t>• </a:t>
            </a:r>
            <a:r>
              <a:rPr lang="pt-BR" sz="2400" b="0" i="0" u="none" strike="noStrike" baseline="0">
                <a:latin typeface="CIDFont+F2"/>
              </a:rPr>
              <a:t>Nesse caso, se nenhuma condição for verdadeira, o bloco do </a:t>
            </a:r>
            <a:r>
              <a:rPr lang="pt-BR" sz="2400" b="1" err="1">
                <a:latin typeface="CIDFont+F6"/>
              </a:rPr>
              <a:t>else</a:t>
            </a:r>
            <a:r>
              <a:rPr lang="pt-BR" sz="2400" b="0" i="0" u="none" strike="noStrike" baseline="0">
                <a:latin typeface="CIDFont+F7"/>
              </a:rPr>
              <a:t> </a:t>
            </a:r>
            <a:r>
              <a:rPr lang="pt-BR" sz="2400" b="0" i="0" u="none" strike="noStrike" baseline="0">
                <a:latin typeface="CIDFont+F2"/>
              </a:rPr>
              <a:t>será executado</a:t>
            </a:r>
            <a:endParaRPr lang="pt-BR" sz="240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8BBC7A7-CA79-FDA9-D172-B395EB614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33" y="1353344"/>
            <a:ext cx="2447527" cy="477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582-DFED-41C8-9129-928FE63B1430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733934" cy="988219"/>
          </a:xfrm>
        </p:spPr>
        <p:txBody>
          <a:bodyPr>
            <a:normAutofit/>
          </a:bodyPr>
          <a:lstStyle/>
          <a:p>
            <a:pPr algn="ctr"/>
            <a:r>
              <a:rPr lang="pt-BR" b="1" i="0" u="none" strike="noStrike" baseline="0">
                <a:latin typeface="CIDFont+F1"/>
              </a:rPr>
              <a:t>Decisão do tipo </a:t>
            </a:r>
            <a:r>
              <a:rPr lang="pt-BR" b="1" i="0" u="none" strike="noStrike" baseline="0" err="1">
                <a:latin typeface="CIDFont+F5"/>
              </a:rPr>
              <a:t>if</a:t>
            </a:r>
            <a:r>
              <a:rPr lang="pt-BR" b="1" i="0" u="none" strike="noStrike" baseline="0">
                <a:latin typeface="CIDFont+F1"/>
              </a:rPr>
              <a:t>...</a:t>
            </a:r>
            <a:r>
              <a:rPr lang="pt-BR" b="1" i="0" u="none" strike="noStrike" baseline="0" err="1">
                <a:latin typeface="CIDFont+F5"/>
              </a:rPr>
              <a:t>elif</a:t>
            </a:r>
            <a:r>
              <a:rPr lang="pt-BR" b="1" i="0" u="none" strike="noStrike" baseline="0">
                <a:latin typeface="CIDFont+F5"/>
              </a:rPr>
              <a:t>...</a:t>
            </a:r>
            <a:endParaRPr lang="pt-BR" b="1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C78AC6-6F8B-D69A-1FFD-6AA03D496FCE}"/>
              </a:ext>
            </a:extLst>
          </p:cNvPr>
          <p:cNvSpPr txBox="1"/>
          <p:nvPr/>
        </p:nvSpPr>
        <p:spPr>
          <a:xfrm>
            <a:off x="239151" y="1241227"/>
            <a:ext cx="11713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65325" indent="-1965325"/>
            <a:r>
              <a:rPr lang="pt-BR" sz="2800"/>
              <a:t>Exemplo4: Programa para somar ou multiplicar dois números. Digite “S” para soma e “M” para multiplicação</a:t>
            </a:r>
            <a:endParaRPr lang="pt-BR" sz="2800" b="1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FA17D5-1D0C-04BA-3B81-7CAF1D387136}"/>
              </a:ext>
            </a:extLst>
          </p:cNvPr>
          <p:cNvSpPr txBox="1"/>
          <p:nvPr/>
        </p:nvSpPr>
        <p:spPr>
          <a:xfrm>
            <a:off x="396239" y="2154020"/>
            <a:ext cx="105343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opcao = input('Entre com (S) para soma e (M) para multiplicação: ‘)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opcao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opcao.upper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()</a:t>
            </a:r>
            <a:endParaRPr lang="pt-BR" sz="2800" b="1" i="0" u="none" strike="noStrike" baseline="0">
              <a:solidFill>
                <a:srgbClr val="FF0000"/>
              </a:solidFill>
              <a:latin typeface="CIDFont+F2"/>
            </a:endParaRPr>
          </a:p>
          <a:p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a =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(input('Entre com o primeiro número: 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))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b =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(input('Entre com o segundo número: '))</a:t>
            </a:r>
          </a:p>
          <a:p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(opcao == 'S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):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  print('Soma = ', </a:t>
            </a:r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a+b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)</a:t>
            </a:r>
          </a:p>
          <a:p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elif (opcao == 'M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):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   print('Multiplicação = ', a*b)</a:t>
            </a:r>
          </a:p>
          <a:p>
            <a:pPr algn="l"/>
            <a:r>
              <a:rPr lang="pt-BR" sz="2800" b="1" i="0" u="none" strike="noStrike" baseline="0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:</a:t>
            </a:r>
          </a:p>
          <a:p>
            <a:pPr algn="l"/>
            <a:r>
              <a:rPr lang="pt-BR" sz="2800" b="1" i="0" u="none" strike="noStrike" baseline="0">
                <a:solidFill>
                  <a:srgbClr val="FF0000"/>
                </a:solidFill>
                <a:latin typeface="CIDFont+F2"/>
              </a:rPr>
              <a:t>    print('Opção inválida’)</a:t>
            </a:r>
            <a:endParaRPr lang="pt-BR" sz="2800" b="1">
              <a:solidFill>
                <a:srgbClr val="FF00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923F86-95DC-83FC-8F3B-D98C48402C81}"/>
              </a:ext>
            </a:extLst>
          </p:cNvPr>
          <p:cNvSpPr txBox="1"/>
          <p:nvPr/>
        </p:nvSpPr>
        <p:spPr>
          <a:xfrm>
            <a:off x="7053944" y="5146541"/>
            <a:ext cx="4741816" cy="95410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u="none" strike="noStrike" baseline="0">
                <a:solidFill>
                  <a:schemeClr val="bg1"/>
                </a:solidFill>
                <a:latin typeface="CIDFont+F2"/>
              </a:rPr>
              <a:t>Problema: a e b serão lidos mesmo se a opção for inválida</a:t>
            </a:r>
            <a:endParaRPr lang="pt-BR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2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4CAA14-B3CA-B5E5-7692-BE7EE1A3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C4CA6-5AAE-4FD0-B949-F71D5CA3238D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3712-A0E2-A6D4-0085-3DAA663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2DE717-31E7-78D0-2500-17FAE6F0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00B28A-9E7F-35B9-9598-1D16D753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733934" cy="988219"/>
          </a:xfrm>
        </p:spPr>
        <p:txBody>
          <a:bodyPr>
            <a:normAutofit/>
          </a:bodyPr>
          <a:lstStyle/>
          <a:p>
            <a:pPr algn="ctr"/>
            <a:r>
              <a:rPr lang="pt-BR" b="1" i="0" u="none" strike="noStrike" baseline="0">
                <a:latin typeface="CIDFont+F1"/>
              </a:rPr>
              <a:t>Decisão do tipo </a:t>
            </a:r>
            <a:r>
              <a:rPr lang="pt-BR" b="1" i="0" u="none" strike="noStrike" baseline="0" err="1">
                <a:latin typeface="CIDFont+F5"/>
              </a:rPr>
              <a:t>if</a:t>
            </a:r>
            <a:r>
              <a:rPr lang="pt-BR" b="1" i="0" u="none" strike="noStrike" baseline="0">
                <a:latin typeface="CIDFont+F1"/>
              </a:rPr>
              <a:t>...</a:t>
            </a:r>
            <a:r>
              <a:rPr lang="pt-BR" b="1" i="0" u="none" strike="noStrike" baseline="0" err="1">
                <a:latin typeface="CIDFont+F5"/>
              </a:rPr>
              <a:t>elif</a:t>
            </a:r>
            <a:r>
              <a:rPr lang="pt-BR" b="1" i="0" u="none" strike="noStrike" baseline="0">
                <a:latin typeface="CIDFont+F5"/>
              </a:rPr>
              <a:t>...</a:t>
            </a:r>
            <a:endParaRPr lang="pt-BR" b="1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C78AC6-6F8B-D69A-1FFD-6AA03D496FCE}"/>
              </a:ext>
            </a:extLst>
          </p:cNvPr>
          <p:cNvSpPr txBox="1"/>
          <p:nvPr/>
        </p:nvSpPr>
        <p:spPr>
          <a:xfrm>
            <a:off x="239151" y="1246664"/>
            <a:ext cx="11713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0" i="0" u="none" strike="noStrike" baseline="0">
                <a:latin typeface="CIDFont+F2"/>
              </a:rPr>
              <a:t>Exemplo5: Programa para somar ou multiplicar dois números. Digite “S” para soma e “M” para multiplicação</a:t>
            </a:r>
            <a:endParaRPr lang="pt-BR" sz="2800" b="1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FA17D5-1D0C-04BA-3B81-7CAF1D387136}"/>
              </a:ext>
            </a:extLst>
          </p:cNvPr>
          <p:cNvSpPr txBox="1"/>
          <p:nvPr/>
        </p:nvSpPr>
        <p:spPr>
          <a:xfrm>
            <a:off x="396240" y="2190146"/>
            <a:ext cx="87630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>
                <a:solidFill>
                  <a:srgbClr val="FF0000"/>
                </a:solidFill>
                <a:latin typeface="CIDFont+F2"/>
              </a:rPr>
              <a:t>o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pcao = input('Entre com (S) para soma e (M) para multiplicação: 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')</a:t>
            </a:r>
            <a:endParaRPr lang="pt-BR" sz="2200" b="1" i="0" u="none" strike="noStrike" baseline="0">
              <a:solidFill>
                <a:srgbClr val="FF0000"/>
              </a:solidFill>
              <a:latin typeface="CIDFont+F2"/>
            </a:endParaRPr>
          </a:p>
          <a:p>
            <a:r>
              <a:rPr lang="pt-BR" sz="2200" b="1">
                <a:solidFill>
                  <a:srgbClr val="FF0000"/>
                </a:solidFill>
                <a:latin typeface="CIDFont+F2"/>
              </a:rPr>
              <a:t>opcao = </a:t>
            </a:r>
            <a:r>
              <a:rPr lang="pt-BR" sz="2200" b="1" err="1">
                <a:solidFill>
                  <a:srgbClr val="FF0000"/>
                </a:solidFill>
                <a:latin typeface="CIDFont+F2"/>
              </a:rPr>
              <a:t>opcao.upper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()</a:t>
            </a:r>
            <a:endParaRPr lang="pt-BR" sz="2200" b="1" i="0" u="none" strike="noStrike" baseline="0">
              <a:solidFill>
                <a:srgbClr val="FF0000"/>
              </a:solidFill>
              <a:latin typeface="CIDFont+F2"/>
            </a:endParaRPr>
          </a:p>
          <a:p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(opcao == 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S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):</a:t>
            </a:r>
          </a:p>
          <a:p>
            <a:r>
              <a:rPr lang="pt-BR" sz="2200" b="1">
                <a:solidFill>
                  <a:srgbClr val="FF0000"/>
                </a:solidFill>
                <a:latin typeface="CIDFont+F2"/>
              </a:rPr>
              <a:t>   a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= </a:t>
            </a:r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(input(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Entre com o primeiro número: ‘))</a:t>
            </a:r>
          </a:p>
          <a:p>
            <a:pPr algn="l"/>
            <a:r>
              <a:rPr lang="pt-BR" sz="2200" b="1">
                <a:solidFill>
                  <a:srgbClr val="FF0000"/>
                </a:solidFill>
                <a:latin typeface="CIDFont+F2"/>
              </a:rPr>
              <a:t>   b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= </a:t>
            </a:r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(input('Entre com o segundo número: ‘))</a:t>
            </a:r>
          </a:p>
          <a:p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  print(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Soma = 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, </a:t>
            </a:r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a+b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)</a:t>
            </a:r>
          </a:p>
          <a:p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elif (opcao == 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M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):</a:t>
            </a:r>
          </a:p>
          <a:p>
            <a:r>
              <a:rPr lang="pt-BR" sz="2200" b="1">
                <a:solidFill>
                  <a:srgbClr val="FF0000"/>
                </a:solidFill>
                <a:latin typeface="CIDFont+F2"/>
              </a:rPr>
              <a:t>   a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= </a:t>
            </a:r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(input(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Entre com o primeiro número: ‘))</a:t>
            </a:r>
          </a:p>
          <a:p>
            <a:r>
              <a:rPr lang="pt-BR" sz="2200" b="1">
                <a:solidFill>
                  <a:srgbClr val="FF0000"/>
                </a:solidFill>
                <a:latin typeface="CIDFont+F2"/>
              </a:rPr>
              <a:t>   b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= </a:t>
            </a:r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(input(</a:t>
            </a:r>
            <a:r>
              <a:rPr lang="pt-BR" sz="22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Entre com o segundo número: ‘))</a:t>
            </a:r>
          </a:p>
          <a:p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  print(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Multiplicação = 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, a*b) </a:t>
            </a:r>
          </a:p>
          <a:p>
            <a:pPr algn="l"/>
            <a:r>
              <a:rPr lang="pt-BR" sz="2200" b="1" i="0" u="none" strike="noStrike" baseline="0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:</a:t>
            </a:r>
          </a:p>
          <a:p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   print(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Opção inválida</a:t>
            </a:r>
            <a:r>
              <a:rPr lang="pt-BR" sz="2400" b="1">
                <a:solidFill>
                  <a:srgbClr val="FF0000"/>
                </a:solidFill>
                <a:latin typeface="CIDFont+F2"/>
              </a:rPr>
              <a:t>'</a:t>
            </a:r>
            <a:r>
              <a:rPr lang="pt-BR" sz="2200" b="1" i="0" u="none" strike="noStrike" baseline="0">
                <a:solidFill>
                  <a:srgbClr val="FF0000"/>
                </a:solidFill>
                <a:latin typeface="CIDFont+F2"/>
              </a:rPr>
              <a:t>)</a:t>
            </a:r>
            <a:endParaRPr lang="pt-BR" sz="2200" b="1">
              <a:solidFill>
                <a:srgbClr val="FF00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923F86-95DC-83FC-8F3B-D98C48402C81}"/>
              </a:ext>
            </a:extLst>
          </p:cNvPr>
          <p:cNvSpPr txBox="1"/>
          <p:nvPr/>
        </p:nvSpPr>
        <p:spPr>
          <a:xfrm>
            <a:off x="7053944" y="5146541"/>
            <a:ext cx="4741816" cy="120032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Solução mais elegante, que faz a leitura de a e b uma única vez. Porém ainda há a possibilidade de entrar com um valor diferente de “S” ou “M”.</a:t>
            </a:r>
            <a:endParaRPr lang="pt-BR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28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6659AC-B827-EEA6-20CA-A83D0849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E8EF-B64E-41AD-97EF-97C08C891C36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617A9E-F0EE-9C37-8833-1681955C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Cap02-Exem06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F892AE-9837-7C2C-ABC1-B7189279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3A4E5B3-B3AB-290E-8375-89FCE5DE9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latin typeface="CIDFont+F1"/>
              </a:rPr>
              <a:t>Mais otimizado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E6A82D-06D3-2F2F-4AE5-BEDBF7A40623}"/>
              </a:ext>
            </a:extLst>
          </p:cNvPr>
          <p:cNvSpPr txBox="1"/>
          <p:nvPr/>
        </p:nvSpPr>
        <p:spPr>
          <a:xfrm>
            <a:off x="624840" y="1659285"/>
            <a:ext cx="112426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 input('\n\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(S) para soma e (M) para multiplicação : ')</a:t>
            </a:r>
          </a:p>
          <a:p>
            <a:r>
              <a:rPr lang="pt-BR" sz="2800" b="1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(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 'S'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's'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 'M'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 'm'):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a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(input('\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o primeiro número : '))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b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(input('\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o segundo número : ‘))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(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 'S'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==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's'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):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    print('\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nSoma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 ',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a+b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)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: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     print('\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nMultiplicação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 ', a*b)</a:t>
            </a:r>
          </a:p>
          <a:p>
            <a:r>
              <a:rPr lang="pt-BR" sz="2800" b="1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:</a:t>
            </a:r>
          </a:p>
          <a:p>
            <a:r>
              <a:rPr lang="pt-BR" sz="2800" b="1">
                <a:solidFill>
                  <a:srgbClr val="FF0000"/>
                </a:solidFill>
                <a:latin typeface="CIDFont+F2"/>
              </a:rPr>
              <a:t>         print(“OPÇÃO INVALIDA”)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8BED23-93B2-A5B0-B1B3-A4DE938261CF}"/>
              </a:ext>
            </a:extLst>
          </p:cNvPr>
          <p:cNvSpPr txBox="1"/>
          <p:nvPr/>
        </p:nvSpPr>
        <p:spPr>
          <a:xfrm>
            <a:off x="7266126" y="3992428"/>
            <a:ext cx="4250038" cy="193899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000" b="1">
                <a:solidFill>
                  <a:schemeClr val="bg1"/>
                </a:solidFill>
              </a:rPr>
              <a:t>Solução ainda mais elegante, que faz a leitura de a e b uma única vez. Porém há necessidade de checar se o usuário  colocou “s” e “m” minúsculos que são considerados como opções válidas.</a:t>
            </a:r>
          </a:p>
        </p:txBody>
      </p:sp>
    </p:spTree>
    <p:extLst>
      <p:ext uri="{BB962C8B-B14F-4D97-AF65-F5344CB8AC3E}">
        <p14:creationId xmlns:p14="http://schemas.microsoft.com/office/powerpoint/2010/main" val="14955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555D-9826-FB4C-A9FE-C93C0C49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D56432-A7B7-8652-B5CB-07736E0E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842A-DB19-46DE-AAC8-CBD4A59C3875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9E1577-9E49-6548-5694-D81F87E6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/>
              <a:t>Cap02-Exem07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936512-FEE7-F8A5-65B4-FBD1AE64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8327C18-B3E0-0A54-2671-1B37B137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>
                <a:latin typeface="CIDFont+F1"/>
              </a:rPr>
              <a:t>Ainda </a:t>
            </a:r>
            <a:r>
              <a:rPr lang="pt-BR" b="1">
                <a:latin typeface="CIDFont+F1"/>
              </a:rPr>
              <a:t>mais </a:t>
            </a:r>
            <a:r>
              <a:rPr lang="pt-BR" b="1" i="1">
                <a:latin typeface="CIDFont+F1"/>
              </a:rPr>
              <a:t>otimizado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10EFA0-F1B5-C9B2-42E1-7DA62EC7441D}"/>
              </a:ext>
            </a:extLst>
          </p:cNvPr>
          <p:cNvSpPr txBox="1"/>
          <p:nvPr/>
        </p:nvSpPr>
        <p:spPr>
          <a:xfrm>
            <a:off x="345831" y="1454676"/>
            <a:ext cx="11811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opcao = input('\n\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(S) para soma e (M) para multiplicação : ')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opcao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opcao.upper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()</a:t>
            </a:r>
          </a:p>
          <a:p>
            <a:pPr algn="just"/>
            <a:r>
              <a:rPr lang="pt-BR" sz="2800" b="1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( opcao == 'S'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or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opcao == 'M'):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a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(input('\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o primeiro número : '))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b =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int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(input('\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nEntre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com o segundo número : '))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if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(opcao == 'S'):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    print('\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nSoma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 ',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a+b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)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: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     print('\</a:t>
            </a:r>
            <a:r>
              <a:rPr lang="pt-BR" sz="2800" b="1" err="1">
                <a:solidFill>
                  <a:srgbClr val="FF0000"/>
                </a:solidFill>
                <a:latin typeface="CIDFont+F2"/>
              </a:rPr>
              <a:t>nMultiplicação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 = ', a*b)</a:t>
            </a:r>
          </a:p>
          <a:p>
            <a:pPr algn="just"/>
            <a:r>
              <a:rPr lang="pt-BR" sz="2800" b="1" err="1">
                <a:solidFill>
                  <a:srgbClr val="FF0000"/>
                </a:solidFill>
                <a:latin typeface="CIDFont+F2"/>
              </a:rPr>
              <a:t>else</a:t>
            </a:r>
            <a:r>
              <a:rPr lang="pt-BR" sz="2800" b="1">
                <a:solidFill>
                  <a:srgbClr val="FF0000"/>
                </a:solidFill>
                <a:latin typeface="CIDFont+F2"/>
              </a:rPr>
              <a:t>:</a:t>
            </a:r>
          </a:p>
          <a:p>
            <a:pPr algn="just"/>
            <a:r>
              <a:rPr lang="pt-BR" sz="2800" b="1">
                <a:solidFill>
                  <a:srgbClr val="FF0000"/>
                </a:solidFill>
                <a:latin typeface="CIDFont+F2"/>
              </a:rPr>
              <a:t>         print('OPÇÃO INVALIDA’)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7F78C1-61E4-130B-BDD7-5BDEECEE63DF}"/>
              </a:ext>
            </a:extLst>
          </p:cNvPr>
          <p:cNvSpPr txBox="1"/>
          <p:nvPr/>
        </p:nvSpPr>
        <p:spPr>
          <a:xfrm>
            <a:off x="6337664" y="4378553"/>
            <a:ext cx="4592933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b="1">
                <a:solidFill>
                  <a:srgbClr val="002060"/>
                </a:solidFill>
              </a:rPr>
              <a:t>Solução ainda mais elegante, que faz a leitura de a e b uma única vez. Porém há necessidade de checar se o usuário  colocou “s” ou “m” minúsculos que são considerados como opções válidas.</a:t>
            </a:r>
            <a:endParaRPr lang="pt-BR" sz="2800" b="1">
              <a:solidFill>
                <a:srgbClr val="002060"/>
              </a:solidFill>
            </a:endParaRP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C947958C-5518-7797-F78F-43F76C5CE8E8}"/>
              </a:ext>
            </a:extLst>
          </p:cNvPr>
          <p:cNvCxnSpPr>
            <a:cxnSpLocks/>
          </p:cNvCxnSpPr>
          <p:nvPr/>
        </p:nvCxnSpPr>
        <p:spPr>
          <a:xfrm>
            <a:off x="3992880" y="2167027"/>
            <a:ext cx="4983480" cy="624840"/>
          </a:xfrm>
          <a:prstGeom prst="bentConnector3">
            <a:avLst>
              <a:gd name="adj1" fmla="val 76911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E38321-869F-6309-2684-4B7C8C510A01}"/>
              </a:ext>
            </a:extLst>
          </p:cNvPr>
          <p:cNvSpPr txBox="1"/>
          <p:nvPr/>
        </p:nvSpPr>
        <p:spPr>
          <a:xfrm>
            <a:off x="8976360" y="2191702"/>
            <a:ext cx="1954237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Função Upper-</a:t>
            </a:r>
          </a:p>
          <a:p>
            <a:r>
              <a:rPr lang="pt-BR" b="1" i="1" err="1">
                <a:solidFill>
                  <a:srgbClr val="FF0000"/>
                </a:solidFill>
              </a:rPr>
              <a:t>Tranforma</a:t>
            </a:r>
            <a:r>
              <a:rPr lang="pt-BR" b="1">
                <a:solidFill>
                  <a:srgbClr val="FF0000"/>
                </a:solidFill>
              </a:rPr>
              <a:t> um ou mais caracteres em Maiúsculo.</a:t>
            </a:r>
          </a:p>
        </p:txBody>
      </p:sp>
    </p:spTree>
    <p:extLst>
      <p:ext uri="{BB962C8B-B14F-4D97-AF65-F5344CB8AC3E}">
        <p14:creationId xmlns:p14="http://schemas.microsoft.com/office/powerpoint/2010/main" val="86064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634FF-6620-3068-AC9F-6786874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FE8F-0CA1-432F-B781-9FA76A36245C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BEDEC6-5A92-81B6-4A35-38B9BC38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/>
              <a:t>Cap02-Exem08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749B6-D896-C863-5CD9-41C2A2F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81B89C-7A84-DEB2-E6D3-164FA0C8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Condições Simplificadas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5D2B02-CDAE-0548-5F10-300FB718637C}"/>
              </a:ext>
            </a:extLst>
          </p:cNvPr>
          <p:cNvSpPr txBox="1"/>
          <p:nvPr/>
        </p:nvSpPr>
        <p:spPr>
          <a:xfrm>
            <a:off x="828821" y="1691640"/>
            <a:ext cx="11038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/>
              <a:t>Python permite simplificar condições, adicionado AND implicitamente.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D81194-1806-5445-64DA-32B53C558C6C}"/>
              </a:ext>
            </a:extLst>
          </p:cNvPr>
          <p:cNvSpPr txBox="1"/>
          <p:nvPr/>
        </p:nvSpPr>
        <p:spPr>
          <a:xfrm>
            <a:off x="828821" y="2901770"/>
            <a:ext cx="6004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a = </a:t>
            </a:r>
            <a:r>
              <a:rPr lang="pt-BR" sz="2800" err="1"/>
              <a:t>int</a:t>
            </a:r>
            <a:r>
              <a:rPr lang="pt-BR" sz="2800"/>
              <a:t> (input ( ‘Digite um número :  ‘))</a:t>
            </a:r>
          </a:p>
          <a:p>
            <a:r>
              <a:rPr lang="pt-BR" sz="2800"/>
              <a:t>b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/>
              <a:t>c 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 err="1"/>
              <a:t>if</a:t>
            </a:r>
            <a:r>
              <a:rPr lang="pt-BR" sz="2800"/>
              <a:t> (a == b == c):</a:t>
            </a:r>
          </a:p>
          <a:p>
            <a:r>
              <a:rPr lang="pt-BR" sz="2800"/>
              <a:t>   print(‘Os 3 números são iguais’)</a:t>
            </a:r>
          </a:p>
          <a:p>
            <a:r>
              <a:rPr lang="pt-BR" sz="2800" err="1"/>
              <a:t>else</a:t>
            </a:r>
            <a:r>
              <a:rPr lang="pt-BR" sz="2800"/>
              <a:t>:</a:t>
            </a:r>
          </a:p>
          <a:p>
            <a:r>
              <a:rPr lang="pt-BR" sz="2800"/>
              <a:t>   print (‘Os 3 números não são iguais’)</a:t>
            </a:r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96762F-911A-3A9F-54A8-C164F4948227}"/>
              </a:ext>
            </a:extLst>
          </p:cNvPr>
          <p:cNvSpPr txBox="1"/>
          <p:nvPr/>
        </p:nvSpPr>
        <p:spPr>
          <a:xfrm>
            <a:off x="7901940" y="4132875"/>
            <a:ext cx="3665220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rgbClr val="002060"/>
                </a:solidFill>
              </a:rPr>
              <a:t>Isso equivale a condição </a:t>
            </a:r>
          </a:p>
          <a:p>
            <a:pPr algn="ctr"/>
            <a:r>
              <a:rPr lang="pt-BR" sz="2400" b="1">
                <a:solidFill>
                  <a:srgbClr val="002060"/>
                </a:solidFill>
              </a:rPr>
              <a:t>(a == b </a:t>
            </a:r>
            <a:r>
              <a:rPr lang="pt-BR" sz="2400" b="1" err="1">
                <a:solidFill>
                  <a:srgbClr val="002060"/>
                </a:solidFill>
              </a:rPr>
              <a:t>and</a:t>
            </a:r>
            <a:r>
              <a:rPr lang="pt-BR" sz="2400" b="1">
                <a:solidFill>
                  <a:srgbClr val="002060"/>
                </a:solidFill>
              </a:rPr>
              <a:t> b == c)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F1C43F7-449B-8086-BEB9-E97563A90D3F}"/>
              </a:ext>
            </a:extLst>
          </p:cNvPr>
          <p:cNvCxnSpPr>
            <a:cxnSpLocks/>
          </p:cNvCxnSpPr>
          <p:nvPr/>
        </p:nvCxnSpPr>
        <p:spPr>
          <a:xfrm>
            <a:off x="3246120" y="4456041"/>
            <a:ext cx="448056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5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634FF-6620-3068-AC9F-6786874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1ED9-DB06-40D7-8747-C8A72709AD54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BEDEC6-5A92-81B6-4A35-38B9BC38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/>
              <a:t>Cap02-Exem09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749B6-D896-C863-5CD9-41C2A2F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81B89C-7A84-DEB2-E6D3-164FA0C8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Condições Simplificadas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5D2B02-CDAE-0548-5F10-300FB718637C}"/>
              </a:ext>
            </a:extLst>
          </p:cNvPr>
          <p:cNvSpPr txBox="1"/>
          <p:nvPr/>
        </p:nvSpPr>
        <p:spPr>
          <a:xfrm>
            <a:off x="828821" y="1691640"/>
            <a:ext cx="110387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/>
              <a:t>Para igualdades isso pode ser garantido por </a:t>
            </a:r>
            <a:r>
              <a:rPr lang="pt-BR" sz="3200" b="1"/>
              <a:t>transitividade</a:t>
            </a:r>
            <a:r>
              <a:rPr lang="pt-BR" sz="3200"/>
              <a:t>, mas operadores não </a:t>
            </a:r>
            <a:r>
              <a:rPr lang="pt-BR" sz="3200" b="1"/>
              <a:t>transitivos</a:t>
            </a:r>
            <a:r>
              <a:rPr lang="pt-BR" sz="3200"/>
              <a:t> apresentam problemas.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D81194-1806-5445-64DA-32B53C558C6C}"/>
              </a:ext>
            </a:extLst>
          </p:cNvPr>
          <p:cNvSpPr txBox="1"/>
          <p:nvPr/>
        </p:nvSpPr>
        <p:spPr>
          <a:xfrm>
            <a:off x="828821" y="2901770"/>
            <a:ext cx="6004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a = </a:t>
            </a:r>
            <a:r>
              <a:rPr lang="pt-BR" sz="2800" err="1"/>
              <a:t>int</a:t>
            </a:r>
            <a:r>
              <a:rPr lang="pt-BR" sz="2800"/>
              <a:t> (input ( ‘Digite um número :  ‘))</a:t>
            </a:r>
          </a:p>
          <a:p>
            <a:r>
              <a:rPr lang="pt-BR" sz="2800"/>
              <a:t>b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/>
              <a:t>c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 err="1"/>
              <a:t>if</a:t>
            </a:r>
            <a:r>
              <a:rPr lang="pt-BR" sz="2800"/>
              <a:t> (a != b != c):</a:t>
            </a:r>
          </a:p>
          <a:p>
            <a:r>
              <a:rPr lang="pt-BR" sz="2800"/>
              <a:t>   print(‘Os 3 números são diferentes’)</a:t>
            </a:r>
          </a:p>
          <a:p>
            <a:r>
              <a:rPr lang="pt-BR" sz="2800" err="1"/>
              <a:t>else</a:t>
            </a:r>
            <a:r>
              <a:rPr lang="pt-BR" sz="2800"/>
              <a:t>:</a:t>
            </a:r>
          </a:p>
          <a:p>
            <a:r>
              <a:rPr lang="pt-BR" sz="2800"/>
              <a:t>   print (‘Os 3 números são iguais’)</a:t>
            </a:r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96762F-911A-3A9F-54A8-C164F4948227}"/>
              </a:ext>
            </a:extLst>
          </p:cNvPr>
          <p:cNvSpPr txBox="1"/>
          <p:nvPr/>
        </p:nvSpPr>
        <p:spPr>
          <a:xfrm>
            <a:off x="7726680" y="4132875"/>
            <a:ext cx="43434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400" b="1">
                <a:solidFill>
                  <a:srgbClr val="002060"/>
                </a:solidFill>
              </a:rPr>
              <a:t>O Operador != não é transitivo. Nesse caso não há como garantir que   a != c 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F1C43F7-449B-8086-BEB9-E97563A90D3F}"/>
              </a:ext>
            </a:extLst>
          </p:cNvPr>
          <p:cNvCxnSpPr>
            <a:cxnSpLocks/>
          </p:cNvCxnSpPr>
          <p:nvPr/>
        </p:nvCxnSpPr>
        <p:spPr>
          <a:xfrm>
            <a:off x="3246120" y="4456041"/>
            <a:ext cx="42672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634FF-6620-3068-AC9F-6786874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96512-01BA-40E0-867F-13AEDD8896B5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BEDEC6-5A92-81B6-4A35-38B9BC38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/>
              <a:t>Cap02-Exem10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749B6-D896-C863-5CD9-41C2A2F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18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81B89C-7A84-DEB2-E6D3-164FA0C8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Condições Simplificadas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5D2B02-CDAE-0548-5F10-300FB718637C}"/>
              </a:ext>
            </a:extLst>
          </p:cNvPr>
          <p:cNvSpPr txBox="1"/>
          <p:nvPr/>
        </p:nvSpPr>
        <p:spPr>
          <a:xfrm>
            <a:off x="828821" y="1691640"/>
            <a:ext cx="11038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/>
              <a:t>Solução: não usar condição simplificada nesses casos.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D81194-1806-5445-64DA-32B53C558C6C}"/>
              </a:ext>
            </a:extLst>
          </p:cNvPr>
          <p:cNvSpPr txBox="1"/>
          <p:nvPr/>
        </p:nvSpPr>
        <p:spPr>
          <a:xfrm>
            <a:off x="828821" y="2387306"/>
            <a:ext cx="6004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a = </a:t>
            </a:r>
            <a:r>
              <a:rPr lang="pt-BR" sz="2800" err="1"/>
              <a:t>int</a:t>
            </a:r>
            <a:r>
              <a:rPr lang="pt-BR" sz="2800"/>
              <a:t> (input ( ‘Digite um número :  ‘))</a:t>
            </a:r>
          </a:p>
          <a:p>
            <a:r>
              <a:rPr lang="pt-BR" sz="2800"/>
              <a:t>b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/>
              <a:t>c  = </a:t>
            </a:r>
            <a:r>
              <a:rPr lang="pt-BR" sz="2800" err="1"/>
              <a:t>int</a:t>
            </a:r>
            <a:r>
              <a:rPr lang="pt-BR" sz="2800"/>
              <a:t> (input (‘Digite um número  :  ‘))</a:t>
            </a:r>
          </a:p>
          <a:p>
            <a:r>
              <a:rPr lang="pt-BR" sz="2800" err="1"/>
              <a:t>if</a:t>
            </a:r>
            <a:r>
              <a:rPr lang="pt-BR" sz="2800"/>
              <a:t> (a ! = b  </a:t>
            </a:r>
            <a:r>
              <a:rPr lang="pt-BR" sz="2800" err="1"/>
              <a:t>and</a:t>
            </a:r>
            <a:r>
              <a:rPr lang="pt-BR" sz="2800"/>
              <a:t>  b != c  </a:t>
            </a:r>
            <a:r>
              <a:rPr lang="pt-BR" sz="2800" err="1"/>
              <a:t>and</a:t>
            </a:r>
            <a:r>
              <a:rPr lang="pt-BR" sz="2800"/>
              <a:t>  a != c):</a:t>
            </a:r>
          </a:p>
          <a:p>
            <a:r>
              <a:rPr lang="pt-BR" sz="2800"/>
              <a:t>   print(‘Os 3 números são diferentes’)</a:t>
            </a:r>
          </a:p>
          <a:p>
            <a:r>
              <a:rPr lang="pt-BR" sz="2800" err="1"/>
              <a:t>else</a:t>
            </a:r>
            <a:r>
              <a:rPr lang="pt-BR" sz="2800"/>
              <a:t>:</a:t>
            </a:r>
          </a:p>
          <a:p>
            <a:r>
              <a:rPr lang="pt-BR" sz="2800"/>
              <a:t>   print (‘Os 3 números são iguais’)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79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16951D-7C92-5485-8931-B02B1765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C560-5212-4EE9-A744-510D7C9C70C5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469805-5873-51B6-6870-E888931C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Cap02-Prog01 – Cap02-Prog02 – Cap02-Prog03 – Cap02–Prog04 – Cap02-Prog05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8ECB21-44C8-EEFE-3A9F-452817A3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19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7645303-F4CA-E16C-BB02-0EB98E7B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E8457D-5437-51BE-E05C-E9594FC2135F}"/>
              </a:ext>
            </a:extLst>
          </p:cNvPr>
          <p:cNvSpPr txBox="1"/>
          <p:nvPr/>
        </p:nvSpPr>
        <p:spPr>
          <a:xfrm>
            <a:off x="239152" y="1202814"/>
            <a:ext cx="119528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indent="-365125" algn="l">
              <a:buAutoNum type="arabicParenR"/>
            </a:pP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Faça um programa que leia um número e diga se ele é par ou ímpar.</a:t>
            </a:r>
          </a:p>
          <a:p>
            <a:pPr marL="365125" indent="-365125" algn="l">
              <a:buAutoNum type="arabicParenR"/>
            </a:pPr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125" indent="-365125" algn="l">
              <a:buAutoNum type="arabicParenR"/>
            </a:pP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Faça um programa que peça ao usuário para digitar “S” para somar ou “M” par multiplicar dois números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 e efetue a soma ou a multiplicação dada a entrada do usuário.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457200" indent="-457200" algn="l">
              <a:buAutoNum type="arabicParenR"/>
            </a:pPr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125" indent="-365125" algn="l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3) Faça um programa que leia um número, e se ele for maior que 20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então imprima metade do número, caso contrário imprima o dobro do valor.</a:t>
            </a:r>
          </a:p>
          <a:p>
            <a:pPr marL="274638" indent="-274638"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125" indent="-365125" algn="just"/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) Faça um programa que leia um número e diga se esse número é positivo, negativo ou nulo.</a:t>
            </a:r>
          </a:p>
          <a:p>
            <a:pPr marL="365125" indent="-365125" algn="l"/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125" indent="-365125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5) Faça um programa que imprima a raiz quadrada de um número caso ele seja positivo e o quadrado do número caso ele seja negativo</a:t>
            </a:r>
            <a:r>
              <a:rPr lang="pt-BR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95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F1B06A-7446-5812-50E3-52C3E991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E54-E9D5-45F0-A785-5169D0383DFC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386613-7DE1-94DC-7F76-33202AB7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37DA23-36AE-5EC3-36DC-41CA0F6C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20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BE94926-D7C2-89E5-1905-4EE745A1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E28D305-C271-0627-0700-14195945E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578175"/>
              </p:ext>
            </p:extLst>
          </p:nvPr>
        </p:nvGraphicFramePr>
        <p:xfrm>
          <a:off x="3518227" y="3255459"/>
          <a:ext cx="536447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1550564506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1118684169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402455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Gravidade Relativa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Planeta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9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0,37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Mercúrio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835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Vênus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4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0,38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Marte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74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2,64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err="1"/>
                        <a:t>Júpter</a:t>
                      </a:r>
                      <a:endParaRPr lang="pt-BR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59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1,15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Saturno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23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1,17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/>
                        <a:t>Urano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723240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F0844AE1-883B-0187-C9EA-23CF50210A4E}"/>
              </a:ext>
            </a:extLst>
          </p:cNvPr>
          <p:cNvSpPr txBox="1"/>
          <p:nvPr/>
        </p:nvSpPr>
        <p:spPr>
          <a:xfrm>
            <a:off x="470226" y="1500691"/>
            <a:ext cx="113973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1325" indent="-441325" algn="just"/>
            <a:r>
              <a:rPr lang="pt-B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pt-BR" sz="24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Faça um programa que leia um peso no planeta Terra e o número de um planeta e imprima o valor do seu peso neste planeta. A relação dos planetas é dada a seguir juntamente com o valor das gravidades relativas ao planeta Terra.</a:t>
            </a:r>
            <a:r>
              <a:rPr lang="pt-BR" sz="2400" b="0" i="0" u="none" strike="noStrike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878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CE469C-ABD6-BAFE-D3D3-2230A315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AA66-4E40-4218-BC38-836AD1917D95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964B70-87F9-154C-9C21-665A606E6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Cap02-Prog09 - Cap02-Prog10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E33992-31CE-9CD8-2FA5-6438192A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21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12C758F-9A02-9A08-7057-F1080CF3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1510764-99C7-5A19-9518-39CC87CAFB77}"/>
              </a:ext>
            </a:extLst>
          </p:cNvPr>
          <p:cNvSpPr txBox="1"/>
          <p:nvPr/>
        </p:nvSpPr>
        <p:spPr>
          <a:xfrm>
            <a:off x="472441" y="1512838"/>
            <a:ext cx="114804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 algn="just"/>
            <a:r>
              <a:rPr lang="pt-BR" sz="24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06) Faça um programa que leia um caractere alfanumérico e diga se ele é uma vogal.</a:t>
            </a:r>
          </a:p>
          <a:p>
            <a:pPr algn="l"/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Obs.: método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upper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    transforma toda a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 maiúscula</a:t>
            </a:r>
          </a:p>
          <a:p>
            <a:pPr algn="l"/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método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    transforma toda a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 minúscula</a:t>
            </a:r>
          </a:p>
          <a:p>
            <a:pPr algn="l"/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</a:p>
          <a:p>
            <a:pPr algn="l"/>
            <a:r>
              <a:rPr lang="pt-BR" sz="240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Ex.: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texto.upper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e </a:t>
            </a:r>
            <a:r>
              <a:rPr lang="pt-BR" sz="2400" b="0" i="0" u="none" strike="noStrike" baseline="0" err="1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texto.lower</a:t>
            </a:r>
            <a:r>
              <a:rPr lang="pt-BR" sz="2400" b="0" i="0" u="none" strike="noStrike" baseline="0">
                <a:solidFill>
                  <a:srgbClr val="C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) Faça um programa que leia um número e diga se ele é divisível por 3 e por 7. Obs.: utilize operador lógico.</a:t>
            </a:r>
          </a:p>
          <a:p>
            <a:pPr marL="365125" indent="-365125" algn="l"/>
            <a:endParaRPr lang="pt-BR" sz="1800" b="0" i="0" u="none" strike="noStrike" baseline="0">
              <a:latin typeface="CIDFont+F2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F47EB06-697D-8109-2B23-7522DA7AEC88}"/>
              </a:ext>
            </a:extLst>
          </p:cNvPr>
          <p:cNvCxnSpPr/>
          <p:nvPr/>
        </p:nvCxnSpPr>
        <p:spPr>
          <a:xfrm>
            <a:off x="4930140" y="2518043"/>
            <a:ext cx="655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1B6E076-20B8-585C-D3C5-C633618B4BDA}"/>
              </a:ext>
            </a:extLst>
          </p:cNvPr>
          <p:cNvCxnSpPr/>
          <p:nvPr/>
        </p:nvCxnSpPr>
        <p:spPr>
          <a:xfrm>
            <a:off x="4930140" y="2883803"/>
            <a:ext cx="655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71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9308E7-CEE8-948E-4BD3-2E13959F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AE3D-554B-41FA-8619-912F4042AD82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60560B-FD1A-5913-78AE-AF343CDE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>
                <a:solidFill>
                  <a:schemeClr val="tx1"/>
                </a:solidFill>
              </a:rPr>
              <a:t>Cap02-Prog11 -  Cap02-Prog12  -  Cap02-Prog13 – Cap02-Prog14 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AE325C-A205-8CA7-2C1A-B56B5BEA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22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AFACD05-36B3-6689-F0DA-2914AA1D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F6902A-ADC1-F26E-27D2-F1994AD1FA17}"/>
              </a:ext>
            </a:extLst>
          </p:cNvPr>
          <p:cNvSpPr txBox="1"/>
          <p:nvPr/>
        </p:nvSpPr>
        <p:spPr>
          <a:xfrm>
            <a:off x="166790" y="1598920"/>
            <a:ext cx="113493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 algn="just"/>
            <a:r>
              <a:rPr lang="pt-B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pt-BR" sz="24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Faça um programa que leia um caractere alfanumérico e diga se ele é consoante, número ou vogal.</a:t>
            </a:r>
          </a:p>
          <a:p>
            <a:pPr algn="l"/>
            <a:endParaRPr lang="pt-BR" sz="2400" b="0" i="0" u="none" strike="noStrike" baseline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5475" indent="-625475" algn="just"/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09)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Faça um programa que peça para o usuário entrar com uma senha e diga se a senha está correta ou incorreta. A senha é definida como uma constante pelo programador.</a:t>
            </a:r>
          </a:p>
          <a:p>
            <a:pPr algn="l"/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) Faça um programa que leia um número e diga se ele é ou não é múltiplo de 3.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11) Faça um programa que leia um número e diga se ele é ou não é divisível por 5.</a:t>
            </a:r>
          </a:p>
        </p:txBody>
      </p:sp>
    </p:spTree>
    <p:extLst>
      <p:ext uri="{BB962C8B-B14F-4D97-AF65-F5344CB8AC3E}">
        <p14:creationId xmlns:p14="http://schemas.microsoft.com/office/powerpoint/2010/main" val="889132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CC63F2-1079-0E06-C52A-442A0273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589-9B24-4E3F-9304-4B334968CB27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9AFE3A-1B05-EF1E-4B94-052ADA4F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Cap02-Prog15 - Cap02-Prog16 – Cap02-Prog17 – Cap02-Prog18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473B1A-E393-6279-C6AF-7CF2675B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23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4973EFB-D356-9DF2-5B6F-64F46F60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4133EF-DBFD-9F72-73CC-58B492B621FF}"/>
              </a:ext>
            </a:extLst>
          </p:cNvPr>
          <p:cNvSpPr txBox="1"/>
          <p:nvPr/>
        </p:nvSpPr>
        <p:spPr>
          <a:xfrm>
            <a:off x="482273" y="1414304"/>
            <a:ext cx="112274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12) Faça um programa que leia um número e diga se ele é divisível por 3 e por 7. Obs.: Não é permitido a utilização de operador lógico. Se o número for divisível por 21 ele então é divisível por 3 e por 7.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13) Faça um programa que leia um número e diga se ele está compreendido entre 20 e 90 ou não.</a:t>
            </a:r>
          </a:p>
          <a:p>
            <a:pPr algn="l"/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14) Faça um programa que leia a sigla do estado em que uma pessoa nasceu e imprima uma das mensagens abaixo:</a:t>
            </a:r>
          </a:p>
          <a:p>
            <a:pPr marL="365125" indent="-365125" algn="l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     • carioca • paulista • mineiro • baiano • outros casos</a:t>
            </a:r>
          </a:p>
          <a:p>
            <a:pPr marL="2514600" indent="-365125"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15) Faça um programa que leia um número inteiro de 3 dígitos e informe se o algarismo da casa das centenas é par ou ímpar. </a:t>
            </a:r>
          </a:p>
        </p:txBody>
      </p:sp>
    </p:spTree>
    <p:extLst>
      <p:ext uri="{BB962C8B-B14F-4D97-AF65-F5344CB8AC3E}">
        <p14:creationId xmlns:p14="http://schemas.microsoft.com/office/powerpoint/2010/main" val="638617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7BA0C7-60A2-2A86-7FAC-083F0B11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B2F8-C56A-40E6-9FE4-3FB9A3838D4A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085E0D-7ED8-5782-9337-039EC143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Cap02-Prog19 - Cap02-Prog20 -  Cap02-Prog21 – Cap02-Prog22 – Cap02-Prog23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C30F21-A073-1FDF-A01E-7C34AF3A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24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5159EA-3E1B-293B-44E5-775F60E4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88F2B6-95A1-39DB-40B2-C575072A89F1}"/>
              </a:ext>
            </a:extLst>
          </p:cNvPr>
          <p:cNvSpPr txBox="1"/>
          <p:nvPr/>
        </p:nvSpPr>
        <p:spPr>
          <a:xfrm>
            <a:off x="381000" y="1551464"/>
            <a:ext cx="114865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16) Faça um programa que leia 2 palavras e diga se elas são iguais ou diferentes.</a:t>
            </a:r>
          </a:p>
          <a:p>
            <a:pPr algn="l"/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17) Faça um programa que leia 3 números diferentes e os imprima em ordem crescente e decrescente. Se houver números iguais exibir mensagem de erro.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18) Faça um programa que leia 5 números e identifique o maior e o menor.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19) Faça um programa que leia 3 nomes e os coloque em ordem alfabética.</a:t>
            </a:r>
          </a:p>
          <a:p>
            <a:pPr marL="365125" indent="-365125" algn="l"/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20) Faça um programa que leia 3 números e diga se eles podem ou não tomar um triângulo. Obs.: para formar um triângulo é necessário que a soma de dois lados seja sempre maior que o terceiro lado.</a:t>
            </a:r>
          </a:p>
          <a:p>
            <a:pPr algn="l"/>
            <a:endParaRPr lang="pt-BR" b="0" i="0" u="none" strike="noStrike" baseline="0">
              <a:latin typeface="CIDFont+F2"/>
            </a:endParaRPr>
          </a:p>
        </p:txBody>
      </p:sp>
    </p:spTree>
    <p:extLst>
      <p:ext uri="{BB962C8B-B14F-4D97-AF65-F5344CB8AC3E}">
        <p14:creationId xmlns:p14="http://schemas.microsoft.com/office/powerpoint/2010/main" val="170477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776E2D-1200-123B-CE0F-919544A2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BF4CD-7F8E-4AF3-BF83-671B16ABF186}" type="datetime1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4DDC98-AA4A-A4C9-8F29-E8D7F415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>
                <a:solidFill>
                  <a:schemeClr val="tx1"/>
                </a:solidFill>
              </a:rPr>
              <a:t>Cap02-Prog24 - Cap02-Prog25 - Cap02-Prog26</a:t>
            </a:r>
            <a:endParaRPr lang="pt-BR" sz="160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3B18FF-C29B-4D56-02F6-5B176E70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25</a:t>
            </a:fld>
            <a:endParaRPr lang="pt-BR" b="1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6ACEFF0-2F38-0F74-5B27-573D8CD0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/>
              <a:t>Exercícios</a:t>
            </a:r>
            <a:endParaRPr lang="pt-BR" i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D8C9FA-E778-2E44-9BC2-263148DD29D3}"/>
              </a:ext>
            </a:extLst>
          </p:cNvPr>
          <p:cNvSpPr txBox="1"/>
          <p:nvPr/>
        </p:nvSpPr>
        <p:spPr>
          <a:xfrm>
            <a:off x="396240" y="1592689"/>
            <a:ext cx="114712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21) Faça um programa que leia 3 números e diga se eles podem ou não formar um triângulo, caso afirmativo, diga se o triângulo é equilátero isósceles ou escaleno.</a:t>
            </a:r>
          </a:p>
          <a:p>
            <a:pPr marL="365125" indent="-365125" algn="just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22) Faça um programa que leia os coeficientes de uma equação do segundo grau e calcule as suas raízes. O programa deve mostrar quando possível o valor das raízes calculadas e a classificação das mesmas (raízes imaginárias, raiz única o raízes reais distintas ).</a:t>
            </a:r>
          </a:p>
          <a:p>
            <a:pPr algn="l"/>
            <a:endParaRPr lang="pt-BR" sz="2400" b="0" i="0" u="none" strike="noStrike" baseline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3400" indent="-533400" algn="just"/>
            <a:r>
              <a:rPr lang="pt-BR" sz="2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23) Um comerciante comprou um produto e quer vendê-lo com um lucro de 45%, se o valor da compra for menor que 20 BRL caso contrário o lucro será de 30%. Entre com o valor do produto e imprima o valor de venda.</a:t>
            </a:r>
            <a:endParaRPr 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948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Props1.xml><?xml version="1.0" encoding="utf-8"?>
<ds:datastoreItem xmlns:ds="http://schemas.openxmlformats.org/officeDocument/2006/customXml" ds:itemID="{D2FFCF21-EF0D-4F9D-B03C-D68920B702ED}">
  <ds:schemaRefs>
    <ds:schemaRef ds:uri="30a7b03c-4792-4e17-9dab-b93b92a33270"/>
    <ds:schemaRef ds:uri="5c7a6bef-5354-4968-b627-13d8ea6c42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945DF1-486A-4C4A-AA4E-945DA58D75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CAFAE5-B3D8-4044-B8A2-DB73832412CB}">
  <ds:schemaRefs>
    <ds:schemaRef ds:uri="30a7b03c-4792-4e17-9dab-b93b92a33270"/>
    <ds:schemaRef ds:uri="5c7a6bef-5354-4968-b627-13d8ea6c420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Tema do Office</vt:lpstr>
      <vt:lpstr>              Centro Federal de Educação Tecnológica Celso Suckow da Fonseca Escola de Informática e Computação Ciência da Computação</vt:lpstr>
      <vt:lpstr>Estrutura de Seleção ou Condicional em Python</vt:lpstr>
      <vt:lpstr>Decisão do Tipo if...</vt:lpstr>
      <vt:lpstr>Decisão do Tipo if...</vt:lpstr>
      <vt:lpstr>Decisão do Tipo if...</vt:lpstr>
      <vt:lpstr>Decisão do tipo if...else</vt:lpstr>
      <vt:lpstr>Decisão do tipo if...else</vt:lpstr>
      <vt:lpstr>Decisão do tipo if...else</vt:lpstr>
      <vt:lpstr>Decisão do tipo if...else</vt:lpstr>
      <vt:lpstr>Decisão do tipo if...elif...</vt:lpstr>
      <vt:lpstr>Decisão do tipo if...elif...</vt:lpstr>
      <vt:lpstr>Decisão do tipo if...elif...</vt:lpstr>
      <vt:lpstr>Decisão do tipo if...elif...</vt:lpstr>
      <vt:lpstr>Mais otimizado</vt:lpstr>
      <vt:lpstr>Ainda mais otimizado</vt:lpstr>
      <vt:lpstr>Condições Simplificadas</vt:lpstr>
      <vt:lpstr>Condições Simplificadas</vt:lpstr>
      <vt:lpstr>Condições Simplificadas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revision>1</cp:revision>
  <dcterms:created xsi:type="dcterms:W3CDTF">2024-07-25T18:00:53Z</dcterms:created>
  <dcterms:modified xsi:type="dcterms:W3CDTF">2026-06-21T17:37:13Z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