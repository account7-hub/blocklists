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8" r:id="rId2"/>
    <p:sldId id="259" r:id="rId3"/>
    <p:sldId id="260" r:id="rId4"/>
    <p:sldId id="319" r:id="rId5"/>
    <p:sldId id="320" r:id="rId6"/>
    <p:sldId id="321" r:id="rId7"/>
    <p:sldId id="322" r:id="rId8"/>
    <p:sldId id="323" r:id="rId9"/>
    <p:sldId id="324" r:id="rId10"/>
    <p:sldId id="325" r:id="rId11"/>
    <p:sldId id="326" r:id="rId12"/>
    <p:sldId id="327" r:id="rId13"/>
    <p:sldId id="328" r:id="rId14"/>
    <p:sldId id="329" r:id="rId15"/>
    <p:sldId id="330" r:id="rId16"/>
    <p:sldId id="331" r:id="rId1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4D2A"/>
    <a:srgbClr val="FFFFFF"/>
    <a:srgbClr val="FF0000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9" autoAdjust="0"/>
    <p:restoredTop sz="95095" autoAdjust="0"/>
  </p:normalViewPr>
  <p:slideViewPr>
    <p:cSldViewPr snapToGrid="0">
      <p:cViewPr>
        <p:scale>
          <a:sx n="48" d="100"/>
          <a:sy n="48" d="100"/>
        </p:scale>
        <p:origin x="-36" y="264"/>
      </p:cViewPr>
      <p:guideLst/>
    </p:cSldViewPr>
  </p:slideViewPr>
  <p:notesTextViewPr>
    <p:cViewPr>
      <p:scale>
        <a:sx n="400" d="100"/>
        <a:sy n="400" d="100"/>
      </p:scale>
      <p:origin x="0" y="0"/>
    </p:cViewPr>
  </p:notesTextViewPr>
  <p:notesViewPr>
    <p:cSldViewPr snapToGrid="0">
      <p:cViewPr>
        <p:scale>
          <a:sx n="75" d="100"/>
          <a:sy n="75" d="100"/>
        </p:scale>
        <p:origin x="2346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customXml" Target="../customXml/item3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2D7F6E95-DF0A-DDE8-9E53-D9371CC8254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044EA07-597F-F819-7229-532D66BD13E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ABDEF1-98DE-47F3-AB9B-696578D75E17}" type="datetimeFigureOut">
              <a:rPr lang="pt-BR" smtClean="0"/>
              <a:t>03/03/2026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D97D246-3E04-820B-A4C8-7E38ADED397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F651051-B63C-CCEF-B43D-06863876E89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FA3027-C7E8-477B-B942-A004D5627C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74030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FE62CF-6E2E-4950-A4C6-2F0629CEB57A}" type="datetimeFigureOut">
              <a:rPr lang="pt-BR" smtClean="0"/>
              <a:t>03/03/2026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754D19-40F4-4FB2-BB02-0ACB3B38197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1155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754D19-40F4-4FB2-BB02-0ACB3B381977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61610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754D19-40F4-4FB2-BB02-0ACB3B381977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3303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F06BDC-F7DD-220C-CACB-623D63919B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E61EF9C-808A-F892-ED25-C59BF26334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D2C2D21-355A-B4C6-D7BF-FC594A577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4F2F0-DDAE-4ED3-AE7F-9DDBB527F773}" type="datetime1">
              <a:rPr lang="pt-BR" smtClean="0"/>
              <a:t>03/03/2026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7F13E9C-3250-5D7A-CE51-894FCACB6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0CD16C1-6D70-DEDF-955E-96C301AA6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2112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B8FA50B-B228-B2CB-4BBD-59790D4424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9151" y="6356350"/>
            <a:ext cx="1209821" cy="365125"/>
          </a:xfrm>
        </p:spPr>
        <p:txBody>
          <a:bodyPr/>
          <a:lstStyle>
            <a:lvl1pPr>
              <a:defRPr b="1"/>
            </a:lvl1pPr>
          </a:lstStyle>
          <a:p>
            <a:fld id="{27B18062-CAEB-48BB-9D3C-D60428890761}" type="datetime1">
              <a:rPr lang="pt-BR" smtClean="0"/>
              <a:t>03/03/2026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A33E03-04D3-3C99-D4CC-393AD4377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45921" y="6356350"/>
            <a:ext cx="9284676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76D6B47-DA56-AC52-B164-35891B6B9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79480" y="6356350"/>
            <a:ext cx="873369" cy="365125"/>
          </a:xfrm>
        </p:spPr>
        <p:txBody>
          <a:bodyPr/>
          <a:lstStyle>
            <a:lvl1pPr algn="l">
              <a:defRPr/>
            </a:lvl1pPr>
          </a:lstStyle>
          <a:p>
            <a:fld id="{250292FE-8D56-4E3A-9427-CB428FF60A53}" type="slidenum">
              <a:rPr lang="pt-BR" smtClean="0"/>
              <a:pPr/>
              <a:t>‹nº›</a:t>
            </a:fld>
            <a:endParaRPr lang="pt-BR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8107C4F4-2068-EDC6-F8E0-984352F65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5532" y="365125"/>
            <a:ext cx="9862002" cy="988219"/>
          </a:xfrm>
        </p:spPr>
        <p:txBody>
          <a:bodyPr>
            <a:normAutofit/>
          </a:bodyPr>
          <a:lstStyle/>
          <a:p>
            <a:pPr algn="ctr"/>
            <a:r>
              <a:rPr lang="pt-BR" sz="1800" b="1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  <a:t>              Centro Federal de Educação Tecnológica Celso Suckow da Fonseca</a:t>
            </a:r>
            <a:br>
              <a:rPr lang="pt-BR" sz="1800" b="0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</a:br>
            <a:r>
              <a:rPr lang="pt-BR" sz="1800" b="1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  <a:t>Escola de Informática e Computação</a:t>
            </a:r>
            <a:br>
              <a:rPr lang="pt-BR" sz="1800" b="0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</a:br>
            <a:r>
              <a:rPr lang="pt-BR" sz="1800" b="1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  <a:t>Ciência da Computação</a:t>
            </a:r>
            <a:endParaRPr lang="pt-BR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F5CB7DE-4FD2-82C8-8085-8522769A268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4466" y="349522"/>
            <a:ext cx="1681066" cy="988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846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30012B-5FFB-503A-93D2-2F43E17DD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7AC1D0C-2F68-C972-9E1F-BA1FD83CB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07B6F4-628B-9CD7-8F7F-2A5640844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A08FD-E3C8-4BEB-A5CE-09AAEDD3FA58}" type="datetime1">
              <a:rPr lang="pt-BR" smtClean="0"/>
              <a:t>03/03/2026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D11514-16C5-4418-818A-FDECA5475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1883EA9-82C8-DD6A-6F7E-A10529385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676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078F2E-F87A-28D2-5177-D8AF0FC54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BAD59D1-A894-70DE-B49C-7E1C42153B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FA1CB66-D4B3-0C42-5406-A397214998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25A9045-E299-D1BC-548E-DA60065BE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B24C7-DEB6-4151-B62F-72693E30D6D1}" type="datetime1">
              <a:rPr lang="pt-BR" smtClean="0"/>
              <a:t>03/03/2026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5F861DB-B126-C096-C0C8-75EA29D0F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B493C2C-87A8-7ADD-E4C9-5C96068C6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906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F73ED7-1686-5F8A-10A9-F50F66036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47DAE2A-0C8E-84B7-FF7F-0075E7B6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B3C14A8-D0E9-8760-78FF-07B539BD88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FE7A9A5-E119-FD4F-CCDF-BB396DFF68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05E3807-E3CF-D08F-555A-BAE67FCDCC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4F527B8-39F7-34AC-744A-DB3EAF11E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7A0AC-A89C-4182-830D-E846183B7C59}" type="datetime1">
              <a:rPr lang="pt-BR" smtClean="0"/>
              <a:t>03/03/2026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B187CDB-4CAD-C47F-7F68-4B977C131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B03A58A-4C31-DEDB-994F-3A7473463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7016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4EEE29-8BDC-371F-1F50-096619994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3665B26-3B57-E9CD-FEE1-8F12BEB5C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A25D8-4B87-4B13-9C4D-4C0C48887FB4}" type="datetime1">
              <a:rPr lang="pt-BR" smtClean="0"/>
              <a:t>03/03/2026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6300C64-73E3-2FDB-857F-DD1BF8000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C810EA3-9932-5C64-9D4A-2CF0AEFCE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6029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45D1DE8-C2E7-563C-BC88-550A37CDA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BE8E4-7595-4734-84D5-97CDC39983FA}" type="datetime1">
              <a:rPr lang="pt-BR" smtClean="0"/>
              <a:t>03/03/2026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57F044E-5BF1-1E08-B412-3A8E378DF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522ECD8-BC8E-75AF-3253-F35E2EC8E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9410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2A9D38-2472-977E-F0B5-2A8A7C3D5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ACAD1A9-6513-146C-8A98-E6EB5DC7B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A800B00-B279-50DA-DBD9-6C613A9D86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E9C20CA-FD74-F909-C6A2-CAFF4EC7C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30027-8E14-4856-B4F1-A65B0EF4E1FC}" type="datetime1">
              <a:rPr lang="pt-BR" smtClean="0"/>
              <a:t>03/03/2026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71E8670-D013-EC8F-D118-AB063F685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43CD7B-732D-B650-F141-5F79FB197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4705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69DBC3-3401-A3D2-B219-259F44F82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829A8F6-B5A7-41C2-5EDB-B3AC72B593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02B7809-70B0-CFDE-77FE-019E49D817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3D4786D-E5B0-5995-B806-7759C6B7D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A5534-9497-4B3B-86BF-7EBA0D81563D}" type="datetime1">
              <a:rPr lang="pt-BR" smtClean="0"/>
              <a:t>03/03/2026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01C364B-4223-A58F-49EE-FDCB6E1B7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2DB41AD-07A8-879B-D075-7E057EE04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4317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512E53-480A-BCC2-AF43-0C32667B6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87777D6-06A6-D2A5-0BEA-E9A8A19A01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4EFBCF5-1061-4ADF-5028-EB2D4615D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CD70E-71A2-41BE-AA83-6F20CAE9CFF1}" type="datetime1">
              <a:rPr lang="pt-BR" smtClean="0"/>
              <a:t>03/03/2026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E3448D7-E146-7AC9-3404-C4353F51E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24F478F-8BE1-E167-FE88-5357CBEB2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8709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0180F69-9B91-0B85-B18D-29C478C3E6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5CEE54A-78BE-B888-5435-1F4BB92EE5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6309EE3-9541-F7F1-FC4A-5B0F5836D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18EF3-6F01-4CAA-9895-D0B11E35ACC7}" type="datetime1">
              <a:rPr lang="pt-BR" smtClean="0"/>
              <a:t>03/03/2026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57835FE-3B42-0F74-F3A7-1EC2DE7DC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8765329-397C-FC63-6BE6-8BC5E6B02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5440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8392734-EB08-7F99-9C05-CEFB6E104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922EE65-2666-D63F-D25E-DE0E33AF86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DCF20C4-E182-7218-6B83-DB95542FC6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8DB7EF-CF41-4D39-A359-D64C9BD1E0E2}" type="datetime1">
              <a:rPr lang="pt-BR" smtClean="0"/>
              <a:t>03/03/2026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EB4A0E7-B671-9258-1B0E-12AFF67F15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0940868-9CE7-5A9C-049A-DF55CBD7E2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170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5A5C6A1B-B42D-97AA-6E2D-CC2DD52BE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465" y="365125"/>
            <a:ext cx="11543069" cy="988219"/>
          </a:xfrm>
        </p:spPr>
        <p:txBody>
          <a:bodyPr>
            <a:normAutofit fontScale="90000"/>
          </a:bodyPr>
          <a:lstStyle/>
          <a:p>
            <a:pPr algn="ctr"/>
            <a:r>
              <a:rPr lang="pt-BR" sz="1800" b="1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  <a:t>              </a:t>
            </a:r>
            <a:r>
              <a:rPr lang="pt-BR" sz="2400" b="1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  <a:t>Centro Federal de Educação Tecnológica Celso Suckow da Fonseca</a:t>
            </a:r>
            <a:br>
              <a:rPr lang="pt-BR" sz="2400" b="0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</a:br>
            <a:r>
              <a:rPr lang="pt-BR" sz="2400" b="1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  <a:t>Escola de Informática e Computação</a:t>
            </a:r>
            <a:br>
              <a:rPr lang="pt-BR" sz="2400" b="0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</a:br>
            <a:r>
              <a:rPr lang="pt-BR" sz="2400" b="1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  <a:t>Ciência da Computação</a:t>
            </a:r>
            <a:endParaRPr lang="pt-BR" sz="2400" dirty="0"/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E83F93AE-CC61-84FA-B813-FE5A675C9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5552E-4B6A-498D-8AA6-AF11A7649458}" type="datetime1">
              <a:rPr lang="pt-BR" smtClean="0"/>
              <a:t>03/03/2026</a:t>
            </a:fld>
            <a:endParaRPr lang="pt-BR" dirty="0"/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BC5ABB53-4A29-DA28-55A7-C099606FE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47948" y="6356349"/>
            <a:ext cx="9284676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0C0536A0-9280-5193-6FB9-ED255F9D4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31600" y="6356350"/>
            <a:ext cx="421249" cy="365125"/>
          </a:xfrm>
        </p:spPr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1</a:t>
            </a:fld>
            <a:endParaRPr lang="pt-BR" b="1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6FACD24-BD62-72C2-991F-8DBA2BDB6F87}"/>
              </a:ext>
            </a:extLst>
          </p:cNvPr>
          <p:cNvSpPr txBox="1"/>
          <p:nvPr/>
        </p:nvSpPr>
        <p:spPr>
          <a:xfrm>
            <a:off x="1448971" y="2028616"/>
            <a:ext cx="978687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Algoritmos Computacionais e</a:t>
            </a:r>
          </a:p>
          <a:p>
            <a:pPr algn="ctr"/>
            <a:r>
              <a:rPr lang="pt-BR" sz="4000" b="1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Estrutura de Dados em Python</a:t>
            </a:r>
            <a:r>
              <a:rPr 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pt-BR" sz="4800" b="1" dirty="0">
                <a:latin typeface="Arial" panose="020B0604020202020204" pitchFamily="34" charset="0"/>
                <a:cs typeface="Arial" panose="020B0604020202020204" pitchFamily="34" charset="0"/>
              </a:rPr>
              <a:t>– Cap-03 –</a:t>
            </a:r>
          </a:p>
          <a:p>
            <a:pPr algn="ctr"/>
            <a:r>
              <a:rPr lang="pt-BR" sz="4400" b="1" dirty="0">
                <a:latin typeface="Arial" panose="020B0604020202020204" pitchFamily="34" charset="0"/>
                <a:cs typeface="Arial" panose="020B0604020202020204" pitchFamily="34" charset="0"/>
              </a:rPr>
              <a:t>Comandos de Repetição</a:t>
            </a:r>
          </a:p>
          <a:p>
            <a:pPr algn="ctr"/>
            <a:r>
              <a:rPr lang="pt-BR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While</a:t>
            </a:r>
            <a:endParaRPr lang="pt-BR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pt-BR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6092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3FB8547-1908-F806-BCA2-41626F566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D2124-189C-4770-B8A8-0C22DBAA754B}" type="datetime1">
              <a:rPr lang="pt-BR" smtClean="0"/>
              <a:t>03/03/2026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9DB808A-24F8-E592-EC38-AD9000C95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D6BA8FC-ADB4-1D2A-F9D0-071FD437F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2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C2621C16-6A9E-F6F6-AF16-AEB40331B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0760" y="365125"/>
            <a:ext cx="9596774" cy="988219"/>
          </a:xfrm>
        </p:spPr>
        <p:txBody>
          <a:bodyPr>
            <a:noAutofit/>
          </a:bodyPr>
          <a:lstStyle/>
          <a:p>
            <a:pPr algn="ctr"/>
            <a:r>
              <a:rPr lang="pt-BR" b="1" i="1" u="none" strike="noStrike" baseline="0" dirty="0">
                <a:latin typeface="CIDFont+F1"/>
              </a:rPr>
              <a:t>Estruturas de Repetição em</a:t>
            </a:r>
            <a:br>
              <a:rPr lang="pt-BR" b="1" i="1" u="none" strike="noStrike" baseline="0" dirty="0">
                <a:latin typeface="CIDFont+F1"/>
              </a:rPr>
            </a:br>
            <a:r>
              <a:rPr lang="pt-BR" b="1" i="1" u="none" strike="noStrike" baseline="0" dirty="0">
                <a:latin typeface="CIDFont+F1"/>
              </a:rPr>
              <a:t>Python</a:t>
            </a:r>
            <a:endParaRPr lang="pt-BR" b="1" i="1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A6E6065-85F8-30B5-02CD-F2CCD729BEEB}"/>
              </a:ext>
            </a:extLst>
          </p:cNvPr>
          <p:cNvSpPr txBox="1"/>
          <p:nvPr/>
        </p:nvSpPr>
        <p:spPr>
          <a:xfrm>
            <a:off x="844061" y="1353344"/>
            <a:ext cx="9997440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3600" b="0" i="0" u="none" strike="noStrike" baseline="0" dirty="0">
                <a:solidFill>
                  <a:srgbClr val="000000"/>
                </a:solidFill>
                <a:latin typeface="CIDFont+F2"/>
              </a:rPr>
              <a:t>Permite que um bloco de comandos seja executado</a:t>
            </a:r>
          </a:p>
          <a:p>
            <a:pPr algn="l"/>
            <a:r>
              <a:rPr lang="pt-BR" sz="3600" b="0" i="0" u="none" strike="noStrike" baseline="0" dirty="0">
                <a:solidFill>
                  <a:srgbClr val="000000"/>
                </a:solidFill>
                <a:latin typeface="CIDFont+F2"/>
              </a:rPr>
              <a:t>diversas vezes</a:t>
            </a:r>
          </a:p>
          <a:p>
            <a:pPr algn="l"/>
            <a:endParaRPr lang="pt-BR" sz="3600" b="0" i="0" u="none" strike="noStrike" baseline="0" dirty="0">
              <a:solidFill>
                <a:srgbClr val="000000"/>
              </a:solidFill>
              <a:latin typeface="CIDFont+F2"/>
            </a:endParaRPr>
          </a:p>
          <a:p>
            <a:pPr algn="l"/>
            <a:r>
              <a:rPr lang="pt-BR" sz="2800" b="0" i="0" u="none" strike="noStrike" baseline="0" dirty="0">
                <a:solidFill>
                  <a:srgbClr val="000000"/>
                </a:solidFill>
                <a:latin typeface="CIDFont+F3"/>
              </a:rPr>
              <a:t>• </a:t>
            </a:r>
            <a:r>
              <a:rPr lang="pt-BR" sz="2800" b="0" i="0" u="none" strike="noStrike" baseline="0" dirty="0">
                <a:solidFill>
                  <a:srgbClr val="000000"/>
                </a:solidFill>
                <a:latin typeface="CIDFont+F4"/>
              </a:rPr>
              <a:t>Dois tipos de Repetição:</a:t>
            </a:r>
          </a:p>
          <a:p>
            <a:pPr algn="l"/>
            <a:endParaRPr lang="pt-BR" sz="2800" b="0" i="0" u="none" strike="noStrike" baseline="0" dirty="0">
              <a:solidFill>
                <a:srgbClr val="000000"/>
              </a:solidFill>
              <a:latin typeface="CIDFont+F4"/>
            </a:endParaRPr>
          </a:p>
          <a:p>
            <a:pPr marL="533400" indent="-258763" algn="l"/>
            <a:r>
              <a:rPr lang="pt-BR" sz="2800" b="0" i="0" u="none" strike="noStrike" baseline="0" dirty="0">
                <a:solidFill>
                  <a:srgbClr val="000000"/>
                </a:solidFill>
                <a:latin typeface="CIDFont+F3"/>
              </a:rPr>
              <a:t>– </a:t>
            </a:r>
            <a:r>
              <a:rPr lang="pt-BR" sz="2800" b="1" i="0" u="none" strike="noStrike" baseline="0" dirty="0">
                <a:solidFill>
                  <a:srgbClr val="00B1F1"/>
                </a:solidFill>
                <a:latin typeface="CIDFont+F4"/>
              </a:rPr>
              <a:t>Repetição condicional</a:t>
            </a:r>
            <a:r>
              <a:rPr lang="pt-BR" sz="2800" b="0" i="0" u="none" strike="noStrike" baseline="0" dirty="0">
                <a:solidFill>
                  <a:srgbClr val="000000"/>
                </a:solidFill>
                <a:latin typeface="CIDFont+F2"/>
              </a:rPr>
              <a:t>: executa um bloco de código enquanto uma condição lógica for verdadeira (</a:t>
            </a:r>
            <a:r>
              <a:rPr lang="pt-BR" sz="2800" b="1" i="0" u="none" strike="noStrike" baseline="0" dirty="0" err="1">
                <a:solidFill>
                  <a:srgbClr val="00B1F1"/>
                </a:solidFill>
                <a:latin typeface="CIDFont+F5"/>
              </a:rPr>
              <a:t>while</a:t>
            </a:r>
            <a:r>
              <a:rPr lang="pt-BR" sz="2800" b="0" i="0" u="none" strike="noStrike" baseline="0" dirty="0">
                <a:solidFill>
                  <a:srgbClr val="000000"/>
                </a:solidFill>
                <a:latin typeface="CIDFont+F2"/>
              </a:rPr>
              <a:t>)</a:t>
            </a:r>
          </a:p>
          <a:p>
            <a:pPr marL="533400" indent="-258763" algn="l"/>
            <a:endParaRPr lang="pt-BR" sz="2800" b="0" i="0" u="none" strike="noStrike" baseline="0" dirty="0">
              <a:solidFill>
                <a:srgbClr val="000000"/>
              </a:solidFill>
              <a:latin typeface="CIDFont+F2"/>
            </a:endParaRPr>
          </a:p>
          <a:p>
            <a:pPr marL="533400" indent="-258763"/>
            <a:r>
              <a:rPr lang="pt-BR" sz="2800" dirty="0">
                <a:solidFill>
                  <a:srgbClr val="000000"/>
                </a:solidFill>
                <a:latin typeface="CIDFont+F3"/>
              </a:rPr>
              <a:t>– </a:t>
            </a:r>
            <a:r>
              <a:rPr lang="pt-BR" sz="2800" b="1" dirty="0">
                <a:solidFill>
                  <a:srgbClr val="00B1F1"/>
                </a:solidFill>
                <a:latin typeface="CIDFont+F4"/>
              </a:rPr>
              <a:t>Repetição contável</a:t>
            </a:r>
            <a:r>
              <a:rPr lang="pt-BR" sz="2800" dirty="0">
                <a:solidFill>
                  <a:srgbClr val="000000"/>
                </a:solidFill>
                <a:latin typeface="CIDFont+F3"/>
              </a:rPr>
              <a:t>: executa um bloco de código um número predeterminado de vezes (</a:t>
            </a:r>
            <a:r>
              <a:rPr lang="pt-BR" sz="2800" b="1" dirty="0">
                <a:solidFill>
                  <a:srgbClr val="00B1F1"/>
                </a:solidFill>
                <a:latin typeface="CIDFont+F5"/>
              </a:rPr>
              <a:t>for</a:t>
            </a:r>
            <a:r>
              <a:rPr lang="pt-BR" sz="2800" b="1" dirty="0">
                <a:solidFill>
                  <a:srgbClr val="000000"/>
                </a:solidFill>
                <a:latin typeface="CIDFont+F3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64080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753B465-DEBE-E11F-91D0-B97E74329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743B5-A0AF-47A3-B6DE-2CC22B2F54C1}" type="datetime1">
              <a:rPr lang="pt-BR" smtClean="0"/>
              <a:t>03/03/2026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3FA482A-36C7-53B3-4961-B6B85D94F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45920" y="6356350"/>
            <a:ext cx="9542779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621DBD2-19C7-A8EB-E132-E98B15869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4600" y="6356350"/>
            <a:ext cx="548249" cy="365125"/>
          </a:xfrm>
        </p:spPr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3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DF325BCF-E507-3E04-575C-D5C13514B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4080" y="365125"/>
            <a:ext cx="9703454" cy="988219"/>
          </a:xfrm>
        </p:spPr>
        <p:txBody>
          <a:bodyPr>
            <a:normAutofit/>
          </a:bodyPr>
          <a:lstStyle/>
          <a:p>
            <a:pPr algn="ctr"/>
            <a:r>
              <a:rPr lang="pt-BR" sz="4000" b="1" i="1" u="none" strike="noStrike" baseline="0" dirty="0">
                <a:latin typeface="CIDFont+F1"/>
              </a:rPr>
              <a:t>Estrutura de Repetição - </a:t>
            </a:r>
            <a:r>
              <a:rPr lang="pt-BR" sz="4000" b="1" i="1" u="none" strike="noStrike" baseline="0" dirty="0" err="1">
                <a:latin typeface="CIDFont+F1"/>
              </a:rPr>
              <a:t>while</a:t>
            </a:r>
            <a:r>
              <a:rPr lang="pt-BR" sz="4000" b="1" i="1" u="none" strike="noStrike" baseline="0" dirty="0">
                <a:latin typeface="CIDFont+F1"/>
              </a:rPr>
              <a:t>...</a:t>
            </a:r>
            <a:endParaRPr lang="pt-BR" sz="4000" b="1" i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374A341-E51A-67C3-615A-A6A26508E4D3}"/>
              </a:ext>
            </a:extLst>
          </p:cNvPr>
          <p:cNvSpPr txBox="1"/>
          <p:nvPr/>
        </p:nvSpPr>
        <p:spPr>
          <a:xfrm>
            <a:off x="2403220" y="1654244"/>
            <a:ext cx="3194217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pt-BR" sz="2800" b="0" i="0" u="none" strike="noStrike" baseline="0" dirty="0">
              <a:solidFill>
                <a:srgbClr val="000000"/>
              </a:solidFill>
              <a:latin typeface="CIDFont+F6"/>
            </a:endParaRPr>
          </a:p>
          <a:p>
            <a:pPr algn="l"/>
            <a:r>
              <a:rPr lang="pt-BR" sz="2800" b="0" i="0" u="none" strike="noStrike" baseline="0" dirty="0" err="1">
                <a:solidFill>
                  <a:srgbClr val="000000"/>
                </a:solidFill>
                <a:latin typeface="CIDFont+F6"/>
              </a:rPr>
              <a:t>while</a:t>
            </a:r>
            <a:r>
              <a:rPr lang="pt-BR" sz="2800" b="0" i="0" u="none" strike="noStrike" baseline="0" dirty="0">
                <a:solidFill>
                  <a:srgbClr val="000000"/>
                </a:solidFill>
                <a:latin typeface="CIDFont+F6"/>
              </a:rPr>
              <a:t> </a:t>
            </a:r>
            <a:r>
              <a:rPr lang="pt-BR" sz="2800" b="0" i="0" u="none" strike="noStrike" baseline="0" dirty="0">
                <a:solidFill>
                  <a:srgbClr val="000000"/>
                </a:solidFill>
                <a:latin typeface="CIDFont+F7"/>
              </a:rPr>
              <a:t>CONDIÇÃO</a:t>
            </a:r>
            <a:r>
              <a:rPr lang="pt-BR" sz="2800" b="0" i="0" u="none" strike="noStrike" baseline="0" dirty="0">
                <a:solidFill>
                  <a:srgbClr val="000000"/>
                </a:solidFill>
                <a:latin typeface="CIDFont+F6"/>
              </a:rPr>
              <a:t>:</a:t>
            </a:r>
          </a:p>
          <a:p>
            <a:pPr algn="l"/>
            <a:r>
              <a:rPr lang="pt-BR" sz="2800" b="0" i="0" u="none" strike="noStrike" baseline="0" dirty="0">
                <a:solidFill>
                  <a:srgbClr val="000000"/>
                </a:solidFill>
                <a:latin typeface="CIDFont+F7"/>
              </a:rPr>
              <a:t>     INSTRUÇÃO 1</a:t>
            </a:r>
            <a:endParaRPr lang="pt-BR" sz="2800" b="0" i="0" u="none" strike="noStrike" baseline="0" dirty="0">
              <a:solidFill>
                <a:srgbClr val="000000"/>
              </a:solidFill>
              <a:latin typeface="CIDFont+F6"/>
            </a:endParaRPr>
          </a:p>
          <a:p>
            <a:pPr algn="l"/>
            <a:r>
              <a:rPr lang="pt-BR" sz="2800" b="0" i="0" u="none" strike="noStrike" baseline="0" dirty="0">
                <a:solidFill>
                  <a:srgbClr val="000000"/>
                </a:solidFill>
                <a:latin typeface="CIDFont+F7"/>
              </a:rPr>
              <a:t>     INSTRUÇÃO 2</a:t>
            </a:r>
            <a:endParaRPr lang="pt-BR" sz="2800" b="0" i="0" u="none" strike="noStrike" baseline="0" dirty="0">
              <a:solidFill>
                <a:srgbClr val="000000"/>
              </a:solidFill>
              <a:latin typeface="CIDFont+F6"/>
            </a:endParaRPr>
          </a:p>
          <a:p>
            <a:pPr algn="l"/>
            <a:endParaRPr lang="pt-BR" sz="2800" b="0" i="0" u="none" strike="noStrike" baseline="0" dirty="0">
              <a:solidFill>
                <a:srgbClr val="000000"/>
              </a:solidFill>
              <a:latin typeface="CIDFont+F7"/>
            </a:endParaRPr>
          </a:p>
          <a:p>
            <a:pPr algn="l"/>
            <a:r>
              <a:rPr lang="pt-BR" sz="2800" b="0" i="0" u="none" strike="noStrike" baseline="0" dirty="0">
                <a:solidFill>
                  <a:srgbClr val="000000"/>
                </a:solidFill>
                <a:latin typeface="CIDFont+F7"/>
              </a:rPr>
              <a:t>     INSTRUÇÃO N</a:t>
            </a:r>
            <a:endParaRPr lang="pt-BR" sz="2800" b="0" i="0" u="none" strike="noStrike" baseline="0" dirty="0">
              <a:solidFill>
                <a:srgbClr val="000000"/>
              </a:solidFill>
              <a:latin typeface="CIDFont+F6"/>
            </a:endParaRPr>
          </a:p>
          <a:p>
            <a:pPr algn="l"/>
            <a:r>
              <a:rPr lang="pt-BR" sz="2800" b="0" i="0" u="none" strike="noStrike" baseline="0" dirty="0">
                <a:solidFill>
                  <a:srgbClr val="FFFFFF"/>
                </a:solidFill>
                <a:latin typeface="CIDFont+F2"/>
              </a:rPr>
              <a:t>Leo</a:t>
            </a:r>
            <a:endParaRPr lang="pt-BR" sz="2800" dirty="0"/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7FAD9B4C-0DDA-BA49-A4B0-3D362E4B2296}"/>
              </a:ext>
            </a:extLst>
          </p:cNvPr>
          <p:cNvGrpSpPr/>
          <p:nvPr/>
        </p:nvGrpSpPr>
        <p:grpSpPr>
          <a:xfrm>
            <a:off x="2483755" y="1793752"/>
            <a:ext cx="784000" cy="204952"/>
            <a:chOff x="3862938" y="1779658"/>
            <a:chExt cx="784000" cy="204952"/>
          </a:xfrm>
        </p:grpSpPr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E7F335E0-C82D-1C5E-2BA9-BF320E5D40F8}"/>
                </a:ext>
              </a:extLst>
            </p:cNvPr>
            <p:cNvSpPr/>
            <p:nvPr/>
          </p:nvSpPr>
          <p:spPr>
            <a:xfrm flipH="1" flipV="1">
              <a:off x="3862938" y="1779658"/>
              <a:ext cx="161070" cy="20495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9BA8AE48-1D5B-AEA5-6623-02DBEABD7D21}"/>
                </a:ext>
              </a:extLst>
            </p:cNvPr>
            <p:cNvSpPr/>
            <p:nvPr/>
          </p:nvSpPr>
          <p:spPr>
            <a:xfrm flipH="1" flipV="1">
              <a:off x="4177474" y="1779658"/>
              <a:ext cx="161070" cy="20495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9F406FED-ED8B-D494-DE99-9BA281514618}"/>
                </a:ext>
              </a:extLst>
            </p:cNvPr>
            <p:cNvSpPr/>
            <p:nvPr/>
          </p:nvSpPr>
          <p:spPr>
            <a:xfrm flipH="1" flipV="1">
              <a:off x="4485868" y="1779658"/>
              <a:ext cx="161070" cy="20495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387C3261-58AF-88DE-9B44-22FD6C59B24B}"/>
              </a:ext>
            </a:extLst>
          </p:cNvPr>
          <p:cNvGrpSpPr/>
          <p:nvPr/>
        </p:nvGrpSpPr>
        <p:grpSpPr>
          <a:xfrm>
            <a:off x="3265330" y="3547419"/>
            <a:ext cx="784000" cy="204952"/>
            <a:chOff x="3862938" y="1779658"/>
            <a:chExt cx="784000" cy="204952"/>
          </a:xfrm>
        </p:grpSpPr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4FBA3F73-7C94-6759-9B8F-9850F9801C79}"/>
                </a:ext>
              </a:extLst>
            </p:cNvPr>
            <p:cNvSpPr/>
            <p:nvPr/>
          </p:nvSpPr>
          <p:spPr>
            <a:xfrm flipH="1" flipV="1">
              <a:off x="3862938" y="1779658"/>
              <a:ext cx="161070" cy="20495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EFA59EC8-47D0-3E1D-5E09-0490FCA92210}"/>
                </a:ext>
              </a:extLst>
            </p:cNvPr>
            <p:cNvSpPr/>
            <p:nvPr/>
          </p:nvSpPr>
          <p:spPr>
            <a:xfrm flipH="1" flipV="1">
              <a:off x="4177474" y="1779658"/>
              <a:ext cx="161070" cy="20495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Elipse 15">
              <a:extLst>
                <a:ext uri="{FF2B5EF4-FFF2-40B4-BE49-F238E27FC236}">
                  <a16:creationId xmlns:a16="http://schemas.microsoft.com/office/drawing/2014/main" id="{3DFD3DD5-FD49-5DD0-9D2C-CEBC3DA815C4}"/>
                </a:ext>
              </a:extLst>
            </p:cNvPr>
            <p:cNvSpPr/>
            <p:nvPr/>
          </p:nvSpPr>
          <p:spPr>
            <a:xfrm flipH="1" flipV="1">
              <a:off x="4485868" y="1779658"/>
              <a:ext cx="161070" cy="20495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31AE2292-A8CE-A601-D38E-174F9409E9CF}"/>
              </a:ext>
            </a:extLst>
          </p:cNvPr>
          <p:cNvGrpSpPr/>
          <p:nvPr/>
        </p:nvGrpSpPr>
        <p:grpSpPr>
          <a:xfrm rot="5400000">
            <a:off x="3246460" y="4583345"/>
            <a:ext cx="784000" cy="204952"/>
            <a:chOff x="3862938" y="1779658"/>
            <a:chExt cx="784000" cy="204952"/>
          </a:xfrm>
        </p:grpSpPr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C675B92A-6677-1D0C-9F76-40646E707DDA}"/>
                </a:ext>
              </a:extLst>
            </p:cNvPr>
            <p:cNvSpPr/>
            <p:nvPr/>
          </p:nvSpPr>
          <p:spPr>
            <a:xfrm flipH="1" flipV="1">
              <a:off x="3862938" y="1779658"/>
              <a:ext cx="161070" cy="20495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C95AD1E7-A698-30B5-C447-6BFEBEF06B3B}"/>
                </a:ext>
              </a:extLst>
            </p:cNvPr>
            <p:cNvSpPr/>
            <p:nvPr/>
          </p:nvSpPr>
          <p:spPr>
            <a:xfrm flipH="1" flipV="1">
              <a:off x="4177474" y="1779658"/>
              <a:ext cx="161070" cy="20495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1FB79523-CDEF-6AC3-1E6C-8FDBADA3A16B}"/>
                </a:ext>
              </a:extLst>
            </p:cNvPr>
            <p:cNvSpPr/>
            <p:nvPr/>
          </p:nvSpPr>
          <p:spPr>
            <a:xfrm flipH="1" flipV="1">
              <a:off x="4485868" y="1779658"/>
              <a:ext cx="161070" cy="20495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22" name="Imagem 21">
            <a:extLst>
              <a:ext uri="{FF2B5EF4-FFF2-40B4-BE49-F238E27FC236}">
                <a16:creationId xmlns:a16="http://schemas.microsoft.com/office/drawing/2014/main" id="{2DEAC51B-8D85-9EE9-02F6-213D02BEC3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7437" y="1793752"/>
            <a:ext cx="4659083" cy="3401982"/>
          </a:xfrm>
          <a:prstGeom prst="rect">
            <a:avLst/>
          </a:prstGeom>
        </p:spPr>
      </p:pic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CEAE55D6-8F9D-BE70-DC9B-0160F43F6A10}"/>
              </a:ext>
            </a:extLst>
          </p:cNvPr>
          <p:cNvCxnSpPr>
            <a:cxnSpLocks/>
          </p:cNvCxnSpPr>
          <p:nvPr/>
        </p:nvCxnSpPr>
        <p:spPr>
          <a:xfrm>
            <a:off x="1173362" y="3811554"/>
            <a:ext cx="1229858" cy="0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426578C-B8AF-FCD4-5164-73AC63A0A43E}"/>
              </a:ext>
            </a:extLst>
          </p:cNvPr>
          <p:cNvSpPr txBox="1"/>
          <p:nvPr/>
        </p:nvSpPr>
        <p:spPr>
          <a:xfrm>
            <a:off x="705527" y="2610411"/>
            <a:ext cx="391102" cy="2585323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bg1"/>
                </a:solidFill>
              </a:rPr>
              <a:t>I</a:t>
            </a:r>
          </a:p>
          <a:p>
            <a:pPr algn="ctr"/>
            <a:r>
              <a:rPr lang="pt-BR" b="1" dirty="0">
                <a:solidFill>
                  <a:schemeClr val="bg1"/>
                </a:solidFill>
              </a:rPr>
              <a:t>N</a:t>
            </a:r>
          </a:p>
          <a:p>
            <a:pPr algn="ctr"/>
            <a:r>
              <a:rPr lang="pt-BR" b="1" dirty="0">
                <a:solidFill>
                  <a:schemeClr val="bg1"/>
                </a:solidFill>
              </a:rPr>
              <a:t>D</a:t>
            </a:r>
          </a:p>
          <a:p>
            <a:pPr algn="ctr"/>
            <a:r>
              <a:rPr lang="pt-BR" b="1" dirty="0">
                <a:solidFill>
                  <a:schemeClr val="bg1"/>
                </a:solidFill>
              </a:rPr>
              <a:t>E</a:t>
            </a:r>
          </a:p>
          <a:p>
            <a:pPr algn="ctr"/>
            <a:r>
              <a:rPr lang="pt-BR" b="1" dirty="0">
                <a:solidFill>
                  <a:schemeClr val="bg1"/>
                </a:solidFill>
              </a:rPr>
              <a:t>N</a:t>
            </a:r>
          </a:p>
          <a:p>
            <a:pPr algn="ctr"/>
            <a:r>
              <a:rPr lang="pt-BR" b="1" dirty="0">
                <a:solidFill>
                  <a:schemeClr val="bg1"/>
                </a:solidFill>
              </a:rPr>
              <a:t>T</a:t>
            </a:r>
          </a:p>
          <a:p>
            <a:pPr algn="ctr"/>
            <a:r>
              <a:rPr lang="pt-BR" b="1" dirty="0">
                <a:solidFill>
                  <a:schemeClr val="bg1"/>
                </a:solidFill>
              </a:rPr>
              <a:t>A</a:t>
            </a:r>
          </a:p>
          <a:p>
            <a:pPr algn="ctr"/>
            <a:r>
              <a:rPr lang="pt-BR" b="1" dirty="0">
                <a:solidFill>
                  <a:schemeClr val="bg1"/>
                </a:solidFill>
              </a:rPr>
              <a:t>DO</a:t>
            </a:r>
          </a:p>
        </p:txBody>
      </p:sp>
      <p:sp>
        <p:nvSpPr>
          <p:cNvPr id="21" name="Chave Esquerda 20">
            <a:extLst>
              <a:ext uri="{FF2B5EF4-FFF2-40B4-BE49-F238E27FC236}">
                <a16:creationId xmlns:a16="http://schemas.microsoft.com/office/drawing/2014/main" id="{E8ADFC79-22E1-68A9-CDC7-DD4BD50E861A}"/>
              </a:ext>
            </a:extLst>
          </p:cNvPr>
          <p:cNvSpPr/>
          <p:nvPr/>
        </p:nvSpPr>
        <p:spPr>
          <a:xfrm>
            <a:off x="2525140" y="2590800"/>
            <a:ext cx="525404" cy="2604934"/>
          </a:xfrm>
          <a:prstGeom prst="leftBrace">
            <a:avLst>
              <a:gd name="adj1" fmla="val 8333"/>
              <a:gd name="adj2" fmla="val 47075"/>
            </a:avLst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5506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753B465-DEBE-E11F-91D0-B97E74329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0418D-CC11-46FB-B58D-0A8B253A7592}" type="datetime1">
              <a:rPr lang="pt-BR" smtClean="0"/>
              <a:t>03/03/2026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3FA482A-36C7-53B3-4961-B6B85D94F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45920" y="6356350"/>
            <a:ext cx="9542779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621DBD2-19C7-A8EB-E132-E98B15869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4600" y="6356350"/>
            <a:ext cx="548249" cy="365125"/>
          </a:xfrm>
        </p:spPr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4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DF325BCF-E507-3E04-575C-D5C13514B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4080" y="365125"/>
            <a:ext cx="9703454" cy="988219"/>
          </a:xfrm>
        </p:spPr>
        <p:txBody>
          <a:bodyPr>
            <a:normAutofit/>
          </a:bodyPr>
          <a:lstStyle/>
          <a:p>
            <a:pPr algn="ctr"/>
            <a:r>
              <a:rPr lang="pt-BR" sz="4000" b="1" i="1" u="none" strike="noStrike" baseline="0" dirty="0">
                <a:latin typeface="CIDFont+F1"/>
              </a:rPr>
              <a:t>Estrutura de Repetição - </a:t>
            </a:r>
            <a:r>
              <a:rPr lang="pt-BR" sz="4000" b="1" i="1" u="none" strike="noStrike" baseline="0" dirty="0" err="1">
                <a:latin typeface="CIDFont+F1"/>
              </a:rPr>
              <a:t>while</a:t>
            </a:r>
            <a:r>
              <a:rPr lang="pt-BR" sz="4000" b="1" i="1" u="none" strike="noStrike" baseline="0" dirty="0">
                <a:latin typeface="CIDFont+F1"/>
              </a:rPr>
              <a:t>...</a:t>
            </a:r>
            <a:endParaRPr lang="pt-BR" sz="4000" b="1" i="1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E578790-362C-6740-0BE1-41ADB3C02878}"/>
              </a:ext>
            </a:extLst>
          </p:cNvPr>
          <p:cNvSpPr txBox="1"/>
          <p:nvPr/>
        </p:nvSpPr>
        <p:spPr>
          <a:xfrm>
            <a:off x="1066800" y="1649998"/>
            <a:ext cx="10337800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b="0" i="0" u="none" strike="noStrike" baseline="0" dirty="0">
                <a:solidFill>
                  <a:srgbClr val="000000"/>
                </a:solidFill>
                <a:latin typeface="CIDFont+F3"/>
              </a:rPr>
              <a:t>• </a:t>
            </a:r>
            <a:r>
              <a:rPr lang="pt-BR" sz="2800" b="0" i="0" u="none" strike="noStrike" baseline="0" dirty="0">
                <a:solidFill>
                  <a:srgbClr val="000000"/>
                </a:solidFill>
                <a:latin typeface="CIDFont+F2"/>
              </a:rPr>
              <a:t>Executa o bloco de instruções </a:t>
            </a:r>
            <a:r>
              <a:rPr lang="pt-BR" sz="2800" b="1" i="0" u="none" strike="noStrike" baseline="0" dirty="0">
                <a:solidFill>
                  <a:srgbClr val="00B1F1"/>
                </a:solidFill>
                <a:latin typeface="CIDFont+F4"/>
              </a:rPr>
              <a:t>enquanto a condição for verdadeira.</a:t>
            </a:r>
          </a:p>
          <a:p>
            <a:pPr algn="l"/>
            <a:endParaRPr lang="pt-BR" sz="2800" b="0" i="0" u="none" strike="noStrike" baseline="0" dirty="0">
              <a:solidFill>
                <a:srgbClr val="00B1F1"/>
              </a:solidFill>
              <a:latin typeface="CIDFont+F4"/>
            </a:endParaRPr>
          </a:p>
          <a:p>
            <a:pPr marL="274638" indent="-274638" algn="just"/>
            <a:r>
              <a:rPr lang="pt-BR" sz="2800" b="0" i="0" u="none" strike="noStrike" baseline="0" dirty="0">
                <a:solidFill>
                  <a:srgbClr val="000000"/>
                </a:solidFill>
                <a:latin typeface="CIDFont+F3"/>
              </a:rPr>
              <a:t>• </a:t>
            </a:r>
            <a:r>
              <a:rPr lang="pt-BR" sz="2800" b="0" i="0" u="none" strike="noStrike" baseline="0" dirty="0">
                <a:solidFill>
                  <a:srgbClr val="000000"/>
                </a:solidFill>
                <a:latin typeface="CIDFont+F2"/>
              </a:rPr>
              <a:t>A </a:t>
            </a:r>
            <a:r>
              <a:rPr lang="pt-BR" sz="2800" b="1" i="0" u="none" strike="noStrike" baseline="0" dirty="0">
                <a:solidFill>
                  <a:srgbClr val="00B1F1"/>
                </a:solidFill>
                <a:latin typeface="CIDFont+F2"/>
              </a:rPr>
              <a:t>condição</a:t>
            </a:r>
            <a:r>
              <a:rPr lang="pt-BR" sz="2800" b="0" i="0" u="none" strike="noStrike" baseline="0" dirty="0">
                <a:solidFill>
                  <a:srgbClr val="00B1F1"/>
                </a:solidFill>
                <a:latin typeface="CIDFont+F2"/>
              </a:rPr>
              <a:t> </a:t>
            </a:r>
            <a:r>
              <a:rPr lang="pt-BR" sz="2800" b="0" i="0" u="none" strike="noStrike" baseline="0" dirty="0">
                <a:solidFill>
                  <a:srgbClr val="000000"/>
                </a:solidFill>
                <a:latin typeface="CIDFont+F2"/>
              </a:rPr>
              <a:t>é uma </a:t>
            </a:r>
            <a:r>
              <a:rPr lang="pt-BR" sz="2800" b="1" i="0" u="none" strike="noStrike" baseline="0" dirty="0">
                <a:solidFill>
                  <a:srgbClr val="00B1F1"/>
                </a:solidFill>
                <a:latin typeface="CIDFont+F2"/>
              </a:rPr>
              <a:t>expressão booleana </a:t>
            </a:r>
            <a:r>
              <a:rPr lang="pt-BR" sz="2800" b="0" i="0" u="none" strike="noStrike" baseline="0" dirty="0">
                <a:solidFill>
                  <a:srgbClr val="000000"/>
                </a:solidFill>
                <a:latin typeface="CIDFont+F2"/>
              </a:rPr>
              <a:t>que pode fazer uso de quaisquer operadores.</a:t>
            </a:r>
          </a:p>
          <a:p>
            <a:pPr marL="274638" indent="-274638" algn="l"/>
            <a:endParaRPr lang="pt-BR" sz="2800" b="0" i="0" u="none" strike="noStrike" baseline="0" dirty="0">
              <a:solidFill>
                <a:srgbClr val="000000"/>
              </a:solidFill>
              <a:latin typeface="CIDFont+F2"/>
            </a:endParaRPr>
          </a:p>
          <a:p>
            <a:pPr algn="just"/>
            <a:r>
              <a:rPr lang="pt-BR" sz="2800" b="0" i="0" u="none" strike="noStrike" baseline="0" dirty="0">
                <a:solidFill>
                  <a:srgbClr val="000000"/>
                </a:solidFill>
                <a:latin typeface="CIDFont+F3"/>
              </a:rPr>
              <a:t>• </a:t>
            </a:r>
            <a:r>
              <a:rPr lang="pt-BR" sz="2800" b="0" i="0" u="none" strike="noStrike" baseline="0" dirty="0">
                <a:solidFill>
                  <a:srgbClr val="000000"/>
                </a:solidFill>
                <a:latin typeface="CIDFont+F2"/>
              </a:rPr>
              <a:t>O bloco de instruções pode conter um ou mais comandos.</a:t>
            </a:r>
          </a:p>
          <a:p>
            <a:pPr algn="l"/>
            <a:endParaRPr lang="pt-BR" sz="2800" b="0" i="0" u="none" strike="noStrike" baseline="0" dirty="0">
              <a:solidFill>
                <a:srgbClr val="000000"/>
              </a:solidFill>
              <a:latin typeface="CIDFont+F2"/>
            </a:endParaRPr>
          </a:p>
          <a:p>
            <a:pPr algn="just"/>
            <a:r>
              <a:rPr lang="pt-BR" sz="2800" b="0" i="0" u="none" strike="noStrike" baseline="0" dirty="0">
                <a:solidFill>
                  <a:srgbClr val="000000"/>
                </a:solidFill>
                <a:latin typeface="CIDFont+F3"/>
              </a:rPr>
              <a:t>• </a:t>
            </a:r>
            <a:r>
              <a:rPr lang="pt-BR" sz="2800" b="0" i="0" u="none" strike="noStrike" baseline="0" dirty="0">
                <a:solidFill>
                  <a:srgbClr val="000000"/>
                </a:solidFill>
                <a:latin typeface="CIDFont+F2"/>
              </a:rPr>
              <a:t>O </a:t>
            </a:r>
            <a:r>
              <a:rPr lang="pt-BR" sz="2800" b="1" i="0" u="none" strike="noStrike" baseline="0" dirty="0">
                <a:solidFill>
                  <a:srgbClr val="00B1F1"/>
                </a:solidFill>
                <a:latin typeface="CIDFont+F2"/>
              </a:rPr>
              <a:t>início</a:t>
            </a:r>
            <a:r>
              <a:rPr lang="pt-BR" sz="2800" b="0" i="0" u="none" strike="noStrike" baseline="0" dirty="0">
                <a:solidFill>
                  <a:srgbClr val="00B1F1"/>
                </a:solidFill>
                <a:latin typeface="CIDFont+F2"/>
              </a:rPr>
              <a:t> </a:t>
            </a:r>
            <a:r>
              <a:rPr lang="pt-BR" sz="2800" b="0" i="0" u="none" strike="noStrike" baseline="0" dirty="0">
                <a:solidFill>
                  <a:srgbClr val="000000"/>
                </a:solidFill>
                <a:latin typeface="CIDFont+F2"/>
              </a:rPr>
              <a:t>e o </a:t>
            </a:r>
            <a:r>
              <a:rPr lang="pt-BR" sz="2800" b="1" i="0" u="none" strike="noStrike" baseline="0" dirty="0">
                <a:solidFill>
                  <a:srgbClr val="00B1F1"/>
                </a:solidFill>
                <a:latin typeface="CIDFont+F2"/>
              </a:rPr>
              <a:t>fim</a:t>
            </a:r>
            <a:r>
              <a:rPr lang="pt-BR" sz="2800" b="0" i="0" u="none" strike="noStrike" baseline="0" dirty="0">
                <a:solidFill>
                  <a:srgbClr val="00B1F1"/>
                </a:solidFill>
                <a:latin typeface="CIDFont+F2"/>
              </a:rPr>
              <a:t> </a:t>
            </a:r>
            <a:r>
              <a:rPr lang="pt-BR" sz="2800" b="0" i="0" u="none" strike="noStrike" baseline="0" dirty="0">
                <a:solidFill>
                  <a:srgbClr val="000000"/>
                </a:solidFill>
                <a:latin typeface="CIDFont+F2"/>
              </a:rPr>
              <a:t>do bloco são </a:t>
            </a:r>
            <a:r>
              <a:rPr lang="pt-BR" sz="2800" b="1" i="0" u="none" strike="noStrike" baseline="0" dirty="0">
                <a:solidFill>
                  <a:srgbClr val="00B1F1"/>
                </a:solidFill>
                <a:latin typeface="CIDFont+F2"/>
              </a:rPr>
              <a:t>definidos</a:t>
            </a:r>
            <a:r>
              <a:rPr lang="pt-BR" sz="2800" b="0" i="0" u="none" strike="noStrike" baseline="0" dirty="0">
                <a:solidFill>
                  <a:srgbClr val="00B1F1"/>
                </a:solidFill>
                <a:latin typeface="CIDFont+F2"/>
              </a:rPr>
              <a:t> </a:t>
            </a:r>
            <a:r>
              <a:rPr lang="pt-BR" sz="2800" b="0" i="0" u="none" strike="noStrike" baseline="0" dirty="0">
                <a:solidFill>
                  <a:srgbClr val="000000"/>
                </a:solidFill>
                <a:latin typeface="CIDFont+F2"/>
              </a:rPr>
              <a:t>de acordo com a </a:t>
            </a:r>
            <a:r>
              <a:rPr lang="pt-BR" sz="2800" b="1" i="0" u="none" strike="noStrike" baseline="0" dirty="0">
                <a:solidFill>
                  <a:srgbClr val="00B1F1"/>
                </a:solidFill>
                <a:latin typeface="CIDFont+F2"/>
              </a:rPr>
              <a:t>indentação.</a:t>
            </a:r>
          </a:p>
          <a:p>
            <a:pPr algn="l"/>
            <a:r>
              <a:rPr lang="pt-BR" sz="1800" b="0" i="0" u="none" strike="noStrike" baseline="0" dirty="0">
                <a:solidFill>
                  <a:srgbClr val="FFFFFF"/>
                </a:solidFill>
                <a:latin typeface="CIDFont+F3"/>
              </a:rPr>
              <a:t>• </a:t>
            </a:r>
            <a:r>
              <a:rPr lang="pt-BR" sz="1800" b="0" i="0" u="none" strike="noStrike" baseline="0" dirty="0">
                <a:solidFill>
                  <a:srgbClr val="FFFFFF"/>
                </a:solidFill>
                <a:latin typeface="CIDFont+F2"/>
              </a:rPr>
              <a:t>Leo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51518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753B465-DEBE-E11F-91D0-B97E74329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F69DB-87C2-438C-94C1-6CC9148D011B}" type="datetime1">
              <a:rPr lang="pt-BR" smtClean="0"/>
              <a:t>03/03/2026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3FA482A-36C7-53B3-4961-B6B85D94F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45920" y="6356350"/>
            <a:ext cx="9542779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621DBD2-19C7-A8EB-E132-E98B15869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4600" y="6356350"/>
            <a:ext cx="548249" cy="365125"/>
          </a:xfrm>
        </p:spPr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5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DF325BCF-E507-3E04-575C-D5C13514B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4080" y="365125"/>
            <a:ext cx="9703454" cy="988219"/>
          </a:xfrm>
        </p:spPr>
        <p:txBody>
          <a:bodyPr>
            <a:normAutofit/>
          </a:bodyPr>
          <a:lstStyle/>
          <a:p>
            <a:pPr algn="ctr"/>
            <a:r>
              <a:rPr lang="pt-BR" sz="4000" b="1" i="1" u="none" strike="noStrike" baseline="0" dirty="0">
                <a:latin typeface="CIDFont+F1"/>
              </a:rPr>
              <a:t>Estrutura de Repetição - </a:t>
            </a:r>
            <a:r>
              <a:rPr lang="pt-BR" sz="4000" b="1" i="1" u="none" strike="noStrike" baseline="0" dirty="0" err="1">
                <a:latin typeface="CIDFont+F1"/>
              </a:rPr>
              <a:t>while</a:t>
            </a:r>
            <a:r>
              <a:rPr lang="pt-BR" sz="4000" b="1" i="1" u="none" strike="noStrike" baseline="0" dirty="0">
                <a:latin typeface="CIDFont+F1"/>
              </a:rPr>
              <a:t>...</a:t>
            </a:r>
            <a:endParaRPr lang="pt-BR" sz="4000" b="1" i="1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E578790-362C-6740-0BE1-41ADB3C02878}"/>
              </a:ext>
            </a:extLst>
          </p:cNvPr>
          <p:cNvSpPr txBox="1"/>
          <p:nvPr/>
        </p:nvSpPr>
        <p:spPr>
          <a:xfrm>
            <a:off x="1066800" y="1512838"/>
            <a:ext cx="1060704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638" indent="-274638" algn="just"/>
            <a:r>
              <a:rPr lang="pt-BR" sz="2800" b="0" i="0" u="none" strike="noStrike" baseline="0" dirty="0">
                <a:solidFill>
                  <a:srgbClr val="000000"/>
                </a:solidFill>
                <a:latin typeface="CIDFont+F3"/>
              </a:rPr>
              <a:t>•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CIDFont+F3"/>
              </a:rPr>
              <a:t>  </a:t>
            </a:r>
            <a:r>
              <a:rPr lang="pt-BR" sz="2800" b="0" i="0" u="none" strike="noStrike" baseline="0" dirty="0">
                <a:solidFill>
                  <a:srgbClr val="000000"/>
                </a:solidFill>
                <a:latin typeface="CIDFont+F2"/>
              </a:rPr>
              <a:t>A </a:t>
            </a:r>
            <a:r>
              <a:rPr lang="pt-BR" sz="2800" b="1" i="0" u="none" strike="noStrike" baseline="0" dirty="0">
                <a:solidFill>
                  <a:srgbClr val="00B1F1"/>
                </a:solidFill>
                <a:latin typeface="CIDFont+F2"/>
              </a:rPr>
              <a:t>estrutura de repetição </a:t>
            </a:r>
            <a:r>
              <a:rPr lang="pt-BR" sz="2800" b="0" i="0" u="none" strike="noStrike" baseline="0" dirty="0">
                <a:solidFill>
                  <a:srgbClr val="000000"/>
                </a:solidFill>
                <a:latin typeface="CIDFont+F2"/>
              </a:rPr>
              <a:t>é chamada de </a:t>
            </a:r>
            <a:r>
              <a:rPr lang="pt-BR" sz="2800" b="1" i="0" u="none" strike="noStrike" baseline="0" dirty="0">
                <a:solidFill>
                  <a:srgbClr val="00B1F1"/>
                </a:solidFill>
                <a:latin typeface="CIDFont+F4"/>
              </a:rPr>
              <a:t>loop</a:t>
            </a:r>
            <a:r>
              <a:rPr lang="pt-BR" sz="2800" b="0" i="0" u="none" strike="noStrike" baseline="0" dirty="0">
                <a:solidFill>
                  <a:srgbClr val="00B1F1"/>
                </a:solidFill>
                <a:latin typeface="CIDFont+F4"/>
              </a:rPr>
              <a:t> </a:t>
            </a:r>
            <a:r>
              <a:rPr lang="pt-BR" sz="2800" b="0" i="0" u="none" strike="noStrike" baseline="0" dirty="0">
                <a:solidFill>
                  <a:srgbClr val="000000"/>
                </a:solidFill>
                <a:latin typeface="CIDFont+F2"/>
              </a:rPr>
              <a:t>porque continua-se  voltando ao início da instrução até que a condição se torne falsa.</a:t>
            </a:r>
          </a:p>
          <a:p>
            <a:pPr marL="274638" indent="-274638" algn="l"/>
            <a:endParaRPr lang="pt-BR" sz="2800" b="0" i="0" u="none" strike="noStrike" baseline="0" dirty="0">
              <a:solidFill>
                <a:srgbClr val="000000"/>
              </a:solidFill>
              <a:latin typeface="CIDFont+F2"/>
            </a:endParaRPr>
          </a:p>
          <a:p>
            <a:pPr marL="274638" indent="-274638" algn="just"/>
            <a:r>
              <a:rPr lang="pt-BR" sz="2800" b="0" i="0" u="none" strike="noStrike" baseline="0" dirty="0">
                <a:solidFill>
                  <a:srgbClr val="000000"/>
                </a:solidFill>
                <a:latin typeface="CIDFont+F3"/>
              </a:rPr>
              <a:t>• </a:t>
            </a:r>
            <a:r>
              <a:rPr lang="pt-BR" sz="2800" b="0" i="0" u="none" strike="noStrike" baseline="0" dirty="0">
                <a:solidFill>
                  <a:srgbClr val="000000"/>
                </a:solidFill>
                <a:latin typeface="CIDFont+F2"/>
              </a:rPr>
              <a:t>Deve haver alguma instrução dentro do bloco de comandos que torne a condição falsa para que a </a:t>
            </a:r>
            <a:r>
              <a:rPr lang="pt-BR" sz="2800" b="1" i="0" u="none" strike="noStrike" baseline="0" dirty="0">
                <a:solidFill>
                  <a:srgbClr val="00B1F1"/>
                </a:solidFill>
                <a:latin typeface="CIDFont+F4"/>
              </a:rPr>
              <a:t>repetição seja encerrada</a:t>
            </a:r>
            <a:r>
              <a:rPr lang="pt-BR" sz="2800" b="0" i="0" u="none" strike="noStrike" baseline="0" dirty="0">
                <a:solidFill>
                  <a:srgbClr val="00B1F1"/>
                </a:solidFill>
                <a:latin typeface="CIDFont+F4"/>
              </a:rPr>
              <a:t>.</a:t>
            </a:r>
          </a:p>
          <a:p>
            <a:pPr marL="274638" indent="-274638" algn="l"/>
            <a:endParaRPr lang="pt-BR" sz="2800" b="0" i="0" u="none" strike="noStrike" baseline="0" dirty="0">
              <a:solidFill>
                <a:srgbClr val="00B1F1"/>
              </a:solidFill>
              <a:latin typeface="CIDFont+F4"/>
            </a:endParaRPr>
          </a:p>
          <a:p>
            <a:pPr marL="274638" indent="-274638" algn="just"/>
            <a:r>
              <a:rPr lang="pt-BR" sz="2800" b="0" i="0" u="none" strike="noStrike" baseline="0" dirty="0">
                <a:solidFill>
                  <a:srgbClr val="000000"/>
                </a:solidFill>
                <a:latin typeface="CIDFont+F3"/>
              </a:rPr>
              <a:t>• </a:t>
            </a:r>
            <a:r>
              <a:rPr lang="pt-BR" sz="2800" b="0" i="0" u="none" strike="noStrike" baseline="0" dirty="0">
                <a:solidFill>
                  <a:srgbClr val="000000"/>
                </a:solidFill>
                <a:latin typeface="CIDFont+F2"/>
              </a:rPr>
              <a:t>Quando a </a:t>
            </a:r>
            <a:r>
              <a:rPr lang="pt-BR" sz="2800" b="1" i="0" u="none" strike="noStrike" baseline="0" dirty="0">
                <a:solidFill>
                  <a:srgbClr val="00B1F1"/>
                </a:solidFill>
                <a:latin typeface="CIDFont+F2"/>
              </a:rPr>
              <a:t>condição</a:t>
            </a:r>
            <a:r>
              <a:rPr lang="pt-BR" sz="2800" b="0" i="0" u="none" strike="noStrike" baseline="0" dirty="0">
                <a:solidFill>
                  <a:srgbClr val="00B1F1"/>
                </a:solidFill>
                <a:latin typeface="CIDFont+F2"/>
              </a:rPr>
              <a:t> </a:t>
            </a:r>
            <a:r>
              <a:rPr lang="pt-BR" sz="2800" b="0" i="0" u="none" strike="noStrike" baseline="0" dirty="0">
                <a:solidFill>
                  <a:srgbClr val="000000"/>
                </a:solidFill>
                <a:latin typeface="CIDFont+F2"/>
              </a:rPr>
              <a:t>se torna </a:t>
            </a:r>
            <a:r>
              <a:rPr lang="pt-BR" sz="2800" b="1" i="0" u="none" strike="noStrike" baseline="0" dirty="0">
                <a:solidFill>
                  <a:srgbClr val="00B1F1"/>
                </a:solidFill>
                <a:latin typeface="CIDFont+F2"/>
              </a:rPr>
              <a:t>falsa</a:t>
            </a:r>
            <a:r>
              <a:rPr lang="pt-BR" sz="2800" b="0" i="0" u="none" strike="noStrike" baseline="0" dirty="0">
                <a:solidFill>
                  <a:srgbClr val="000000"/>
                </a:solidFill>
                <a:latin typeface="CIDFont+F2"/>
              </a:rPr>
              <a:t>, a </a:t>
            </a:r>
            <a:r>
              <a:rPr lang="pt-BR" sz="2800" b="1" i="0" u="none" strike="noStrike" baseline="0" dirty="0">
                <a:solidFill>
                  <a:srgbClr val="00B1F1"/>
                </a:solidFill>
                <a:latin typeface="CIDFont+F4"/>
              </a:rPr>
              <a:t>próxima instrução </a:t>
            </a:r>
            <a:r>
              <a:rPr lang="pt-BR" sz="2800" b="1" i="0" u="none" strike="noStrike" baseline="0" dirty="0">
                <a:solidFill>
                  <a:srgbClr val="00B1F1"/>
                </a:solidFill>
                <a:latin typeface="CIDFont+F2"/>
              </a:rPr>
              <a:t>após o bloco  do </a:t>
            </a:r>
            <a:r>
              <a:rPr lang="pt-BR" sz="2800" b="1" i="0" u="none" strike="noStrike" baseline="0" dirty="0" err="1">
                <a:solidFill>
                  <a:srgbClr val="00B1F1"/>
                </a:solidFill>
                <a:latin typeface="CIDFont+F2"/>
              </a:rPr>
              <a:t>while</a:t>
            </a:r>
            <a:r>
              <a:rPr lang="pt-BR" sz="2800" b="1" i="0" u="none" strike="noStrike" baseline="0" dirty="0">
                <a:solidFill>
                  <a:srgbClr val="00B1F1"/>
                </a:solidFill>
                <a:latin typeface="CIDFont+F2"/>
              </a:rPr>
              <a:t> é executada.</a:t>
            </a:r>
          </a:p>
          <a:p>
            <a:pPr marL="274638" indent="-274638" algn="l"/>
            <a:endParaRPr lang="pt-BR" sz="2800" b="0" i="0" u="none" strike="noStrike" baseline="0" dirty="0">
              <a:solidFill>
                <a:srgbClr val="00B1F1"/>
              </a:solidFill>
              <a:latin typeface="CIDFont+F2"/>
            </a:endParaRPr>
          </a:p>
          <a:p>
            <a:pPr marL="274638" indent="-274638" algn="just"/>
            <a:r>
              <a:rPr lang="pt-BR" sz="2800" b="0" i="0" u="none" strike="noStrike" baseline="0" dirty="0">
                <a:solidFill>
                  <a:srgbClr val="000000"/>
                </a:solidFill>
                <a:latin typeface="CIDFont+F3"/>
              </a:rPr>
              <a:t>• </a:t>
            </a:r>
            <a:r>
              <a:rPr lang="pt-BR" sz="2800" b="0" i="0" u="none" strike="noStrike" baseline="0" dirty="0">
                <a:solidFill>
                  <a:srgbClr val="000000"/>
                </a:solidFill>
                <a:latin typeface="CIDFont+F2"/>
              </a:rPr>
              <a:t>Se a condição do </a:t>
            </a:r>
            <a:r>
              <a:rPr lang="pt-BR" sz="2800" b="1" i="0" u="none" strike="noStrike" baseline="0" dirty="0" err="1">
                <a:solidFill>
                  <a:srgbClr val="00B1F1"/>
                </a:solidFill>
                <a:latin typeface="CIDFont+F2"/>
              </a:rPr>
              <a:t>while</a:t>
            </a:r>
            <a:r>
              <a:rPr lang="pt-BR" sz="2800" b="1" i="0" u="none" strike="noStrike" baseline="0" dirty="0">
                <a:solidFill>
                  <a:srgbClr val="00B1F1"/>
                </a:solidFill>
                <a:latin typeface="CIDFont+F2"/>
              </a:rPr>
              <a:t> for falsa desde o início</a:t>
            </a:r>
            <a:r>
              <a:rPr lang="pt-BR" sz="2800" b="1" i="0" u="none" strike="noStrike" baseline="0" dirty="0">
                <a:solidFill>
                  <a:srgbClr val="000000"/>
                </a:solidFill>
                <a:latin typeface="CIDFont+F2"/>
              </a:rPr>
              <a:t>, o </a:t>
            </a:r>
            <a:r>
              <a:rPr lang="pt-BR" sz="2800" b="1" i="0" u="none" strike="noStrike" baseline="0" dirty="0">
                <a:solidFill>
                  <a:srgbClr val="00B1F1"/>
                </a:solidFill>
                <a:latin typeface="CIDFont+F2"/>
              </a:rPr>
              <a:t>bloco de instruções </a:t>
            </a:r>
            <a:r>
              <a:rPr lang="pt-BR" sz="2800" b="1" i="0" u="none" strike="noStrike" baseline="0" dirty="0">
                <a:solidFill>
                  <a:srgbClr val="00B1F1"/>
                </a:solidFill>
                <a:latin typeface="CIDFont+F4"/>
              </a:rPr>
              <a:t>nunca é executado</a:t>
            </a:r>
            <a:r>
              <a:rPr lang="pt-BR" sz="2800" b="0" i="0" u="none" strike="noStrike" baseline="0" dirty="0">
                <a:solidFill>
                  <a:srgbClr val="000000"/>
                </a:solidFill>
                <a:latin typeface="CIDFont+F2"/>
              </a:rPr>
              <a:t>.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3034814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lipse 7">
            <a:extLst>
              <a:ext uri="{FF2B5EF4-FFF2-40B4-BE49-F238E27FC236}">
                <a16:creationId xmlns:a16="http://schemas.microsoft.com/office/drawing/2014/main" id="{2E660CBB-DE55-337A-437D-72472AD85612}"/>
              </a:ext>
            </a:extLst>
          </p:cNvPr>
          <p:cNvSpPr/>
          <p:nvPr/>
        </p:nvSpPr>
        <p:spPr>
          <a:xfrm>
            <a:off x="5096034" y="3057208"/>
            <a:ext cx="258648" cy="252855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753B465-DEBE-E11F-91D0-B97E74329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B9F31-F20C-42B0-B88D-47936C614731}" type="datetime1">
              <a:rPr lang="pt-BR" smtClean="0"/>
              <a:t>03/03/2026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3FA482A-36C7-53B3-4961-B6B85D94F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45920" y="6356350"/>
            <a:ext cx="9542779" cy="365125"/>
          </a:xfrm>
        </p:spPr>
        <p:txBody>
          <a:bodyPr/>
          <a:lstStyle/>
          <a:p>
            <a:r>
              <a:rPr lang="pt-BR" sz="1600" b="1" dirty="0"/>
              <a:t>Cap03-Prog01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621DBD2-19C7-A8EB-E132-E98B15869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4600" y="6356350"/>
            <a:ext cx="548249" cy="365125"/>
          </a:xfrm>
        </p:spPr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6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DF325BCF-E507-3E04-575C-D5C13514B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4080" y="365125"/>
            <a:ext cx="9703454" cy="988219"/>
          </a:xfrm>
        </p:spPr>
        <p:txBody>
          <a:bodyPr>
            <a:normAutofit/>
          </a:bodyPr>
          <a:lstStyle/>
          <a:p>
            <a:pPr algn="ctr"/>
            <a:r>
              <a:rPr lang="pt-BR" sz="4000" b="1" i="1" u="none" strike="noStrike" baseline="0" dirty="0">
                <a:latin typeface="CIDFont+F1"/>
              </a:rPr>
              <a:t>Estrutura de Repetição - </a:t>
            </a:r>
            <a:r>
              <a:rPr lang="pt-BR" sz="4000" b="1" i="1" u="none" strike="noStrike" baseline="0" dirty="0" err="1">
                <a:latin typeface="CIDFont+F1"/>
              </a:rPr>
              <a:t>while</a:t>
            </a:r>
            <a:r>
              <a:rPr lang="pt-BR" sz="4000" b="1" i="1" u="none" strike="noStrike" baseline="0" dirty="0">
                <a:latin typeface="CIDFont+F1"/>
              </a:rPr>
              <a:t>...</a:t>
            </a:r>
            <a:endParaRPr lang="pt-BR" sz="4000" b="1" i="1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E578790-362C-6740-0BE1-41ADB3C02878}"/>
              </a:ext>
            </a:extLst>
          </p:cNvPr>
          <p:cNvSpPr txBox="1"/>
          <p:nvPr/>
        </p:nvSpPr>
        <p:spPr>
          <a:xfrm>
            <a:off x="1008351" y="1276400"/>
            <a:ext cx="106070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638" indent="-274638" algn="just"/>
            <a:r>
              <a:rPr lang="pt-BR" sz="2800" b="0" i="0" u="none" strike="noStrike" baseline="0" dirty="0">
                <a:solidFill>
                  <a:srgbClr val="000000"/>
                </a:solidFill>
                <a:latin typeface="CIDFont+F3"/>
              </a:rPr>
              <a:t>•  </a:t>
            </a:r>
            <a:r>
              <a:rPr lang="pt-BR" sz="2800" b="0" i="0" u="none" strike="noStrike" baseline="0" dirty="0">
                <a:latin typeface="CIDFont+F2"/>
              </a:rPr>
              <a:t>Exemplo1: Mostrar os números de 0 até 100 na tela</a:t>
            </a:r>
            <a:r>
              <a:rPr lang="pt-BR" sz="2800" b="0" i="0" u="none" strike="noStrike" baseline="0" dirty="0">
                <a:solidFill>
                  <a:srgbClr val="000000"/>
                </a:solidFill>
                <a:latin typeface="CIDFont+F2"/>
              </a:rPr>
              <a:t>.</a:t>
            </a:r>
            <a:endParaRPr lang="pt-BR" sz="28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2A52A98-8FA1-C98B-AD55-C703EF062CE4}"/>
              </a:ext>
            </a:extLst>
          </p:cNvPr>
          <p:cNvSpPr txBox="1"/>
          <p:nvPr/>
        </p:nvSpPr>
        <p:spPr>
          <a:xfrm>
            <a:off x="2338947" y="2463835"/>
            <a:ext cx="331455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800" b="0" i="0" u="none" strike="noStrike" baseline="0" dirty="0">
                <a:latin typeface="CIDFont+F2"/>
              </a:rPr>
              <a:t>n=0</a:t>
            </a:r>
          </a:p>
          <a:p>
            <a:pPr algn="l"/>
            <a:r>
              <a:rPr lang="pt-BR" sz="2800" b="0" i="0" u="none" strike="noStrike" baseline="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CIDFont+F2"/>
              </a:rPr>
              <a:t>while</a:t>
            </a:r>
            <a:r>
              <a:rPr lang="pt-BR" sz="2800" b="0" i="0" u="none" strike="noStrike" baseline="0" dirty="0">
                <a:solidFill>
                  <a:schemeClr val="accent6">
                    <a:lumMod val="60000"/>
                    <a:lumOff val="40000"/>
                  </a:schemeClr>
                </a:solidFill>
                <a:latin typeface="CIDFont+F2"/>
              </a:rPr>
              <a:t>  </a:t>
            </a:r>
            <a:r>
              <a:rPr lang="pt-BR" sz="2800" b="0" i="0" u="none" strike="noStrike" baseline="0" dirty="0">
                <a:latin typeface="CIDFont+F2"/>
              </a:rPr>
              <a:t>n     &lt;   </a:t>
            </a:r>
            <a:r>
              <a:rPr lang="pt-BR" sz="2800" b="1" i="0" u="none" strike="noStrike" baseline="0" dirty="0">
                <a:latin typeface="CIDFont+F2"/>
              </a:rPr>
              <a:t>101   : </a:t>
            </a:r>
          </a:p>
          <a:p>
            <a:pPr algn="l"/>
            <a:r>
              <a:rPr lang="pt-BR" sz="2800" b="0" i="0" u="none" strike="noStrike" baseline="0" dirty="0">
                <a:latin typeface="CIDFont+F2"/>
              </a:rPr>
              <a:t>    </a:t>
            </a:r>
            <a:r>
              <a:rPr lang="pt-BR" sz="2800" b="0" i="0" u="none" strike="noStrike" baseline="0" dirty="0">
                <a:solidFill>
                  <a:schemeClr val="accent6">
                    <a:lumMod val="60000"/>
                    <a:lumOff val="40000"/>
                  </a:schemeClr>
                </a:solidFill>
                <a:latin typeface="CIDFont+F2"/>
              </a:rPr>
              <a:t>print (</a:t>
            </a:r>
            <a:r>
              <a:rPr lang="pt-BR" sz="2800" b="0" i="0" u="none" strike="noStrike" baseline="0" dirty="0">
                <a:latin typeface="CIDFont+F2"/>
              </a:rPr>
              <a:t>n, </a:t>
            </a:r>
            <a:r>
              <a:rPr lang="pt-BR" sz="2800" b="0" i="0" u="none" strike="noStrike" baseline="0" dirty="0" err="1">
                <a:latin typeface="CIDFont+F2"/>
              </a:rPr>
              <a:t>end</a:t>
            </a:r>
            <a:r>
              <a:rPr lang="pt-BR" sz="2800" b="0" i="0" u="none" strike="noStrike" baseline="0" dirty="0">
                <a:latin typeface="CIDFont+F2"/>
              </a:rPr>
              <a:t>= ‘ ‘)</a:t>
            </a:r>
          </a:p>
          <a:p>
            <a:pPr algn="l"/>
            <a:r>
              <a:rPr lang="pt-BR" sz="2800" b="1" i="0" u="none" strike="noStrike" baseline="0" dirty="0">
                <a:solidFill>
                  <a:srgbClr val="FFFF00"/>
                </a:solidFill>
                <a:latin typeface="CIDFont+F2"/>
              </a:rPr>
              <a:t>    </a:t>
            </a:r>
            <a:r>
              <a:rPr lang="pt-BR" sz="2800" b="1" i="0" u="none" strike="noStrike" baseline="0" dirty="0">
                <a:solidFill>
                  <a:srgbClr val="FF0000"/>
                </a:solidFill>
                <a:latin typeface="CIDFont+F2"/>
              </a:rPr>
              <a:t>n+=1</a:t>
            </a:r>
          </a:p>
        </p:txBody>
      </p:sp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CCE3D636-F10A-6576-5356-1FE7381B23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311558"/>
              </p:ext>
            </p:extLst>
          </p:nvPr>
        </p:nvGraphicFramePr>
        <p:xfrm>
          <a:off x="8465886" y="2399335"/>
          <a:ext cx="2802988" cy="333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7531">
                  <a:extLst>
                    <a:ext uri="{9D8B030D-6E8A-4147-A177-3AD203B41FA5}">
                      <a16:colId xmlns:a16="http://schemas.microsoft.com/office/drawing/2014/main" val="3201423258"/>
                    </a:ext>
                  </a:extLst>
                </a:gridCol>
                <a:gridCol w="2175457">
                  <a:extLst>
                    <a:ext uri="{9D8B030D-6E8A-4147-A177-3AD203B41FA5}">
                      <a16:colId xmlns:a16="http://schemas.microsoft.com/office/drawing/2014/main" val="12713131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n  &lt;  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91967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93346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8001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116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73445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701800" algn="l"/>
                        </a:tabLst>
                        <a:defRPr/>
                      </a:pPr>
                      <a:endParaRPr kumimoji="0" lang="pt-BR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93475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686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6951360"/>
                  </a:ext>
                </a:extLst>
              </a:tr>
              <a:tr h="354025">
                <a:tc>
                  <a:txBody>
                    <a:bodyPr/>
                    <a:lstStyle/>
                    <a:p>
                      <a:pPr algn="ctr"/>
                      <a:endParaRPr lang="pt-B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0386306"/>
                  </a:ext>
                </a:extLst>
              </a:tr>
            </a:tbl>
          </a:graphicData>
        </a:graphic>
      </p:graphicFrame>
      <p:sp>
        <p:nvSpPr>
          <p:cNvPr id="22" name="CaixaDeTexto 21">
            <a:extLst>
              <a:ext uri="{FF2B5EF4-FFF2-40B4-BE49-F238E27FC236}">
                <a16:creationId xmlns:a16="http://schemas.microsoft.com/office/drawing/2014/main" id="{0046F7E8-3DE7-EB69-7722-2219F56F8CD1}"/>
              </a:ext>
            </a:extLst>
          </p:cNvPr>
          <p:cNvSpPr txBox="1"/>
          <p:nvPr/>
        </p:nvSpPr>
        <p:spPr>
          <a:xfrm>
            <a:off x="8621069" y="276638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0</a:t>
            </a:r>
          </a:p>
        </p:txBody>
      </p:sp>
      <p:cxnSp>
        <p:nvCxnSpPr>
          <p:cNvPr id="41" name="Conector de Seta Reta 40">
            <a:extLst>
              <a:ext uri="{FF2B5EF4-FFF2-40B4-BE49-F238E27FC236}">
                <a16:creationId xmlns:a16="http://schemas.microsoft.com/office/drawing/2014/main" id="{12E7A2CB-A82F-F9F8-27A3-C4FE0E6B2A1E}"/>
              </a:ext>
            </a:extLst>
          </p:cNvPr>
          <p:cNvCxnSpPr>
            <a:cxnSpLocks/>
          </p:cNvCxnSpPr>
          <p:nvPr/>
        </p:nvCxnSpPr>
        <p:spPr>
          <a:xfrm>
            <a:off x="1829821" y="2766380"/>
            <a:ext cx="490861" cy="0"/>
          </a:xfrm>
          <a:prstGeom prst="straightConnector1">
            <a:avLst/>
          </a:prstGeom>
          <a:ln w="412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ector de Seta Reta 42">
            <a:extLst>
              <a:ext uri="{FF2B5EF4-FFF2-40B4-BE49-F238E27FC236}">
                <a16:creationId xmlns:a16="http://schemas.microsoft.com/office/drawing/2014/main" id="{07338348-B566-22B3-08D7-F60E0C91688F}"/>
              </a:ext>
            </a:extLst>
          </p:cNvPr>
          <p:cNvCxnSpPr>
            <a:cxnSpLocks/>
          </p:cNvCxnSpPr>
          <p:nvPr/>
        </p:nvCxnSpPr>
        <p:spPr>
          <a:xfrm>
            <a:off x="1803156" y="4103070"/>
            <a:ext cx="473612" cy="0"/>
          </a:xfrm>
          <a:prstGeom prst="straightConnector1">
            <a:avLst/>
          </a:prstGeom>
          <a:ln w="41275"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C08AEF59-E299-90BC-E09B-C1A61CD9F6F7}"/>
              </a:ext>
            </a:extLst>
          </p:cNvPr>
          <p:cNvSpPr txBox="1"/>
          <p:nvPr/>
        </p:nvSpPr>
        <p:spPr>
          <a:xfrm>
            <a:off x="9816756" y="2739084"/>
            <a:ext cx="673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err="1"/>
              <a:t>True</a:t>
            </a:r>
            <a:endParaRPr lang="pt-BR" b="1" dirty="0"/>
          </a:p>
        </p:txBody>
      </p:sp>
      <p:cxnSp>
        <p:nvCxnSpPr>
          <p:cNvPr id="45" name="Conector de Seta Reta 44">
            <a:extLst>
              <a:ext uri="{FF2B5EF4-FFF2-40B4-BE49-F238E27FC236}">
                <a16:creationId xmlns:a16="http://schemas.microsoft.com/office/drawing/2014/main" id="{60211164-5A64-E879-D608-351F4CA39FBF}"/>
              </a:ext>
            </a:extLst>
          </p:cNvPr>
          <p:cNvCxnSpPr>
            <a:cxnSpLocks/>
          </p:cNvCxnSpPr>
          <p:nvPr/>
        </p:nvCxnSpPr>
        <p:spPr>
          <a:xfrm>
            <a:off x="1803156" y="4103070"/>
            <a:ext cx="473612" cy="0"/>
          </a:xfrm>
          <a:prstGeom prst="straightConnector1">
            <a:avLst/>
          </a:prstGeom>
          <a:ln w="41275"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ector de Seta Reta 45">
            <a:extLst>
              <a:ext uri="{FF2B5EF4-FFF2-40B4-BE49-F238E27FC236}">
                <a16:creationId xmlns:a16="http://schemas.microsoft.com/office/drawing/2014/main" id="{8133B91E-5E8A-A800-AF47-0FFE58399A84}"/>
              </a:ext>
            </a:extLst>
          </p:cNvPr>
          <p:cNvCxnSpPr>
            <a:cxnSpLocks/>
          </p:cNvCxnSpPr>
          <p:nvPr/>
        </p:nvCxnSpPr>
        <p:spPr>
          <a:xfrm>
            <a:off x="1795812" y="3626764"/>
            <a:ext cx="493110" cy="0"/>
          </a:xfrm>
          <a:prstGeom prst="straightConnector1">
            <a:avLst/>
          </a:prstGeom>
          <a:ln w="41275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011902BE-6EB7-B0B1-3E06-ACAAC9853416}"/>
              </a:ext>
            </a:extLst>
          </p:cNvPr>
          <p:cNvSpPr txBox="1"/>
          <p:nvPr/>
        </p:nvSpPr>
        <p:spPr>
          <a:xfrm>
            <a:off x="8653731" y="3169228"/>
            <a:ext cx="368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1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EEC08B85-70D3-4656-1576-1B34C2A856E1}"/>
              </a:ext>
            </a:extLst>
          </p:cNvPr>
          <p:cNvSpPr txBox="1"/>
          <p:nvPr/>
        </p:nvSpPr>
        <p:spPr>
          <a:xfrm>
            <a:off x="9826212" y="3108416"/>
            <a:ext cx="639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err="1"/>
              <a:t>True</a:t>
            </a:r>
            <a:endParaRPr lang="pt-BR" b="1" dirty="0"/>
          </a:p>
        </p:txBody>
      </p:sp>
      <p:cxnSp>
        <p:nvCxnSpPr>
          <p:cNvPr id="50" name="Conector de Seta Reta 49">
            <a:extLst>
              <a:ext uri="{FF2B5EF4-FFF2-40B4-BE49-F238E27FC236}">
                <a16:creationId xmlns:a16="http://schemas.microsoft.com/office/drawing/2014/main" id="{F25BCC98-5E42-6048-CECB-C056E0EA5439}"/>
              </a:ext>
            </a:extLst>
          </p:cNvPr>
          <p:cNvCxnSpPr>
            <a:cxnSpLocks/>
          </p:cNvCxnSpPr>
          <p:nvPr/>
        </p:nvCxnSpPr>
        <p:spPr>
          <a:xfrm>
            <a:off x="1829364" y="3312405"/>
            <a:ext cx="494343" cy="0"/>
          </a:xfrm>
          <a:prstGeom prst="straightConnector1">
            <a:avLst/>
          </a:prstGeom>
          <a:ln w="412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ector de Seta Reta 58">
            <a:extLst>
              <a:ext uri="{FF2B5EF4-FFF2-40B4-BE49-F238E27FC236}">
                <a16:creationId xmlns:a16="http://schemas.microsoft.com/office/drawing/2014/main" id="{11373185-A9C4-FF76-0F28-3AA35D5E49B2}"/>
              </a:ext>
            </a:extLst>
          </p:cNvPr>
          <p:cNvCxnSpPr>
            <a:cxnSpLocks/>
          </p:cNvCxnSpPr>
          <p:nvPr/>
        </p:nvCxnSpPr>
        <p:spPr>
          <a:xfrm>
            <a:off x="1844604" y="3279926"/>
            <a:ext cx="494343" cy="0"/>
          </a:xfrm>
          <a:prstGeom prst="straightConnector1">
            <a:avLst/>
          </a:prstGeom>
          <a:ln w="412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ector de Seta Reta 59">
            <a:extLst>
              <a:ext uri="{FF2B5EF4-FFF2-40B4-BE49-F238E27FC236}">
                <a16:creationId xmlns:a16="http://schemas.microsoft.com/office/drawing/2014/main" id="{D3ACC012-BA75-B7C9-2CBD-6390E98176CE}"/>
              </a:ext>
            </a:extLst>
          </p:cNvPr>
          <p:cNvCxnSpPr>
            <a:cxnSpLocks/>
          </p:cNvCxnSpPr>
          <p:nvPr/>
        </p:nvCxnSpPr>
        <p:spPr>
          <a:xfrm>
            <a:off x="1837901" y="3274538"/>
            <a:ext cx="507747" cy="0"/>
          </a:xfrm>
          <a:prstGeom prst="straightConnector1">
            <a:avLst/>
          </a:prstGeom>
          <a:ln w="412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ector de Seta Reta 60">
            <a:extLst>
              <a:ext uri="{FF2B5EF4-FFF2-40B4-BE49-F238E27FC236}">
                <a16:creationId xmlns:a16="http://schemas.microsoft.com/office/drawing/2014/main" id="{B1F6330B-2AEE-B4BC-939D-6121F84B5BAE}"/>
              </a:ext>
            </a:extLst>
          </p:cNvPr>
          <p:cNvCxnSpPr>
            <a:cxnSpLocks/>
          </p:cNvCxnSpPr>
          <p:nvPr/>
        </p:nvCxnSpPr>
        <p:spPr>
          <a:xfrm>
            <a:off x="1795812" y="3621971"/>
            <a:ext cx="493110" cy="9587"/>
          </a:xfrm>
          <a:prstGeom prst="straightConnector1">
            <a:avLst/>
          </a:prstGeom>
          <a:ln w="41275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E6AF9AB5-57D1-89AE-DBCD-6EAA92E75D35}"/>
              </a:ext>
            </a:extLst>
          </p:cNvPr>
          <p:cNvSpPr txBox="1"/>
          <p:nvPr/>
        </p:nvSpPr>
        <p:spPr>
          <a:xfrm>
            <a:off x="8656505" y="3511355"/>
            <a:ext cx="307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2</a:t>
            </a:r>
          </a:p>
        </p:txBody>
      </p: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D9FEAFC1-9833-CAB6-EDD2-50416964F1CA}"/>
              </a:ext>
            </a:extLst>
          </p:cNvPr>
          <p:cNvSpPr txBox="1"/>
          <p:nvPr/>
        </p:nvSpPr>
        <p:spPr>
          <a:xfrm>
            <a:off x="9839940" y="3448165"/>
            <a:ext cx="639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err="1"/>
              <a:t>True</a:t>
            </a:r>
            <a:endParaRPr lang="pt-BR" b="1" dirty="0"/>
          </a:p>
        </p:txBody>
      </p:sp>
      <p:grpSp>
        <p:nvGrpSpPr>
          <p:cNvPr id="96" name="Agrupar 95">
            <a:extLst>
              <a:ext uri="{FF2B5EF4-FFF2-40B4-BE49-F238E27FC236}">
                <a16:creationId xmlns:a16="http://schemas.microsoft.com/office/drawing/2014/main" id="{AE6785CA-2D68-EE08-A31D-49FD07746E70}"/>
              </a:ext>
            </a:extLst>
          </p:cNvPr>
          <p:cNvGrpSpPr/>
          <p:nvPr/>
        </p:nvGrpSpPr>
        <p:grpSpPr>
          <a:xfrm>
            <a:off x="8549294" y="3990230"/>
            <a:ext cx="1906575" cy="1303954"/>
            <a:chOff x="4457744" y="4206132"/>
            <a:chExt cx="1906575" cy="1461123"/>
          </a:xfrm>
        </p:grpSpPr>
        <p:sp>
          <p:nvSpPr>
            <p:cNvPr id="84" name="Elipse 83">
              <a:extLst>
                <a:ext uri="{FF2B5EF4-FFF2-40B4-BE49-F238E27FC236}">
                  <a16:creationId xmlns:a16="http://schemas.microsoft.com/office/drawing/2014/main" id="{6B912DC3-503E-95E7-5156-37AF198CF70D}"/>
                </a:ext>
              </a:extLst>
            </p:cNvPr>
            <p:cNvSpPr/>
            <p:nvPr/>
          </p:nvSpPr>
          <p:spPr>
            <a:xfrm flipH="1" flipV="1">
              <a:off x="4655446" y="4239066"/>
              <a:ext cx="159906" cy="12005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5" name="Elipse 84">
              <a:extLst>
                <a:ext uri="{FF2B5EF4-FFF2-40B4-BE49-F238E27FC236}">
                  <a16:creationId xmlns:a16="http://schemas.microsoft.com/office/drawing/2014/main" id="{39DBC7D8-E468-7E76-E958-5A717B3C8329}"/>
                </a:ext>
              </a:extLst>
            </p:cNvPr>
            <p:cNvSpPr/>
            <p:nvPr/>
          </p:nvSpPr>
          <p:spPr>
            <a:xfrm flipH="1" flipV="1">
              <a:off x="5935165" y="4206132"/>
              <a:ext cx="159906" cy="12005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6" name="Elipse 85">
              <a:extLst>
                <a:ext uri="{FF2B5EF4-FFF2-40B4-BE49-F238E27FC236}">
                  <a16:creationId xmlns:a16="http://schemas.microsoft.com/office/drawing/2014/main" id="{273BB580-2D01-F0D4-DABE-FB96FBA6EAF4}"/>
                </a:ext>
              </a:extLst>
            </p:cNvPr>
            <p:cNvSpPr/>
            <p:nvPr/>
          </p:nvSpPr>
          <p:spPr>
            <a:xfrm flipH="1" flipV="1">
              <a:off x="4655446" y="4576619"/>
              <a:ext cx="159906" cy="12005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7" name="Elipse 86">
              <a:extLst>
                <a:ext uri="{FF2B5EF4-FFF2-40B4-BE49-F238E27FC236}">
                  <a16:creationId xmlns:a16="http://schemas.microsoft.com/office/drawing/2014/main" id="{43C48079-D001-5523-BFD0-6355DC1A3A68}"/>
                </a:ext>
              </a:extLst>
            </p:cNvPr>
            <p:cNvSpPr/>
            <p:nvPr/>
          </p:nvSpPr>
          <p:spPr>
            <a:xfrm flipH="1" flipV="1">
              <a:off x="5935165" y="4576619"/>
              <a:ext cx="159906" cy="12005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8" name="Elipse 87">
              <a:extLst>
                <a:ext uri="{FF2B5EF4-FFF2-40B4-BE49-F238E27FC236}">
                  <a16:creationId xmlns:a16="http://schemas.microsoft.com/office/drawing/2014/main" id="{E96F9CC1-951F-2C2B-CBD4-8B77735522CF}"/>
                </a:ext>
              </a:extLst>
            </p:cNvPr>
            <p:cNvSpPr/>
            <p:nvPr/>
          </p:nvSpPr>
          <p:spPr>
            <a:xfrm flipH="1" flipV="1">
              <a:off x="4655446" y="4968968"/>
              <a:ext cx="159906" cy="12005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9" name="Elipse 88">
              <a:extLst>
                <a:ext uri="{FF2B5EF4-FFF2-40B4-BE49-F238E27FC236}">
                  <a16:creationId xmlns:a16="http://schemas.microsoft.com/office/drawing/2014/main" id="{C530054E-2297-F5FD-B207-F0416387A77F}"/>
                </a:ext>
              </a:extLst>
            </p:cNvPr>
            <p:cNvSpPr/>
            <p:nvPr/>
          </p:nvSpPr>
          <p:spPr>
            <a:xfrm flipH="1" flipV="1">
              <a:off x="5924739" y="4967811"/>
              <a:ext cx="159906" cy="12005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4" name="CaixaDeTexto 93">
              <a:extLst>
                <a:ext uri="{FF2B5EF4-FFF2-40B4-BE49-F238E27FC236}">
                  <a16:creationId xmlns:a16="http://schemas.microsoft.com/office/drawing/2014/main" id="{54D38370-FCB3-17CA-9AA6-C3CAAC56E0AC}"/>
                </a:ext>
              </a:extLst>
            </p:cNvPr>
            <p:cNvSpPr txBox="1"/>
            <p:nvPr/>
          </p:nvSpPr>
          <p:spPr>
            <a:xfrm>
              <a:off x="5701632" y="5294284"/>
              <a:ext cx="6626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b="1" dirty="0" err="1"/>
                <a:t>True</a:t>
              </a:r>
              <a:endParaRPr lang="pt-BR" b="1" dirty="0"/>
            </a:p>
          </p:txBody>
        </p:sp>
        <p:sp>
          <p:nvSpPr>
            <p:cNvPr id="95" name="CaixaDeTexto 94">
              <a:extLst>
                <a:ext uri="{FF2B5EF4-FFF2-40B4-BE49-F238E27FC236}">
                  <a16:creationId xmlns:a16="http://schemas.microsoft.com/office/drawing/2014/main" id="{8A3116B8-8674-A96A-3A15-A4F4A297A569}"/>
                </a:ext>
              </a:extLst>
            </p:cNvPr>
            <p:cNvSpPr txBox="1"/>
            <p:nvPr/>
          </p:nvSpPr>
          <p:spPr>
            <a:xfrm>
              <a:off x="4457744" y="5297923"/>
              <a:ext cx="5939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b="1" dirty="0"/>
                <a:t>100</a:t>
              </a:r>
            </a:p>
          </p:txBody>
        </p:sp>
      </p:grpSp>
      <p:sp>
        <p:nvSpPr>
          <p:cNvPr id="97" name="CaixaDeTexto 96">
            <a:extLst>
              <a:ext uri="{FF2B5EF4-FFF2-40B4-BE49-F238E27FC236}">
                <a16:creationId xmlns:a16="http://schemas.microsoft.com/office/drawing/2014/main" id="{019DCDEA-63A2-940A-72EA-3BBF8AB6D507}"/>
              </a:ext>
            </a:extLst>
          </p:cNvPr>
          <p:cNvSpPr txBox="1"/>
          <p:nvPr/>
        </p:nvSpPr>
        <p:spPr>
          <a:xfrm>
            <a:off x="8549294" y="5344517"/>
            <a:ext cx="593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101</a:t>
            </a:r>
          </a:p>
        </p:txBody>
      </p:sp>
      <p:sp>
        <p:nvSpPr>
          <p:cNvPr id="98" name="CaixaDeTexto 97">
            <a:extLst>
              <a:ext uri="{FF2B5EF4-FFF2-40B4-BE49-F238E27FC236}">
                <a16:creationId xmlns:a16="http://schemas.microsoft.com/office/drawing/2014/main" id="{61571C41-FCA3-57AD-CA69-A571797E98A2}"/>
              </a:ext>
            </a:extLst>
          </p:cNvPr>
          <p:cNvSpPr txBox="1"/>
          <p:nvPr/>
        </p:nvSpPr>
        <p:spPr>
          <a:xfrm>
            <a:off x="3243021" y="2906904"/>
            <a:ext cx="674512" cy="461665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  <a:latin typeface="CIDFont+F2"/>
              </a:rPr>
              <a:t>101</a:t>
            </a:r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951C619C-B0AF-0E24-F80A-983F1CB389FD}"/>
              </a:ext>
            </a:extLst>
          </p:cNvPr>
          <p:cNvSpPr/>
          <p:nvPr/>
        </p:nvSpPr>
        <p:spPr>
          <a:xfrm>
            <a:off x="2440083" y="4319702"/>
            <a:ext cx="609112" cy="350275"/>
          </a:xfrm>
          <a:prstGeom prst="rect">
            <a:avLst/>
          </a:prstGeom>
          <a:solidFill>
            <a:srgbClr val="FE4D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/>
              <a:t>X 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04E035B1-589C-18CD-A3D7-407B06BC1823}"/>
              </a:ext>
            </a:extLst>
          </p:cNvPr>
          <p:cNvSpPr txBox="1"/>
          <p:nvPr/>
        </p:nvSpPr>
        <p:spPr>
          <a:xfrm>
            <a:off x="705242" y="5936019"/>
            <a:ext cx="105990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i="0" u="none" strike="noStrike" baseline="0" dirty="0">
                <a:latin typeface="CIDFont+F2"/>
              </a:rPr>
              <a:t>Faça como exercício o mesmo programa mostrar os números de 100 até 1 na tela</a:t>
            </a:r>
            <a:r>
              <a:rPr lang="pt-BR" sz="1800" b="0" i="0" u="none" strike="noStrike" baseline="0" dirty="0">
                <a:latin typeface="CIDFont+F2"/>
              </a:rPr>
              <a:t>.</a:t>
            </a:r>
            <a:endParaRPr lang="pt-BR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9F5B1C9-D3D1-6534-AD87-F340BD688DD4}"/>
              </a:ext>
            </a:extLst>
          </p:cNvPr>
          <p:cNvSpPr txBox="1"/>
          <p:nvPr/>
        </p:nvSpPr>
        <p:spPr>
          <a:xfrm>
            <a:off x="9789234" y="1891558"/>
            <a:ext cx="363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0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5CCF99E-82CB-CC93-92F9-A2F1C09A9C72}"/>
              </a:ext>
            </a:extLst>
          </p:cNvPr>
          <p:cNvSpPr txBox="1"/>
          <p:nvPr/>
        </p:nvSpPr>
        <p:spPr>
          <a:xfrm>
            <a:off x="10141302" y="1891558"/>
            <a:ext cx="363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1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41D13FB8-E82B-58D3-88C5-B068BC4C691B}"/>
              </a:ext>
            </a:extLst>
          </p:cNvPr>
          <p:cNvSpPr txBox="1"/>
          <p:nvPr/>
        </p:nvSpPr>
        <p:spPr>
          <a:xfrm>
            <a:off x="10587289" y="1891558"/>
            <a:ext cx="363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2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0D48E0C8-C8D2-7926-DC4B-10B9C5B3B578}"/>
              </a:ext>
            </a:extLst>
          </p:cNvPr>
          <p:cNvSpPr txBox="1"/>
          <p:nvPr/>
        </p:nvSpPr>
        <p:spPr>
          <a:xfrm>
            <a:off x="10917443" y="1891361"/>
            <a:ext cx="1110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3. . . 100</a:t>
            </a:r>
          </a:p>
        </p:txBody>
      </p: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6103F9A3-ED64-80E6-D3E3-96886F528411}"/>
              </a:ext>
            </a:extLst>
          </p:cNvPr>
          <p:cNvCxnSpPr>
            <a:cxnSpLocks/>
          </p:cNvCxnSpPr>
          <p:nvPr/>
        </p:nvCxnSpPr>
        <p:spPr>
          <a:xfrm>
            <a:off x="1814077" y="3626764"/>
            <a:ext cx="474845" cy="0"/>
          </a:xfrm>
          <a:prstGeom prst="straightConnector1">
            <a:avLst/>
          </a:prstGeom>
          <a:ln w="41275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de Seta Reta 24">
            <a:extLst>
              <a:ext uri="{FF2B5EF4-FFF2-40B4-BE49-F238E27FC236}">
                <a16:creationId xmlns:a16="http://schemas.microsoft.com/office/drawing/2014/main" id="{2ED141BE-6AAD-0608-667A-81ACF1B34A80}"/>
              </a:ext>
            </a:extLst>
          </p:cNvPr>
          <p:cNvCxnSpPr>
            <a:cxnSpLocks/>
          </p:cNvCxnSpPr>
          <p:nvPr/>
        </p:nvCxnSpPr>
        <p:spPr>
          <a:xfrm>
            <a:off x="1844604" y="3274538"/>
            <a:ext cx="508500" cy="0"/>
          </a:xfrm>
          <a:prstGeom prst="straightConnector1">
            <a:avLst/>
          </a:prstGeom>
          <a:ln w="412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E49889F7-4907-18B0-89A8-B943D550899F}"/>
              </a:ext>
            </a:extLst>
          </p:cNvPr>
          <p:cNvSpPr txBox="1"/>
          <p:nvPr/>
        </p:nvSpPr>
        <p:spPr>
          <a:xfrm>
            <a:off x="9751190" y="5334574"/>
            <a:ext cx="7891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False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7BA5045-6CF1-23A3-586B-4F85CC51E6B1}"/>
              </a:ext>
            </a:extLst>
          </p:cNvPr>
          <p:cNvSpPr txBox="1"/>
          <p:nvPr/>
        </p:nvSpPr>
        <p:spPr>
          <a:xfrm>
            <a:off x="5764719" y="1945257"/>
            <a:ext cx="1393342" cy="923330"/>
          </a:xfrm>
          <a:prstGeom prst="rect">
            <a:avLst/>
          </a:prstGeom>
          <a:solidFill>
            <a:srgbClr val="FF0000"/>
          </a:solidFill>
          <a:ln w="1905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bg1"/>
                </a:solidFill>
              </a:rPr>
              <a:t>O Sinal  “:” é Obrigatório</a:t>
            </a:r>
          </a:p>
        </p:txBody>
      </p:sp>
      <p:cxnSp>
        <p:nvCxnSpPr>
          <p:cNvPr id="9" name="Conector: Angulado 8">
            <a:extLst>
              <a:ext uri="{FF2B5EF4-FFF2-40B4-BE49-F238E27FC236}">
                <a16:creationId xmlns:a16="http://schemas.microsoft.com/office/drawing/2014/main" id="{7473FAB1-6C05-6060-4BD8-D83B298AB09E}"/>
              </a:ext>
            </a:extLst>
          </p:cNvPr>
          <p:cNvCxnSpPr>
            <a:cxnSpLocks/>
          </p:cNvCxnSpPr>
          <p:nvPr/>
        </p:nvCxnSpPr>
        <p:spPr>
          <a:xfrm rot="10800000" flipV="1">
            <a:off x="5225358" y="2391682"/>
            <a:ext cx="413775" cy="564845"/>
          </a:xfrm>
          <a:prstGeom prst="bentConnector2">
            <a:avLst/>
          </a:prstGeom>
          <a:ln w="3810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have Esquerda 25">
            <a:extLst>
              <a:ext uri="{FF2B5EF4-FFF2-40B4-BE49-F238E27FC236}">
                <a16:creationId xmlns:a16="http://schemas.microsoft.com/office/drawing/2014/main" id="{A9828E0A-80E9-CF7D-DD90-ECBE125E76FF}"/>
              </a:ext>
            </a:extLst>
          </p:cNvPr>
          <p:cNvSpPr/>
          <p:nvPr/>
        </p:nvSpPr>
        <p:spPr>
          <a:xfrm>
            <a:off x="2576826" y="3493885"/>
            <a:ext cx="230528" cy="678597"/>
          </a:xfrm>
          <a:prstGeom prst="leftBrac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A02FE67E-1576-5053-C232-735EEA5AFBAB}"/>
              </a:ext>
            </a:extLst>
          </p:cNvPr>
          <p:cNvCxnSpPr>
            <a:cxnSpLocks/>
          </p:cNvCxnSpPr>
          <p:nvPr/>
        </p:nvCxnSpPr>
        <p:spPr>
          <a:xfrm>
            <a:off x="720862" y="3834967"/>
            <a:ext cx="1795421" cy="0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93B470CD-756C-BD5A-2E58-5FB3F9B108D8}"/>
              </a:ext>
            </a:extLst>
          </p:cNvPr>
          <p:cNvSpPr txBox="1"/>
          <p:nvPr/>
        </p:nvSpPr>
        <p:spPr>
          <a:xfrm>
            <a:off x="329760" y="2612639"/>
            <a:ext cx="391102" cy="2585323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bg1"/>
                </a:solidFill>
              </a:rPr>
              <a:t>I</a:t>
            </a:r>
          </a:p>
          <a:p>
            <a:pPr algn="ctr"/>
            <a:r>
              <a:rPr lang="pt-BR" b="1" dirty="0">
                <a:solidFill>
                  <a:schemeClr val="bg1"/>
                </a:solidFill>
              </a:rPr>
              <a:t>N</a:t>
            </a:r>
          </a:p>
          <a:p>
            <a:pPr algn="ctr"/>
            <a:r>
              <a:rPr lang="pt-BR" b="1" dirty="0">
                <a:solidFill>
                  <a:schemeClr val="bg1"/>
                </a:solidFill>
              </a:rPr>
              <a:t>D</a:t>
            </a:r>
          </a:p>
          <a:p>
            <a:pPr algn="ctr"/>
            <a:r>
              <a:rPr lang="pt-BR" b="1" dirty="0">
                <a:solidFill>
                  <a:schemeClr val="bg1"/>
                </a:solidFill>
              </a:rPr>
              <a:t>E</a:t>
            </a:r>
          </a:p>
          <a:p>
            <a:pPr algn="ctr"/>
            <a:r>
              <a:rPr lang="pt-BR" b="1" dirty="0">
                <a:solidFill>
                  <a:schemeClr val="bg1"/>
                </a:solidFill>
              </a:rPr>
              <a:t>N</a:t>
            </a:r>
          </a:p>
          <a:p>
            <a:pPr algn="ctr"/>
            <a:r>
              <a:rPr lang="pt-BR" b="1" dirty="0">
                <a:solidFill>
                  <a:schemeClr val="bg1"/>
                </a:solidFill>
              </a:rPr>
              <a:t>T</a:t>
            </a:r>
          </a:p>
          <a:p>
            <a:pPr algn="ctr"/>
            <a:r>
              <a:rPr lang="pt-BR" b="1" dirty="0">
                <a:solidFill>
                  <a:schemeClr val="bg1"/>
                </a:solidFill>
              </a:rPr>
              <a:t>A</a:t>
            </a:r>
          </a:p>
          <a:p>
            <a:pPr algn="ctr"/>
            <a:r>
              <a:rPr lang="pt-BR" b="1" dirty="0">
                <a:solidFill>
                  <a:schemeClr val="bg1"/>
                </a:solidFill>
              </a:rPr>
              <a:t>DO</a:t>
            </a:r>
          </a:p>
        </p:txBody>
      </p: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28BAAC78-BBD8-61AD-A619-6FCB8441A6E2}"/>
              </a:ext>
            </a:extLst>
          </p:cNvPr>
          <p:cNvCxnSpPr/>
          <p:nvPr/>
        </p:nvCxnSpPr>
        <p:spPr>
          <a:xfrm>
            <a:off x="1737360" y="4494839"/>
            <a:ext cx="51816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648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0"/>
                            </p:stCondLst>
                            <p:childTnLst>
                              <p:par>
                                <p:cTn id="1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6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7" dur="2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4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1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08" dur="2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2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2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25" dur="2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2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2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42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4" dur="2000" fill="hold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" dur="2000" fill="hold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59" dur="2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1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2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76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2" dur="2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3" dur="2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9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4" dur="2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5" dur="2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3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5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6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7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9" dur="2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0" dur="2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14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8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9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0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2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3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2" grpId="0"/>
      <p:bldP spid="44" grpId="0"/>
      <p:bldP spid="47" grpId="0"/>
      <p:bldP spid="48" grpId="0"/>
      <p:bldP spid="63" grpId="0"/>
      <p:bldP spid="97" grpId="0"/>
      <p:bldP spid="98" grpId="0" animBg="1"/>
      <p:bldP spid="36" grpId="0" animBg="1"/>
      <p:bldP spid="13" grpId="0"/>
      <p:bldP spid="14" grpId="0"/>
      <p:bldP spid="15" grpId="0"/>
      <p:bldP spid="16" grpId="0"/>
      <p:bldP spid="51" grpId="0"/>
      <p:bldP spid="6" grpId="0" animBg="1"/>
      <p:bldP spid="2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CE5E33A-4BC3-51FA-F79D-4EAC5170C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360CF-B9B6-421E-9EDC-F3BEAD50FA47}" type="datetime1">
              <a:rPr lang="pt-BR" smtClean="0"/>
              <a:t>03/03/2026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1FFBE5B-9DA5-F393-4809-FB9218D68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800" b="1" dirty="0"/>
              <a:t>Cap03-Prog02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D01A002-84A8-D651-7004-0E6C9AA99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7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D931AC75-3C20-438E-865B-C1BFF0A0A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i="1" u="none" strike="noStrike" baseline="0" dirty="0">
                <a:latin typeface="CIDFont+F1"/>
              </a:rPr>
              <a:t>Estrutura de Repetição - </a:t>
            </a:r>
            <a:r>
              <a:rPr lang="pt-BR" b="1" i="1" u="none" strike="noStrike" baseline="0" dirty="0" err="1">
                <a:latin typeface="CIDFont+F1"/>
              </a:rPr>
              <a:t>while</a:t>
            </a:r>
            <a:endParaRPr lang="pt-BR" b="1" i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65EE2D2-9D22-A13D-5287-CBE6135552F8}"/>
              </a:ext>
            </a:extLst>
          </p:cNvPr>
          <p:cNvSpPr txBox="1"/>
          <p:nvPr/>
        </p:nvSpPr>
        <p:spPr>
          <a:xfrm>
            <a:off x="685800" y="1465015"/>
            <a:ext cx="11049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400" b="1" i="0" u="none" strike="noStrike" baseline="0" dirty="0">
                <a:solidFill>
                  <a:srgbClr val="000000"/>
                </a:solidFill>
                <a:latin typeface="CIDFont+F3"/>
              </a:rPr>
              <a:t>• </a:t>
            </a:r>
            <a:r>
              <a:rPr lang="pt-BR" sz="2400" b="1" i="0" u="none" strike="noStrike" baseline="0" dirty="0">
                <a:solidFill>
                  <a:srgbClr val="000000"/>
                </a:solidFill>
                <a:latin typeface="CIDFont+F2"/>
              </a:rPr>
              <a:t>Exemplo3: Imprimir a quantidade de números pares de 100 até 200, incluindo-os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CIDFont+F2"/>
              </a:rPr>
              <a:t>.</a:t>
            </a:r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1AA18D2-4BBC-7CFA-5068-637BFF601FDA}"/>
              </a:ext>
            </a:extLst>
          </p:cNvPr>
          <p:cNvSpPr txBox="1"/>
          <p:nvPr/>
        </p:nvSpPr>
        <p:spPr>
          <a:xfrm>
            <a:off x="838200" y="2274837"/>
            <a:ext cx="91186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num = 100</a:t>
            </a:r>
          </a:p>
          <a:p>
            <a:r>
              <a:rPr lang="pt-BR" sz="2400" dirty="0" err="1"/>
              <a:t>contador_pares</a:t>
            </a:r>
            <a:r>
              <a:rPr lang="pt-BR" sz="2400" dirty="0"/>
              <a:t> = 0</a:t>
            </a:r>
          </a:p>
          <a:p>
            <a:r>
              <a:rPr lang="pt-BR" sz="2400" dirty="0" err="1"/>
              <a:t>while</a:t>
            </a:r>
            <a:r>
              <a:rPr lang="pt-BR" sz="2400" dirty="0"/>
              <a:t> num &lt;= 200:</a:t>
            </a:r>
          </a:p>
          <a:p>
            <a:r>
              <a:rPr lang="pt-BR" sz="2400" dirty="0"/>
              <a:t>         </a:t>
            </a:r>
            <a:r>
              <a:rPr lang="pt-BR" sz="2400" dirty="0" err="1"/>
              <a:t>if</a:t>
            </a:r>
            <a:r>
              <a:rPr lang="pt-BR" sz="2400" dirty="0"/>
              <a:t> (num % 2) == 0:</a:t>
            </a:r>
          </a:p>
          <a:p>
            <a:r>
              <a:rPr lang="pt-BR" sz="2400" dirty="0"/>
              <a:t>            </a:t>
            </a:r>
            <a:r>
              <a:rPr lang="pt-BR" sz="2400" dirty="0" err="1"/>
              <a:t>contador_pares</a:t>
            </a:r>
            <a:r>
              <a:rPr lang="pt-BR" sz="2400" dirty="0"/>
              <a:t> = </a:t>
            </a:r>
            <a:r>
              <a:rPr lang="pt-BR" sz="2400" dirty="0" err="1"/>
              <a:t>contador_pares</a:t>
            </a:r>
            <a:r>
              <a:rPr lang="pt-BR" sz="2400" dirty="0"/>
              <a:t> + 1</a:t>
            </a:r>
          </a:p>
          <a:p>
            <a:r>
              <a:rPr lang="pt-BR" sz="2400" dirty="0"/>
              <a:t>         num = num + 1</a:t>
            </a:r>
          </a:p>
          <a:p>
            <a:r>
              <a:rPr lang="pt-BR" sz="2400" dirty="0"/>
              <a:t>print('\n\n Total de números divisíveis por 2 : ', </a:t>
            </a:r>
            <a:r>
              <a:rPr lang="pt-BR" sz="2400" dirty="0" err="1"/>
              <a:t>contador_pares</a:t>
            </a:r>
            <a:r>
              <a:rPr lang="pt-BR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32824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4A608B0-6A9B-7984-C292-13D533CBC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0D7C2-728A-4684-8391-2B83B6B1E49B}" type="datetime1">
              <a:rPr lang="pt-BR" smtClean="0"/>
              <a:t>03/03/2026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A204CC9-AAC6-F936-2CE6-5E734B3AF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600" b="1" dirty="0"/>
              <a:t>Cap03-Prog03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9783126-36AA-6F28-46F8-70EE0755C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8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0698004E-77EE-F764-AC32-C51862725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i="1" u="none" strike="noStrike" baseline="0" dirty="0">
                <a:latin typeface="CIDFont+F1"/>
              </a:rPr>
              <a:t>Exercícios:</a:t>
            </a:r>
            <a:endParaRPr lang="pt-BR" b="1" i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FC60104-95D6-38A7-BC86-1B17AF85797C}"/>
              </a:ext>
            </a:extLst>
          </p:cNvPr>
          <p:cNvSpPr txBox="1"/>
          <p:nvPr/>
        </p:nvSpPr>
        <p:spPr>
          <a:xfrm>
            <a:off x="846015" y="1536174"/>
            <a:ext cx="1067014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AutoNum type="arabicParenR"/>
            </a:pPr>
            <a:r>
              <a:rPr lang="pt-BR" sz="2400" b="0" i="0" u="none" strike="noStrike" baseline="0" dirty="0">
                <a:latin typeface="CIDFont+F2"/>
              </a:rPr>
              <a:t>Faça um programa que mostre a tabuada de 1 até 10 de um número inteiro lido do teclado. O resultado deve aparecer da seguinte forma:</a:t>
            </a:r>
          </a:p>
          <a:p>
            <a:pPr algn="l"/>
            <a:endParaRPr lang="pt-BR" sz="2400" b="0" i="0" u="none" strike="noStrike" baseline="0" dirty="0">
              <a:latin typeface="CIDFont+F2"/>
            </a:endParaRPr>
          </a:p>
          <a:p>
            <a:pPr algn="l"/>
            <a:r>
              <a:rPr lang="pt-BR" sz="2400" b="0" i="0" u="none" strike="noStrike" baseline="0" dirty="0">
                <a:latin typeface="CIDFont+F2"/>
              </a:rPr>
              <a:t>Se o número lido for 5.</a:t>
            </a:r>
          </a:p>
          <a:p>
            <a:pPr algn="l"/>
            <a:r>
              <a:rPr lang="pt-BR" sz="2400" b="0" i="0" u="none" strike="noStrike" baseline="0" dirty="0">
                <a:latin typeface="CIDFont+F2"/>
              </a:rPr>
              <a:t>1 x 5 = 5</a:t>
            </a:r>
          </a:p>
          <a:p>
            <a:pPr algn="l"/>
            <a:r>
              <a:rPr lang="pt-BR" sz="2400" b="0" i="0" u="none" strike="noStrike" baseline="0" dirty="0">
                <a:latin typeface="CIDFont+F2"/>
              </a:rPr>
              <a:t>2 x 5 = 10</a:t>
            </a:r>
          </a:p>
          <a:p>
            <a:pPr algn="l"/>
            <a:r>
              <a:rPr lang="pt-BR" sz="2400" b="0" i="0" u="none" strike="noStrike" baseline="0" dirty="0">
                <a:latin typeface="CIDFont+F2"/>
              </a:rPr>
              <a:t>.</a:t>
            </a:r>
          </a:p>
          <a:p>
            <a:pPr algn="l"/>
            <a:r>
              <a:rPr lang="pt-BR" sz="2400" b="0" i="0" u="none" strike="noStrike" baseline="0" dirty="0">
                <a:latin typeface="CIDFont+F2"/>
              </a:rPr>
              <a:t>.</a:t>
            </a:r>
          </a:p>
          <a:p>
            <a:pPr algn="l"/>
            <a:r>
              <a:rPr lang="pt-BR" sz="2400" b="0" i="0" u="none" strike="noStrike" baseline="0" dirty="0">
                <a:latin typeface="CIDFont+F2"/>
              </a:rPr>
              <a:t>.</a:t>
            </a:r>
          </a:p>
          <a:p>
            <a:pPr algn="l"/>
            <a:r>
              <a:rPr lang="pt-BR" sz="2400" b="0" i="0" u="none" strike="noStrike" baseline="0" dirty="0">
                <a:latin typeface="CIDFont+F2"/>
              </a:rPr>
              <a:t>10 x 5 = 50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9118519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FB7AA58-0C28-939B-9FEE-0DE8B7A70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6179B-F7EA-4F18-AF5C-C2B2712533A9}" type="datetime1">
              <a:rPr lang="pt-BR" smtClean="0"/>
              <a:t>03/03/2026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A02DA80-D46F-E499-4CB2-EB48DE05C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600" b="1" dirty="0"/>
              <a:t>Cap03-Prog04 – Cap03-Prog05 - Cap03-Prog06 - Cap03-Prog07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9C3897F-E533-9296-B019-D6D461CF6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9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946DC43C-545E-76B3-B01C-489ABC6E0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 u="none" strike="noStrike" baseline="0" dirty="0">
                <a:latin typeface="CIDFont+F1"/>
              </a:rPr>
              <a:t>Exercícios</a:t>
            </a:r>
            <a:endParaRPr lang="pt-BR" i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8D558E6-1C90-F54A-6D1D-7944019E97FA}"/>
              </a:ext>
            </a:extLst>
          </p:cNvPr>
          <p:cNvSpPr txBox="1"/>
          <p:nvPr/>
        </p:nvSpPr>
        <p:spPr>
          <a:xfrm>
            <a:off x="774700" y="1663700"/>
            <a:ext cx="1109283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indent="-355600" algn="l"/>
            <a:r>
              <a:rPr lang="pt-BR" sz="2800" b="0" i="0" u="none" strike="noStrike" baseline="0" dirty="0">
                <a:latin typeface="CIDFont+F2"/>
              </a:rPr>
              <a:t>2) Faça um programa que imprima os 100 primeiros números pares positivos.</a:t>
            </a:r>
          </a:p>
          <a:p>
            <a:pPr algn="l"/>
            <a:endParaRPr lang="pt-BR" sz="2800" b="0" i="0" u="none" strike="noStrike" baseline="0" dirty="0">
              <a:latin typeface="CIDFont+F2"/>
            </a:endParaRPr>
          </a:p>
          <a:p>
            <a:pPr marL="355600" indent="-355600" algn="l"/>
            <a:r>
              <a:rPr lang="pt-BR" sz="2800" b="0" i="0" u="none" strike="noStrike" baseline="0" dirty="0">
                <a:latin typeface="CIDFont+F2"/>
              </a:rPr>
              <a:t>3) Faça um programa que imprima os múltiplos de 5 no intervalo de 1 até 500.</a:t>
            </a:r>
          </a:p>
          <a:p>
            <a:pPr algn="l"/>
            <a:endParaRPr lang="pt-BR" sz="2800" b="0" i="0" u="none" strike="noStrike" baseline="0" dirty="0">
              <a:latin typeface="CIDFont+F2"/>
            </a:endParaRPr>
          </a:p>
          <a:p>
            <a:pPr algn="l"/>
            <a:r>
              <a:rPr lang="pt-BR" sz="2800" b="0" i="0" u="none" strike="noStrike" baseline="0" dirty="0">
                <a:latin typeface="CIDFont+F2"/>
              </a:rPr>
              <a:t>4) Faça um programa que imprima o quadrado dos números de 1 até 20.</a:t>
            </a:r>
          </a:p>
          <a:p>
            <a:pPr algn="l"/>
            <a:endParaRPr lang="pt-BR" sz="2800" b="0" i="0" u="none" strike="noStrike" baseline="0" dirty="0">
              <a:latin typeface="CIDFont+F2"/>
            </a:endParaRPr>
          </a:p>
          <a:p>
            <a:pPr algn="l"/>
            <a:r>
              <a:rPr lang="pt-BR" sz="2800" b="0" i="0" u="none" strike="noStrike" baseline="0" dirty="0">
                <a:latin typeface="CIDFont+F2"/>
              </a:rPr>
              <a:t>5) Faça um programa que imprima os números pares de 1 a 600.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18225903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F792EBA-AF1E-50A9-6F8A-481C80497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C1D1F-ADD7-4DD7-AFFF-FF530EDD8024}" type="datetime1">
              <a:rPr lang="pt-BR" smtClean="0"/>
              <a:t>03/03/2026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32C7268-A4CA-8A0B-88C3-07A0850B6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600" b="1" dirty="0"/>
              <a:t>Cap03-Prog08 - Cap03-Prog09 - Cap03-Prog10 - Cap03-Prog11</a:t>
            </a:r>
            <a:endParaRPr lang="pt-BR" sz="16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6DAE401-BA01-7365-1AD5-9D13FA432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10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B47D2E07-3097-A4B9-CCCA-A3816B754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0" u="none" strike="noStrike" baseline="0" dirty="0">
                <a:latin typeface="CIDFont+F1"/>
              </a:rPr>
              <a:t>Exercícios</a:t>
            </a:r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DCC418A-AE9E-1A15-427B-8D2DDA79BDE1}"/>
              </a:ext>
            </a:extLst>
          </p:cNvPr>
          <p:cNvSpPr txBox="1"/>
          <p:nvPr/>
        </p:nvSpPr>
        <p:spPr>
          <a:xfrm>
            <a:off x="698500" y="1399460"/>
            <a:ext cx="107442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indent="-355600" algn="just"/>
            <a:r>
              <a:rPr lang="pt-BR" sz="2800" b="0" i="0" u="none" strike="noStrike" baseline="0" dirty="0">
                <a:latin typeface="CIDFont+F2"/>
              </a:rPr>
              <a:t>6) Faça um programa que leia 10 números e imprima a raiz quadrada de cada número.</a:t>
            </a:r>
          </a:p>
          <a:p>
            <a:pPr algn="just"/>
            <a:endParaRPr lang="pt-BR" sz="2800" b="0" i="0" u="none" strike="noStrike" baseline="0" dirty="0">
              <a:latin typeface="CIDFont+F2"/>
            </a:endParaRPr>
          </a:p>
          <a:p>
            <a:pPr marL="355600" indent="-355600" algn="just"/>
            <a:r>
              <a:rPr lang="pt-BR" sz="2800" b="0" i="0" u="none" strike="noStrike" baseline="0" dirty="0">
                <a:latin typeface="CIDFont+F2"/>
              </a:rPr>
              <a:t>7) Faça um programa que leia 100 números inteiros e diga qual é o menor.</a:t>
            </a:r>
          </a:p>
          <a:p>
            <a:pPr algn="just"/>
            <a:endParaRPr lang="pt-BR" sz="2800" b="0" i="0" u="none" strike="noStrike" baseline="0" dirty="0">
              <a:latin typeface="CIDFont+F2"/>
            </a:endParaRPr>
          </a:p>
          <a:p>
            <a:pPr marL="355600" indent="-355600" algn="just"/>
            <a:r>
              <a:rPr lang="pt-BR" sz="2800" b="0" i="0" u="none" strike="noStrike" baseline="0" dirty="0">
                <a:latin typeface="CIDFont+F2"/>
              </a:rPr>
              <a:t>8) Faça um programa que leia 100 números inteiros e diga quantos são ímpares.</a:t>
            </a:r>
          </a:p>
          <a:p>
            <a:pPr algn="just"/>
            <a:endParaRPr lang="pt-BR" sz="2800" b="0" i="0" u="none" strike="noStrike" baseline="0" dirty="0">
              <a:latin typeface="CIDFont+F2"/>
            </a:endParaRPr>
          </a:p>
          <a:p>
            <a:pPr marL="355600" indent="-355600" algn="just"/>
            <a:r>
              <a:rPr lang="pt-BR" sz="2800" b="0" i="0" u="none" strike="noStrike" baseline="0" dirty="0">
                <a:latin typeface="CIDFont+F2"/>
              </a:rPr>
              <a:t>9) Faça um programa que leia 100 números e diga quantos estão acima de 1000, quantos são iguais a 1000 e quantos estão abaixo de 1000.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17660485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09E8028-188F-FE19-7E05-48CF4C4F1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E4277-ED27-4DE1-8EEC-D983A3BC7F93}" type="datetime1">
              <a:rPr lang="pt-BR" smtClean="0"/>
              <a:t>03/03/2026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02DA233-7C56-8710-F523-A04CCD49A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600" b="1" dirty="0"/>
              <a:t>Cap03-Prog12 - Cap03-Prog13 -Cap03-Prog15</a:t>
            </a:r>
            <a:endParaRPr lang="pt-BR" sz="16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F6EA6A9-0389-43E4-3FF8-ED9C10340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11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4FFB6383-D53C-71A8-2DB0-EF52BDBAA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 dirty="0"/>
              <a:t>Exercícios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884AB15-C013-6C93-6CB4-F436E1C9A09A}"/>
              </a:ext>
            </a:extLst>
          </p:cNvPr>
          <p:cNvSpPr txBox="1"/>
          <p:nvPr/>
        </p:nvSpPr>
        <p:spPr>
          <a:xfrm>
            <a:off x="324466" y="1490504"/>
            <a:ext cx="11628383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dirty="0">
                <a:latin typeface="CIDFont+F2"/>
              </a:rPr>
              <a:t>10) Faça um programa que leia um número inteiro e calcule o seu fatorial.</a:t>
            </a:r>
          </a:p>
          <a:p>
            <a:pPr algn="l"/>
            <a:endParaRPr lang="pt-BR" sz="2800" dirty="0">
              <a:latin typeface="CIDFont+F2"/>
            </a:endParaRPr>
          </a:p>
          <a:p>
            <a:pPr marL="538163" indent="-538163" algn="just"/>
            <a:r>
              <a:rPr lang="pt-BR" sz="2800" dirty="0">
                <a:latin typeface="CIDFont+F2"/>
              </a:rPr>
              <a:t>11) Faça um programa que leia um número inteiro e calcule e mostre os n primeiros termos da série de Fibonacci.</a:t>
            </a:r>
          </a:p>
          <a:p>
            <a:pPr algn="l"/>
            <a:endParaRPr lang="pt-BR" sz="2800" dirty="0">
              <a:latin typeface="CIDFont+F2"/>
            </a:endParaRPr>
          </a:p>
          <a:p>
            <a:pPr marL="533400" indent="-533400" algn="l"/>
            <a:r>
              <a:rPr lang="pt-BR" sz="2800" dirty="0">
                <a:latin typeface="CIDFont+F2"/>
              </a:rPr>
              <a:t>12) Um número perfeito é um número natural para o qual a soma de todos os seus divisores naturais próprios (excluindo ele mesmo) é igual ao próprio número. Exemplo 6 é um número perfeito, pois 6 = 1 + 2 +3. 28 é um número perfeito, pois 28 = 1+2+4+7+14. Faça um programa que leia um número e diga se ele é um número perfeito.</a:t>
            </a:r>
          </a:p>
        </p:txBody>
      </p:sp>
    </p:spTree>
    <p:extLst>
      <p:ext uri="{BB962C8B-B14F-4D97-AF65-F5344CB8AC3E}">
        <p14:creationId xmlns:p14="http://schemas.microsoft.com/office/powerpoint/2010/main" val="18515780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75F37BA-21A0-EF11-6BE8-873718D34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67C1C-E236-4FB5-AE06-4DA95C13DB1E}" type="datetime1">
              <a:rPr lang="pt-BR" smtClean="0"/>
              <a:t>03/03/2026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1876C63-FCEB-29D9-27B8-F5D363224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600" b="1" dirty="0"/>
              <a:t>Cap03-Prog14 - Cap03-Prog14a - Cap03-Prog16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1FB6C62-EAC9-A5F2-6D7D-16B5DAF14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12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595A9C3C-BB5F-B67B-5C38-30D37E2B9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4000" b="1" i="1" u="none" strike="noStrike" baseline="0" dirty="0">
                <a:latin typeface="CIDFont+F1"/>
              </a:rPr>
              <a:t>Exercícios</a:t>
            </a:r>
            <a:endParaRPr lang="pt-BR" sz="4000" b="1" i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A149526-61D7-663D-FA3D-8397AD561CEB}"/>
              </a:ext>
            </a:extLst>
          </p:cNvPr>
          <p:cNvSpPr txBox="1"/>
          <p:nvPr/>
        </p:nvSpPr>
        <p:spPr>
          <a:xfrm>
            <a:off x="239151" y="1566838"/>
            <a:ext cx="1171369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38163" indent="-538163"/>
            <a:r>
              <a:rPr lang="pt-BR" sz="2800" b="0" i="0" u="none" strike="noStrike" baseline="0" dirty="0">
                <a:latin typeface="CIDFont+F2"/>
              </a:rPr>
              <a:t>13) </a:t>
            </a:r>
            <a:r>
              <a:rPr lang="pt-BR" sz="2800" dirty="0">
                <a:latin typeface="CIDFont+F2"/>
              </a:rPr>
              <a:t>Faça um programa que leia um número é verifique se ele é um número primo.</a:t>
            </a:r>
          </a:p>
          <a:p>
            <a:pPr marL="538163" indent="-538163" algn="l"/>
            <a:endParaRPr lang="pt-BR" sz="2800" dirty="0">
              <a:latin typeface="CIDFont+F2"/>
            </a:endParaRPr>
          </a:p>
          <a:p>
            <a:pPr marL="538163" indent="-538163" algn="l"/>
            <a:r>
              <a:rPr lang="pt-BR" sz="2800" b="0" i="0" u="none" strike="noStrike" baseline="0" dirty="0">
                <a:latin typeface="CIDFont+F2"/>
              </a:rPr>
              <a:t>14) Faça um programa que leia um número inteiro n qualquer e mostre na tela a figura abaixo</a:t>
            </a:r>
            <a:r>
              <a:rPr lang="pt-BR" sz="1800" b="0" i="0" u="none" strike="noStrike" baseline="0" dirty="0">
                <a:latin typeface="CIDFont+F2"/>
              </a:rPr>
              <a:t>.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68120260-5F48-9A04-1B11-D0BA0156F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9383" y="3813607"/>
            <a:ext cx="6830926" cy="2480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8512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5E27789-5B62-A976-8E24-C72FB933B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3DAD5-5FA3-44A3-ACF6-88A88E20E7DE}" type="datetime1">
              <a:rPr lang="pt-BR" smtClean="0"/>
              <a:t>03/03/2026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5F2E266-505A-7DE4-C6DB-B51928D6A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600" b="1" dirty="0"/>
              <a:t>Cap03-Prog17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BFDB4BE-61CA-B0F4-3768-7617AAF7E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13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8574110C-94F3-550D-22F0-8AE3B41BF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sz="4400" b="1" i="1" u="none" strike="noStrike" baseline="0" dirty="0">
                <a:latin typeface="CIDFont+F1"/>
              </a:rPr>
              <a:t>Exercícios</a:t>
            </a:r>
            <a:endParaRPr lang="pt-BR" b="1" i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9A8A10B-14D2-9F83-BB9C-D3A1FFA49559}"/>
              </a:ext>
            </a:extLst>
          </p:cNvPr>
          <p:cNvSpPr txBox="1"/>
          <p:nvPr/>
        </p:nvSpPr>
        <p:spPr>
          <a:xfrm>
            <a:off x="583038" y="1528174"/>
            <a:ext cx="11025923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14375" indent="-714375" algn="just"/>
            <a:r>
              <a:rPr lang="pt-BR" sz="2800" b="0" i="0" u="none" strike="noStrike" baseline="0" dirty="0">
                <a:latin typeface="CIDFont+F2"/>
              </a:rPr>
              <a:t>15) Faça um programa que leia a altura e o sexo (codificado em 1=masculino e 2=feminino) de um grupo de n pessoas lidas do teclado.</a:t>
            </a:r>
          </a:p>
          <a:p>
            <a:pPr algn="l"/>
            <a:endParaRPr lang="pt-BR" sz="2800" b="0" i="0" u="none" strike="noStrike" baseline="0" dirty="0">
              <a:latin typeface="CIDFont+F2"/>
            </a:endParaRPr>
          </a:p>
          <a:p>
            <a:pPr marL="715963" algn="l"/>
            <a:r>
              <a:rPr lang="pt-BR" sz="2800" b="0" i="0" u="none" strike="noStrike" baseline="0" dirty="0">
                <a:latin typeface="CIDFont+F2"/>
              </a:rPr>
              <a:t>Calcule e escreva:</a:t>
            </a:r>
          </a:p>
          <a:p>
            <a:pPr marL="715963" algn="l">
              <a:tabLst>
                <a:tab pos="10323513" algn="l"/>
              </a:tabLst>
            </a:pPr>
            <a:r>
              <a:rPr lang="pt-BR" sz="2800" b="0" i="0" u="none" strike="noStrike" baseline="0" dirty="0">
                <a:latin typeface="CIDFont+F2"/>
              </a:rPr>
              <a:t>a) Média da altura do grupo</a:t>
            </a:r>
          </a:p>
          <a:p>
            <a:pPr marL="715963" algn="l"/>
            <a:r>
              <a:rPr lang="pt-BR" sz="2800" b="0" i="0" u="none" strike="noStrike" baseline="0" dirty="0">
                <a:latin typeface="CIDFont+F2"/>
              </a:rPr>
              <a:t>b) Média da altura dos homens</a:t>
            </a:r>
          </a:p>
          <a:p>
            <a:pPr marL="715963" algn="l"/>
            <a:r>
              <a:rPr lang="pt-BR" sz="2800" b="0" i="0" u="none" strike="noStrike" baseline="0" dirty="0">
                <a:latin typeface="CIDFont+F2"/>
              </a:rPr>
              <a:t>c) Média da altura das mulheres</a:t>
            </a:r>
          </a:p>
          <a:p>
            <a:pPr marL="715963" algn="l"/>
            <a:r>
              <a:rPr lang="pt-BR" sz="2800" b="0" i="0" u="none" strike="noStrike" baseline="0" dirty="0">
                <a:latin typeface="CIDFont+F2"/>
              </a:rPr>
              <a:t>d) Maior altura do grupo</a:t>
            </a:r>
          </a:p>
          <a:p>
            <a:pPr marL="715963" algn="l"/>
            <a:r>
              <a:rPr lang="pt-BR" sz="2800" b="0" i="0" u="none" strike="noStrike" baseline="0" dirty="0">
                <a:latin typeface="CIDFont+F2"/>
              </a:rPr>
              <a:t>e) Menor altura do grupo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10264303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0B31561-3F19-9614-075B-5C6276548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5C777-D8B5-4D48-8A73-FFC583D701C2}" type="datetime1">
              <a:rPr lang="pt-BR" smtClean="0"/>
              <a:t>03/03/2026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7539F11-1818-F39C-F212-FFB3461B6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600" b="1" dirty="0"/>
              <a:t>Cap03-Prog18 - Cap03-Prog10-B - Cap03-Prog19 - Cap03-Prog20 - Cap03-Prog21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7137AF4-D1BA-3D96-D0B6-4B11288C8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14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9BC73E25-4024-29C1-5037-61F46F58F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sz="4400" b="1" i="1" u="none" strike="noStrike" baseline="0" dirty="0">
                <a:latin typeface="CIDFont+F1"/>
              </a:rPr>
              <a:t>Exercícios</a:t>
            </a:r>
            <a:endParaRPr lang="pt-BR" b="1" i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7E42E91-E7C5-D75B-F4A6-0606FD602F56}"/>
              </a:ext>
            </a:extLst>
          </p:cNvPr>
          <p:cNvSpPr txBox="1"/>
          <p:nvPr/>
        </p:nvSpPr>
        <p:spPr>
          <a:xfrm>
            <a:off x="456595" y="1438801"/>
            <a:ext cx="11278809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33400" indent="-533400" algn="l"/>
            <a:r>
              <a:rPr lang="pt-BR" sz="2800" dirty="0">
                <a:latin typeface="CIDFont+F2"/>
              </a:rPr>
              <a:t>16) Faça um programa que calcule o fatorial de vários números. Quando for lido um número menor que zero, o programa termina.</a:t>
            </a:r>
          </a:p>
          <a:p>
            <a:pPr algn="l"/>
            <a:endParaRPr lang="pt-BR" sz="2800" dirty="0">
              <a:latin typeface="CIDFont+F2"/>
            </a:endParaRPr>
          </a:p>
          <a:p>
            <a:pPr marL="533400" indent="-533400" algn="l"/>
            <a:r>
              <a:rPr lang="pt-BR" sz="2800" dirty="0">
                <a:latin typeface="CIDFont+F2"/>
              </a:rPr>
              <a:t>17) Faça um programa que leia um número inteiro qualquer e mostre os ‘n’ primeiros números primos até esse número digitado.</a:t>
            </a:r>
          </a:p>
          <a:p>
            <a:pPr algn="l"/>
            <a:endParaRPr lang="pt-BR" sz="2800" dirty="0">
              <a:latin typeface="CIDFont+F2"/>
            </a:endParaRPr>
          </a:p>
          <a:p>
            <a:pPr marL="533400" indent="-533400" algn="l"/>
            <a:r>
              <a:rPr lang="pt-BR" sz="2800" dirty="0">
                <a:latin typeface="CIDFont+F2"/>
              </a:rPr>
              <a:t>18) Faça um programa que leia um número real x e um número inteiro y e calcule x elevado a y. Obs.: Não é permitido a utilização do operador **.</a:t>
            </a:r>
          </a:p>
          <a:p>
            <a:pPr algn="l"/>
            <a:endParaRPr lang="pt-BR" sz="2800" dirty="0">
              <a:latin typeface="CIDFont+F2"/>
            </a:endParaRPr>
          </a:p>
          <a:p>
            <a:pPr marL="533400" indent="-533400" algn="l"/>
            <a:r>
              <a:rPr lang="pt-BR" sz="2800" dirty="0">
                <a:latin typeface="CIDFont+F2"/>
              </a:rPr>
              <a:t>19) Faça um programa que leia um número binário qualquer e calcule o seu decimal correspondente.</a:t>
            </a:r>
          </a:p>
        </p:txBody>
      </p:sp>
    </p:spTree>
    <p:extLst>
      <p:ext uri="{BB962C8B-B14F-4D97-AF65-F5344CB8AC3E}">
        <p14:creationId xmlns:p14="http://schemas.microsoft.com/office/powerpoint/2010/main" val="12800075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2839998-00C5-2122-F6C3-9A95968C3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7C162-58C7-4703-B0F6-B12B480F3234}" type="datetime1">
              <a:rPr lang="pt-BR" smtClean="0"/>
              <a:t>03/03/2026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59ECF1F-A32C-0F60-49FA-9CC4CA0A7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45921" y="6393928"/>
            <a:ext cx="9284676" cy="365125"/>
          </a:xfrm>
        </p:spPr>
        <p:txBody>
          <a:bodyPr/>
          <a:lstStyle/>
          <a:p>
            <a:r>
              <a:rPr lang="pt-BR" b="1" dirty="0"/>
              <a:t>Cap03-Prog21A - Cap03-Prog22 - Cap03-Prog23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B39021A-D51F-576A-566A-36C6617BA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15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E4A997B8-58CA-C0E7-93CE-2131A8F94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sz="4400" b="1" i="1" u="none" strike="noStrike" baseline="0" dirty="0">
                <a:latin typeface="CIDFont+F1"/>
              </a:rPr>
              <a:t>Exercícios</a:t>
            </a:r>
            <a:endParaRPr lang="pt-BR" i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1020A0F-AA7E-865D-DEF5-837B0B5BF39A}"/>
              </a:ext>
            </a:extLst>
          </p:cNvPr>
          <p:cNvSpPr txBox="1"/>
          <p:nvPr/>
        </p:nvSpPr>
        <p:spPr>
          <a:xfrm>
            <a:off x="414734" y="1248840"/>
            <a:ext cx="114528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33400" indent="-533400"/>
            <a:r>
              <a:rPr lang="pt-BR" sz="2800" dirty="0">
                <a:latin typeface="CIDFont+F2"/>
              </a:rPr>
              <a:t>20) Faça um programa que calcule o valor de S(n).</a:t>
            </a:r>
          </a:p>
          <a:p>
            <a:pPr marL="990600" indent="-365125">
              <a:buAutoNum type="alphaLcParenR"/>
            </a:pPr>
            <a:r>
              <a:rPr lang="pt-BR" sz="2800" dirty="0">
                <a:latin typeface="CIDFont+F2"/>
              </a:rPr>
              <a:t>S(n) = x/1 – x/2 + x/3 – x/4 + x/5 - .... +- x/n</a:t>
            </a:r>
          </a:p>
          <a:p>
            <a:pPr marL="990600" indent="-441325">
              <a:buAutoNum type="alphaLcParenR"/>
            </a:pPr>
            <a:endParaRPr lang="pt-BR" sz="2800" dirty="0">
              <a:latin typeface="CIDFont+F2"/>
            </a:endParaRPr>
          </a:p>
          <a:p>
            <a:pPr marL="990600" indent="-365125"/>
            <a:r>
              <a:rPr lang="pt-BR" sz="2800" dirty="0">
                <a:latin typeface="CIDFont+F2"/>
              </a:rPr>
              <a:t>b) S(n) = 2/1 + 3/1 + 5/2 + 7/3 + 11/5 + 13/8 + 17/13 + 19/21 + ... (n primeiros termos)</a:t>
            </a:r>
          </a:p>
          <a:p>
            <a:pPr marL="990600" indent="-365125"/>
            <a:endParaRPr lang="pt-BR" sz="2800" dirty="0">
              <a:latin typeface="CIDFont+F2"/>
            </a:endParaRPr>
          </a:p>
          <a:p>
            <a:pPr marL="533400" indent="-533400"/>
            <a:r>
              <a:rPr lang="pt-BR" sz="2800" dirty="0">
                <a:latin typeface="CIDFont+F2"/>
              </a:rPr>
              <a:t>21) Quantas vezes “S” será executado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955E6A27-8435-64D4-6C92-CF11020857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0206744"/>
              </p:ext>
            </p:extLst>
          </p:nvPr>
        </p:nvGraphicFramePr>
        <p:xfrm>
          <a:off x="1497038" y="4302959"/>
          <a:ext cx="79799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89950">
                  <a:extLst>
                    <a:ext uri="{9D8B030D-6E8A-4147-A177-3AD203B41FA5}">
                      <a16:colId xmlns:a16="http://schemas.microsoft.com/office/drawing/2014/main" val="3952001776"/>
                    </a:ext>
                  </a:extLst>
                </a:gridCol>
                <a:gridCol w="3989950">
                  <a:extLst>
                    <a:ext uri="{9D8B030D-6E8A-4147-A177-3AD203B41FA5}">
                      <a16:colId xmlns:a16="http://schemas.microsoft.com/office/drawing/2014/main" val="4218750290"/>
                    </a:ext>
                  </a:extLst>
                </a:gridCol>
              </a:tblGrid>
              <a:tr h="2010410">
                <a:tc>
                  <a:txBody>
                    <a:bodyPr/>
                    <a:lstStyle/>
                    <a:p>
                      <a:pPr marL="533400" indent="-533400"/>
                      <a:r>
                        <a:rPr lang="pt-BR" sz="1800" dirty="0">
                          <a:latin typeface="CIDFont+F2"/>
                        </a:rPr>
                        <a:t>a)</a:t>
                      </a:r>
                    </a:p>
                    <a:p>
                      <a:pPr marL="533400" indent="-533400"/>
                      <a:r>
                        <a:rPr lang="pt-BR" sz="1800" dirty="0">
                          <a:latin typeface="CIDFont+F2"/>
                        </a:rPr>
                        <a:t>b = False</a:t>
                      </a:r>
                    </a:p>
                    <a:p>
                      <a:pPr marL="533400" indent="-533400"/>
                      <a:r>
                        <a:rPr lang="pt-BR" sz="1800" dirty="0">
                          <a:latin typeface="CIDFont+F2"/>
                        </a:rPr>
                        <a:t>c = True</a:t>
                      </a:r>
                    </a:p>
                    <a:p>
                      <a:pPr marL="533400" indent="-533400"/>
                      <a:r>
                        <a:rPr lang="en-US" sz="1800" dirty="0">
                          <a:latin typeface="CIDFont+F2"/>
                        </a:rPr>
                        <a:t>while not (not(b) and not(c)):</a:t>
                      </a:r>
                    </a:p>
                    <a:p>
                      <a:pPr marL="533400" indent="-533400"/>
                      <a:r>
                        <a:rPr lang="pt-BR" sz="1800" dirty="0">
                          <a:latin typeface="CIDFont+F2"/>
                        </a:rPr>
                        <a:t>      c = True </a:t>
                      </a:r>
                      <a:r>
                        <a:rPr lang="pt-BR" sz="1800" dirty="0" err="1">
                          <a:latin typeface="CIDFont+F2"/>
                        </a:rPr>
                        <a:t>and</a:t>
                      </a:r>
                      <a:r>
                        <a:rPr lang="pt-BR" sz="1800" dirty="0">
                          <a:latin typeface="CIDFont+F2"/>
                        </a:rPr>
                        <a:t> b</a:t>
                      </a:r>
                    </a:p>
                    <a:p>
                      <a:pPr marL="533400" indent="-533400"/>
                      <a:r>
                        <a:rPr lang="pt-BR" sz="1800" dirty="0">
                          <a:latin typeface="CIDFont+F2"/>
                        </a:rPr>
                        <a:t>      S</a:t>
                      </a:r>
                    </a:p>
                    <a:p>
                      <a:pPr marL="533400" indent="-533400"/>
                      <a:r>
                        <a:rPr lang="pt-BR" sz="1800" dirty="0">
                          <a:latin typeface="CIDFont+F2"/>
                        </a:rPr>
                        <a:t>      b=not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27063" algn="l"/>
                      <a:r>
                        <a:rPr lang="pt-BR" sz="1800" dirty="0">
                          <a:latin typeface="CIDFont+F2"/>
                        </a:rPr>
                        <a:t>b)</a:t>
                      </a:r>
                    </a:p>
                    <a:p>
                      <a:pPr marL="627063" algn="l"/>
                      <a:r>
                        <a:rPr lang="pt-BR" sz="1800" dirty="0">
                          <a:latin typeface="CIDFont+F2"/>
                        </a:rPr>
                        <a:t>b=False</a:t>
                      </a:r>
                    </a:p>
                    <a:p>
                      <a:pPr marL="627063" algn="l"/>
                      <a:r>
                        <a:rPr lang="pt-BR" sz="1800" dirty="0" err="1">
                          <a:latin typeface="CIDFont+F2"/>
                        </a:rPr>
                        <a:t>while</a:t>
                      </a:r>
                      <a:r>
                        <a:rPr lang="pt-BR" sz="1800" dirty="0">
                          <a:latin typeface="CIDFont+F2"/>
                        </a:rPr>
                        <a:t> not b:</a:t>
                      </a:r>
                    </a:p>
                    <a:p>
                      <a:pPr marL="627063" algn="l"/>
                      <a:r>
                        <a:rPr lang="pt-BR" sz="1800" dirty="0">
                          <a:latin typeface="CIDFont+F2"/>
                        </a:rPr>
                        <a:t>    </a:t>
                      </a:r>
                      <a:r>
                        <a:rPr lang="pt-BR" sz="1800" dirty="0" err="1">
                          <a:latin typeface="CIDFont+F2"/>
                        </a:rPr>
                        <a:t>while</a:t>
                      </a:r>
                      <a:r>
                        <a:rPr lang="pt-BR" sz="1800" dirty="0">
                          <a:latin typeface="CIDFont+F2"/>
                        </a:rPr>
                        <a:t> not b:</a:t>
                      </a:r>
                    </a:p>
                    <a:p>
                      <a:pPr marL="627063" algn="l"/>
                      <a:r>
                        <a:rPr lang="pt-BR" sz="1800" dirty="0">
                          <a:latin typeface="CIDFont+F2"/>
                        </a:rPr>
                        <a:t>        S</a:t>
                      </a:r>
                    </a:p>
                    <a:p>
                      <a:pPr marL="627063" algn="l"/>
                      <a:r>
                        <a:rPr lang="pt-BR" sz="1800" dirty="0">
                          <a:latin typeface="CIDFont+F2"/>
                        </a:rPr>
                        <a:t>        b = not b</a:t>
                      </a:r>
                    </a:p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23968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58014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597DAB0-E650-226B-FE2A-39A37B1D2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18062-CAEB-48BB-9D3C-D60428890761}" type="datetime1">
              <a:rPr lang="pt-BR" smtClean="0"/>
              <a:t>03/03/2026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9544FA9-131E-1644-7F23-DD0DAFDE2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b="1" dirty="0"/>
              <a:t>Cap03-Prog24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321014D-8052-9A5D-75BE-F38DFD735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pPr/>
              <a:t>16</a:t>
            </a:fld>
            <a:endParaRPr lang="pt-BR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FBA2F83F-E3BD-E733-8E73-5E754438D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 dirty="0"/>
              <a:t>Exercícios</a:t>
            </a:r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DF191A5-88C2-1CDB-09BA-B52FF4348D62}"/>
              </a:ext>
            </a:extLst>
          </p:cNvPr>
          <p:cNvSpPr txBox="1"/>
          <p:nvPr/>
        </p:nvSpPr>
        <p:spPr>
          <a:xfrm>
            <a:off x="621192" y="1514178"/>
            <a:ext cx="11334134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33400" indent="-533400"/>
            <a:r>
              <a:rPr lang="pt-BR" sz="2800" dirty="0">
                <a:latin typeface="CIDFont+F2"/>
              </a:rPr>
              <a:t>22) Crie um programa que: Leia notas de alunos (valores entre 0 e 10) usando </a:t>
            </a:r>
            <a:r>
              <a:rPr lang="pt-BR" sz="2800" dirty="0" err="1">
                <a:latin typeface="CIDFont+F2"/>
              </a:rPr>
              <a:t>while</a:t>
            </a:r>
            <a:r>
              <a:rPr lang="pt-BR" sz="2800" dirty="0">
                <a:latin typeface="CIDFont+F2"/>
              </a:rPr>
              <a:t>. A leitura deve continuar até que o usuário digite -1. Ao final, mostre: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BR" sz="2800" dirty="0">
                <a:latin typeface="CIDFont+F2"/>
              </a:rPr>
              <a:t>a quantidade de notas válidas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BR" sz="2800" dirty="0">
                <a:latin typeface="CIDFont+F2"/>
              </a:rPr>
              <a:t>a média das notas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BR" sz="2800" dirty="0">
                <a:latin typeface="CIDFont+F2"/>
              </a:rPr>
              <a:t>a maior e a menor nota digitada</a:t>
            </a:r>
          </a:p>
          <a:p>
            <a:r>
              <a:rPr lang="pt-BR" sz="2800" dirty="0">
                <a:latin typeface="CIDFont+F2"/>
              </a:rPr>
              <a:t>📌 Regras</a:t>
            </a:r>
          </a:p>
          <a:p>
            <a:r>
              <a:rPr lang="pt-BR" sz="2800" dirty="0">
                <a:latin typeface="CIDFont+F2"/>
              </a:rPr>
              <a:t>Ignore valores fora do intervalo 0 a 10. Use apenas </a:t>
            </a:r>
            <a:r>
              <a:rPr lang="pt-BR" sz="2800" dirty="0" err="1">
                <a:latin typeface="CIDFont+F2"/>
              </a:rPr>
              <a:t>while</a:t>
            </a:r>
            <a:r>
              <a:rPr lang="pt-BR" sz="2800" dirty="0">
                <a:latin typeface="CIDFont+F2"/>
              </a:rPr>
              <a:t> para a repetição</a:t>
            </a:r>
          </a:p>
          <a:p>
            <a:pPr marL="990600" indent="-365125"/>
            <a:endParaRPr lang="pt-BR" sz="1800" dirty="0">
              <a:latin typeface="CIDFont+F2"/>
            </a:endParaRPr>
          </a:p>
        </p:txBody>
      </p:sp>
    </p:spTree>
    <p:extLst>
      <p:ext uri="{BB962C8B-B14F-4D97-AF65-F5344CB8AC3E}">
        <p14:creationId xmlns:p14="http://schemas.microsoft.com/office/powerpoint/2010/main" val="3973799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4A3A580C3F0644BAE65217E90A3571B" ma:contentTypeVersion="10" ma:contentTypeDescription="Crie um novo documento." ma:contentTypeScope="" ma:versionID="17db1123b059ccd9b7a0137fb695dfba">
  <xsd:schema xmlns:xsd="http://www.w3.org/2001/XMLSchema" xmlns:xs="http://www.w3.org/2001/XMLSchema" xmlns:p="http://schemas.microsoft.com/office/2006/metadata/properties" xmlns:ns2="30a7b03c-4792-4e17-9dab-b93b92a33270" xmlns:ns3="5c7a6bef-5354-4968-b627-13d8ea6c420d" targetNamespace="http://schemas.microsoft.com/office/2006/metadata/properties" ma:root="true" ma:fieldsID="8a52f4d396bca3b056e9e32e12d83d9c" ns2:_="" ns3:_="">
    <xsd:import namespace="30a7b03c-4792-4e17-9dab-b93b92a33270"/>
    <xsd:import namespace="5c7a6bef-5354-4968-b627-13d8ea6c420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a7b03c-4792-4e17-9dab-b93b92a3327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c666036a-182f-4ecd-b44e-d420e52619f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7a6bef-5354-4968-b627-13d8ea6c420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53475c2-86e0-40c6-a7f9-d735a9095961}" ma:internalName="TaxCatchAll" ma:showField="CatchAllData" ma:web="5c7a6bef-5354-4968-b627-13d8ea6c42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0a7b03c-4792-4e17-9dab-b93b92a33270">
      <Terms xmlns="http://schemas.microsoft.com/office/infopath/2007/PartnerControls"/>
    </lcf76f155ced4ddcb4097134ff3c332f>
    <TaxCatchAll xmlns="5c7a6bef-5354-4968-b627-13d8ea6c420d" xsi:nil="true"/>
  </documentManagement>
</p:properties>
</file>

<file path=customXml/itemProps1.xml><?xml version="1.0" encoding="utf-8"?>
<ds:datastoreItem xmlns:ds="http://schemas.openxmlformats.org/officeDocument/2006/customXml" ds:itemID="{150F9812-8F9E-4E02-BC0A-60198CC97C03}"/>
</file>

<file path=customXml/itemProps2.xml><?xml version="1.0" encoding="utf-8"?>
<ds:datastoreItem xmlns:ds="http://schemas.openxmlformats.org/officeDocument/2006/customXml" ds:itemID="{FEAA0D9F-1251-4E3E-BED2-5831CA60A8AB}"/>
</file>

<file path=customXml/itemProps3.xml><?xml version="1.0" encoding="utf-8"?>
<ds:datastoreItem xmlns:ds="http://schemas.openxmlformats.org/officeDocument/2006/customXml" ds:itemID="{C1BD8789-0611-4681-A193-58DFF22EB0D5}"/>
</file>

<file path=docProps/app.xml><?xml version="1.0" encoding="utf-8"?>
<Properties xmlns="http://schemas.openxmlformats.org/officeDocument/2006/extended-properties" xmlns:vt="http://schemas.openxmlformats.org/officeDocument/2006/docPropsVTypes">
  <TotalTime>8295</TotalTime>
  <Words>1256</Words>
  <Application>Microsoft Office PowerPoint</Application>
  <PresentationFormat>Widescreen</PresentationFormat>
  <Paragraphs>216</Paragraphs>
  <Slides>16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7" baseType="lpstr">
      <vt:lpstr>Aptos</vt:lpstr>
      <vt:lpstr>Aptos Display</vt:lpstr>
      <vt:lpstr>Arial</vt:lpstr>
      <vt:lpstr>CIDFont+F1</vt:lpstr>
      <vt:lpstr>CIDFont+F2</vt:lpstr>
      <vt:lpstr>CIDFont+F3</vt:lpstr>
      <vt:lpstr>CIDFont+F4</vt:lpstr>
      <vt:lpstr>CIDFont+F5</vt:lpstr>
      <vt:lpstr>CIDFont+F6</vt:lpstr>
      <vt:lpstr>CIDFont+F7</vt:lpstr>
      <vt:lpstr>Tema do Office</vt:lpstr>
      <vt:lpstr>              Centro Federal de Educação Tecnológica Celso Suckow da Fonseca Escola de Informática e Computação Ciência da Computação</vt:lpstr>
      <vt:lpstr>Estruturas de Repetição em Python</vt:lpstr>
      <vt:lpstr>Estrutura de Repetição - while...</vt:lpstr>
      <vt:lpstr>Estrutura de Repetição - while...</vt:lpstr>
      <vt:lpstr>Estrutura de Repetição - while...</vt:lpstr>
      <vt:lpstr>Estrutura de Repetição - while...</vt:lpstr>
      <vt:lpstr>Estrutura de Repetição - while</vt:lpstr>
      <vt:lpstr>Exercícios:</vt:lpstr>
      <vt:lpstr>Exercícios</vt:lpstr>
      <vt:lpstr>Exercícios</vt:lpstr>
      <vt:lpstr>Exercícios</vt:lpstr>
      <vt:lpstr>Exercícios</vt:lpstr>
      <vt:lpstr>Exercícios</vt:lpstr>
      <vt:lpstr>Exercícios</vt:lpstr>
      <vt:lpstr>Exercícios</vt:lpstr>
      <vt:lpstr>Exercícios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ALMIR SILVA DA SILVEIRA</dc:creator>
  <cp:lastModifiedBy>ALMIR SILVA DA SILVEIRA</cp:lastModifiedBy>
  <cp:revision>135</cp:revision>
  <dcterms:created xsi:type="dcterms:W3CDTF">2024-07-25T18:00:53Z</dcterms:created>
  <dcterms:modified xsi:type="dcterms:W3CDTF">2026-03-03T10:29:39Z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0x01010024A3A580C3F0644BAE65217E90A3571B</vt:lpwstr>
  </property>
</Properties>
</file>