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8" r:id="rId5"/>
    <p:sldId id="259" r:id="rId6"/>
    <p:sldId id="260" r:id="rId7"/>
    <p:sldId id="319" r:id="rId8"/>
    <p:sldId id="320" r:id="rId9"/>
    <p:sldId id="321" r:id="rId10"/>
    <p:sldId id="332" r:id="rId11"/>
    <p:sldId id="322" r:id="rId12"/>
    <p:sldId id="333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1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4D2A"/>
    <a:srgbClr val="FF00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5095" autoAdjust="0"/>
  </p:normalViewPr>
  <p:slideViewPr>
    <p:cSldViewPr snapToGrid="0">
      <p:cViewPr varScale="1">
        <p:scale>
          <a:sx n="63" d="100"/>
          <a:sy n="63" d="100"/>
        </p:scale>
        <p:origin x="894" y="7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3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D7F6E95-DF0A-DDE8-9E53-D9371CC825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44EA07-597F-F819-7229-532D66BD1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DEF1-98DE-47F3-AB9B-696578D75E1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97D246-3E04-820B-A4C8-7E38ADED3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651051-B63C-CCEF-B43D-06863876E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A3027-C7E8-477B-B942-A004D5627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40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161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84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14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8826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30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14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pt-BR" dirty="0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466" y="349522"/>
            <a:ext cx="1681066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600" y="6356350"/>
            <a:ext cx="421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</a:t>
            </a:fld>
            <a:endParaRPr lang="pt-BR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914400" y="2028616"/>
            <a:ext cx="1078491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Algoritmos Computacionais e</a:t>
            </a:r>
          </a:p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 de Dados em Python</a:t>
            </a: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– Cap-04 –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Comandos de Repetição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</a:p>
          <a:p>
            <a:pPr algn="ctr"/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FB8547-1908-F806-BCA2-41626F56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DB808A-24F8-E592-EC38-AD9000C9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6BA8FC-ADB4-1D2A-F9D0-071FD437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2621C16-6A9E-F6F6-AF16-AEB40331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760" y="365125"/>
            <a:ext cx="9596774" cy="988219"/>
          </a:xfrm>
        </p:spPr>
        <p:txBody>
          <a:bodyPr>
            <a:no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Estruturas de Repetição em Python </a:t>
            </a:r>
            <a:endParaRPr lang="pt-BR" b="1" i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6E6065-85F8-30B5-02CD-F2CCD729BEEB}"/>
              </a:ext>
            </a:extLst>
          </p:cNvPr>
          <p:cNvSpPr txBox="1"/>
          <p:nvPr/>
        </p:nvSpPr>
        <p:spPr>
          <a:xfrm>
            <a:off x="844061" y="1353344"/>
            <a:ext cx="99974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Permite que um bloco de comandos seja executado</a:t>
            </a:r>
          </a:p>
          <a:p>
            <a:pPr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diversas vezes</a:t>
            </a:r>
          </a:p>
          <a:p>
            <a:pPr algn="l"/>
            <a:endParaRPr lang="pt-BR" sz="36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Dois tipos de Repetição:</a:t>
            </a: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4"/>
            </a:endParaRPr>
          </a:p>
          <a:p>
            <a:pPr marL="533400" indent="-258763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– </a:t>
            </a:r>
            <a:r>
              <a:rPr lang="pt-BR" sz="2800" b="1" i="0" u="none" strike="noStrike" baseline="0" dirty="0">
                <a:solidFill>
                  <a:srgbClr val="00B1F1"/>
                </a:solidFill>
                <a:latin typeface="CIDFont+F4"/>
              </a:rPr>
              <a:t>Repetição condicional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: executa um bloco de código enquanto uma condição lógica for verdadeira (</a:t>
            </a:r>
            <a:r>
              <a:rPr lang="pt-BR" sz="2800" b="1" i="0" u="none" strike="noStrike" baseline="0" dirty="0" err="1">
                <a:solidFill>
                  <a:srgbClr val="00B1F1"/>
                </a:solidFill>
                <a:latin typeface="CIDFont+F5"/>
              </a:rPr>
              <a:t>while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)</a:t>
            </a:r>
          </a:p>
          <a:p>
            <a:pPr marL="533400" indent="-258763" algn="l"/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533400" indent="-258763"/>
            <a:r>
              <a:rPr lang="pt-BR" sz="2800" dirty="0">
                <a:solidFill>
                  <a:srgbClr val="000000"/>
                </a:solidFill>
                <a:latin typeface="CIDFont+F3"/>
              </a:rPr>
              <a:t>– </a:t>
            </a:r>
            <a:r>
              <a:rPr lang="pt-BR" sz="2800" b="1" dirty="0">
                <a:solidFill>
                  <a:srgbClr val="00B1F1"/>
                </a:solidFill>
                <a:latin typeface="CIDFont+F4"/>
              </a:rPr>
              <a:t>Repetição contável</a:t>
            </a:r>
            <a:r>
              <a:rPr lang="pt-BR" sz="2800" dirty="0">
                <a:solidFill>
                  <a:srgbClr val="000000"/>
                </a:solidFill>
                <a:latin typeface="CIDFont+F3"/>
              </a:rPr>
              <a:t>: executa um bloco de código um número predeterminado de vezes (</a:t>
            </a:r>
            <a:r>
              <a:rPr lang="pt-BR" sz="2800" b="1" dirty="0">
                <a:solidFill>
                  <a:srgbClr val="00B1F1"/>
                </a:solidFill>
                <a:latin typeface="CIDFont+F5"/>
              </a:rPr>
              <a:t>for</a:t>
            </a:r>
            <a:r>
              <a:rPr lang="pt-BR" sz="2800" b="1" dirty="0">
                <a:solidFill>
                  <a:srgbClr val="000000"/>
                </a:solidFill>
                <a:latin typeface="CIDFont+F3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408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D56B7C3B-2102-F704-0002-3D488EE93E3E}"/>
              </a:ext>
            </a:extLst>
          </p:cNvPr>
          <p:cNvSpPr/>
          <p:nvPr/>
        </p:nvSpPr>
        <p:spPr>
          <a:xfrm>
            <a:off x="6196329" y="2269798"/>
            <a:ext cx="411480" cy="4724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Estrutura de Repetição - for...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74A341-E51A-67C3-615A-A6A26508E4D3}"/>
              </a:ext>
            </a:extLst>
          </p:cNvPr>
          <p:cNvSpPr txBox="1"/>
          <p:nvPr/>
        </p:nvSpPr>
        <p:spPr>
          <a:xfrm>
            <a:off x="1327760" y="1654244"/>
            <a:ext cx="53168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BR" sz="2800" dirty="0">
              <a:solidFill>
                <a:srgbClr val="000000"/>
              </a:solidFill>
              <a:latin typeface="CIDFont+F6"/>
            </a:endParaRPr>
          </a:p>
          <a:p>
            <a:pPr algn="l"/>
            <a:r>
              <a:rPr lang="pt-BR" sz="2800" dirty="0">
                <a:solidFill>
                  <a:srgbClr val="000000"/>
                </a:solidFill>
                <a:latin typeface="CIDFont+F6"/>
              </a:rPr>
              <a:t>f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6"/>
              </a:rPr>
              <a:t>or VARIÁVEL 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7"/>
              </a:rPr>
              <a:t>in (faixa-de-valores)</a:t>
            </a:r>
            <a:r>
              <a:rPr lang="pt-BR" sz="4400" b="0" i="0" u="none" strike="noStrike" baseline="0" dirty="0">
                <a:solidFill>
                  <a:srgbClr val="000000"/>
                </a:solidFill>
                <a:latin typeface="CIDFont+F6"/>
              </a:rPr>
              <a:t>:</a:t>
            </a: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7"/>
              </a:rPr>
              <a:t>       INSTRUÇÃO 1</a:t>
            </a:r>
            <a:endParaRPr lang="pt-BR" sz="2800" b="0" i="0" u="none" strike="noStrike" baseline="0" dirty="0">
              <a:solidFill>
                <a:srgbClr val="000000"/>
              </a:solidFill>
              <a:latin typeface="CIDFont+F6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7"/>
              </a:rPr>
              <a:t>       INSTRUÇÃO 2</a:t>
            </a:r>
            <a:endParaRPr lang="pt-BR" sz="2800" b="0" i="0" u="none" strike="noStrike" baseline="0" dirty="0">
              <a:solidFill>
                <a:srgbClr val="000000"/>
              </a:solidFill>
              <a:latin typeface="CIDFont+F6"/>
            </a:endParaRPr>
          </a:p>
          <a:p>
            <a:pPr algn="l"/>
            <a:endParaRPr lang="pt-BR" sz="2800" b="0" i="0" u="none" strike="noStrike" baseline="0" dirty="0">
              <a:solidFill>
                <a:srgbClr val="000000"/>
              </a:solidFill>
              <a:latin typeface="CIDFont+F7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7"/>
              </a:rPr>
              <a:t>       INSTRUÇÃO N</a:t>
            </a:r>
            <a:endParaRPr lang="pt-BR" sz="2800" b="0" i="0" u="none" strike="noStrike" baseline="0" dirty="0">
              <a:solidFill>
                <a:srgbClr val="000000"/>
              </a:solidFill>
              <a:latin typeface="CIDFont+F6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FFFFFF"/>
                </a:solidFill>
                <a:latin typeface="CIDFont+F2"/>
              </a:rPr>
              <a:t>Leo </a:t>
            </a:r>
          </a:p>
          <a:p>
            <a:pPr algn="l"/>
            <a:endParaRPr lang="pt-BR" sz="28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FAD9B4C-0DDA-BA49-A4B0-3D362E4B2296}"/>
              </a:ext>
            </a:extLst>
          </p:cNvPr>
          <p:cNvGrpSpPr/>
          <p:nvPr/>
        </p:nvGrpSpPr>
        <p:grpSpPr>
          <a:xfrm>
            <a:off x="2407555" y="1793752"/>
            <a:ext cx="784000" cy="204952"/>
            <a:chOff x="3862938" y="1779658"/>
            <a:chExt cx="784000" cy="204952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E7F335E0-C82D-1C5E-2BA9-BF320E5D40F8}"/>
                </a:ext>
              </a:extLst>
            </p:cNvPr>
            <p:cNvSpPr/>
            <p:nvPr/>
          </p:nvSpPr>
          <p:spPr>
            <a:xfrm flipH="1" flipV="1">
              <a:off x="386293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BA8AE48-1D5B-AEA5-6623-02DBEABD7D21}"/>
                </a:ext>
              </a:extLst>
            </p:cNvPr>
            <p:cNvSpPr/>
            <p:nvPr/>
          </p:nvSpPr>
          <p:spPr>
            <a:xfrm flipH="1" flipV="1">
              <a:off x="4177474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F406FED-ED8B-D494-DE99-9BA281514618}"/>
                </a:ext>
              </a:extLst>
            </p:cNvPr>
            <p:cNvSpPr/>
            <p:nvPr/>
          </p:nvSpPr>
          <p:spPr>
            <a:xfrm flipH="1" flipV="1">
              <a:off x="448586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87C3261-58AF-88DE-9B44-22FD6C59B24B}"/>
              </a:ext>
            </a:extLst>
          </p:cNvPr>
          <p:cNvGrpSpPr/>
          <p:nvPr/>
        </p:nvGrpSpPr>
        <p:grpSpPr>
          <a:xfrm>
            <a:off x="2342260" y="3760779"/>
            <a:ext cx="784000" cy="204952"/>
            <a:chOff x="3862938" y="1779658"/>
            <a:chExt cx="784000" cy="204952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FBA3F73-7C94-6759-9B8F-9850F9801C79}"/>
                </a:ext>
              </a:extLst>
            </p:cNvPr>
            <p:cNvSpPr/>
            <p:nvPr/>
          </p:nvSpPr>
          <p:spPr>
            <a:xfrm flipH="1" flipV="1">
              <a:off x="386293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EFA59EC8-47D0-3E1D-5E09-0490FCA92210}"/>
                </a:ext>
              </a:extLst>
            </p:cNvPr>
            <p:cNvSpPr/>
            <p:nvPr/>
          </p:nvSpPr>
          <p:spPr>
            <a:xfrm flipH="1" flipV="1">
              <a:off x="4177474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3DFD3DD5-FD49-5DD0-9D2C-CEBC3DA815C4}"/>
                </a:ext>
              </a:extLst>
            </p:cNvPr>
            <p:cNvSpPr/>
            <p:nvPr/>
          </p:nvSpPr>
          <p:spPr>
            <a:xfrm flipH="1" flipV="1">
              <a:off x="448586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1AE2292-A8CE-A601-D38E-174F9409E9CF}"/>
              </a:ext>
            </a:extLst>
          </p:cNvPr>
          <p:cNvGrpSpPr/>
          <p:nvPr/>
        </p:nvGrpSpPr>
        <p:grpSpPr>
          <a:xfrm>
            <a:off x="2351339" y="4642645"/>
            <a:ext cx="784000" cy="204952"/>
            <a:chOff x="3862938" y="1779658"/>
            <a:chExt cx="784000" cy="204952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C675B92A-6677-1D0C-9F76-40646E707DDA}"/>
                </a:ext>
              </a:extLst>
            </p:cNvPr>
            <p:cNvSpPr/>
            <p:nvPr/>
          </p:nvSpPr>
          <p:spPr>
            <a:xfrm flipH="1" flipV="1">
              <a:off x="386293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C95AD1E7-A698-30B5-C447-6BFEBEF06B3B}"/>
                </a:ext>
              </a:extLst>
            </p:cNvPr>
            <p:cNvSpPr/>
            <p:nvPr/>
          </p:nvSpPr>
          <p:spPr>
            <a:xfrm flipH="1" flipV="1">
              <a:off x="4177474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FB79523-CDEF-6AC3-1E6C-8FDBADA3A16B}"/>
                </a:ext>
              </a:extLst>
            </p:cNvPr>
            <p:cNvSpPr/>
            <p:nvPr/>
          </p:nvSpPr>
          <p:spPr>
            <a:xfrm flipH="1" flipV="1">
              <a:off x="4485868" y="1779658"/>
              <a:ext cx="161070" cy="20495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DBB1A3D0-DF5E-3B0D-9D31-2F3560CEE0BF}"/>
              </a:ext>
            </a:extLst>
          </p:cNvPr>
          <p:cNvCxnSpPr>
            <a:cxnSpLocks/>
          </p:cNvCxnSpPr>
          <p:nvPr/>
        </p:nvCxnSpPr>
        <p:spPr>
          <a:xfrm flipH="1">
            <a:off x="6675120" y="2468880"/>
            <a:ext cx="1706880" cy="0"/>
          </a:xfrm>
          <a:prstGeom prst="straightConnector1">
            <a:avLst/>
          </a:prstGeom>
          <a:ln w="38100"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D81D60D-B550-BCD9-6705-0FD663914BC1}"/>
              </a:ext>
            </a:extLst>
          </p:cNvPr>
          <p:cNvSpPr txBox="1"/>
          <p:nvPr/>
        </p:nvSpPr>
        <p:spPr>
          <a:xfrm>
            <a:off x="8382000" y="1793752"/>
            <a:ext cx="2164080" cy="261610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O Sinal “</a:t>
            </a:r>
            <a:r>
              <a:rPr lang="pt-BR" sz="4400" b="1" dirty="0">
                <a:solidFill>
                  <a:srgbClr val="FFFF00"/>
                </a:solidFill>
              </a:rPr>
              <a:t>:</a:t>
            </a:r>
            <a:r>
              <a:rPr lang="pt-BR" sz="2400" b="1" dirty="0">
                <a:solidFill>
                  <a:schemeClr val="bg1"/>
                </a:solidFill>
              </a:rPr>
              <a:t>”</a:t>
            </a: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Sempre deverá ser colocado ao final do comando for 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5A1A3E28-D326-5F4E-CD6E-EBBA8C6908F8}"/>
              </a:ext>
            </a:extLst>
          </p:cNvPr>
          <p:cNvCxnSpPr>
            <a:cxnSpLocks/>
          </p:cNvCxnSpPr>
          <p:nvPr/>
        </p:nvCxnSpPr>
        <p:spPr>
          <a:xfrm>
            <a:off x="720862" y="3819727"/>
            <a:ext cx="925058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C6464C4-2131-C073-BFA1-786C0284B70D}"/>
              </a:ext>
            </a:extLst>
          </p:cNvPr>
          <p:cNvSpPr txBox="1"/>
          <p:nvPr/>
        </p:nvSpPr>
        <p:spPr>
          <a:xfrm>
            <a:off x="329760" y="2551679"/>
            <a:ext cx="391102" cy="2585323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I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N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D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E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N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T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A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DO</a:t>
            </a:r>
          </a:p>
        </p:txBody>
      </p:sp>
      <p:sp>
        <p:nvSpPr>
          <p:cNvPr id="27" name="Chave Esquerda 26">
            <a:extLst>
              <a:ext uri="{FF2B5EF4-FFF2-40B4-BE49-F238E27FC236}">
                <a16:creationId xmlns:a16="http://schemas.microsoft.com/office/drawing/2014/main" id="{B1B095E1-783E-FAA6-A8D6-86EB10EFB810}"/>
              </a:ext>
            </a:extLst>
          </p:cNvPr>
          <p:cNvSpPr/>
          <p:nvPr/>
        </p:nvSpPr>
        <p:spPr>
          <a:xfrm>
            <a:off x="1645920" y="2742238"/>
            <a:ext cx="462163" cy="2194587"/>
          </a:xfrm>
          <a:prstGeom prst="leftBrac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0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Estrutura de Repetição - for...</a:t>
            </a:r>
            <a:endParaRPr lang="pt-BR" sz="4000" b="1" i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578790-362C-6740-0BE1-41ADB3C02878}"/>
              </a:ext>
            </a:extLst>
          </p:cNvPr>
          <p:cNvSpPr txBox="1"/>
          <p:nvPr/>
        </p:nvSpPr>
        <p:spPr>
          <a:xfrm>
            <a:off x="1066800" y="1649998"/>
            <a:ext cx="10337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latin typeface="CIDFont+F3"/>
              </a:rPr>
              <a:t>Usada quando se conhece o número de repetições</a:t>
            </a:r>
            <a:r>
              <a:rPr lang="pt-BR" sz="2800" b="1" i="0" u="none" strike="noStrike" baseline="0" dirty="0">
                <a:latin typeface="CIDFont+F4"/>
              </a:rPr>
              <a:t>.</a:t>
            </a:r>
          </a:p>
          <a:p>
            <a:pPr algn="l"/>
            <a:endParaRPr lang="pt-BR" sz="2800" b="0" i="0" u="none" strike="noStrike" baseline="0" dirty="0">
              <a:solidFill>
                <a:srgbClr val="00B1F1"/>
              </a:solidFill>
              <a:latin typeface="CIDFont+F4"/>
            </a:endParaRPr>
          </a:p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latin typeface="CIDFont+F3"/>
              </a:rPr>
              <a:t>Os valores podem ser listados explicitamente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.</a:t>
            </a:r>
          </a:p>
          <a:p>
            <a:pPr marL="274638" indent="-274638" algn="l"/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latin typeface="CIDFont+F3"/>
              </a:rPr>
              <a:t>Exemplo:</a:t>
            </a:r>
          </a:p>
          <a:p>
            <a:pPr algn="l"/>
            <a:r>
              <a:rPr lang="pt-BR" sz="2800" b="0" i="0" u="none" strike="noStrike" baseline="0" dirty="0">
                <a:latin typeface="CIDFont+F4"/>
              </a:rPr>
              <a:t>                     for x in </a:t>
            </a:r>
            <a:r>
              <a:rPr lang="pt-BR" sz="2800" b="0" i="0" u="none" strike="noStrike" baseline="0" dirty="0">
                <a:latin typeface="CIDFont+F5"/>
              </a:rPr>
              <a:t>(0,1,2,3,4)</a:t>
            </a:r>
            <a:r>
              <a:rPr lang="pt-BR" sz="2800" b="0" i="0" u="none" strike="noStrike" baseline="0" dirty="0">
                <a:latin typeface="CIDFont+F4"/>
              </a:rPr>
              <a:t>:</a:t>
            </a:r>
          </a:p>
          <a:p>
            <a:pPr algn="l"/>
            <a:r>
              <a:rPr lang="pt-BR" sz="2800" b="0" i="0" u="none" strike="noStrike" baseline="0" dirty="0">
                <a:latin typeface="CIDFont+F4"/>
              </a:rPr>
              <a:t>                          print(x)</a:t>
            </a:r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B269679-E6E3-6D37-D711-C763844B848B}"/>
              </a:ext>
            </a:extLst>
          </p:cNvPr>
          <p:cNvSpPr txBox="1"/>
          <p:nvPr/>
        </p:nvSpPr>
        <p:spPr>
          <a:xfrm>
            <a:off x="6907277" y="4423172"/>
            <a:ext cx="4497323" cy="156966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>
                <a:solidFill>
                  <a:schemeClr val="bg1"/>
                </a:solidFill>
              </a:rPr>
              <a:t>print(x) será repetido 5 vezes, de 0 a 4, para cada valor especificado entre parênteses no comando for </a:t>
            </a:r>
          </a:p>
        </p:txBody>
      </p:sp>
    </p:spTree>
    <p:extLst>
      <p:ext uri="{BB962C8B-B14F-4D97-AF65-F5344CB8AC3E}">
        <p14:creationId xmlns:p14="http://schemas.microsoft.com/office/powerpoint/2010/main" val="195151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Estrutura de Repetição – for...</a:t>
            </a:r>
            <a:endParaRPr lang="pt-BR" sz="4000" b="1" i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578790-362C-6740-0BE1-41ADB3C02878}"/>
              </a:ext>
            </a:extLst>
          </p:cNvPr>
          <p:cNvSpPr txBox="1"/>
          <p:nvPr/>
        </p:nvSpPr>
        <p:spPr>
          <a:xfrm>
            <a:off x="792480" y="1443841"/>
            <a:ext cx="10607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CIDFont+F3"/>
              </a:rPr>
              <a:t>  </a:t>
            </a:r>
            <a:r>
              <a:rPr lang="pt-BR" sz="2800" dirty="0">
                <a:solidFill>
                  <a:srgbClr val="000000"/>
                </a:solidFill>
                <a:latin typeface="CIDFont+F2"/>
              </a:rPr>
              <a:t>Faixa de Valores</a:t>
            </a:r>
          </a:p>
          <a:p>
            <a:pPr marL="274638" indent="-274638" algn="just"/>
            <a:endParaRPr lang="pt-BR" sz="28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65113" indent="-265113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Os valores podem ser especificados como um intervalo com 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3"/>
              </a:rPr>
              <a:t>início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, 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3"/>
              </a:rPr>
              <a:t>fim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e 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3"/>
              </a:rPr>
              <a:t>incremento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, usando 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3"/>
              </a:rPr>
              <a:t>range()</a:t>
            </a:r>
          </a:p>
          <a:p>
            <a:pPr marL="265113" indent="-265113" algn="l"/>
            <a:endParaRPr lang="pt-BR" sz="2800" b="0" i="0" u="none" strike="noStrike" baseline="0" dirty="0">
              <a:solidFill>
                <a:srgbClr val="00B1F1"/>
              </a:solidFill>
              <a:latin typeface="CIDFont+F3"/>
            </a:endParaRP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Repete de 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6"/>
              </a:rPr>
              <a:t>início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até </a:t>
            </a:r>
            <a:r>
              <a:rPr lang="pt-BR" sz="2800" b="1" i="0" u="none" strike="noStrike" baseline="0" dirty="0">
                <a:solidFill>
                  <a:srgbClr val="FF0000"/>
                </a:solidFill>
                <a:latin typeface="CIDFont+F6"/>
              </a:rPr>
              <a:t>fim-1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3"/>
              </a:rPr>
              <a:t>,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com o 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3"/>
              </a:rPr>
              <a:t>incremento definido</a:t>
            </a:r>
          </a:p>
          <a:p>
            <a:pPr marL="530225" algn="l"/>
            <a:r>
              <a:rPr lang="en-US" sz="2800" b="0" i="0" u="none" strike="noStrike" baseline="0" dirty="0">
                <a:solidFill>
                  <a:srgbClr val="000000"/>
                </a:solidFill>
                <a:latin typeface="CIDFont+F3"/>
              </a:rPr>
              <a:t>for </a:t>
            </a:r>
            <a:r>
              <a:rPr lang="en-US" sz="2800" b="0" i="0" u="none" strike="noStrike" baseline="0" dirty="0" err="1">
                <a:solidFill>
                  <a:srgbClr val="00B1F1"/>
                </a:solidFill>
                <a:latin typeface="CIDFont+F3"/>
              </a:rPr>
              <a:t>i</a:t>
            </a:r>
            <a:r>
              <a:rPr lang="en-US" sz="2800" b="0" i="0" u="none" strike="noStrike" baseline="0" dirty="0">
                <a:solidFill>
                  <a:srgbClr val="00B1F1"/>
                </a:solidFill>
                <a:latin typeface="CIDFont+F3"/>
              </a:rPr>
              <a:t>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CIDFont+F3"/>
              </a:rPr>
              <a:t>in </a:t>
            </a:r>
            <a:r>
              <a:rPr lang="en-US" sz="2800" b="0" i="0" u="none" strike="noStrike" baseline="0" dirty="0">
                <a:solidFill>
                  <a:srgbClr val="00B1F1"/>
                </a:solidFill>
                <a:latin typeface="CIDFont+F3"/>
              </a:rPr>
              <a:t>range(0, 5, 1)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CIDFont+F3"/>
              </a:rPr>
              <a:t>:</a:t>
            </a:r>
          </a:p>
          <a:p>
            <a:pPr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           print(</a:t>
            </a:r>
            <a:r>
              <a:rPr lang="pt-BR" sz="2800" b="0" i="0" u="none" strike="noStrike" baseline="0" dirty="0">
                <a:solidFill>
                  <a:srgbClr val="00B1F1"/>
                </a:solidFill>
                <a:latin typeface="CIDFont+F3"/>
              </a:rPr>
              <a:t>i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)</a:t>
            </a:r>
            <a:endParaRPr lang="pt-BR" sz="2800" b="0" i="0" u="none" strike="noStrike" baseline="0" dirty="0">
              <a:solidFill>
                <a:srgbClr val="00B1F1"/>
              </a:solidFill>
              <a:latin typeface="CIDFont+F3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92EF64-770B-0A27-835A-519D3BB170F4}"/>
              </a:ext>
            </a:extLst>
          </p:cNvPr>
          <p:cNvSpPr txBox="1"/>
          <p:nvPr/>
        </p:nvSpPr>
        <p:spPr>
          <a:xfrm>
            <a:off x="9055747" y="3956355"/>
            <a:ext cx="2343773" cy="1569660"/>
          </a:xfrm>
          <a:prstGeom prst="rect">
            <a:avLst/>
          </a:prstGeom>
          <a:solidFill>
            <a:srgbClr val="FE4D2A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i="0" u="none" strike="noStrike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IDFont+F3"/>
              </a:rPr>
              <a:t>incremento (opcional), quando omitido incremento = 1</a:t>
            </a:r>
            <a:endParaRPr lang="pt-B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79AD1A-709A-29E2-97C7-51C526C49D24}"/>
              </a:ext>
            </a:extLst>
          </p:cNvPr>
          <p:cNvSpPr txBox="1"/>
          <p:nvPr/>
        </p:nvSpPr>
        <p:spPr>
          <a:xfrm>
            <a:off x="6730133" y="4754653"/>
            <a:ext cx="2114970" cy="1569660"/>
          </a:xfrm>
          <a:prstGeom prst="rect">
            <a:avLst/>
          </a:prstGeom>
          <a:solidFill>
            <a:srgbClr val="FE4D2A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i="0" u="none" strike="noStrike" baseline="0" dirty="0">
                <a:solidFill>
                  <a:schemeClr val="bg1"/>
                </a:solidFill>
                <a:latin typeface="CIDFont+F3"/>
              </a:rPr>
              <a:t>Fim obrigatório. Sempre (-1) do valor final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41A5F8E-DEF6-C95F-021C-D393DA491157}"/>
              </a:ext>
            </a:extLst>
          </p:cNvPr>
          <p:cNvSpPr txBox="1"/>
          <p:nvPr/>
        </p:nvSpPr>
        <p:spPr>
          <a:xfrm>
            <a:off x="2671698" y="5127945"/>
            <a:ext cx="2536257" cy="1200329"/>
          </a:xfrm>
          <a:prstGeom prst="rect">
            <a:avLst/>
          </a:prstGeom>
          <a:solidFill>
            <a:srgbClr val="FE4D2A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i="0" u="none" strike="noStrike" baseline="0" dirty="0">
                <a:solidFill>
                  <a:schemeClr val="bg1"/>
                </a:solidFill>
                <a:latin typeface="CIDFont+F3"/>
              </a:rPr>
              <a:t>início (opcional), quando omitido início = 0</a:t>
            </a:r>
            <a:endParaRPr lang="pt-BR" sz="2400" b="1" dirty="0">
              <a:solidFill>
                <a:schemeClr val="bg1"/>
              </a:solidFill>
            </a:endParaRP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9DBDBF0-857F-3F5C-DC97-340C350B4483}"/>
              </a:ext>
            </a:extLst>
          </p:cNvPr>
          <p:cNvCxnSpPr>
            <a:cxnSpLocks/>
          </p:cNvCxnSpPr>
          <p:nvPr/>
        </p:nvCxnSpPr>
        <p:spPr>
          <a:xfrm>
            <a:off x="4236720" y="4267200"/>
            <a:ext cx="4678680" cy="12666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D59BF4DB-2D0C-CA49-D2F2-F751E9F49009}"/>
              </a:ext>
            </a:extLst>
          </p:cNvPr>
          <p:cNvCxnSpPr>
            <a:cxnSpLocks/>
          </p:cNvCxnSpPr>
          <p:nvPr/>
        </p:nvCxnSpPr>
        <p:spPr>
          <a:xfrm>
            <a:off x="3764280" y="4393863"/>
            <a:ext cx="2851083" cy="10293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9BFEFD6-6464-588C-27FA-C5F4298F3A9F}"/>
              </a:ext>
            </a:extLst>
          </p:cNvPr>
          <p:cNvCxnSpPr>
            <a:cxnSpLocks/>
          </p:cNvCxnSpPr>
          <p:nvPr/>
        </p:nvCxnSpPr>
        <p:spPr>
          <a:xfrm>
            <a:off x="3444240" y="4393863"/>
            <a:ext cx="452179" cy="69148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81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r>
              <a:rPr lang="pt-BR" sz="1600" b="1" dirty="0"/>
              <a:t>Cap04-Prog01 – Cap04Prog02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Estrutura de Repetição - for...</a:t>
            </a:r>
            <a:endParaRPr lang="pt-BR" sz="4000" b="1" i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578790-362C-6740-0BE1-41ADB3C02878}"/>
              </a:ext>
            </a:extLst>
          </p:cNvPr>
          <p:cNvSpPr txBox="1"/>
          <p:nvPr/>
        </p:nvSpPr>
        <p:spPr>
          <a:xfrm>
            <a:off x="1113789" y="1353344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 </a:t>
            </a:r>
            <a:r>
              <a:rPr lang="pt-BR" sz="2800" b="0" i="0" u="none" strike="noStrike" baseline="0" dirty="0">
                <a:latin typeface="CIDFont+F2"/>
              </a:rPr>
              <a:t>Exemplo1: </a:t>
            </a:r>
            <a:r>
              <a:rPr lang="pt-BR" sz="2800" b="0" i="0" u="none" strike="noStrike" baseline="0" dirty="0">
                <a:latin typeface="CIDFont+F3"/>
              </a:rPr>
              <a:t>Mostrar na tela os números de 1 até 100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.</a:t>
            </a:r>
            <a:endParaRPr lang="pt-BR" sz="28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4E035B1-589C-18CD-A3D7-407B06BC1823}"/>
              </a:ext>
            </a:extLst>
          </p:cNvPr>
          <p:cNvSpPr txBox="1"/>
          <p:nvPr/>
        </p:nvSpPr>
        <p:spPr>
          <a:xfrm>
            <a:off x="705242" y="5413515"/>
            <a:ext cx="10599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>
                <a:latin typeface="CIDFont+F2"/>
              </a:rPr>
              <a:t>Faça como exercício o mesmo programa mostrar os números de 100 até 1 na tela</a:t>
            </a:r>
            <a:r>
              <a:rPr lang="pt-BR" sz="1800" b="0" i="0" u="none" strike="noStrike" baseline="0" dirty="0">
                <a:latin typeface="CIDFont+F2"/>
              </a:rPr>
              <a:t>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CC0A2D-0B8C-60FD-4CE9-95BE7CFFEC82}"/>
              </a:ext>
            </a:extLst>
          </p:cNvPr>
          <p:cNvSpPr txBox="1"/>
          <p:nvPr/>
        </p:nvSpPr>
        <p:spPr>
          <a:xfrm>
            <a:off x="2110135" y="2423147"/>
            <a:ext cx="32856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u="none" strike="noStrike" baseline="0" dirty="0">
                <a:latin typeface="CIDFont+F3"/>
              </a:rPr>
              <a:t>for </a:t>
            </a:r>
            <a:r>
              <a:rPr lang="en-US" sz="2800" b="0" i="0" u="none" strike="noStrike" baseline="0" dirty="0" err="1">
                <a:latin typeface="CIDFont+F3"/>
              </a:rPr>
              <a:t>i</a:t>
            </a:r>
            <a:r>
              <a:rPr lang="en-US" sz="2800" b="0" i="0" u="none" strike="noStrike" baseline="0" dirty="0">
                <a:latin typeface="CIDFont+F3"/>
              </a:rPr>
              <a:t> in range(1, 101):</a:t>
            </a:r>
          </a:p>
          <a:p>
            <a:pPr algn="l"/>
            <a:r>
              <a:rPr lang="pt-BR" sz="2800" b="0" i="0" u="none" strike="noStrike" baseline="0" dirty="0">
                <a:latin typeface="CIDFont+F3"/>
              </a:rPr>
              <a:t>    print(i, </a:t>
            </a:r>
            <a:r>
              <a:rPr lang="pt-BR" sz="2800" b="0" i="0" u="none" strike="noStrike" baseline="0" dirty="0" err="1">
                <a:latin typeface="CIDFont+F3"/>
              </a:rPr>
              <a:t>end</a:t>
            </a:r>
            <a:r>
              <a:rPr lang="pt-BR" sz="2800" b="0" i="0" u="none" strike="noStrike" baseline="0" dirty="0">
                <a:latin typeface="CIDFont+F3"/>
              </a:rPr>
              <a:t>=' ')</a:t>
            </a:r>
            <a:endParaRPr lang="pt-BR" sz="2800" dirty="0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8D14855C-F7E9-92EA-15B1-7E3C04420C6E}"/>
              </a:ext>
            </a:extLst>
          </p:cNvPr>
          <p:cNvSpPr/>
          <p:nvPr/>
        </p:nvSpPr>
        <p:spPr>
          <a:xfrm>
            <a:off x="1732069" y="2598818"/>
            <a:ext cx="440621" cy="177421"/>
          </a:xfrm>
          <a:prstGeom prst="righ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BD8199B-670C-EB38-846A-668496CB9A14}"/>
              </a:ext>
            </a:extLst>
          </p:cNvPr>
          <p:cNvSpPr txBox="1"/>
          <p:nvPr/>
        </p:nvSpPr>
        <p:spPr>
          <a:xfrm>
            <a:off x="7806519" y="1972859"/>
            <a:ext cx="34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03FF332-5F62-AA4B-01E3-F7031A585446}"/>
              </a:ext>
            </a:extLst>
          </p:cNvPr>
          <p:cNvSpPr txBox="1"/>
          <p:nvPr/>
        </p:nvSpPr>
        <p:spPr>
          <a:xfrm>
            <a:off x="8341056" y="1972859"/>
            <a:ext cx="34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2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339FD90-A214-AB08-E16D-E26C7414FC13}"/>
              </a:ext>
            </a:extLst>
          </p:cNvPr>
          <p:cNvSpPr txBox="1"/>
          <p:nvPr/>
        </p:nvSpPr>
        <p:spPr>
          <a:xfrm>
            <a:off x="8709545" y="1972859"/>
            <a:ext cx="34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B09D30D-CD9F-3B5B-2CDF-8702782C6AD4}"/>
              </a:ext>
            </a:extLst>
          </p:cNvPr>
          <p:cNvSpPr txBox="1"/>
          <p:nvPr/>
        </p:nvSpPr>
        <p:spPr>
          <a:xfrm>
            <a:off x="9714927" y="1972859"/>
            <a:ext cx="643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100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E4EE74F-9D0D-D844-2F3F-669010A6CECB}"/>
              </a:ext>
            </a:extLst>
          </p:cNvPr>
          <p:cNvSpPr txBox="1"/>
          <p:nvPr/>
        </p:nvSpPr>
        <p:spPr>
          <a:xfrm>
            <a:off x="9054227" y="1595495"/>
            <a:ext cx="880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...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20DAC7AD-6963-B0F8-BB1C-ECD83BA86BBE}"/>
              </a:ext>
            </a:extLst>
          </p:cNvPr>
          <p:cNvSpPr/>
          <p:nvPr/>
        </p:nvSpPr>
        <p:spPr>
          <a:xfrm>
            <a:off x="1741499" y="3071281"/>
            <a:ext cx="440621" cy="177421"/>
          </a:xfrm>
          <a:prstGeom prst="righ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19E3EA23-FF26-775F-674E-EEA8B4D1D8AD}"/>
              </a:ext>
            </a:extLst>
          </p:cNvPr>
          <p:cNvSpPr/>
          <p:nvPr/>
        </p:nvSpPr>
        <p:spPr>
          <a:xfrm>
            <a:off x="1732069" y="2598818"/>
            <a:ext cx="440621" cy="177421"/>
          </a:xfrm>
          <a:prstGeom prst="righ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F5DC77A9-2653-3D9C-7586-6F542A30520E}"/>
              </a:ext>
            </a:extLst>
          </p:cNvPr>
          <p:cNvSpPr/>
          <p:nvPr/>
        </p:nvSpPr>
        <p:spPr>
          <a:xfrm>
            <a:off x="1741499" y="3071281"/>
            <a:ext cx="440621" cy="177421"/>
          </a:xfrm>
          <a:prstGeom prst="righ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BA9D79F2-38EB-F2E5-970E-689203AD02F4}"/>
              </a:ext>
            </a:extLst>
          </p:cNvPr>
          <p:cNvSpPr/>
          <p:nvPr/>
        </p:nvSpPr>
        <p:spPr>
          <a:xfrm>
            <a:off x="1732069" y="2598818"/>
            <a:ext cx="440621" cy="177421"/>
          </a:xfrm>
          <a:prstGeom prst="righ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56A4038D-634D-0A96-FDB1-4EE623F8742E}"/>
              </a:ext>
            </a:extLst>
          </p:cNvPr>
          <p:cNvSpPr/>
          <p:nvPr/>
        </p:nvSpPr>
        <p:spPr>
          <a:xfrm>
            <a:off x="1741499" y="3078538"/>
            <a:ext cx="440621" cy="177421"/>
          </a:xfrm>
          <a:prstGeom prst="righ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DF6BF4CC-DA65-D981-5221-1321731F42E7}"/>
              </a:ext>
            </a:extLst>
          </p:cNvPr>
          <p:cNvSpPr/>
          <p:nvPr/>
        </p:nvSpPr>
        <p:spPr>
          <a:xfrm>
            <a:off x="1732069" y="2598818"/>
            <a:ext cx="440621" cy="177421"/>
          </a:xfrm>
          <a:prstGeom prst="righ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Seta: para a Direita 38">
            <a:extLst>
              <a:ext uri="{FF2B5EF4-FFF2-40B4-BE49-F238E27FC236}">
                <a16:creationId xmlns:a16="http://schemas.microsoft.com/office/drawing/2014/main" id="{1E7668DE-4BE5-827D-910A-7EE89E87023B}"/>
              </a:ext>
            </a:extLst>
          </p:cNvPr>
          <p:cNvSpPr/>
          <p:nvPr/>
        </p:nvSpPr>
        <p:spPr>
          <a:xfrm>
            <a:off x="1741499" y="3078538"/>
            <a:ext cx="440621" cy="177421"/>
          </a:xfrm>
          <a:prstGeom prst="righ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Seta: para a Direita 39">
            <a:extLst>
              <a:ext uri="{FF2B5EF4-FFF2-40B4-BE49-F238E27FC236}">
                <a16:creationId xmlns:a16="http://schemas.microsoft.com/office/drawing/2014/main" id="{EE60950F-EF7F-40E0-005B-25AB4D159587}"/>
              </a:ext>
            </a:extLst>
          </p:cNvPr>
          <p:cNvSpPr/>
          <p:nvPr/>
        </p:nvSpPr>
        <p:spPr>
          <a:xfrm>
            <a:off x="1732069" y="2598818"/>
            <a:ext cx="440621" cy="177421"/>
          </a:xfrm>
          <a:prstGeom prst="righ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AE6BBA9-92D8-BBFB-8379-5FBCEF431640}"/>
              </a:ext>
            </a:extLst>
          </p:cNvPr>
          <p:cNvSpPr txBox="1"/>
          <p:nvPr/>
        </p:nvSpPr>
        <p:spPr>
          <a:xfrm>
            <a:off x="2219813" y="3496444"/>
            <a:ext cx="612652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FFFF"/>
                </a:solidFill>
              </a:rPr>
              <a:t>FIM</a:t>
            </a:r>
          </a:p>
        </p:txBody>
      </p:sp>
      <p:sp>
        <p:nvSpPr>
          <p:cNvPr id="6" name="Seta: Curva para a Direita 5">
            <a:extLst>
              <a:ext uri="{FF2B5EF4-FFF2-40B4-BE49-F238E27FC236}">
                <a16:creationId xmlns:a16="http://schemas.microsoft.com/office/drawing/2014/main" id="{96B7DF0A-CFB3-BC1B-3187-00ADFF7602C0}"/>
              </a:ext>
            </a:extLst>
          </p:cNvPr>
          <p:cNvSpPr/>
          <p:nvPr/>
        </p:nvSpPr>
        <p:spPr>
          <a:xfrm>
            <a:off x="1528064" y="2598817"/>
            <a:ext cx="612652" cy="1314007"/>
          </a:xfrm>
          <a:prstGeom prst="curvedRightArrow">
            <a:avLst>
              <a:gd name="adj1" fmla="val 25000"/>
              <a:gd name="adj2" fmla="val 60351"/>
              <a:gd name="adj3" fmla="val 311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4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5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/>
      <p:bldP spid="17" grpId="0"/>
      <p:bldP spid="18" grpId="0"/>
      <p:bldP spid="20" grpId="0"/>
      <p:bldP spid="21" grpId="0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4" grpId="0" animBg="1"/>
      <p:bldP spid="34" grpId="1" animBg="1"/>
      <p:bldP spid="35" grpId="0" animBg="1"/>
      <p:bldP spid="35" grpId="1" animBg="1"/>
      <p:bldP spid="39" grpId="0" animBg="1"/>
      <p:bldP spid="39" grpId="1" animBg="1"/>
      <p:bldP spid="40" grpId="0" animBg="1"/>
      <p:bldP spid="40" grpId="1" animBg="1"/>
      <p:bldP spid="42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r>
              <a:rPr lang="pt-BR" sz="1600" b="1" dirty="0"/>
              <a:t>Cap04-Prog03 – Cap04Prog04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Estrutura de Repetição - for...</a:t>
            </a:r>
            <a:endParaRPr lang="pt-BR" sz="4000" b="1" i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578790-362C-6740-0BE1-41ADB3C02878}"/>
              </a:ext>
            </a:extLst>
          </p:cNvPr>
          <p:cNvSpPr txBox="1"/>
          <p:nvPr/>
        </p:nvSpPr>
        <p:spPr>
          <a:xfrm>
            <a:off x="1113789" y="1353344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 algn="just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 </a:t>
            </a:r>
            <a:r>
              <a:rPr lang="pt-BR" sz="2800" b="0" i="0" u="none" strike="noStrike" baseline="0" dirty="0">
                <a:latin typeface="CIDFont+F2"/>
              </a:rPr>
              <a:t>Exemplo1: </a:t>
            </a:r>
            <a:r>
              <a:rPr lang="pt-BR" sz="2800" b="0" i="0" u="none" strike="noStrike" baseline="0" dirty="0">
                <a:latin typeface="CIDFont+F3"/>
              </a:rPr>
              <a:t>Mostrar na tela os números pares de 1 até 100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.</a:t>
            </a:r>
            <a:endParaRPr lang="pt-BR" sz="28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4E035B1-589C-18CD-A3D7-407B06BC1823}"/>
              </a:ext>
            </a:extLst>
          </p:cNvPr>
          <p:cNvSpPr txBox="1"/>
          <p:nvPr/>
        </p:nvSpPr>
        <p:spPr>
          <a:xfrm>
            <a:off x="705242" y="5413515"/>
            <a:ext cx="105990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>
                <a:latin typeface="CIDFont+F2"/>
              </a:rPr>
              <a:t>Faça como exercício o mesmo programa mostrar os números ímpares de 1 até 100 na tela</a:t>
            </a:r>
            <a:r>
              <a:rPr lang="pt-BR" sz="1800" b="0" i="0" u="none" strike="noStrike" baseline="0" dirty="0">
                <a:latin typeface="CIDFont+F2"/>
              </a:rPr>
              <a:t>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CC0A2D-0B8C-60FD-4CE9-95BE7CFFEC82}"/>
              </a:ext>
            </a:extLst>
          </p:cNvPr>
          <p:cNvSpPr txBox="1"/>
          <p:nvPr/>
        </p:nvSpPr>
        <p:spPr>
          <a:xfrm>
            <a:off x="2110134" y="2423147"/>
            <a:ext cx="47478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u="none" strike="noStrike" baseline="0" dirty="0">
                <a:latin typeface="CIDFont+F3"/>
              </a:rPr>
              <a:t>for </a:t>
            </a:r>
            <a:r>
              <a:rPr lang="en-US" sz="3600" b="0" i="0" u="none" strike="noStrike" baseline="0" dirty="0" err="1">
                <a:latin typeface="CIDFont+F3"/>
              </a:rPr>
              <a:t>i</a:t>
            </a:r>
            <a:r>
              <a:rPr lang="en-US" sz="3600" b="0" i="0" u="none" strike="noStrike" baseline="0" dirty="0">
                <a:latin typeface="CIDFont+F3"/>
              </a:rPr>
              <a:t> in range(2, 101, 2):</a:t>
            </a:r>
          </a:p>
          <a:p>
            <a:pPr algn="l"/>
            <a:r>
              <a:rPr lang="pt-BR" sz="3600" b="0" i="0" u="none" strike="noStrike" baseline="0" dirty="0">
                <a:latin typeface="CIDFont+F3"/>
              </a:rPr>
              <a:t>    print(i, </a:t>
            </a:r>
            <a:r>
              <a:rPr lang="pt-BR" sz="3600" b="0" i="0" u="none" strike="noStrike" baseline="0" dirty="0" err="1">
                <a:latin typeface="CIDFont+F3"/>
              </a:rPr>
              <a:t>end</a:t>
            </a:r>
            <a:r>
              <a:rPr lang="pt-BR" sz="3600" b="0" i="0" u="none" strike="noStrike" baseline="0" dirty="0">
                <a:latin typeface="CIDFont+F3"/>
              </a:rPr>
              <a:t>=' ')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867583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E5E33A-4BC3-51FA-F79D-4EAC5170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FFBE5B-9DA5-F393-4809-FB9218D6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1888" y="6310312"/>
            <a:ext cx="9284676" cy="365125"/>
          </a:xfrm>
        </p:spPr>
        <p:txBody>
          <a:bodyPr/>
          <a:lstStyle/>
          <a:p>
            <a:r>
              <a:rPr lang="pt-BR" sz="1800" b="1" dirty="0"/>
              <a:t>Cap04-Prog05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01A002-84A8-D651-7004-0E6C9AA9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931AC75-3C20-438E-865B-C1BFF0A0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Estrutura de Repetição - for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65EE2D2-9D22-A13D-5287-CBE6135552F8}"/>
              </a:ext>
            </a:extLst>
          </p:cNvPr>
          <p:cNvSpPr txBox="1"/>
          <p:nvPr/>
        </p:nvSpPr>
        <p:spPr>
          <a:xfrm>
            <a:off x="685800" y="1465015"/>
            <a:ext cx="1104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1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CIDFont+F2"/>
              </a:rPr>
              <a:t>Exemplo3: Imprimir a quantidade de números pares de 100 até 200, incluindo-os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CIDFont+F2"/>
              </a:rPr>
              <a:t>.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1AA18D2-4BBC-7CFA-5068-637BFF601FDA}"/>
              </a:ext>
            </a:extLst>
          </p:cNvPr>
          <p:cNvSpPr txBox="1"/>
          <p:nvPr/>
        </p:nvSpPr>
        <p:spPr>
          <a:xfrm>
            <a:off x="838200" y="2274837"/>
            <a:ext cx="9118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num = 100</a:t>
            </a:r>
          </a:p>
          <a:p>
            <a:r>
              <a:rPr lang="pt-BR" sz="2400" dirty="0"/>
              <a:t>fim    = 201 </a:t>
            </a:r>
          </a:p>
          <a:p>
            <a:r>
              <a:rPr lang="pt-BR" sz="2400" dirty="0" err="1"/>
              <a:t>contador_pares</a:t>
            </a:r>
            <a:r>
              <a:rPr lang="pt-BR" sz="2400" dirty="0"/>
              <a:t> = 0</a:t>
            </a:r>
          </a:p>
          <a:p>
            <a:r>
              <a:rPr lang="pt-BR" sz="2400" dirty="0"/>
              <a:t>for contador in range(num, fim,2):</a:t>
            </a:r>
          </a:p>
          <a:p>
            <a:r>
              <a:rPr lang="pt-BR" sz="2400" dirty="0"/>
              <a:t>        </a:t>
            </a:r>
            <a:r>
              <a:rPr lang="pt-BR" sz="2400" dirty="0" err="1"/>
              <a:t>if</a:t>
            </a:r>
            <a:r>
              <a:rPr lang="pt-BR" sz="2400" dirty="0"/>
              <a:t> (contador % 2) == 0:</a:t>
            </a:r>
          </a:p>
          <a:p>
            <a:r>
              <a:rPr lang="pt-BR" sz="2400" dirty="0"/>
              <a:t>            </a:t>
            </a:r>
            <a:r>
              <a:rPr lang="pt-BR" sz="2400" dirty="0" err="1"/>
              <a:t>contador_pares</a:t>
            </a:r>
            <a:r>
              <a:rPr lang="pt-BR" sz="2400" dirty="0"/>
              <a:t> = </a:t>
            </a:r>
            <a:r>
              <a:rPr lang="pt-BR" sz="2400" dirty="0" err="1"/>
              <a:t>contador_pares</a:t>
            </a:r>
            <a:r>
              <a:rPr lang="pt-BR" sz="2400" dirty="0"/>
              <a:t> + 1</a:t>
            </a:r>
          </a:p>
          <a:p>
            <a:r>
              <a:rPr lang="pt-BR" sz="2400" dirty="0"/>
              <a:t>print('\n\n Total de números divisíveis por 2 : ', </a:t>
            </a:r>
            <a:r>
              <a:rPr lang="pt-BR" sz="2400" dirty="0" err="1"/>
              <a:t>contador_pares</a:t>
            </a:r>
            <a:r>
              <a:rPr lang="pt-B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2824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0E298ED-A218-E9D5-4EFC-356EFFE1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22C36F6-ABA8-D8D6-16EB-6863BD9A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Cap04-Prog05-2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F40E8D-9333-9BE9-2BAE-F165360F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F385AF8-7C58-845D-0AAD-099C4598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Formatação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4E9FC58-3A30-4783-F4CD-8A5D5B84F3EE}"/>
              </a:ext>
            </a:extLst>
          </p:cNvPr>
          <p:cNvSpPr txBox="1"/>
          <p:nvPr/>
        </p:nvSpPr>
        <p:spPr>
          <a:xfrm>
            <a:off x="404262" y="1830215"/>
            <a:ext cx="116460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n1 = float(input('\</a:t>
            </a:r>
            <a:r>
              <a:rPr lang="pt-BR" sz="2800" b="1" dirty="0" err="1"/>
              <a:t>nPrimeiro</a:t>
            </a:r>
            <a:r>
              <a:rPr lang="pt-BR" sz="2800" b="1" dirty="0"/>
              <a:t> número : '))</a:t>
            </a:r>
          </a:p>
          <a:p>
            <a:r>
              <a:rPr lang="pt-BR" sz="2800" b="1" dirty="0"/>
              <a:t>n2 = float(input('\</a:t>
            </a:r>
            <a:r>
              <a:rPr lang="pt-BR" sz="2800" b="1" dirty="0" err="1"/>
              <a:t>nSegundo</a:t>
            </a:r>
            <a:r>
              <a:rPr lang="pt-BR" sz="2800" b="1" dirty="0"/>
              <a:t>  número : '))</a:t>
            </a:r>
          </a:p>
          <a:p>
            <a:endParaRPr lang="pt-BR" sz="1000" b="1" dirty="0"/>
          </a:p>
          <a:p>
            <a:r>
              <a:rPr lang="pt-BR" sz="2800" b="1" dirty="0"/>
              <a:t>media = (n1 + n2) / 2</a:t>
            </a:r>
          </a:p>
          <a:p>
            <a:endParaRPr lang="pt-BR" sz="2800" b="1" dirty="0"/>
          </a:p>
          <a:p>
            <a:r>
              <a:rPr lang="pt-BR" sz="2800" b="1" dirty="0"/>
              <a:t>print('\</a:t>
            </a:r>
            <a:r>
              <a:rPr lang="pt-BR" sz="2800" b="1" dirty="0" err="1"/>
              <a:t>nA</a:t>
            </a:r>
            <a:r>
              <a:rPr lang="pt-BR" sz="2800" b="1" dirty="0"/>
              <a:t> média entre {:.2f} e {:.1f} é igual a {}'.</a:t>
            </a:r>
            <a:r>
              <a:rPr lang="pt-BR" sz="2800" b="1" dirty="0" err="1"/>
              <a:t>format</a:t>
            </a:r>
            <a:r>
              <a:rPr lang="pt-BR" sz="2800" b="1" dirty="0"/>
              <a:t>(n1, n2, media))</a:t>
            </a:r>
          </a:p>
          <a:p>
            <a:endParaRPr lang="pt-BR" sz="2800" b="1" dirty="0"/>
          </a:p>
          <a:p>
            <a:r>
              <a:rPr lang="pt-BR" sz="2800" b="1" dirty="0">
                <a:solidFill>
                  <a:srgbClr val="FF0000"/>
                </a:solidFill>
              </a:rPr>
              <a:t>print('\n', </a:t>
            </a:r>
            <a:r>
              <a:rPr lang="pt-BR" sz="2800" b="1" dirty="0" err="1">
                <a:solidFill>
                  <a:srgbClr val="FF0000"/>
                </a:solidFill>
              </a:rPr>
              <a:t>f'A</a:t>
            </a:r>
            <a:r>
              <a:rPr lang="pt-BR" sz="2800" b="1" dirty="0">
                <a:solidFill>
                  <a:srgbClr val="FF0000"/>
                </a:solidFill>
              </a:rPr>
              <a:t>  média entre {n1:.2f} e {n2:.1f} é igual a {media:.2f}')</a:t>
            </a:r>
          </a:p>
          <a:p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3796609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4A608B0-6A9B-7984-C292-13D533CB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204CC9-AAC6-F936-2CE6-5E734B3A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Cap04-Prog06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783126-36AA-6F28-46F8-70EE0755C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698004E-77EE-F764-AC32-C5186272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Exercícios: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C60104-95D6-38A7-BC86-1B17AF85797C}"/>
              </a:ext>
            </a:extLst>
          </p:cNvPr>
          <p:cNvSpPr txBox="1"/>
          <p:nvPr/>
        </p:nvSpPr>
        <p:spPr>
          <a:xfrm>
            <a:off x="542492" y="1536174"/>
            <a:ext cx="1067014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arenR"/>
            </a:pPr>
            <a:r>
              <a:rPr lang="pt-BR" sz="2800" dirty="0">
                <a:latin typeface="CIDFont+F2"/>
              </a:rPr>
              <a:t>Faça um programa que mostre a tabuada de 1 até 10 de um número inteiro lido do teclado. O resultado deve aparecer da seguinte forma:</a:t>
            </a:r>
          </a:p>
          <a:p>
            <a:pPr algn="l"/>
            <a:endParaRPr lang="pt-BR" sz="2400" b="0" i="0" u="none" strike="noStrike" baseline="0" dirty="0">
              <a:latin typeface="CIDFont+F2"/>
            </a:endParaRPr>
          </a:p>
          <a:p>
            <a:pPr algn="l"/>
            <a:r>
              <a:rPr lang="pt-BR" sz="2800" dirty="0">
                <a:latin typeface="CIDFont+F2"/>
              </a:rPr>
              <a:t>Se o número lido for 5.</a:t>
            </a:r>
          </a:p>
          <a:p>
            <a:pPr algn="l"/>
            <a:r>
              <a:rPr lang="pt-BR" sz="2800" dirty="0">
                <a:latin typeface="CIDFont+F2"/>
              </a:rPr>
              <a:t>1 x 5 = 5</a:t>
            </a:r>
          </a:p>
          <a:p>
            <a:pPr algn="l"/>
            <a:r>
              <a:rPr lang="pt-BR" sz="2800" dirty="0">
                <a:latin typeface="CIDFont+F2"/>
              </a:rPr>
              <a:t>2 x 5 = 10</a:t>
            </a:r>
          </a:p>
          <a:p>
            <a:pPr algn="l"/>
            <a:r>
              <a:rPr lang="pt-BR" sz="2800" dirty="0">
                <a:latin typeface="CIDFont+F2"/>
              </a:rPr>
              <a:t>.</a:t>
            </a:r>
          </a:p>
          <a:p>
            <a:pPr algn="l"/>
            <a:r>
              <a:rPr lang="pt-BR" sz="2800" dirty="0">
                <a:latin typeface="CIDFont+F2"/>
              </a:rPr>
              <a:t>.</a:t>
            </a:r>
          </a:p>
          <a:p>
            <a:pPr algn="l"/>
            <a:r>
              <a:rPr lang="pt-BR" sz="2800" dirty="0">
                <a:latin typeface="CIDFont+F2"/>
              </a:rPr>
              <a:t>.</a:t>
            </a:r>
          </a:p>
          <a:p>
            <a:pPr algn="l"/>
            <a:r>
              <a:rPr lang="pt-BR" sz="2800" dirty="0">
                <a:latin typeface="CIDFont+F2"/>
              </a:rPr>
              <a:t>10 x 5 = 50</a:t>
            </a:r>
          </a:p>
        </p:txBody>
      </p:sp>
    </p:spTree>
    <p:extLst>
      <p:ext uri="{BB962C8B-B14F-4D97-AF65-F5344CB8AC3E}">
        <p14:creationId xmlns:p14="http://schemas.microsoft.com/office/powerpoint/2010/main" val="91185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B7AA58-0C28-939B-9FEE-0DE8B7A7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02DA80-D46F-E499-4CB2-EB48DE05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Cap04-Prog07 – Cap04-Prog08 – Cap04-Prog09 – Cap04-Prog10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C3897F-E533-9296-B019-D6D461CF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46DC43C-545E-76B3-B01C-489ABC6E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Exercícios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D558E6-1C90-F54A-6D1D-7944019E97FA}"/>
              </a:ext>
            </a:extLst>
          </p:cNvPr>
          <p:cNvSpPr txBox="1"/>
          <p:nvPr/>
        </p:nvSpPr>
        <p:spPr>
          <a:xfrm>
            <a:off x="774700" y="1663700"/>
            <a:ext cx="110928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 algn="l"/>
            <a:r>
              <a:rPr lang="pt-BR" sz="2800" b="0" i="0" u="none" strike="noStrike" baseline="0" dirty="0">
                <a:latin typeface="CIDFont+F2"/>
              </a:rPr>
              <a:t>2) Faça um programa que imprima os 100 primeiros números pares positivos.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marL="355600" indent="-355600" algn="l"/>
            <a:r>
              <a:rPr lang="pt-BR" sz="2800" b="0" i="0" u="none" strike="noStrike" baseline="0" dirty="0">
                <a:latin typeface="CIDFont+F2"/>
              </a:rPr>
              <a:t>3) Faça um programa que imprima os múltiplos de 5 no intervalo de 1 até 500.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4) Faça um programa que imprima o quadrado dos números de 1 até 20.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5) Faça um programa que imprima os números pares de 1 a 600.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22590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792EBA-AF1E-50A9-6F8A-481C8049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32C7268-A4CA-8A0B-88C3-07A0850B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Cap04-Prog11 – Cap04-Prog12 – Cap04-Prog13 – Cap04-Prog14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DAE401-BA01-7365-1AD5-9D13FA43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47D2E07-3097-A4B9-CCCA-A3816B75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Exercícios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CC418A-AE9E-1A15-427B-8D2DDA79BDE1}"/>
              </a:ext>
            </a:extLst>
          </p:cNvPr>
          <p:cNvSpPr txBox="1"/>
          <p:nvPr/>
        </p:nvSpPr>
        <p:spPr>
          <a:xfrm>
            <a:off x="698500" y="1381924"/>
            <a:ext cx="107619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 algn="just"/>
            <a:r>
              <a:rPr lang="pt-BR" sz="2800" b="0" i="0" u="none" strike="noStrike" baseline="0" dirty="0">
                <a:latin typeface="CIDFont+F2"/>
              </a:rPr>
              <a:t>6) Faça um programa que leia 10 números e imprima a raiz quadrada de cada número.</a:t>
            </a:r>
          </a:p>
          <a:p>
            <a:pPr algn="just"/>
            <a:endParaRPr lang="pt-BR" sz="2800" b="0" i="0" u="none" strike="noStrike" baseline="0" dirty="0">
              <a:latin typeface="CIDFont+F2"/>
            </a:endParaRPr>
          </a:p>
          <a:p>
            <a:pPr marL="355600" indent="-355600" algn="just"/>
            <a:r>
              <a:rPr lang="pt-BR" sz="2800" b="0" i="0" u="none" strike="noStrike" baseline="0" dirty="0">
                <a:latin typeface="CIDFont+F2"/>
              </a:rPr>
              <a:t>7) Faça um programa que leia 100 números inteiros e diga qual é o menor.</a:t>
            </a:r>
          </a:p>
          <a:p>
            <a:pPr algn="just"/>
            <a:endParaRPr lang="pt-BR" sz="2800" b="0" i="0" u="none" strike="noStrike" baseline="0" dirty="0">
              <a:latin typeface="CIDFont+F2"/>
            </a:endParaRPr>
          </a:p>
          <a:p>
            <a:pPr marL="355600" indent="-355600" algn="just"/>
            <a:r>
              <a:rPr lang="pt-BR" sz="2800" b="0" i="0" u="none" strike="noStrike" baseline="0" dirty="0">
                <a:latin typeface="CIDFont+F2"/>
              </a:rPr>
              <a:t>8) Faça um programa que leia 100 números inteiros e diga quantos são ímpares.</a:t>
            </a:r>
          </a:p>
          <a:p>
            <a:pPr algn="just"/>
            <a:endParaRPr lang="pt-BR" sz="2800" b="0" i="0" u="none" strike="noStrike" baseline="0" dirty="0">
              <a:latin typeface="CIDFont+F2"/>
            </a:endParaRPr>
          </a:p>
          <a:p>
            <a:pPr marL="355600" indent="-355600" algn="just"/>
            <a:r>
              <a:rPr lang="pt-BR" sz="2800" b="0" i="0" u="none" strike="noStrike" baseline="0" dirty="0">
                <a:latin typeface="CIDFont+F2"/>
              </a:rPr>
              <a:t>9) Faça um programa que leia 100 números e diga quantos estão acima de 1000, quantos são iguais a 1000 e quantos estão abaixo de 1000.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766048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9E8028-188F-FE19-7E05-48CF4C4F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2DA233-7C56-8710-F523-A04CCD49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Cap04-Prog15 – Cap04-Prog16 – Cap04-Prog17 – Cap04-Prog18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6EA6A9-0389-43E4-3FF8-ED9C1034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FFB6383-D53C-71A8-2DB0-EF52BDBAA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84AB15-C013-6C93-6CB4-F436E1C9A09A}"/>
              </a:ext>
            </a:extLst>
          </p:cNvPr>
          <p:cNvSpPr txBox="1"/>
          <p:nvPr/>
        </p:nvSpPr>
        <p:spPr>
          <a:xfrm>
            <a:off x="239151" y="1592689"/>
            <a:ext cx="114531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latin typeface="CIDFont+F2"/>
              </a:rPr>
              <a:t>10) Faça um programa que leia um número inteiro e calcule o seu fatorial.</a:t>
            </a:r>
          </a:p>
          <a:p>
            <a:pPr algn="l"/>
            <a:endParaRPr lang="pt-BR" sz="2400" dirty="0">
              <a:latin typeface="CIDFont+F2"/>
            </a:endParaRPr>
          </a:p>
          <a:p>
            <a:pPr marL="538163" indent="-538163" algn="just"/>
            <a:r>
              <a:rPr lang="pt-BR" sz="2400" dirty="0">
                <a:latin typeface="CIDFont+F2"/>
              </a:rPr>
              <a:t>11) Faça um programa que leia um número inteiro e calcule e mostre os n primeiros termos da série de Fibonacci.</a:t>
            </a:r>
          </a:p>
          <a:p>
            <a:pPr algn="l"/>
            <a:endParaRPr lang="pt-BR" sz="2400" dirty="0">
              <a:latin typeface="CIDFont+F2"/>
            </a:endParaRPr>
          </a:p>
          <a:p>
            <a:pPr algn="l"/>
            <a:r>
              <a:rPr lang="pt-BR" sz="2400" dirty="0">
                <a:latin typeface="CIDFont+F2"/>
              </a:rPr>
              <a:t>12) Faça um programa que leia um número é verifique se ele é um número primo.</a:t>
            </a:r>
          </a:p>
          <a:p>
            <a:pPr algn="l"/>
            <a:endParaRPr lang="pt-BR" sz="2400" dirty="0">
              <a:latin typeface="CIDFont+F2"/>
            </a:endParaRPr>
          </a:p>
          <a:p>
            <a:pPr marL="450850" indent="-450850" algn="just"/>
            <a:r>
              <a:rPr lang="pt-BR" sz="2400" dirty="0">
                <a:latin typeface="CIDFont+F2"/>
              </a:rPr>
              <a:t>13) Um número perfeito é um número natural para o qual a soma de todos os seus divisores naturais próprios (excluindo ele mesmo) é igual ao próprio número. Exemplo 6 é um número perfeito, pois 6 = 1 + 2 +3. 28 é um número perfeito, pois 28 = 1+2+4+7+14. Faça um programa que leia um número e diga se ele é um número perfeito</a:t>
            </a:r>
            <a:r>
              <a:rPr lang="pt-BR" sz="2400" b="0" i="0" u="none" strike="noStrike" baseline="0" dirty="0">
                <a:latin typeface="CIDFont+F2"/>
              </a:rPr>
              <a:t>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51578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5F37BA-21A0-EF11-6BE8-873718D3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876C63-FCEB-29D9-27B8-F5D36322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Cap04-Prog19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FB6C62-EAC9-A5F2-6D7D-16B5DAF1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95A9C3C-BB5F-B67B-5C38-30D37E2B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Exercícios</a:t>
            </a:r>
            <a:endParaRPr lang="pt-BR" sz="4000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149526-61D7-663D-FA3D-8397AD561CEB}"/>
              </a:ext>
            </a:extLst>
          </p:cNvPr>
          <p:cNvSpPr txBox="1"/>
          <p:nvPr/>
        </p:nvSpPr>
        <p:spPr>
          <a:xfrm>
            <a:off x="842621" y="1566838"/>
            <a:ext cx="106813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8163" indent="-538163" algn="l"/>
            <a:r>
              <a:rPr lang="pt-BR" sz="2800" b="0" i="0" u="none" strike="noStrike" baseline="0" dirty="0">
                <a:latin typeface="CIDFont+F2"/>
              </a:rPr>
              <a:t>14) Faça um programa que leia um número inteiro “n” qualquer e mostre na tela a figura abaixo</a:t>
            </a:r>
            <a:r>
              <a:rPr lang="pt-BR" sz="1800" b="0" i="0" u="none" strike="noStrike" baseline="0" dirty="0">
                <a:latin typeface="CIDFont+F2"/>
              </a:rPr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8120260-5F48-9A04-1B11-D0BA0156F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972" y="2734439"/>
            <a:ext cx="8315054" cy="301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51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5E27789-5B62-A976-8E24-C72FB933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F2E266-505A-7DE4-C6DB-B51928D6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Cap04-Prog20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FDB4BE-61CA-B0F4-3768-7617AAF7E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574110C-94F3-550D-22F0-8AE3B41B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400" b="1" i="1" u="none" strike="noStrike" baseline="0" dirty="0">
                <a:latin typeface="CIDFont+F1"/>
              </a:rPr>
              <a:t>Exercícios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A8A10B-14D2-9F83-BB9C-D3A1FFA49559}"/>
              </a:ext>
            </a:extLst>
          </p:cNvPr>
          <p:cNvSpPr txBox="1"/>
          <p:nvPr/>
        </p:nvSpPr>
        <p:spPr>
          <a:xfrm>
            <a:off x="583038" y="1528174"/>
            <a:ext cx="1102592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4375" indent="-714375" algn="just"/>
            <a:r>
              <a:rPr lang="pt-BR" sz="2800" b="0" i="0" u="none" strike="noStrike" baseline="0" dirty="0">
                <a:latin typeface="CIDFont+F2"/>
              </a:rPr>
              <a:t>15) Faça um programa que leia a altura e o sexo (codificado em 1=masculino e 2=feminino) de um grupo de n pessoas lidas do teclado.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marL="714375" algn="l"/>
            <a:r>
              <a:rPr lang="pt-BR" sz="2800" b="0" i="0" u="none" strike="noStrike" baseline="0" dirty="0">
                <a:latin typeface="CIDFont+F2"/>
              </a:rPr>
              <a:t>Calcule e escreva:</a:t>
            </a:r>
          </a:p>
          <a:p>
            <a:pPr marL="714375" algn="l">
              <a:tabLst>
                <a:tab pos="10323513" algn="l"/>
              </a:tabLst>
            </a:pPr>
            <a:r>
              <a:rPr lang="pt-BR" sz="2800" b="0" i="0" u="none" strike="noStrike" baseline="0" dirty="0">
                <a:latin typeface="CIDFont+F2"/>
              </a:rPr>
              <a:t>a) Média da altura </a:t>
            </a:r>
            <a:r>
              <a:rPr lang="pt-BR" sz="2800" b="0" i="0" u="none" strike="noStrike" baseline="0">
                <a:latin typeface="CIDFont+F2"/>
              </a:rPr>
              <a:t>dos grupos</a:t>
            </a:r>
            <a:endParaRPr lang="pt-BR" sz="2800" b="0" i="0" u="none" strike="noStrike" baseline="0" dirty="0">
              <a:latin typeface="CIDFont+F2"/>
            </a:endParaRPr>
          </a:p>
          <a:p>
            <a:pPr marL="714375" algn="l"/>
            <a:r>
              <a:rPr lang="pt-BR" sz="2800" b="0" i="0" u="none" strike="noStrike" baseline="0" dirty="0">
                <a:latin typeface="CIDFont+F2"/>
              </a:rPr>
              <a:t>b) Média da altura dos homens</a:t>
            </a:r>
          </a:p>
          <a:p>
            <a:pPr marL="714375" algn="l"/>
            <a:r>
              <a:rPr lang="pt-BR" sz="2800" b="0" i="0" u="none" strike="noStrike" baseline="0" dirty="0">
                <a:latin typeface="CIDFont+F2"/>
              </a:rPr>
              <a:t>c) Média da altura das mulheres</a:t>
            </a:r>
          </a:p>
          <a:p>
            <a:pPr marL="714375" algn="l"/>
            <a:r>
              <a:rPr lang="pt-BR" sz="2800" b="0" i="0" u="none" strike="noStrike" baseline="0" dirty="0">
                <a:latin typeface="CIDFont+F2"/>
              </a:rPr>
              <a:t>d) Maior altura do grupo</a:t>
            </a:r>
          </a:p>
          <a:p>
            <a:pPr marL="714375" algn="l"/>
            <a:r>
              <a:rPr lang="pt-BR" sz="2800" b="0" i="0" u="none" strike="noStrike" baseline="0" dirty="0">
                <a:latin typeface="CIDFont+F2"/>
              </a:rPr>
              <a:t>e) Menor altura do grupo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26430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B31561-3F19-9614-075B-5C6276548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539F11-1818-F39C-F212-FFB3461B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Cap04-Prog21 – Cap04-Prog22 –Cap04-Prog23 –Cap04-Prog24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137AF4-D1BA-3D96-D0B6-4B11288C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BC73E25-4024-29C1-5037-61F46F58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400" b="1" i="1" u="none" strike="noStrike" baseline="0" dirty="0">
                <a:latin typeface="CIDFont+F1"/>
              </a:rPr>
              <a:t>Exercícios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E42E91-E7C5-D75B-F4A6-0606FD602F56}"/>
              </a:ext>
            </a:extLst>
          </p:cNvPr>
          <p:cNvSpPr txBox="1"/>
          <p:nvPr/>
        </p:nvSpPr>
        <p:spPr>
          <a:xfrm>
            <a:off x="289561" y="1258004"/>
            <a:ext cx="1140420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0850" indent="-450850" algn="l"/>
            <a:r>
              <a:rPr lang="pt-BR" sz="2600" i="0" u="none" strike="noStrike" baseline="0" dirty="0">
                <a:latin typeface="CIDFont+F2"/>
              </a:rPr>
              <a:t>16) Faça um programa que calcule o fatorial de vários números. Quando for lido um número menor que zero, o programa termina.</a:t>
            </a:r>
          </a:p>
          <a:p>
            <a:pPr algn="l"/>
            <a:endParaRPr lang="pt-BR" sz="2600" i="0" u="none" strike="noStrike" baseline="0" dirty="0">
              <a:latin typeface="CIDFont+F2"/>
            </a:endParaRPr>
          </a:p>
          <a:p>
            <a:pPr marL="450850" indent="-450850" algn="l"/>
            <a:r>
              <a:rPr lang="pt-BR" sz="2600" i="0" u="none" strike="noStrike" baseline="0" dirty="0">
                <a:latin typeface="CIDFont+F2"/>
              </a:rPr>
              <a:t>18) Faça um programa que leia um número real x e um número inteiro y e calcule x elevado a y. Obs.: Não é permitido a utilização do operador **.</a:t>
            </a:r>
          </a:p>
          <a:p>
            <a:pPr marL="450850" indent="-450850" algn="l"/>
            <a:endParaRPr lang="pt-BR" sz="2600" dirty="0">
              <a:latin typeface="CIDFont+F2"/>
            </a:endParaRPr>
          </a:p>
          <a:p>
            <a:pPr algn="l"/>
            <a:r>
              <a:rPr lang="pt-BR" sz="2600" dirty="0">
                <a:latin typeface="CIDFont+F2"/>
              </a:rPr>
              <a:t>19) Diga quantas vezes a sentença S será executada :         </a:t>
            </a:r>
            <a:r>
              <a:rPr lang="en-US" sz="2600" dirty="0">
                <a:latin typeface="CIDFont+F2"/>
              </a:rPr>
              <a:t>for j in range(1, 11):</a:t>
            </a:r>
          </a:p>
          <a:p>
            <a:pPr marL="1339850" algn="l"/>
            <a:r>
              <a:rPr lang="en-US" sz="2600" dirty="0">
                <a:latin typeface="CIDFont+F2"/>
              </a:rPr>
              <a:t>                                                                                         for </a:t>
            </a:r>
            <a:r>
              <a:rPr lang="en-US" sz="2600" dirty="0" err="1">
                <a:latin typeface="CIDFont+F2"/>
              </a:rPr>
              <a:t>i</a:t>
            </a:r>
            <a:r>
              <a:rPr lang="en-US" sz="2600" dirty="0">
                <a:latin typeface="CIDFont+F2"/>
              </a:rPr>
              <a:t> in range(1, j+1): </a:t>
            </a:r>
            <a:r>
              <a:rPr lang="pt-BR" sz="2600" dirty="0">
                <a:latin typeface="CIDFont+F2"/>
              </a:rPr>
              <a:t>  </a:t>
            </a:r>
          </a:p>
          <a:p>
            <a:pPr marL="1339850" algn="l"/>
            <a:r>
              <a:rPr lang="pt-BR" sz="2600" b="1" dirty="0">
                <a:solidFill>
                  <a:srgbClr val="FF0000"/>
                </a:solidFill>
                <a:latin typeface="CIDFont+F2"/>
              </a:rPr>
              <a:t>                                                                                               S</a:t>
            </a:r>
          </a:p>
          <a:p>
            <a:pPr algn="l"/>
            <a:r>
              <a:rPr lang="pt-BR" sz="2600" dirty="0">
                <a:latin typeface="CIDFont+F2"/>
              </a:rPr>
              <a:t>20) Reescreva o trecho abaixo utilizando </a:t>
            </a:r>
            <a:r>
              <a:rPr lang="pt-BR" sz="2600" dirty="0" err="1">
                <a:latin typeface="CIDFont+F2"/>
              </a:rPr>
              <a:t>while</a:t>
            </a:r>
            <a:r>
              <a:rPr lang="pt-BR" sz="2600" dirty="0">
                <a:latin typeface="CIDFont+F2"/>
              </a:rPr>
              <a:t>.</a:t>
            </a:r>
            <a:r>
              <a:rPr lang="pt-BR" sz="2600" b="1" dirty="0">
                <a:solidFill>
                  <a:srgbClr val="FF0000"/>
                </a:solidFill>
                <a:latin typeface="CIDFont+F2"/>
              </a:rPr>
              <a:t>                   </a:t>
            </a:r>
            <a:r>
              <a:rPr lang="en-US" sz="2600" dirty="0">
                <a:latin typeface="CIDFont+F2"/>
              </a:rPr>
              <a:t>for j in range(1, 11):</a:t>
            </a:r>
            <a:endParaRPr lang="pt-BR" sz="2600" b="1" dirty="0">
              <a:solidFill>
                <a:srgbClr val="FF0000"/>
              </a:solidFill>
              <a:latin typeface="CIDFont+F2"/>
            </a:endParaRPr>
          </a:p>
          <a:p>
            <a:pPr algn="l"/>
            <a:r>
              <a:rPr lang="en-US" sz="2600" dirty="0">
                <a:latin typeface="CIDFont+F2"/>
              </a:rPr>
              <a:t>                                                                                                            for </a:t>
            </a:r>
            <a:r>
              <a:rPr lang="en-US" sz="2600" dirty="0" err="1">
                <a:latin typeface="CIDFont+F2"/>
              </a:rPr>
              <a:t>i</a:t>
            </a:r>
            <a:r>
              <a:rPr lang="en-US" sz="2600" dirty="0">
                <a:latin typeface="CIDFont+F2"/>
              </a:rPr>
              <a:t> in (1, j+1):   </a:t>
            </a:r>
          </a:p>
          <a:p>
            <a:pPr algn="l"/>
            <a:r>
              <a:rPr lang="en-US" sz="2600" b="1" dirty="0">
                <a:solidFill>
                  <a:srgbClr val="FF0000"/>
                </a:solidFill>
                <a:latin typeface="CIDFont+F2"/>
              </a:rPr>
              <a:t>                                                                                                                </a:t>
            </a:r>
            <a:r>
              <a:rPr lang="pt-BR" sz="2600" b="1" dirty="0">
                <a:solidFill>
                  <a:srgbClr val="FF0000"/>
                </a:solidFill>
                <a:latin typeface="CIDFont+F2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280007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AA3443-A893-81B5-730D-7096D0480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2F82390-77C9-7A3C-69DC-C8E241E8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/>
              <a:t>Cap04-Prog25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8272CD-7273-E376-30E9-26898BCB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F2D8583-8D50-CB80-045D-D9907283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400" b="1" i="1" u="none" strike="noStrike" baseline="0" dirty="0">
                <a:latin typeface="CIDFont+F1"/>
              </a:rPr>
              <a:t>Exercícios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6598FF-6D16-9CA9-3105-D708C5BB379F}"/>
              </a:ext>
            </a:extLst>
          </p:cNvPr>
          <p:cNvSpPr txBox="1"/>
          <p:nvPr/>
        </p:nvSpPr>
        <p:spPr>
          <a:xfrm>
            <a:off x="977030" y="1565753"/>
            <a:ext cx="102212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2"/>
              </a:rPr>
              <a:t>23) Diga quantas vezes a sentença S será executada.</a:t>
            </a:r>
          </a:p>
          <a:p>
            <a:pPr marL="627063" algn="l"/>
            <a:r>
              <a:rPr lang="pt-BR" sz="2800" b="0" i="0" u="none" strike="noStrike" baseline="0" dirty="0">
                <a:latin typeface="CIDFont+F2"/>
              </a:rPr>
              <a:t>b=False</a:t>
            </a:r>
          </a:p>
          <a:p>
            <a:pPr marL="627063" algn="l"/>
            <a:r>
              <a:rPr lang="pt-BR" sz="2800" b="0" i="0" u="none" strike="noStrike" baseline="0" dirty="0" err="1">
                <a:latin typeface="CIDFont+F2"/>
              </a:rPr>
              <a:t>while</a:t>
            </a:r>
            <a:r>
              <a:rPr lang="pt-BR" sz="2800" b="0" i="0" u="none" strike="noStrike" baseline="0" dirty="0">
                <a:latin typeface="CIDFont+F2"/>
              </a:rPr>
              <a:t> not b:</a:t>
            </a:r>
          </a:p>
          <a:p>
            <a:pPr marL="627063" algn="l"/>
            <a:r>
              <a:rPr lang="pt-BR" sz="2800" b="0" i="0" u="none" strike="noStrike" baseline="0" dirty="0">
                <a:latin typeface="CIDFont+F2"/>
              </a:rPr>
              <a:t>    </a:t>
            </a:r>
            <a:r>
              <a:rPr lang="pt-BR" sz="2800" b="0" i="0" u="none" strike="noStrike" baseline="0" dirty="0" err="1">
                <a:latin typeface="CIDFont+F2"/>
              </a:rPr>
              <a:t>while</a:t>
            </a:r>
            <a:r>
              <a:rPr lang="pt-BR" sz="2800" b="0" i="0" u="none" strike="noStrike" baseline="0" dirty="0">
                <a:latin typeface="CIDFont+F2"/>
              </a:rPr>
              <a:t> not b:</a:t>
            </a:r>
          </a:p>
          <a:p>
            <a:pPr marL="627063" algn="l"/>
            <a:r>
              <a:rPr lang="pt-BR" sz="2800" b="0" i="0" u="none" strike="noStrike" baseline="0" dirty="0">
                <a:latin typeface="CIDFont+F2"/>
              </a:rPr>
              <a:t>        S</a:t>
            </a:r>
          </a:p>
          <a:p>
            <a:pPr marL="627063" algn="l"/>
            <a:r>
              <a:rPr lang="pt-BR" sz="2800" b="0" i="0" u="none" strike="noStrike" baseline="0" dirty="0">
                <a:latin typeface="CIDFont+F2"/>
              </a:rPr>
              <a:t>        b = not b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25338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B92D1A-3AF0-4330-B356-6D3F57A40E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512A7A-5B84-4D73-BDB8-54FEBCBCCE7A}">
  <ds:schemaRefs>
    <ds:schemaRef ds:uri="http://schemas.microsoft.com/office/2006/metadata/properties"/>
    <ds:schemaRef ds:uri="http://schemas.microsoft.com/office/infopath/2007/PartnerControls"/>
    <ds:schemaRef ds:uri="30a7b03c-4792-4e17-9dab-b93b92a33270"/>
    <ds:schemaRef ds:uri="5c7a6bef-5354-4968-b627-13d8ea6c420d"/>
  </ds:schemaRefs>
</ds:datastoreItem>
</file>

<file path=customXml/itemProps3.xml><?xml version="1.0" encoding="utf-8"?>
<ds:datastoreItem xmlns:ds="http://schemas.openxmlformats.org/officeDocument/2006/customXml" ds:itemID="{65E30C6F-4898-4371-AEE0-A073798915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b03c-4792-4e17-9dab-b93b92a33270"/>
    <ds:schemaRef ds:uri="5c7a6bef-5354-4968-b627-13d8ea6c42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9716</TotalTime>
  <Words>1215</Words>
  <Application>Microsoft Office PowerPoint</Application>
  <PresentationFormat>Widescreen</PresentationFormat>
  <Paragraphs>202</Paragraphs>
  <Slides>17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Tema do Office</vt:lpstr>
      <vt:lpstr>              Centro Federal de Educação Tecnológica Celso Suckow da Fonseca Escola de Informática e Computação Ciência da Computação</vt:lpstr>
      <vt:lpstr>Estruturas de Repetição em Python </vt:lpstr>
      <vt:lpstr>Estrutura de Repetição - for...</vt:lpstr>
      <vt:lpstr>Estrutura de Repetição - for...</vt:lpstr>
      <vt:lpstr>Estrutura de Repetição – for...</vt:lpstr>
      <vt:lpstr>Estrutura de Repetição - for...</vt:lpstr>
      <vt:lpstr>Estrutura de Repetição - for...</vt:lpstr>
      <vt:lpstr>Estrutura de Repetição - for</vt:lpstr>
      <vt:lpstr>Formatação</vt:lpstr>
      <vt:lpstr>Exercícios: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lastModifiedBy>ALMIR SILVA DA SILVEIRA</cp:lastModifiedBy>
  <cp:revision>135</cp:revision>
  <dcterms:created xsi:type="dcterms:W3CDTF">2024-07-25T18:00:53Z</dcterms:created>
  <dcterms:modified xsi:type="dcterms:W3CDTF">2026-04-24T23:39:52Z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  <property fmtid="{D5CDD505-2E9C-101B-9397-08002B2CF9AE}" pid="3" name="MediaServiceImageTags">
    <vt:lpwstr/>
  </property>
</Properties>
</file>