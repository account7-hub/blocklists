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9"/>
  </p:notesMasterIdLst>
  <p:handoutMasterIdLst>
    <p:handoutMasterId r:id="rId40"/>
  </p:handoutMasterIdLst>
  <p:sldIdLst>
    <p:sldId id="258" r:id="rId5"/>
    <p:sldId id="259" r:id="rId6"/>
    <p:sldId id="324" r:id="rId7"/>
    <p:sldId id="260" r:id="rId8"/>
    <p:sldId id="261" r:id="rId9"/>
    <p:sldId id="262" r:id="rId10"/>
    <p:sldId id="263" r:id="rId11"/>
    <p:sldId id="264" r:id="rId12"/>
    <p:sldId id="265" r:id="rId13"/>
    <p:sldId id="267" r:id="rId14"/>
    <p:sldId id="266" r:id="rId15"/>
    <p:sldId id="268" r:id="rId16"/>
    <p:sldId id="269" r:id="rId17"/>
    <p:sldId id="270" r:id="rId18"/>
    <p:sldId id="283" r:id="rId19"/>
    <p:sldId id="272" r:id="rId20"/>
    <p:sldId id="273" r:id="rId21"/>
    <p:sldId id="284" r:id="rId22"/>
    <p:sldId id="274" r:id="rId23"/>
    <p:sldId id="275" r:id="rId24"/>
    <p:sldId id="276" r:id="rId25"/>
    <p:sldId id="277" r:id="rId26"/>
    <p:sldId id="278" r:id="rId27"/>
    <p:sldId id="279" r:id="rId28"/>
    <p:sldId id="285" r:id="rId29"/>
    <p:sldId id="286" r:id="rId30"/>
    <p:sldId id="287" r:id="rId31"/>
    <p:sldId id="325" r:id="rId32"/>
    <p:sldId id="330" r:id="rId33"/>
    <p:sldId id="331" r:id="rId34"/>
    <p:sldId id="332" r:id="rId35"/>
    <p:sldId id="280" r:id="rId36"/>
    <p:sldId id="281" r:id="rId37"/>
    <p:sldId id="282" r:id="rId3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FFFF"/>
    <a:srgbClr val="FE4D2A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8FD942-D482-19A0-CCAD-ABB2EC8B63E3}" v="4" dt="2026-04-25T18:47:05.40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87970" autoAdjust="0"/>
  </p:normalViewPr>
  <p:slideViewPr>
    <p:cSldViewPr snapToGrid="0">
      <p:cViewPr varScale="1">
        <p:scale>
          <a:sx n="59" d="100"/>
          <a:sy n="59" d="100"/>
        </p:scale>
        <p:origin x="1056" y="66"/>
      </p:cViewPr>
      <p:guideLst/>
    </p:cSldViewPr>
  </p:slideViewPr>
  <p:notesTextViewPr>
    <p:cViewPr>
      <p:scale>
        <a:sx n="400" d="100"/>
        <a:sy n="400" d="100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2346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ANNA TROTTA SILVEIRA" userId="S::18200369790@cefet-rj.br::5e18e8ca-67e6-4902-b3a3-5059fd113c90" providerId="AD" clId="Web-{7B8FD942-D482-19A0-CCAD-ABB2EC8B63E3}"/>
    <pc:docChg chg="modSld">
      <pc:chgData name="MARIANNA TROTTA SILVEIRA" userId="S::18200369790@cefet-rj.br::5e18e8ca-67e6-4902-b3a3-5059fd113c90" providerId="AD" clId="Web-{7B8FD942-D482-19A0-CCAD-ABB2EC8B63E3}" dt="2026-04-25T18:47:05.405" v="3" actId="20577"/>
      <pc:docMkLst>
        <pc:docMk/>
      </pc:docMkLst>
      <pc:sldChg chg="modSp">
        <pc:chgData name="MARIANNA TROTTA SILVEIRA" userId="S::18200369790@cefet-rj.br::5e18e8ca-67e6-4902-b3a3-5059fd113c90" providerId="AD" clId="Web-{7B8FD942-D482-19A0-CCAD-ABB2EC8B63E3}" dt="2026-04-25T18:47:05.405" v="3" actId="20577"/>
        <pc:sldMkLst>
          <pc:docMk/>
          <pc:sldMk cId="2423357608" sldId="273"/>
        </pc:sldMkLst>
        <pc:spChg chg="mod">
          <ac:chgData name="MARIANNA TROTTA SILVEIRA" userId="S::18200369790@cefet-rj.br::5e18e8ca-67e6-4902-b3a3-5059fd113c90" providerId="AD" clId="Web-{7B8FD942-D482-19A0-CCAD-ABB2EC8B63E3}" dt="2026-04-25T18:47:05.405" v="3" actId="20577"/>
          <ac:spMkLst>
            <pc:docMk/>
            <pc:sldMk cId="2423357608" sldId="273"/>
            <ac:spMk id="9" creationId="{2EA7746C-97EC-E76D-1FED-92A534828BF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2D7F6E95-DF0A-DDE8-9E53-D9371CC8254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044EA07-597F-F819-7229-532D66BD13E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ABDEF1-98DE-47F3-AB9B-696578D75E17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D97D246-3E04-820B-A4C8-7E38ADED39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F651051-B63C-CCEF-B43D-06863876E89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FA3027-C7E8-477B-B942-A004D5627C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74030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E62CF-6E2E-4950-A4C6-2F0629CEB57A}" type="datetimeFigureOut">
              <a:rPr lang="pt-BR" smtClean="0"/>
              <a:t>25/04/2026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54D19-40F4-4FB2-BB02-0ACB3B38197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11554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13006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4099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8343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2961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754D19-40F4-4FB2-BB02-0ACB3B381977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317620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F06BDC-F7DD-220C-CACB-623D63919B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E61EF9C-808A-F892-ED25-C59BF26334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2C2D21-355A-B4C6-D7BF-FC594A577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7F13E9C-3250-5D7A-CE51-894FCACB6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CD16C1-6D70-DEDF-955E-96C301AA6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112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8FA50B-B228-B2CB-4BBD-59790D4424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39151" y="6356350"/>
            <a:ext cx="1209821" cy="365125"/>
          </a:xfrm>
        </p:spPr>
        <p:txBody>
          <a:bodyPr/>
          <a:lstStyle>
            <a:lvl1pPr>
              <a:defRPr b="1"/>
            </a:lvl1pPr>
          </a:lstStyle>
          <a:p>
            <a:r>
              <a:rPr lang="pt-BR" dirty="0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A33E03-04D3-3C99-D4CC-393AD43778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1" y="6356350"/>
            <a:ext cx="928467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76D6B47-DA56-AC52-B164-35891B6B9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79480" y="6356350"/>
            <a:ext cx="873369" cy="365125"/>
          </a:xfrm>
        </p:spPr>
        <p:txBody>
          <a:bodyPr/>
          <a:lstStyle>
            <a:lvl1pPr algn="l">
              <a:defRPr/>
            </a:lvl1pPr>
          </a:lstStyle>
          <a:p>
            <a:fld id="{250292FE-8D56-4E3A-9427-CB428FF60A53}" type="slidenum">
              <a:rPr lang="pt-BR" smtClean="0"/>
              <a:pPr/>
              <a:t>‹nº›</a:t>
            </a:fld>
            <a:endParaRPr lang="pt-BR" dirty="0"/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8107C4F4-2068-EDC6-F8E0-984352F65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5532" y="365125"/>
            <a:ext cx="9862002" cy="988219"/>
          </a:xfrm>
        </p:spPr>
        <p:txBody>
          <a:bodyPr>
            <a:normAutofit/>
          </a:bodyPr>
          <a:lstStyle/>
          <a:p>
            <a:pPr algn="ctr"/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              Centro Federal de Educação Tecnológica Celso Suckow da Fonseca</a:t>
            </a:r>
            <a:br>
              <a:rPr lang="pt-BR" sz="18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Escola de Informática e Computação</a:t>
            </a:r>
            <a:br>
              <a:rPr lang="pt-BR" sz="18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Ciência da Computação</a:t>
            </a:r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5F5CB7DE-4FD2-82C8-8085-8522769A268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24466" y="349522"/>
            <a:ext cx="1681066" cy="988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46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30012B-5FFB-503A-93D2-2F43E17DD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7AC1D0C-2F68-C972-9E1F-BA1FD83CB3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E07B6F4-628B-9CD7-8F7F-2A5640844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D11514-16C5-4418-818A-FDECA5475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883EA9-82C8-DD6A-6F7E-A10529385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6764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078F2E-F87A-28D2-5177-D8AF0FC54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AD59D1-A894-70DE-B49C-7E1C42153B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FA1CB66-D4B3-0C42-5406-A397214998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5A9045-E299-D1BC-548E-DA60065BEA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5F861DB-B126-C096-C0C8-75EA29D0F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B493C2C-87A8-7ADD-E4C9-5C96068C6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906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F73ED7-1686-5F8A-10A9-F50F66036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47DAE2A-0C8E-84B7-FF7F-0075E7B6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B3C14A8-D0E9-8760-78FF-07B539BD88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FE7A9A5-E119-FD4F-CCDF-BB396DFF68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05E3807-E3CF-D08F-555A-BAE67FCDCC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04F527B8-39F7-34AC-744A-DB3EAF11E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187CDB-4CAD-C47F-7F68-4B977C131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B03A58A-4C31-DEDB-994F-3A7473463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77016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4EEE29-8BDC-371F-1F50-096619994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3665B26-3B57-E9CD-FEE1-8F12BEB5C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6300C64-73E3-2FDB-857F-DD1BF8000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C810EA3-9932-5C64-9D4A-2CF0AEFCE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6029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45D1DE8-C2E7-563C-BC88-550A37CDA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57F044E-5BF1-1E08-B412-3A8E378DF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522ECD8-BC8E-75AF-3253-F35E2EC8E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29410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A9D38-2472-977E-F0B5-2A8A7C3D5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CAD1A9-6513-146C-8A98-E6EB5DC7B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800B00-B279-50DA-DBD9-6C613A9D8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E9C20CA-FD74-F909-C6A2-CAFF4EC7C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1E8670-D013-EC8F-D118-AB063F685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43CD7B-732D-B650-F141-5F79FB197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4705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69DBC3-3401-A3D2-B219-259F44F82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829A8F6-B5A7-41C2-5EDB-B3AC72B59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02B7809-70B0-CFDE-77FE-019E49D81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3D4786D-E5B0-5995-B806-7759C6B7D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01C364B-4223-A58F-49EE-FDCB6E1B7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DB41AD-07A8-879B-D075-7E057EE04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4317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512E53-480A-BCC2-AF43-0C32667B6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87777D6-06A6-D2A5-0BEA-E9A8A19A0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EFBCF5-1061-4ADF-5028-EB2D4615D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E3448D7-E146-7AC9-3404-C4353F51E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24F478F-8BE1-E167-FE88-5357CBEB2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709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0180F69-9B91-0B85-B18D-29C478C3E6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5CEE54A-78BE-B888-5435-1F4BB92E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309EE3-9541-F7F1-FC4A-5B0F5836D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7835FE-3B42-0F74-F3A7-1EC2DE7DC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765329-397C-FC63-6BE6-8BC5E6B02B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5440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8392734-EB08-7F99-9C05-CEFB6E104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922EE65-2666-D63F-D25E-DE0E33AF86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DCF20C4-E182-7218-6B83-DB95542FC6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pt-BR"/>
              <a:t>25/07/2024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EB4A0E7-B671-9258-1B0E-12AFF67F15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940868-9CE7-5A9C-049A-DF55CBD7E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0292FE-8D56-4E3A-9427-CB428FF60A5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170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5A5C6A1B-B42D-97AA-6E2D-CC2DD52BE8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4465" y="365125"/>
            <a:ext cx="11543069" cy="988219"/>
          </a:xfrm>
        </p:spPr>
        <p:txBody>
          <a:bodyPr>
            <a:normAutofit fontScale="90000"/>
          </a:bodyPr>
          <a:lstStyle/>
          <a:p>
            <a:pPr algn="ctr"/>
            <a:r>
              <a:rPr lang="pt-BR" sz="18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              </a:t>
            </a: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Centro Federal de Educação Tecnológica Celso Suckow da Fonseca</a:t>
            </a:r>
            <a:br>
              <a:rPr lang="pt-BR" sz="24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Escola de Informática e Computação</a:t>
            </a:r>
            <a:br>
              <a:rPr lang="pt-BR" sz="2400" b="0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</a:br>
            <a:r>
              <a:rPr lang="pt-BR" sz="2400" b="1" i="0" u="none" strike="noStrike" baseline="0" dirty="0">
                <a:solidFill>
                  <a:srgbClr val="4F81BC"/>
                </a:solidFill>
                <a:latin typeface="Arial" panose="020B0604020202020204" pitchFamily="34" charset="0"/>
              </a:rPr>
              <a:t>Ciência da Computação</a:t>
            </a:r>
            <a:endParaRPr lang="pt-BR" sz="2400" dirty="0"/>
          </a:p>
        </p:txBody>
      </p:sp>
      <p:sp>
        <p:nvSpPr>
          <p:cNvPr id="6" name="Espaço Reservado para Data 5">
            <a:extLst>
              <a:ext uri="{FF2B5EF4-FFF2-40B4-BE49-F238E27FC236}">
                <a16:creationId xmlns:a16="http://schemas.microsoft.com/office/drawing/2014/main" id="{E83F93AE-CC61-84FA-B813-FE5A675C9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7" name="Espaço Reservado para Rodapé 6">
            <a:extLst>
              <a:ext uri="{FF2B5EF4-FFF2-40B4-BE49-F238E27FC236}">
                <a16:creationId xmlns:a16="http://schemas.microsoft.com/office/drawing/2014/main" id="{BC5ABB53-4A29-DA28-55A7-C099606FE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47948" y="6356349"/>
            <a:ext cx="928467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8" name="Espaço Reservado para Número de Slide 7">
            <a:extLst>
              <a:ext uri="{FF2B5EF4-FFF2-40B4-BE49-F238E27FC236}">
                <a16:creationId xmlns:a16="http://schemas.microsoft.com/office/drawing/2014/main" id="{0C0536A0-9280-5193-6FB9-ED255F9D40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31600" y="6356350"/>
            <a:ext cx="421249" cy="365125"/>
          </a:xfrm>
        </p:spPr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</a:t>
            </a:fld>
            <a:endParaRPr lang="pt-BR" b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6FACD24-BD62-72C2-991F-8DBA2BDB6F87}"/>
              </a:ext>
            </a:extLst>
          </p:cNvPr>
          <p:cNvSpPr txBox="1"/>
          <p:nvPr/>
        </p:nvSpPr>
        <p:spPr>
          <a:xfrm>
            <a:off x="1151907" y="2028616"/>
            <a:ext cx="1018902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0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Algoritmos Computacionais e</a:t>
            </a:r>
          </a:p>
          <a:p>
            <a:pPr algn="ctr"/>
            <a:r>
              <a:rPr lang="pt-BR" sz="4000" b="1" i="0" u="none" strike="noStrike" baseline="0" dirty="0">
                <a:latin typeface="Arial" panose="020B0604020202020204" pitchFamily="34" charset="0"/>
                <a:cs typeface="Arial" panose="020B0604020202020204" pitchFamily="34" charset="0"/>
              </a:rPr>
              <a:t>Estrutura de Dados em Python</a:t>
            </a:r>
            <a:r>
              <a:rPr lang="pt-BR" sz="4000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pt-BR" sz="4800" b="1" dirty="0">
                <a:latin typeface="Arial" panose="020B0604020202020204" pitchFamily="34" charset="0"/>
                <a:cs typeface="Arial" panose="020B0604020202020204" pitchFamily="34" charset="0"/>
              </a:rPr>
              <a:t>– Cap-05 –</a:t>
            </a:r>
          </a:p>
          <a:p>
            <a:pPr algn="ctr"/>
            <a:r>
              <a:rPr lang="pt-BR" sz="4400" b="1" dirty="0">
                <a:latin typeface="Arial" panose="020B0604020202020204" pitchFamily="34" charset="0"/>
                <a:cs typeface="Arial" panose="020B0604020202020204" pitchFamily="34" charset="0"/>
              </a:rPr>
              <a:t>Strings</a:t>
            </a:r>
          </a:p>
          <a:p>
            <a:pPr algn="ctr"/>
            <a:endParaRPr lang="pt-BR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0929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3FB8547-1908-F806-BCA2-41626F566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9DB808A-24F8-E592-EC38-AD9000C95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D6BA8FC-ADB4-1D2A-F9D0-071FD437F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2621C16-6A9E-F6F6-AF16-AEB40331B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0760" y="365125"/>
            <a:ext cx="9596774" cy="988219"/>
          </a:xfrm>
        </p:spPr>
        <p:txBody>
          <a:bodyPr>
            <a:noAutofit/>
          </a:bodyPr>
          <a:lstStyle/>
          <a:p>
            <a:pPr algn="ctr"/>
            <a:r>
              <a:rPr lang="pt-BR" b="1" i="1" u="none" strike="noStrike" baseline="0" dirty="0" err="1">
                <a:latin typeface="CIDFont+F1"/>
              </a:rPr>
              <a:t>Strings</a:t>
            </a:r>
            <a:r>
              <a:rPr lang="pt-BR" b="1" i="1" u="none" strike="noStrike" baseline="0" dirty="0">
                <a:latin typeface="CIDFont+F1"/>
              </a:rPr>
              <a:t> em Python </a:t>
            </a:r>
            <a:endParaRPr lang="pt-BR" b="1" i="1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A6E6065-85F8-30B5-02CD-F2CCD729BEEB}"/>
              </a:ext>
            </a:extLst>
          </p:cNvPr>
          <p:cNvSpPr txBox="1"/>
          <p:nvPr/>
        </p:nvSpPr>
        <p:spPr>
          <a:xfrm>
            <a:off x="747808" y="1425533"/>
            <a:ext cx="11347939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1" i="0" u="none" strike="noStrike" baseline="0" dirty="0">
                <a:latin typeface="CIDFont+F3"/>
              </a:rPr>
              <a:t>• </a:t>
            </a:r>
            <a:r>
              <a:rPr lang="pt-BR" sz="3200" b="1" i="0" u="none" strike="noStrike" baseline="0" dirty="0">
                <a:latin typeface="CIDFont+F2"/>
              </a:rPr>
              <a:t>Representam informações em formato de texto</a:t>
            </a:r>
            <a:endParaRPr lang="pt-BR" sz="3200" b="1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marL="1082675" algn="l"/>
            <a:endParaRPr lang="pt-BR" sz="2800" b="0" i="0" u="none" strike="noStrike" baseline="0" dirty="0">
              <a:solidFill>
                <a:srgbClr val="000000"/>
              </a:solidFill>
              <a:latin typeface="CIDFont+F4"/>
            </a:endParaRPr>
          </a:p>
          <a:p>
            <a:pPr marL="1082675"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4"/>
              </a:rPr>
              <a:t>nome = ‘José Pereira’</a:t>
            </a:r>
          </a:p>
          <a:p>
            <a:pPr marL="1082675" algn="l"/>
            <a:r>
              <a:rPr lang="pt-BR" sz="2800" dirty="0">
                <a:solidFill>
                  <a:srgbClr val="000000"/>
                </a:solidFill>
                <a:latin typeface="CIDFont+F4"/>
              </a:rPr>
              <a:t>nacionalidade = ‘brasileira’</a:t>
            </a:r>
          </a:p>
          <a:p>
            <a:pPr marL="1082675" algn="l"/>
            <a:r>
              <a:rPr lang="pt-BR" sz="2800" dirty="0" err="1">
                <a:solidFill>
                  <a:srgbClr val="000000"/>
                </a:solidFill>
                <a:latin typeface="CIDFont+F4"/>
              </a:rPr>
              <a:t>n</a:t>
            </a:r>
            <a:r>
              <a:rPr lang="pt-BR" sz="2800" b="0" i="0" u="none" strike="noStrike" baseline="0" dirty="0" err="1">
                <a:solidFill>
                  <a:srgbClr val="000000"/>
                </a:solidFill>
                <a:latin typeface="CIDFont+F4"/>
              </a:rPr>
              <a:t>ome_mae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4"/>
              </a:rPr>
              <a:t> = </a:t>
            </a:r>
            <a:r>
              <a:rPr lang="pt-BR" sz="2800" dirty="0">
                <a:solidFill>
                  <a:srgbClr val="000000"/>
                </a:solidFill>
                <a:latin typeface="CIDFont+F4"/>
              </a:rPr>
              <a:t>‘M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4"/>
              </a:rPr>
              <a:t>aria Silva’</a:t>
            </a:r>
          </a:p>
          <a:p>
            <a:pPr marL="1082675" algn="l"/>
            <a:r>
              <a:rPr lang="pt-BR" sz="2800" dirty="0" err="1">
                <a:solidFill>
                  <a:srgbClr val="000000"/>
                </a:solidFill>
                <a:latin typeface="CIDFont+F4"/>
              </a:rPr>
              <a:t>n</a:t>
            </a:r>
            <a:r>
              <a:rPr lang="pt-BR" sz="2800" b="0" i="0" u="none" strike="noStrike" baseline="0" dirty="0" err="1">
                <a:solidFill>
                  <a:srgbClr val="000000"/>
                </a:solidFill>
                <a:latin typeface="CIDFont+F4"/>
              </a:rPr>
              <a:t>ome_pai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4"/>
              </a:rPr>
              <a:t>    = ‘João Silva Santos’</a:t>
            </a:r>
          </a:p>
          <a:p>
            <a:pPr marL="1082675" algn="l"/>
            <a:endParaRPr lang="pt-BR" sz="2800" b="0" i="0" u="none" strike="noStrike" baseline="0" dirty="0">
              <a:solidFill>
                <a:srgbClr val="000000"/>
              </a:solidFill>
              <a:latin typeface="CIDFont+F4"/>
            </a:endParaRPr>
          </a:p>
          <a:p>
            <a:r>
              <a:rPr lang="pt-BR" sz="3200" b="1" i="0" u="none" strike="noStrike" baseline="0" dirty="0">
                <a:latin typeface="CIDFont+F3"/>
              </a:rPr>
              <a:t>• Acesso pode ser feito pelo nome da variável que contém a </a:t>
            </a:r>
            <a:r>
              <a:rPr lang="pt-BR" sz="3200" b="1" i="0" u="none" strike="noStrike" baseline="0" dirty="0" err="1">
                <a:latin typeface="CIDFont+F3"/>
              </a:rPr>
              <a:t>string</a:t>
            </a:r>
            <a:endParaRPr lang="pt-BR" sz="2800" b="0" i="0" u="none" strike="noStrike" baseline="0" dirty="0">
              <a:solidFill>
                <a:srgbClr val="000000"/>
              </a:solidFill>
              <a:latin typeface="CIDFont+F4"/>
            </a:endParaRPr>
          </a:p>
          <a:p>
            <a:pPr algn="l"/>
            <a:endParaRPr lang="pt-BR" sz="2800" dirty="0">
              <a:solidFill>
                <a:srgbClr val="000000"/>
              </a:solidFill>
              <a:latin typeface="CIDFont+F4"/>
            </a:endParaRPr>
          </a:p>
          <a:p>
            <a:pPr marL="357188" algn="l"/>
            <a:r>
              <a:rPr lang="pt-BR" sz="2800" dirty="0">
                <a:solidFill>
                  <a:srgbClr val="000000"/>
                </a:solidFill>
                <a:latin typeface="CIDFont+F4"/>
              </a:rPr>
              <a:t>n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4"/>
              </a:rPr>
              <a:t>ome = ‘Maria </a:t>
            </a:r>
            <a:r>
              <a:rPr lang="pt-BR" sz="2800" dirty="0">
                <a:solidFill>
                  <a:srgbClr val="000000"/>
                </a:solidFill>
                <a:latin typeface="CIDFont+F4"/>
              </a:rPr>
              <a:t>Silva’</a:t>
            </a:r>
          </a:p>
          <a:p>
            <a:pPr marL="357188" algn="l"/>
            <a:r>
              <a:rPr lang="pt-BR" sz="2800" dirty="0">
                <a:solidFill>
                  <a:srgbClr val="000000"/>
                </a:solidFill>
                <a:latin typeface="CIDFont+F4"/>
              </a:rPr>
              <a:t>p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4"/>
              </a:rPr>
              <a:t>rint (nome)</a:t>
            </a:r>
          </a:p>
        </p:txBody>
      </p:sp>
    </p:spTree>
    <p:extLst>
      <p:ext uri="{BB962C8B-B14F-4D97-AF65-F5344CB8AC3E}">
        <p14:creationId xmlns:p14="http://schemas.microsoft.com/office/powerpoint/2010/main" val="2864080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302CE4F-1B96-7024-97E9-D038327F9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DE2C754-B44D-AC49-7F36-0D8B9ADEA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47DC55B-ACE7-802A-80C5-97BE17A16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6C4578A-BABD-0D95-D02E-EEEDF646C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Strings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899060E-BA9E-264C-10CF-A6135F74E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3735" y="1592659"/>
            <a:ext cx="7340327" cy="471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4218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53B465-DEBE-E11F-91D0-B97E74329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FA482A-36C7-53B3-4961-B6B85D94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0" y="6356350"/>
            <a:ext cx="9542779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21DBD2-19C7-A8EB-E132-E98B1586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356350"/>
            <a:ext cx="548249" cy="365125"/>
          </a:xfrm>
        </p:spPr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4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F325BCF-E507-3E04-575C-D5C13514B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080" y="365125"/>
            <a:ext cx="9703454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Acesso ao conteúdo de uma </a:t>
            </a:r>
            <a:r>
              <a:rPr lang="pt-BR" sz="4000" b="1" i="1" u="none" strike="noStrike" baseline="0" dirty="0" err="1">
                <a:latin typeface="CIDFont+F1"/>
              </a:rPr>
              <a:t>String</a:t>
            </a:r>
            <a:r>
              <a:rPr lang="pt-BR" sz="4000" b="1" i="1" u="none" strike="noStrike" baseline="0" dirty="0">
                <a:latin typeface="CIDFont+F1"/>
              </a:rPr>
              <a:t> </a:t>
            </a:r>
            <a:endParaRPr lang="pt-BR" sz="4000" b="1" i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2C245AD-7241-62BC-5399-C2ECD9C57C34}"/>
              </a:ext>
            </a:extLst>
          </p:cNvPr>
          <p:cNvSpPr txBox="1"/>
          <p:nvPr/>
        </p:nvSpPr>
        <p:spPr>
          <a:xfrm>
            <a:off x="604910" y="1308222"/>
            <a:ext cx="11347939" cy="4462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3200" b="1" i="0" u="none" strike="noStrike" baseline="0" dirty="0">
                <a:latin typeface="CIDFont+F3"/>
              </a:rPr>
              <a:t>• </a:t>
            </a:r>
            <a:r>
              <a:rPr lang="pt-BR" sz="2800" b="1" dirty="0">
                <a:latin typeface="CIDFont+F2"/>
              </a:rPr>
              <a:t>Caracteres podem ser acessados pela sua posição dentro da </a:t>
            </a:r>
            <a:r>
              <a:rPr lang="pt-BR" sz="2800" b="1" dirty="0" err="1">
                <a:latin typeface="CIDFont+F2"/>
              </a:rPr>
              <a:t>String</a:t>
            </a:r>
            <a:endParaRPr lang="pt-BR" sz="2800" b="1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marL="623888"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4"/>
              </a:rPr>
              <a:t>nome = José Pereira</a:t>
            </a:r>
          </a:p>
          <a:p>
            <a:pPr marL="623888" algn="l"/>
            <a:r>
              <a:rPr lang="pt-BR" sz="2800" dirty="0">
                <a:solidFill>
                  <a:srgbClr val="000000"/>
                </a:solidFill>
                <a:latin typeface="CIDFont+F4"/>
              </a:rPr>
              <a:t>nacionalidade = ‘brasileira’</a:t>
            </a:r>
          </a:p>
          <a:p>
            <a:pPr marL="623888" algn="l"/>
            <a:r>
              <a:rPr lang="pt-BR" sz="2800" dirty="0" err="1">
                <a:solidFill>
                  <a:srgbClr val="000000"/>
                </a:solidFill>
                <a:latin typeface="CIDFont+F4"/>
              </a:rPr>
              <a:t>n</a:t>
            </a:r>
            <a:r>
              <a:rPr lang="pt-BR" sz="2800" b="0" i="0" u="none" strike="noStrike" baseline="0" dirty="0" err="1">
                <a:solidFill>
                  <a:srgbClr val="000000"/>
                </a:solidFill>
                <a:latin typeface="CIDFont+F4"/>
              </a:rPr>
              <a:t>ome_mae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4"/>
              </a:rPr>
              <a:t> = </a:t>
            </a:r>
            <a:r>
              <a:rPr lang="pt-BR" sz="2800" dirty="0">
                <a:solidFill>
                  <a:srgbClr val="000000"/>
                </a:solidFill>
                <a:latin typeface="CIDFont+F4"/>
              </a:rPr>
              <a:t>‘M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4"/>
              </a:rPr>
              <a:t>aria Silva’</a:t>
            </a:r>
          </a:p>
          <a:p>
            <a:pPr marL="623888" algn="l"/>
            <a:r>
              <a:rPr lang="pt-BR" sz="2800" dirty="0" err="1">
                <a:solidFill>
                  <a:srgbClr val="000000"/>
                </a:solidFill>
                <a:latin typeface="CIDFont+F4"/>
              </a:rPr>
              <a:t>n</a:t>
            </a:r>
            <a:r>
              <a:rPr lang="pt-BR" sz="2800" b="0" i="0" u="none" strike="noStrike" baseline="0" dirty="0" err="1">
                <a:solidFill>
                  <a:srgbClr val="000000"/>
                </a:solidFill>
                <a:latin typeface="CIDFont+F4"/>
              </a:rPr>
              <a:t>ome_pai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4"/>
              </a:rPr>
              <a:t>    = ‘João Silva Santos’</a:t>
            </a:r>
          </a:p>
          <a:p>
            <a:pPr marL="1082675" algn="l"/>
            <a:endParaRPr lang="pt-BR" sz="2800" b="0" i="0" u="none" strike="noStrike" baseline="0" dirty="0">
              <a:solidFill>
                <a:srgbClr val="000000"/>
              </a:solidFill>
              <a:latin typeface="CIDFont+F4"/>
            </a:endParaRPr>
          </a:p>
          <a:p>
            <a:pPr algn="l"/>
            <a:r>
              <a:rPr lang="pt-BR" sz="2800" b="1" i="0" u="none" strike="noStrike" baseline="0" dirty="0">
                <a:latin typeface="CIDFont+F3"/>
              </a:rPr>
              <a:t>• A primeira posição tem índice zero</a:t>
            </a:r>
          </a:p>
          <a:p>
            <a:pPr marL="623888"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4"/>
              </a:rPr>
              <a:t>nome = ‘Maria S</a:t>
            </a:r>
            <a:r>
              <a:rPr lang="pt-BR" sz="2800" dirty="0">
                <a:solidFill>
                  <a:srgbClr val="000000"/>
                </a:solidFill>
                <a:latin typeface="CIDFont+F4"/>
              </a:rPr>
              <a:t>ilva’</a:t>
            </a:r>
          </a:p>
          <a:p>
            <a:pPr marL="623888" algn="l"/>
            <a:r>
              <a:rPr lang="pt-BR" sz="2800" dirty="0">
                <a:solidFill>
                  <a:srgbClr val="000000"/>
                </a:solidFill>
                <a:latin typeface="CIDFont+F4"/>
              </a:rPr>
              <a:t>p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4"/>
              </a:rPr>
              <a:t>rint (nome[0])           M</a:t>
            </a:r>
          </a:p>
          <a:p>
            <a:pPr marL="623888" algn="l"/>
            <a:r>
              <a:rPr lang="pt-BR" sz="2800" dirty="0">
                <a:solidFill>
                  <a:srgbClr val="000000"/>
                </a:solidFill>
                <a:latin typeface="CIDFont+F4"/>
              </a:rPr>
              <a:t>print (nome[6])            S</a:t>
            </a:r>
            <a:endParaRPr lang="pt-BR" sz="2800" b="0" i="0" u="none" strike="noStrike" baseline="0" dirty="0">
              <a:solidFill>
                <a:srgbClr val="000000"/>
              </a:solidFill>
              <a:latin typeface="CIDFont+F4"/>
            </a:endParaRPr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2A93B826-A717-B9A8-C265-4A02261BE737}"/>
              </a:ext>
            </a:extLst>
          </p:cNvPr>
          <p:cNvSpPr/>
          <p:nvPr/>
        </p:nvSpPr>
        <p:spPr>
          <a:xfrm>
            <a:off x="3770102" y="4986199"/>
            <a:ext cx="498764" cy="1454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948188B3-2039-9E65-9FC4-6B53255DB775}"/>
              </a:ext>
            </a:extLst>
          </p:cNvPr>
          <p:cNvSpPr/>
          <p:nvPr/>
        </p:nvSpPr>
        <p:spPr>
          <a:xfrm>
            <a:off x="3750512" y="5392999"/>
            <a:ext cx="498764" cy="1454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FD837CAA-93AE-0DBB-0E18-4F51FDF13C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9005440"/>
              </p:ext>
            </p:extLst>
          </p:nvPr>
        </p:nvGraphicFramePr>
        <p:xfrm>
          <a:off x="6370343" y="5128093"/>
          <a:ext cx="5216750" cy="526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50">
                  <a:extLst>
                    <a:ext uri="{9D8B030D-6E8A-4147-A177-3AD203B41FA5}">
                      <a16:colId xmlns:a16="http://schemas.microsoft.com/office/drawing/2014/main" val="2073765537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4277889384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1071280960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2065320128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3477000912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157760490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3297110503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2968003991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1671937549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495625745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2967484339"/>
                    </a:ext>
                  </a:extLst>
                </a:gridCol>
              </a:tblGrid>
              <a:tr h="526038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lt1"/>
                          </a:solidFill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lt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lt1"/>
                          </a:solidFill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lt1"/>
                          </a:solidFill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lt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l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lt1"/>
                          </a:solidFill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lt1"/>
                          </a:solidFill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lt1"/>
                          </a:solidFill>
                        </a:rPr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lt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lt1"/>
                          </a:solidFill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4374"/>
                  </a:ext>
                </a:extLst>
              </a:tr>
            </a:tbl>
          </a:graphicData>
        </a:graphic>
      </p:graphicFrame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1832108F-1C24-B8FC-E9AB-D2D2BD7C4C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54732744"/>
              </p:ext>
            </p:extLst>
          </p:nvPr>
        </p:nvGraphicFramePr>
        <p:xfrm>
          <a:off x="6369273" y="4714347"/>
          <a:ext cx="5216750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50">
                  <a:extLst>
                    <a:ext uri="{9D8B030D-6E8A-4147-A177-3AD203B41FA5}">
                      <a16:colId xmlns:a16="http://schemas.microsoft.com/office/drawing/2014/main" val="1662514189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2386259591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1576722896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3791210396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326290762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2380339947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4172682233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2560915620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3040065042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4243521125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1043050556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  0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  1         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   2      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   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   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   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  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  7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  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  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10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574521"/>
                  </a:ext>
                </a:extLst>
              </a:tr>
            </a:tbl>
          </a:graphicData>
        </a:graphic>
      </p:graphicFrame>
      <p:sp>
        <p:nvSpPr>
          <p:cNvPr id="7" name="CaixaDeTexto 6">
            <a:extLst>
              <a:ext uri="{FF2B5EF4-FFF2-40B4-BE49-F238E27FC236}">
                <a16:creationId xmlns:a16="http://schemas.microsoft.com/office/drawing/2014/main" id="{151FB856-D1E5-3314-B907-A83BDC51A9D9}"/>
              </a:ext>
            </a:extLst>
          </p:cNvPr>
          <p:cNvSpPr txBox="1"/>
          <p:nvPr/>
        </p:nvSpPr>
        <p:spPr>
          <a:xfrm>
            <a:off x="8665080" y="3841927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nome</a:t>
            </a:r>
          </a:p>
        </p:txBody>
      </p:sp>
      <p:sp>
        <p:nvSpPr>
          <p:cNvPr id="8" name="Chave Direita 7">
            <a:extLst>
              <a:ext uri="{FF2B5EF4-FFF2-40B4-BE49-F238E27FC236}">
                <a16:creationId xmlns:a16="http://schemas.microsoft.com/office/drawing/2014/main" id="{BA2D0155-47B9-BEBA-93D6-E5E7C9067344}"/>
              </a:ext>
            </a:extLst>
          </p:cNvPr>
          <p:cNvSpPr/>
          <p:nvPr/>
        </p:nvSpPr>
        <p:spPr>
          <a:xfrm rot="16200000">
            <a:off x="8685338" y="2105424"/>
            <a:ext cx="545287" cy="4742168"/>
          </a:xfrm>
          <a:prstGeom prst="rightBrace">
            <a:avLst>
              <a:gd name="adj1" fmla="val 0"/>
              <a:gd name="adj2" fmla="val 51631"/>
            </a:avLst>
          </a:prstGeom>
          <a:ln>
            <a:headEnd type="arrow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5506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53B465-DEBE-E11F-91D0-B97E74329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FA482A-36C7-53B3-4961-B6B85D94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0" y="6356350"/>
            <a:ext cx="9542779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21DBD2-19C7-A8EB-E132-E98B1586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356350"/>
            <a:ext cx="548249" cy="365125"/>
          </a:xfrm>
        </p:spPr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5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F325BCF-E507-3E04-575C-D5C13514B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080" y="365125"/>
            <a:ext cx="9703454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Acesso ao conteúdo de uma </a:t>
            </a:r>
            <a:r>
              <a:rPr lang="pt-BR" sz="4000" b="1" i="1" u="none" strike="noStrike" baseline="0" dirty="0" err="1">
                <a:latin typeface="CIDFont+F1"/>
              </a:rPr>
              <a:t>String</a:t>
            </a:r>
            <a:r>
              <a:rPr lang="pt-BR" sz="4000" b="1" i="1" u="none" strike="noStrike" baseline="0" dirty="0">
                <a:latin typeface="CIDFont+F1"/>
              </a:rPr>
              <a:t> </a:t>
            </a:r>
            <a:endParaRPr lang="pt-BR" sz="4000" b="1" i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2C245AD-7241-62BC-5399-C2ECD9C57C34}"/>
              </a:ext>
            </a:extLst>
          </p:cNvPr>
          <p:cNvSpPr txBox="1"/>
          <p:nvPr/>
        </p:nvSpPr>
        <p:spPr>
          <a:xfrm>
            <a:off x="743339" y="1353344"/>
            <a:ext cx="11347939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3200" b="1" dirty="0">
                <a:latin typeface="CIDFont+F3"/>
              </a:rPr>
              <a:t>É possível </a:t>
            </a:r>
            <a:r>
              <a:rPr lang="pt-BR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3"/>
              </a:rPr>
              <a:t>acessar </a:t>
            </a:r>
            <a:r>
              <a:rPr lang="pt-BR" sz="3200" b="1" dirty="0">
                <a:latin typeface="CIDFont+F3"/>
              </a:rPr>
              <a:t>também uma </a:t>
            </a:r>
            <a:r>
              <a:rPr lang="pt-BR" sz="32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IDFont+F3"/>
              </a:rPr>
              <a:t>substring</a:t>
            </a:r>
            <a:r>
              <a:rPr lang="pt-BR" sz="3200" b="1" dirty="0">
                <a:latin typeface="CIDFont+F3"/>
              </a:rPr>
              <a:t> usando </a:t>
            </a:r>
            <a:r>
              <a:rPr lang="pt-BR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3"/>
              </a:rPr>
              <a:t>[</a:t>
            </a:r>
            <a:r>
              <a:rPr lang="pt-BR" sz="32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IDFont+F3"/>
              </a:rPr>
              <a:t>inicio:fim</a:t>
            </a:r>
            <a:r>
              <a:rPr lang="pt-BR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3"/>
              </a:rPr>
              <a:t>]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3200" b="1" dirty="0">
                <a:latin typeface="CIDFont+F3"/>
              </a:rPr>
              <a:t>A</a:t>
            </a:r>
            <a:r>
              <a:rPr lang="pt-BR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3"/>
              </a:rPr>
              <a:t> </a:t>
            </a:r>
            <a:r>
              <a:rPr lang="pt-BR" sz="32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IDFont+F3"/>
              </a:rPr>
              <a:t>substring</a:t>
            </a:r>
            <a:r>
              <a:rPr lang="pt-BR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3"/>
              </a:rPr>
              <a:t> </a:t>
            </a:r>
            <a:r>
              <a:rPr lang="pt-BR" sz="3200" b="1" dirty="0">
                <a:latin typeface="CIDFont+F3"/>
              </a:rPr>
              <a:t>retornada vai de </a:t>
            </a:r>
            <a:r>
              <a:rPr lang="pt-BR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3"/>
              </a:rPr>
              <a:t>início (inclusive) até </a:t>
            </a:r>
            <a:r>
              <a:rPr lang="pt-BR" sz="3200" b="1" dirty="0">
                <a:solidFill>
                  <a:srgbClr val="FF0000"/>
                </a:solidFill>
                <a:latin typeface="CIDFont+F3"/>
              </a:rPr>
              <a:t>fim -1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3200" b="1" dirty="0">
                <a:latin typeface="CIDFont+F3"/>
              </a:rPr>
              <a:t>Se</a:t>
            </a:r>
            <a:r>
              <a:rPr lang="pt-BR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3"/>
              </a:rPr>
              <a:t> início for omitido, significa zero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3200" b="1" dirty="0">
                <a:latin typeface="CIDFont+F3"/>
              </a:rPr>
              <a:t>Se</a:t>
            </a:r>
            <a:r>
              <a:rPr lang="pt-BR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3"/>
              </a:rPr>
              <a:t> fim for omitido, significa len(string)</a:t>
            </a:r>
          </a:p>
          <a:p>
            <a:pPr algn="l"/>
            <a:r>
              <a:rPr lang="pt-BR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3"/>
              </a:rPr>
              <a:t> </a:t>
            </a:r>
            <a:r>
              <a:rPr lang="pt-BR" sz="2800" b="1" i="0" u="none" strike="noStrike" baseline="0" dirty="0">
                <a:latin typeface="CIDFont+F3"/>
              </a:rPr>
              <a:t>• A primeira posição tem índice zero</a:t>
            </a:r>
          </a:p>
          <a:p>
            <a:pPr marL="623888"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4"/>
              </a:rPr>
              <a:t>nome = ‘Maria S</a:t>
            </a:r>
            <a:r>
              <a:rPr lang="pt-BR" sz="2800" dirty="0">
                <a:solidFill>
                  <a:srgbClr val="000000"/>
                </a:solidFill>
                <a:latin typeface="CIDFont+F4"/>
              </a:rPr>
              <a:t>ilva’</a:t>
            </a:r>
          </a:p>
          <a:p>
            <a:pPr marL="623888" algn="l"/>
            <a:r>
              <a:rPr lang="pt-BR" sz="2800" dirty="0">
                <a:solidFill>
                  <a:srgbClr val="000000"/>
                </a:solidFill>
                <a:latin typeface="CIDFont+F4"/>
              </a:rPr>
              <a:t>p</a:t>
            </a:r>
            <a:r>
              <a:rPr lang="pt-BR" sz="2800" b="0" i="0" u="none" strike="noStrike" baseline="0" dirty="0">
                <a:solidFill>
                  <a:srgbClr val="000000"/>
                </a:solidFill>
                <a:latin typeface="CIDFont+F4"/>
              </a:rPr>
              <a:t>rint (nome[2:5])           </a:t>
            </a:r>
            <a:r>
              <a:rPr lang="pt-BR" sz="2800" b="1" i="0" u="none" strike="noStrike" baseline="0" dirty="0">
                <a:solidFill>
                  <a:srgbClr val="000000"/>
                </a:solidFill>
                <a:latin typeface="CIDFont+F4"/>
              </a:rPr>
              <a:t>ria</a:t>
            </a:r>
          </a:p>
          <a:p>
            <a:pPr marL="623888" algn="l"/>
            <a:r>
              <a:rPr lang="pt-BR" sz="2800" dirty="0">
                <a:solidFill>
                  <a:srgbClr val="000000"/>
                </a:solidFill>
                <a:latin typeface="CIDFont+F4"/>
              </a:rPr>
              <a:t>print (nome[:5])             </a:t>
            </a:r>
            <a:r>
              <a:rPr lang="pt-BR" sz="2800" b="1" dirty="0">
                <a:solidFill>
                  <a:srgbClr val="000000"/>
                </a:solidFill>
                <a:latin typeface="CIDFont+F4"/>
              </a:rPr>
              <a:t>Maria</a:t>
            </a:r>
          </a:p>
          <a:p>
            <a:pPr marL="623888"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4"/>
              </a:rPr>
              <a:t>print (nome[6:])             </a:t>
            </a:r>
            <a:r>
              <a:rPr lang="pt-BR" sz="2800" b="1" i="0" u="none" strike="noStrike" baseline="0" dirty="0">
                <a:solidFill>
                  <a:srgbClr val="000000"/>
                </a:solidFill>
                <a:latin typeface="CIDFont+F4"/>
              </a:rPr>
              <a:t>Silva</a:t>
            </a:r>
          </a:p>
        </p:txBody>
      </p:sp>
      <p:sp>
        <p:nvSpPr>
          <p:cNvPr id="10" name="Seta: para a Direita 9">
            <a:extLst>
              <a:ext uri="{FF2B5EF4-FFF2-40B4-BE49-F238E27FC236}">
                <a16:creationId xmlns:a16="http://schemas.microsoft.com/office/drawing/2014/main" id="{2A93B826-A717-B9A8-C265-4A02261BE737}"/>
              </a:ext>
            </a:extLst>
          </p:cNvPr>
          <p:cNvSpPr/>
          <p:nvPr/>
        </p:nvSpPr>
        <p:spPr>
          <a:xfrm>
            <a:off x="4125154" y="4417273"/>
            <a:ext cx="498764" cy="1454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1" name="Seta: para a Direita 20">
            <a:extLst>
              <a:ext uri="{FF2B5EF4-FFF2-40B4-BE49-F238E27FC236}">
                <a16:creationId xmlns:a16="http://schemas.microsoft.com/office/drawing/2014/main" id="{948188B3-2039-9E65-9FC4-6B53255DB775}"/>
              </a:ext>
            </a:extLst>
          </p:cNvPr>
          <p:cNvSpPr/>
          <p:nvPr/>
        </p:nvSpPr>
        <p:spPr>
          <a:xfrm>
            <a:off x="4125154" y="4826276"/>
            <a:ext cx="498764" cy="1454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FD837CAA-93AE-0DBB-0E18-4F51FDF13C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147063"/>
              </p:ext>
            </p:extLst>
          </p:nvPr>
        </p:nvGraphicFramePr>
        <p:xfrm>
          <a:off x="6620863" y="5128093"/>
          <a:ext cx="5216750" cy="526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50">
                  <a:extLst>
                    <a:ext uri="{9D8B030D-6E8A-4147-A177-3AD203B41FA5}">
                      <a16:colId xmlns:a16="http://schemas.microsoft.com/office/drawing/2014/main" val="2073765537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4277889384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1071280960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2065320128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3477000912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157760490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3297110503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2968003991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1671937549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495625745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2967484339"/>
                    </a:ext>
                  </a:extLst>
                </a:gridCol>
              </a:tblGrid>
              <a:tr h="526038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lt1"/>
                          </a:solidFill>
                        </a:rP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lt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lt1"/>
                          </a:solidFill>
                        </a:rPr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lt1"/>
                          </a:solidFill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lt1"/>
                          </a:solidFill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chemeClr val="lt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lt1"/>
                          </a:solidFill>
                        </a:rPr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lt1"/>
                          </a:solidFill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lt1"/>
                          </a:solidFill>
                        </a:rPr>
                        <a:t>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lt1"/>
                          </a:solidFill>
                        </a:rPr>
                        <a:t>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lt1"/>
                          </a:solidFill>
                        </a:rPr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54374"/>
                  </a:ext>
                </a:extLst>
              </a:tr>
            </a:tbl>
          </a:graphicData>
        </a:graphic>
      </p:graphicFrame>
      <p:sp>
        <p:nvSpPr>
          <p:cNvPr id="23" name="CaixaDeTexto 22">
            <a:extLst>
              <a:ext uri="{FF2B5EF4-FFF2-40B4-BE49-F238E27FC236}">
                <a16:creationId xmlns:a16="http://schemas.microsoft.com/office/drawing/2014/main" id="{AE333EE8-0BEA-B50F-1A78-6FD9E0F1B60C}"/>
              </a:ext>
            </a:extLst>
          </p:cNvPr>
          <p:cNvSpPr txBox="1"/>
          <p:nvPr/>
        </p:nvSpPr>
        <p:spPr>
          <a:xfrm>
            <a:off x="8902580" y="3925052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nome</a:t>
            </a:r>
          </a:p>
        </p:txBody>
      </p:sp>
      <p:graphicFrame>
        <p:nvGraphicFramePr>
          <p:cNvPr id="24" name="Tabela 23">
            <a:extLst>
              <a:ext uri="{FF2B5EF4-FFF2-40B4-BE49-F238E27FC236}">
                <a16:creationId xmlns:a16="http://schemas.microsoft.com/office/drawing/2014/main" id="{1832108F-1C24-B8FC-E9AB-D2D2BD7C4C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025985"/>
              </p:ext>
            </p:extLst>
          </p:nvPr>
        </p:nvGraphicFramePr>
        <p:xfrm>
          <a:off x="6619793" y="4714347"/>
          <a:ext cx="5216750" cy="3693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4250">
                  <a:extLst>
                    <a:ext uri="{9D8B030D-6E8A-4147-A177-3AD203B41FA5}">
                      <a16:colId xmlns:a16="http://schemas.microsoft.com/office/drawing/2014/main" val="1662514189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2386259591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1576722896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3791210396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326290762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2380339947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4172682233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2560915620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3040065042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4243521125"/>
                    </a:ext>
                  </a:extLst>
                </a:gridCol>
                <a:gridCol w="474250">
                  <a:extLst>
                    <a:ext uri="{9D8B030D-6E8A-4147-A177-3AD203B41FA5}">
                      <a16:colId xmlns:a16="http://schemas.microsoft.com/office/drawing/2014/main" val="1043050556"/>
                    </a:ext>
                  </a:extLst>
                </a:gridCol>
              </a:tblGrid>
              <a:tr h="369332"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  0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  1         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   2      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   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   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   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  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  7 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  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  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dirty="0">
                          <a:solidFill>
                            <a:srgbClr val="FF0000"/>
                          </a:solidFill>
                        </a:rPr>
                        <a:t> 10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6574521"/>
                  </a:ext>
                </a:extLst>
              </a:tr>
            </a:tbl>
          </a:graphicData>
        </a:graphic>
      </p:graphicFrame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DF7E24D2-5293-DB06-609B-E4D55781C98D}"/>
              </a:ext>
            </a:extLst>
          </p:cNvPr>
          <p:cNvSpPr/>
          <p:nvPr/>
        </p:nvSpPr>
        <p:spPr>
          <a:xfrm>
            <a:off x="4125154" y="5287658"/>
            <a:ext cx="498764" cy="1454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Chave Direita 7">
            <a:extLst>
              <a:ext uri="{FF2B5EF4-FFF2-40B4-BE49-F238E27FC236}">
                <a16:creationId xmlns:a16="http://schemas.microsoft.com/office/drawing/2014/main" id="{8AEE63E1-7BF6-B00A-2888-9E42BEA57E91}"/>
              </a:ext>
            </a:extLst>
          </p:cNvPr>
          <p:cNvSpPr/>
          <p:nvPr/>
        </p:nvSpPr>
        <p:spPr>
          <a:xfrm rot="16200000">
            <a:off x="8922838" y="2105424"/>
            <a:ext cx="545287" cy="4742168"/>
          </a:xfrm>
          <a:prstGeom prst="rightBrace">
            <a:avLst>
              <a:gd name="adj1" fmla="val 0"/>
              <a:gd name="adj2" fmla="val 51631"/>
            </a:avLst>
          </a:prstGeom>
          <a:ln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30B1482-28AE-A014-8C32-C0E8E2702EC2}"/>
              </a:ext>
            </a:extLst>
          </p:cNvPr>
          <p:cNvSpPr txBox="1"/>
          <p:nvPr/>
        </p:nvSpPr>
        <p:spPr>
          <a:xfrm>
            <a:off x="1356302" y="5665602"/>
            <a:ext cx="791628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i="0" u="none" strike="noStrike" baseline="0" dirty="0">
                <a:solidFill>
                  <a:srgbClr val="00007F"/>
                </a:solidFill>
                <a:latin typeface="CIDFont+F2"/>
              </a:rPr>
              <a:t>print (nome</a:t>
            </a:r>
            <a:r>
              <a:rPr lang="pt-BR" sz="2800" b="1" i="0" u="none" strike="noStrike" baseline="0" dirty="0">
                <a:solidFill>
                  <a:srgbClr val="000000"/>
                </a:solidFill>
                <a:latin typeface="Verdana-Bold"/>
              </a:rPr>
              <a:t>[::-</a:t>
            </a:r>
            <a:r>
              <a:rPr lang="pt-BR" sz="2800" b="0" i="0" u="none" strike="noStrike" baseline="0" dirty="0">
                <a:solidFill>
                  <a:srgbClr val="007F7F"/>
                </a:solidFill>
                <a:latin typeface="Verdana" panose="020B0604030504040204" pitchFamily="34" charset="0"/>
              </a:rPr>
              <a:t>1</a:t>
            </a:r>
            <a:r>
              <a:rPr lang="pt-BR" sz="2800" b="1" i="0" u="none" strike="noStrike" baseline="0" dirty="0">
                <a:solidFill>
                  <a:srgbClr val="000000"/>
                </a:solidFill>
                <a:latin typeface="Verdana-Bold"/>
              </a:rPr>
              <a:t>]</a:t>
            </a:r>
            <a:r>
              <a:rPr lang="pt-BR" sz="2800" dirty="0">
                <a:solidFill>
                  <a:srgbClr val="00007F"/>
                </a:solidFill>
                <a:latin typeface="CIDFont+F2"/>
              </a:rPr>
              <a:t>) </a:t>
            </a:r>
            <a:r>
              <a:rPr lang="pt-BR" sz="2800" b="1" i="0" u="none" strike="noStrike" baseline="0" dirty="0">
                <a:solidFill>
                  <a:srgbClr val="000000"/>
                </a:solidFill>
                <a:latin typeface="Verdana-Bold"/>
              </a:rPr>
              <a:t> </a:t>
            </a:r>
            <a:r>
              <a:rPr lang="pt-BR" sz="2800" b="0" i="0" u="none" strike="noStrike" baseline="0" dirty="0">
                <a:solidFill>
                  <a:srgbClr val="007F00"/>
                </a:solidFill>
                <a:latin typeface="Verdana" panose="020B0604030504040204" pitchFamily="34" charset="0"/>
              </a:rPr>
              <a:t># Mostra: </a:t>
            </a:r>
            <a:r>
              <a:rPr lang="pt-BR" sz="2800" b="0" i="0" u="none" strike="noStrike" baseline="0" dirty="0" err="1">
                <a:solidFill>
                  <a:srgbClr val="007F00"/>
                </a:solidFill>
                <a:latin typeface="Verdana" panose="020B0604030504040204" pitchFamily="34" charset="0"/>
              </a:rPr>
              <a:t>avliS</a:t>
            </a:r>
            <a:r>
              <a:rPr lang="pt-BR" sz="2800" b="0" i="0" u="none" strike="noStrike" baseline="0" dirty="0">
                <a:solidFill>
                  <a:srgbClr val="007F00"/>
                </a:solidFill>
                <a:latin typeface="Verdana" panose="020B0604030504040204" pitchFamily="34" charset="0"/>
              </a:rPr>
              <a:t> </a:t>
            </a:r>
            <a:r>
              <a:rPr lang="pt-BR" sz="2800" b="0" i="0" u="none" strike="noStrike" baseline="0" dirty="0" err="1">
                <a:solidFill>
                  <a:srgbClr val="007F00"/>
                </a:solidFill>
                <a:latin typeface="Verdana" panose="020B0604030504040204" pitchFamily="34" charset="0"/>
              </a:rPr>
              <a:t>airaM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744813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53B465-DEBE-E11F-91D0-B97E74329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FA482A-36C7-53B3-4961-B6B85D94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45920" y="6356350"/>
            <a:ext cx="9542779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621DBD2-19C7-A8EB-E132-E98B15869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04600" y="6356350"/>
            <a:ext cx="548249" cy="365125"/>
          </a:xfrm>
        </p:spPr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6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F325BCF-E507-3E04-575C-D5C13514B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4080" y="365125"/>
            <a:ext cx="9703454" cy="988219"/>
          </a:xfrm>
        </p:spPr>
        <p:txBody>
          <a:bodyPr>
            <a:normAutofit/>
          </a:bodyPr>
          <a:lstStyle/>
          <a:p>
            <a:pPr algn="ctr"/>
            <a:r>
              <a:rPr lang="pt-BR" sz="4000" b="1" i="1" u="none" strike="noStrike" baseline="0" dirty="0">
                <a:latin typeface="CIDFont+F1"/>
              </a:rPr>
              <a:t>Alteração </a:t>
            </a:r>
            <a:endParaRPr lang="pt-BR" sz="4000" b="1" i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2C245AD-7241-62BC-5399-C2ECD9C57C34}"/>
              </a:ext>
            </a:extLst>
          </p:cNvPr>
          <p:cNvSpPr txBox="1"/>
          <p:nvPr/>
        </p:nvSpPr>
        <p:spPr>
          <a:xfrm>
            <a:off x="743339" y="1353344"/>
            <a:ext cx="11347939" cy="45858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32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IDFont+F3"/>
              </a:rPr>
              <a:t>String</a:t>
            </a:r>
            <a:r>
              <a:rPr lang="pt-BR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3"/>
              </a:rPr>
              <a:t> </a:t>
            </a:r>
            <a:r>
              <a:rPr lang="pt-BR" sz="3200" b="1" dirty="0">
                <a:latin typeface="CIDFont+F3"/>
              </a:rPr>
              <a:t>são objetos </a:t>
            </a:r>
            <a:r>
              <a:rPr lang="pt-BR" sz="3200" b="1" dirty="0">
                <a:solidFill>
                  <a:schemeClr val="accent4">
                    <a:lumMod val="75000"/>
                  </a:schemeClr>
                </a:solidFill>
                <a:latin typeface="CIDFont+F3"/>
              </a:rPr>
              <a:t>imutáveis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3"/>
              </a:rPr>
              <a:t>O conteúdo </a:t>
            </a:r>
            <a:r>
              <a:rPr lang="pt-BR" sz="3200" b="1" dirty="0">
                <a:latin typeface="CIDFont+F3"/>
              </a:rPr>
              <a:t>de uma determinada posição de uma </a:t>
            </a:r>
            <a:r>
              <a:rPr lang="pt-BR" sz="32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IDFont+F3"/>
              </a:rPr>
              <a:t>string</a:t>
            </a:r>
            <a:r>
              <a:rPr lang="pt-BR" sz="32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IDFont+F3"/>
              </a:rPr>
              <a:t> não pode ser alterado</a:t>
            </a:r>
            <a:endParaRPr lang="pt-BR" sz="3200" b="1" dirty="0">
              <a:solidFill>
                <a:srgbClr val="FF0000"/>
              </a:solidFill>
              <a:latin typeface="CIDFont+F3"/>
            </a:endParaRPr>
          </a:p>
          <a:p>
            <a:pPr algn="l"/>
            <a:endParaRPr lang="pt-BR" sz="2800" b="1" i="0" u="none" strike="noStrike" baseline="0" dirty="0">
              <a:latin typeface="CIDFont+F3"/>
            </a:endParaRPr>
          </a:p>
          <a:p>
            <a:pPr marL="623888" algn="l"/>
            <a:r>
              <a:rPr lang="pt-BR" sz="2800" b="0" i="0" u="none" strike="noStrike" baseline="0" dirty="0">
                <a:solidFill>
                  <a:srgbClr val="000000"/>
                </a:solidFill>
                <a:latin typeface="CIDFont+F4"/>
              </a:rPr>
              <a:t>nome = ‘Maria S</a:t>
            </a:r>
            <a:r>
              <a:rPr lang="pt-BR" sz="2800" dirty="0">
                <a:solidFill>
                  <a:srgbClr val="000000"/>
                </a:solidFill>
                <a:latin typeface="CIDFont+F4"/>
              </a:rPr>
              <a:t>ilva’</a:t>
            </a:r>
          </a:p>
          <a:p>
            <a:pPr marL="623888" algn="l"/>
            <a:r>
              <a:rPr lang="pt-BR" sz="2800" dirty="0">
                <a:solidFill>
                  <a:srgbClr val="000000"/>
                </a:solidFill>
                <a:latin typeface="CIDFont+F4"/>
              </a:rPr>
              <a:t>nome [3]  =  ‘t’</a:t>
            </a:r>
          </a:p>
          <a:p>
            <a:pPr marL="623888" algn="l"/>
            <a:endParaRPr lang="pt-BR" sz="2800" b="1" dirty="0">
              <a:solidFill>
                <a:srgbClr val="FF0000"/>
              </a:solidFill>
              <a:latin typeface="CIDFont+F4"/>
            </a:endParaRPr>
          </a:p>
          <a:p>
            <a:pPr marL="623888" algn="l"/>
            <a:r>
              <a:rPr lang="pt-BR" sz="2800" b="1" dirty="0" err="1">
                <a:solidFill>
                  <a:srgbClr val="FF0000"/>
                </a:solidFill>
                <a:latin typeface="CIDFont+F4"/>
              </a:rPr>
              <a:t>Traceback</a:t>
            </a:r>
            <a:r>
              <a:rPr lang="pt-BR" sz="2800" b="1" dirty="0">
                <a:solidFill>
                  <a:srgbClr val="FF0000"/>
                </a:solidFill>
                <a:latin typeface="CIDFont+F4"/>
              </a:rPr>
              <a:t> (</a:t>
            </a:r>
            <a:r>
              <a:rPr lang="pt-BR" sz="2800" b="1" dirty="0" err="1">
                <a:solidFill>
                  <a:srgbClr val="FF0000"/>
                </a:solidFill>
                <a:latin typeface="CIDFont+F4"/>
              </a:rPr>
              <a:t>most</a:t>
            </a:r>
            <a:r>
              <a:rPr lang="pt-BR" sz="2800" b="1" dirty="0">
                <a:solidFill>
                  <a:srgbClr val="FF0000"/>
                </a:solidFill>
                <a:latin typeface="CIDFont+F4"/>
              </a:rPr>
              <a:t> </a:t>
            </a:r>
            <a:r>
              <a:rPr lang="pt-BR" sz="2800" b="1" dirty="0" err="1">
                <a:solidFill>
                  <a:srgbClr val="FF0000"/>
                </a:solidFill>
                <a:latin typeface="CIDFont+F4"/>
              </a:rPr>
              <a:t>reent</a:t>
            </a:r>
            <a:r>
              <a:rPr lang="pt-BR" sz="2800" b="1" dirty="0">
                <a:solidFill>
                  <a:srgbClr val="FF0000"/>
                </a:solidFill>
                <a:latin typeface="CIDFont+F4"/>
              </a:rPr>
              <a:t> </a:t>
            </a:r>
            <a:r>
              <a:rPr lang="pt-BR" sz="2800" b="1" dirty="0" err="1">
                <a:solidFill>
                  <a:srgbClr val="FF0000"/>
                </a:solidFill>
                <a:latin typeface="CIDFont+F4"/>
              </a:rPr>
              <a:t>call</a:t>
            </a:r>
            <a:r>
              <a:rPr lang="pt-BR" sz="2800" b="1" dirty="0">
                <a:solidFill>
                  <a:srgbClr val="FF0000"/>
                </a:solidFill>
                <a:latin typeface="CIDFont+F4"/>
              </a:rPr>
              <a:t> </a:t>
            </a:r>
            <a:r>
              <a:rPr lang="pt-BR" sz="2800" b="1" dirty="0" err="1">
                <a:solidFill>
                  <a:srgbClr val="FF0000"/>
                </a:solidFill>
                <a:latin typeface="CIDFont+F4"/>
              </a:rPr>
              <a:t>last</a:t>
            </a:r>
            <a:r>
              <a:rPr lang="pt-BR" sz="2800" b="1" dirty="0">
                <a:solidFill>
                  <a:srgbClr val="FF0000"/>
                </a:solidFill>
                <a:latin typeface="CIDFont+F4"/>
              </a:rPr>
              <a:t>):</a:t>
            </a:r>
          </a:p>
          <a:p>
            <a:pPr marL="623888" algn="l"/>
            <a:r>
              <a:rPr lang="pt-BR" sz="2800" b="1" dirty="0">
                <a:solidFill>
                  <a:srgbClr val="FF0000"/>
                </a:solidFill>
                <a:latin typeface="CIDFont+F4"/>
              </a:rPr>
              <a:t>File “&lt;</a:t>
            </a:r>
            <a:r>
              <a:rPr lang="pt-BR" sz="2800" b="1" dirty="0" err="1">
                <a:solidFill>
                  <a:srgbClr val="FF0000"/>
                </a:solidFill>
                <a:latin typeface="CIDFont+F4"/>
              </a:rPr>
              <a:t>stdin</a:t>
            </a:r>
            <a:r>
              <a:rPr lang="pt-BR" sz="2800" b="1" dirty="0">
                <a:solidFill>
                  <a:srgbClr val="FF0000"/>
                </a:solidFill>
                <a:latin typeface="CIDFont+F4"/>
              </a:rPr>
              <a:t>&gt;”,    </a:t>
            </a:r>
            <a:r>
              <a:rPr lang="pt-BR" sz="2800" b="1" dirty="0" err="1">
                <a:solidFill>
                  <a:srgbClr val="FF0000"/>
                </a:solidFill>
                <a:latin typeface="CIDFont+F4"/>
              </a:rPr>
              <a:t>line</a:t>
            </a:r>
            <a:r>
              <a:rPr lang="pt-BR" sz="2800" b="1" dirty="0">
                <a:solidFill>
                  <a:srgbClr val="FF0000"/>
                </a:solidFill>
                <a:latin typeface="CIDFont+F4"/>
              </a:rPr>
              <a:t> 1,    in &lt;module&gt;</a:t>
            </a:r>
          </a:p>
          <a:p>
            <a:pPr marL="623888" algn="l"/>
            <a:r>
              <a:rPr lang="pt-BR" sz="2800" b="1" dirty="0" err="1">
                <a:solidFill>
                  <a:srgbClr val="FF0000"/>
                </a:solidFill>
                <a:latin typeface="CIDFont+F4"/>
              </a:rPr>
              <a:t>TypeError</a:t>
            </a:r>
            <a:r>
              <a:rPr lang="pt-BR" sz="2800" b="1" dirty="0">
                <a:solidFill>
                  <a:srgbClr val="FF0000"/>
                </a:solidFill>
                <a:latin typeface="CIDFont+F4"/>
              </a:rPr>
              <a:t> : ‘</a:t>
            </a:r>
            <a:r>
              <a:rPr lang="pt-BR" sz="2800" b="1" dirty="0" err="1">
                <a:solidFill>
                  <a:srgbClr val="FF0000"/>
                </a:solidFill>
                <a:latin typeface="CIDFont+F4"/>
              </a:rPr>
              <a:t>str</a:t>
            </a:r>
            <a:r>
              <a:rPr lang="pt-BR" sz="2800" b="1" dirty="0">
                <a:solidFill>
                  <a:srgbClr val="FF0000"/>
                </a:solidFill>
                <a:latin typeface="CIDFont+F4"/>
              </a:rPr>
              <a:t>’ </a:t>
            </a:r>
            <a:r>
              <a:rPr lang="pt-BR" sz="2800" b="1" dirty="0" err="1">
                <a:solidFill>
                  <a:srgbClr val="FF0000"/>
                </a:solidFill>
                <a:latin typeface="CIDFont+F4"/>
              </a:rPr>
              <a:t>object</a:t>
            </a:r>
            <a:r>
              <a:rPr lang="pt-BR" sz="2800" b="1" dirty="0">
                <a:solidFill>
                  <a:srgbClr val="FF0000"/>
                </a:solidFill>
                <a:latin typeface="CIDFont+F4"/>
              </a:rPr>
              <a:t> does </a:t>
            </a:r>
            <a:r>
              <a:rPr lang="pt-BR" sz="2800" b="1" dirty="0" err="1">
                <a:solidFill>
                  <a:srgbClr val="FF0000"/>
                </a:solidFill>
                <a:latin typeface="CIDFont+F4"/>
              </a:rPr>
              <a:t>support</a:t>
            </a:r>
            <a:r>
              <a:rPr lang="pt-BR" sz="2800" b="1" dirty="0">
                <a:solidFill>
                  <a:srgbClr val="FF0000"/>
                </a:solidFill>
                <a:latin typeface="CIDFont+F4"/>
              </a:rPr>
              <a:t> item </a:t>
            </a:r>
            <a:r>
              <a:rPr lang="pt-BR" sz="2800" b="1" dirty="0" err="1">
                <a:solidFill>
                  <a:srgbClr val="FF0000"/>
                </a:solidFill>
                <a:latin typeface="CIDFont+F4"/>
              </a:rPr>
              <a:t>assignment</a:t>
            </a:r>
            <a:endParaRPr lang="pt-BR" sz="2800" b="1" dirty="0">
              <a:solidFill>
                <a:srgbClr val="FF0000"/>
              </a:solidFill>
              <a:latin typeface="CIDFont+F4"/>
            </a:endParaRPr>
          </a:p>
        </p:txBody>
      </p:sp>
    </p:spTree>
    <p:extLst>
      <p:ext uri="{BB962C8B-B14F-4D97-AF65-F5344CB8AC3E}">
        <p14:creationId xmlns:p14="http://schemas.microsoft.com/office/powerpoint/2010/main" val="26037394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870505C-1E64-D180-B47D-5F70981A7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DC57C93-871D-618A-8F69-7605CE958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52B9CB-0C82-50B7-182A-8906890A0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7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0DBE3AF-1171-E11C-FDFD-7CBDA5C94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000" b="1" i="1" u="none" strike="noStrike" baseline="0" dirty="0">
                <a:latin typeface="CIDFont+F1"/>
              </a:rPr>
              <a:t>Operadores e Funções utilizados em </a:t>
            </a:r>
            <a:r>
              <a:rPr lang="pt-BR" sz="4000" b="1" i="1" u="none" strike="noStrike" baseline="0" dirty="0" err="1">
                <a:latin typeface="CIDFont+F1"/>
              </a:rPr>
              <a:t>Strings</a:t>
            </a:r>
            <a:endParaRPr lang="pt-BR" sz="4000" b="1" i="1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611920D-2237-E0BC-FD1F-127A36B0B4B5}"/>
              </a:ext>
            </a:extLst>
          </p:cNvPr>
          <p:cNvSpPr txBox="1"/>
          <p:nvPr/>
        </p:nvSpPr>
        <p:spPr>
          <a:xfrm>
            <a:off x="695739" y="2419025"/>
            <a:ext cx="88060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3200" b="0" i="0" u="none" strike="noStrike" baseline="0" dirty="0">
                <a:solidFill>
                  <a:srgbClr val="000000"/>
                </a:solidFill>
                <a:latin typeface="CIDFont+F2"/>
              </a:rPr>
              <a:t>Verifica se uma </a:t>
            </a:r>
            <a:r>
              <a:rPr lang="pt-BR" sz="3200" b="0" i="0" u="none" strike="noStrike" baseline="0" dirty="0" err="1">
                <a:solidFill>
                  <a:srgbClr val="000000"/>
                </a:solidFill>
                <a:latin typeface="CIDFont+F2"/>
              </a:rPr>
              <a:t>substring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CIDFont+F2"/>
              </a:rPr>
              <a:t> se encontra na </a:t>
            </a:r>
            <a:r>
              <a:rPr lang="pt-BR" sz="3200" b="0" i="0" u="none" strike="noStrike" baseline="0" dirty="0" err="1">
                <a:solidFill>
                  <a:srgbClr val="000000"/>
                </a:solidFill>
                <a:latin typeface="CIDFont+F2"/>
              </a:rPr>
              <a:t>string</a:t>
            </a:r>
            <a:endParaRPr lang="pt-BR" sz="32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3200" b="0" i="0" u="none" strike="noStrike" baseline="0" dirty="0">
                <a:solidFill>
                  <a:srgbClr val="000000"/>
                </a:solidFill>
                <a:latin typeface="CIDFont+F2"/>
              </a:rPr>
              <a:t>Retorna </a:t>
            </a:r>
            <a:r>
              <a:rPr lang="pt-BR" sz="3200" b="0" i="0" u="none" strike="noStrike" baseline="0" dirty="0">
                <a:solidFill>
                  <a:srgbClr val="4472C5"/>
                </a:solidFill>
                <a:latin typeface="CIDFont+F2"/>
              </a:rPr>
              <a:t>True </a:t>
            </a:r>
            <a:r>
              <a:rPr lang="pt-BR" sz="3200" b="0" i="0" u="none" strike="noStrike" baseline="0" dirty="0">
                <a:solidFill>
                  <a:srgbClr val="000000"/>
                </a:solidFill>
                <a:latin typeface="CIDFont+F2"/>
              </a:rPr>
              <a:t>ou </a:t>
            </a:r>
            <a:r>
              <a:rPr lang="pt-BR" sz="3200" b="0" i="0" u="none" strike="noStrike" baseline="0" dirty="0">
                <a:solidFill>
                  <a:srgbClr val="4472C5"/>
                </a:solidFill>
                <a:latin typeface="CIDFont+F2"/>
              </a:rPr>
              <a:t>False</a:t>
            </a:r>
            <a:endParaRPr lang="pt-BR" sz="32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CFC1D67-BEEE-5913-2710-464C31892F75}"/>
              </a:ext>
            </a:extLst>
          </p:cNvPr>
          <p:cNvSpPr txBox="1"/>
          <p:nvPr/>
        </p:nvSpPr>
        <p:spPr>
          <a:xfrm>
            <a:off x="5632837" y="3326899"/>
            <a:ext cx="544664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nome = ‘Maria Silva’</a:t>
            </a:r>
          </a:p>
          <a:p>
            <a:r>
              <a:rPr lang="pt-BR" sz="2800" dirty="0"/>
              <a:t>print (‘M’ in nome)            True  </a:t>
            </a:r>
          </a:p>
          <a:p>
            <a:r>
              <a:rPr lang="pt-BR" sz="2800" dirty="0"/>
              <a:t>print (‘B’ in nome)              False</a:t>
            </a:r>
          </a:p>
          <a:p>
            <a:r>
              <a:rPr lang="pt-BR" sz="2800" dirty="0"/>
              <a:t>print (‘m’ in nome)            False</a:t>
            </a:r>
          </a:p>
          <a:p>
            <a:r>
              <a:rPr lang="pt-BR" sz="2800" dirty="0"/>
              <a:t>print (‘ria’ in nome)            True 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812A576-7279-CCCD-9E4A-75AA1CD884F1}"/>
              </a:ext>
            </a:extLst>
          </p:cNvPr>
          <p:cNvSpPr txBox="1"/>
          <p:nvPr/>
        </p:nvSpPr>
        <p:spPr>
          <a:xfrm>
            <a:off x="695739" y="1610139"/>
            <a:ext cx="28028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/>
              <a:t>Operador </a:t>
            </a:r>
            <a:r>
              <a:rPr lang="pt-BR" sz="3600" b="1" dirty="0">
                <a:solidFill>
                  <a:srgbClr val="FF0000"/>
                </a:solidFill>
              </a:rPr>
              <a:t>in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E2037C1B-1DEF-1A53-FC20-A13433ED3DAB}"/>
              </a:ext>
            </a:extLst>
          </p:cNvPr>
          <p:cNvCxnSpPr>
            <a:cxnSpLocks/>
          </p:cNvCxnSpPr>
          <p:nvPr/>
        </p:nvCxnSpPr>
        <p:spPr>
          <a:xfrm>
            <a:off x="8768217" y="4045907"/>
            <a:ext cx="51356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CF84C3CC-E38B-462D-2ACA-501BE9079482}"/>
              </a:ext>
            </a:extLst>
          </p:cNvPr>
          <p:cNvCxnSpPr>
            <a:cxnSpLocks/>
          </p:cNvCxnSpPr>
          <p:nvPr/>
        </p:nvCxnSpPr>
        <p:spPr>
          <a:xfrm>
            <a:off x="8768217" y="4450283"/>
            <a:ext cx="51356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07BF8E57-5A9C-9D83-BF8B-0A7912B42D29}"/>
              </a:ext>
            </a:extLst>
          </p:cNvPr>
          <p:cNvCxnSpPr>
            <a:cxnSpLocks/>
          </p:cNvCxnSpPr>
          <p:nvPr/>
        </p:nvCxnSpPr>
        <p:spPr>
          <a:xfrm>
            <a:off x="8768217" y="4926904"/>
            <a:ext cx="51356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7DDF6E6C-03AE-8A4D-3188-085353863D63}"/>
              </a:ext>
            </a:extLst>
          </p:cNvPr>
          <p:cNvCxnSpPr>
            <a:cxnSpLocks/>
          </p:cNvCxnSpPr>
          <p:nvPr/>
        </p:nvCxnSpPr>
        <p:spPr>
          <a:xfrm>
            <a:off x="8768217" y="5354877"/>
            <a:ext cx="51356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7291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870505C-1E64-D180-B47D-5F70981A7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DC57C93-871D-618A-8F69-7605CE958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52B9CB-0C82-50B7-182A-8906890A0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8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0DBE3AF-1171-E11C-FDFD-7CBDA5C94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b="1" i="1" dirty="0">
                <a:latin typeface="CIDFont+F1"/>
              </a:rPr>
              <a:t>Operador </a:t>
            </a:r>
            <a:r>
              <a:rPr lang="pt-BR" sz="4000" b="1" i="1" dirty="0">
                <a:solidFill>
                  <a:srgbClr val="0070C0"/>
                </a:solidFill>
                <a:latin typeface="CIDFont+F1"/>
              </a:rPr>
              <a:t>+ (concatenação)</a:t>
            </a:r>
            <a:endParaRPr lang="pt-BR" sz="4000" b="1" i="1" dirty="0">
              <a:solidFill>
                <a:srgbClr val="0070C0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611920D-2237-E0BC-FD1F-127A36B0B4B5}"/>
              </a:ext>
            </a:extLst>
          </p:cNvPr>
          <p:cNvSpPr txBox="1"/>
          <p:nvPr/>
        </p:nvSpPr>
        <p:spPr>
          <a:xfrm>
            <a:off x="695739" y="2419025"/>
            <a:ext cx="880607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3200" b="0" i="0" u="none" strike="noStrike" baseline="0" dirty="0">
                <a:latin typeface="CIDFont+F2"/>
              </a:rPr>
              <a:t>string1 + string2</a:t>
            </a:r>
            <a:endParaRPr lang="pt-BR" sz="3200" b="1" dirty="0">
              <a:solidFill>
                <a:srgbClr val="0070C0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CFC1D67-BEEE-5913-2710-464C31892F75}"/>
              </a:ext>
            </a:extLst>
          </p:cNvPr>
          <p:cNvSpPr txBox="1"/>
          <p:nvPr/>
        </p:nvSpPr>
        <p:spPr>
          <a:xfrm>
            <a:off x="904053" y="3166355"/>
            <a:ext cx="696229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nome = ‘Maria’  + ‘Silva’</a:t>
            </a:r>
          </a:p>
          <a:p>
            <a:r>
              <a:rPr lang="pt-BR" sz="2800" dirty="0"/>
              <a:t>print (nome)               </a:t>
            </a:r>
            <a:r>
              <a:rPr lang="pt-BR" sz="2800" b="1" dirty="0" err="1"/>
              <a:t>MariaSilva</a:t>
            </a:r>
            <a:r>
              <a:rPr lang="pt-BR" sz="2800" b="1" dirty="0"/>
              <a:t>  </a:t>
            </a:r>
          </a:p>
          <a:p>
            <a:r>
              <a:rPr lang="pt-BR" sz="2800" dirty="0"/>
              <a:t>nome = ‘Maria’ </a:t>
            </a:r>
          </a:p>
          <a:p>
            <a:r>
              <a:rPr lang="pt-BR" sz="2800" dirty="0"/>
              <a:t>sobrenome = ‘Silva’</a:t>
            </a:r>
          </a:p>
          <a:p>
            <a:r>
              <a:rPr lang="pt-BR" sz="2800" dirty="0" err="1"/>
              <a:t>nome_completo</a:t>
            </a:r>
            <a:r>
              <a:rPr lang="pt-BR" sz="2800" dirty="0"/>
              <a:t> = nome + ‘ ‘ + sobrenome</a:t>
            </a:r>
          </a:p>
          <a:p>
            <a:r>
              <a:rPr lang="pt-BR" sz="2800" dirty="0"/>
              <a:t>print (</a:t>
            </a:r>
            <a:r>
              <a:rPr lang="pt-BR" sz="2800" dirty="0" err="1"/>
              <a:t>nome_completo</a:t>
            </a:r>
            <a:r>
              <a:rPr lang="pt-BR" sz="2800" dirty="0"/>
              <a:t>)</a:t>
            </a:r>
            <a:r>
              <a:rPr lang="pt-BR" sz="2800" b="1" dirty="0"/>
              <a:t>              Maria Silva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812A576-7279-CCCD-9E4A-75AA1CD884F1}"/>
              </a:ext>
            </a:extLst>
          </p:cNvPr>
          <p:cNvSpPr txBox="1"/>
          <p:nvPr/>
        </p:nvSpPr>
        <p:spPr>
          <a:xfrm>
            <a:off x="695739" y="1610139"/>
            <a:ext cx="5654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/>
              <a:t>Concatena duas </a:t>
            </a:r>
            <a:r>
              <a:rPr lang="pt-BR" sz="3600" b="1" dirty="0" err="1"/>
              <a:t>strings</a:t>
            </a:r>
            <a:endParaRPr lang="pt-BR" sz="3600" b="1" dirty="0">
              <a:solidFill>
                <a:srgbClr val="0070C0"/>
              </a:solidFill>
            </a:endParaRP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07BF8E57-5A9C-9D83-BF8B-0A7912B42D29}"/>
              </a:ext>
            </a:extLst>
          </p:cNvPr>
          <p:cNvCxnSpPr>
            <a:cxnSpLocks/>
          </p:cNvCxnSpPr>
          <p:nvPr/>
        </p:nvCxnSpPr>
        <p:spPr>
          <a:xfrm>
            <a:off x="4797458" y="5580345"/>
            <a:ext cx="51356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1DB925C2-A809-3F00-2EF5-6D3DC83CAAAA}"/>
              </a:ext>
            </a:extLst>
          </p:cNvPr>
          <p:cNvCxnSpPr>
            <a:cxnSpLocks/>
          </p:cNvCxnSpPr>
          <p:nvPr/>
        </p:nvCxnSpPr>
        <p:spPr>
          <a:xfrm>
            <a:off x="3266433" y="3854201"/>
            <a:ext cx="51356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74828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870505C-1E64-D180-B47D-5F70981A7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DC57C93-871D-618A-8F69-7605CE958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52B9CB-0C82-50B7-182A-8906890A0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9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0DBE3AF-1171-E11C-FDFD-7CBDA5C94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000" b="1" i="1" dirty="0">
                <a:latin typeface="CIDFont+F1"/>
              </a:rPr>
              <a:t>Percorrendo </a:t>
            </a:r>
            <a:r>
              <a:rPr lang="pt-BR" sz="4000" b="1" i="1" dirty="0" err="1">
                <a:latin typeface="CIDFont+F1"/>
              </a:rPr>
              <a:t>Strings</a:t>
            </a:r>
            <a:r>
              <a:rPr lang="pt-BR" sz="4000" b="1" i="1" dirty="0">
                <a:latin typeface="CIDFont+F1"/>
              </a:rPr>
              <a:t> em Python</a:t>
            </a:r>
            <a:endParaRPr lang="pt-BR" sz="4000" b="1" i="1" dirty="0">
              <a:solidFill>
                <a:srgbClr val="0070C0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611920D-2237-E0BC-FD1F-127A36B0B4B5}"/>
              </a:ext>
            </a:extLst>
          </p:cNvPr>
          <p:cNvSpPr txBox="1"/>
          <p:nvPr/>
        </p:nvSpPr>
        <p:spPr>
          <a:xfrm>
            <a:off x="695739" y="2419025"/>
            <a:ext cx="880607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3200" b="1" i="0" u="none" strike="noStrike" baseline="0" dirty="0" err="1">
                <a:latin typeface="CIDFont+F2"/>
              </a:rPr>
              <a:t>string</a:t>
            </a:r>
            <a:r>
              <a:rPr lang="pt-BR" sz="3200" b="1" i="0" u="none" strike="noStrike" baseline="0" dirty="0">
                <a:latin typeface="CIDFont+F2"/>
              </a:rPr>
              <a:t> * 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3200" b="1" dirty="0">
                <a:latin typeface="CIDFont+F2"/>
              </a:rPr>
              <a:t>Repete a </a:t>
            </a:r>
            <a:r>
              <a:rPr lang="pt-BR" sz="3200" b="1" dirty="0" err="1">
                <a:latin typeface="CIDFont+F2"/>
              </a:rPr>
              <a:t>string</a:t>
            </a:r>
            <a:r>
              <a:rPr lang="pt-BR" sz="3200" b="1" dirty="0">
                <a:latin typeface="CIDFont+F2"/>
              </a:rPr>
              <a:t> </a:t>
            </a:r>
            <a:r>
              <a:rPr lang="pt-BR" sz="3200" b="1" i="1" dirty="0">
                <a:latin typeface="CIDFont+F2"/>
              </a:rPr>
              <a:t>n</a:t>
            </a:r>
            <a:r>
              <a:rPr lang="pt-BR" sz="3200" b="1" dirty="0">
                <a:latin typeface="CIDFont+F2"/>
              </a:rPr>
              <a:t> vezes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CFC1D67-BEEE-5913-2710-464C31892F75}"/>
              </a:ext>
            </a:extLst>
          </p:cNvPr>
          <p:cNvSpPr txBox="1"/>
          <p:nvPr/>
        </p:nvSpPr>
        <p:spPr>
          <a:xfrm>
            <a:off x="844061" y="3815219"/>
            <a:ext cx="696229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nome = ‘Maria’</a:t>
            </a:r>
          </a:p>
          <a:p>
            <a:r>
              <a:rPr lang="pt-BR" sz="2800" dirty="0" err="1"/>
              <a:t>nome_repetido</a:t>
            </a:r>
            <a:r>
              <a:rPr lang="pt-BR" sz="2800" dirty="0"/>
              <a:t>  = nome  *  2 </a:t>
            </a:r>
          </a:p>
          <a:p>
            <a:r>
              <a:rPr lang="pt-BR" sz="2800" dirty="0"/>
              <a:t>print (</a:t>
            </a:r>
            <a:r>
              <a:rPr lang="pt-BR" sz="2800" dirty="0" err="1"/>
              <a:t>nome_repetido</a:t>
            </a:r>
            <a:r>
              <a:rPr lang="pt-BR" sz="2800" dirty="0"/>
              <a:t>)</a:t>
            </a:r>
            <a:r>
              <a:rPr lang="pt-BR" sz="2800" b="1" dirty="0"/>
              <a:t>              </a:t>
            </a:r>
            <a:r>
              <a:rPr lang="pt-BR" sz="2800" b="1" dirty="0" err="1"/>
              <a:t>MariaMaria</a:t>
            </a:r>
            <a:endParaRPr lang="pt-BR" sz="2800" b="1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812A576-7279-CCCD-9E4A-75AA1CD884F1}"/>
              </a:ext>
            </a:extLst>
          </p:cNvPr>
          <p:cNvSpPr txBox="1"/>
          <p:nvPr/>
        </p:nvSpPr>
        <p:spPr>
          <a:xfrm>
            <a:off x="695739" y="1610139"/>
            <a:ext cx="56549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/>
              <a:t>Concatena duas </a:t>
            </a:r>
            <a:r>
              <a:rPr lang="pt-BR" sz="3600" b="1" dirty="0" err="1"/>
              <a:t>strings</a:t>
            </a:r>
            <a:endParaRPr lang="pt-BR" sz="3600" b="1" dirty="0">
              <a:solidFill>
                <a:srgbClr val="0070C0"/>
              </a:solidFill>
            </a:endParaRPr>
          </a:p>
        </p:txBody>
      </p: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07BF8E57-5A9C-9D83-BF8B-0A7912B42D29}"/>
              </a:ext>
            </a:extLst>
          </p:cNvPr>
          <p:cNvCxnSpPr>
            <a:cxnSpLocks/>
          </p:cNvCxnSpPr>
          <p:nvPr/>
        </p:nvCxnSpPr>
        <p:spPr>
          <a:xfrm>
            <a:off x="4585207" y="4904483"/>
            <a:ext cx="513567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71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631E8E1-1C1C-0357-47D9-C371324C3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BE36FAB-C2F9-7FB6-5D05-B5985CA9B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C6DDE4B-CB33-DC29-504D-CCC53D8F0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10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B1E4878-CC30-8E8C-8EC9-4725DF789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Formas de acesso </a:t>
            </a:r>
            <a:r>
              <a:rPr lang="pt-BR" b="1" i="1" dirty="0">
                <a:latin typeface="CIDFont+F1"/>
              </a:rPr>
              <a:t>à String</a:t>
            </a:r>
            <a:endParaRPr lang="pt-BR" b="1" i="1" dirty="0">
              <a:solidFill>
                <a:srgbClr val="0070C0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BA1AABF-6E5E-A5C5-1AE7-804756C0D4D2}"/>
              </a:ext>
            </a:extLst>
          </p:cNvPr>
          <p:cNvSpPr txBox="1"/>
          <p:nvPr/>
        </p:nvSpPr>
        <p:spPr>
          <a:xfrm>
            <a:off x="187283" y="1741385"/>
            <a:ext cx="105752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3600" b="0" i="0" u="none" strike="noStrike" baseline="0" dirty="0">
                <a:latin typeface="CIDFont+F2"/>
              </a:rPr>
              <a:t>Os elementos de uma </a:t>
            </a:r>
            <a:r>
              <a:rPr lang="pt-BR" sz="3600" b="0" i="0" u="none" strike="noStrike" baseline="0" dirty="0" err="1">
                <a:latin typeface="CIDFont+F2"/>
              </a:rPr>
              <a:t>string</a:t>
            </a:r>
            <a:r>
              <a:rPr lang="pt-BR" sz="3600" b="0" i="0" u="none" strike="noStrike" baseline="0" dirty="0">
                <a:latin typeface="CIDFont+F2"/>
              </a:rPr>
              <a:t> podem ser acessados usando uma estrutura de repetição</a:t>
            </a:r>
            <a:endParaRPr lang="pt-BR" sz="36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9F4E79C5-C0B2-2267-5364-EC0B8CFE63A8}"/>
              </a:ext>
            </a:extLst>
          </p:cNvPr>
          <p:cNvSpPr txBox="1"/>
          <p:nvPr/>
        </p:nvSpPr>
        <p:spPr>
          <a:xfrm>
            <a:off x="129537" y="3072580"/>
            <a:ext cx="284259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nome = 'Maria Silva'</a:t>
            </a:r>
          </a:p>
          <a:p>
            <a:r>
              <a:rPr lang="pt-BR" sz="2400" dirty="0"/>
              <a:t>i  =  0</a:t>
            </a:r>
          </a:p>
          <a:p>
            <a:r>
              <a:rPr lang="pt-BR" sz="2400" dirty="0" err="1"/>
              <a:t>while</a:t>
            </a:r>
            <a:r>
              <a:rPr lang="pt-BR" sz="2400" dirty="0"/>
              <a:t> i &lt; len(nome):</a:t>
            </a:r>
          </a:p>
          <a:p>
            <a:r>
              <a:rPr lang="pt-BR" sz="2400" dirty="0"/>
              <a:t>      print (nome[i])</a:t>
            </a:r>
          </a:p>
          <a:p>
            <a:r>
              <a:rPr lang="pt-BR" sz="2400" dirty="0"/>
              <a:t>      i = i + 1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4B6F2E0-5FFA-9449-B17D-A90BAE40CA15}"/>
              </a:ext>
            </a:extLst>
          </p:cNvPr>
          <p:cNvSpPr txBox="1"/>
          <p:nvPr/>
        </p:nvSpPr>
        <p:spPr>
          <a:xfrm>
            <a:off x="2972128" y="3039748"/>
            <a:ext cx="340718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/>
              <a:t>nome = 'Maria Silva'</a:t>
            </a:r>
          </a:p>
          <a:p>
            <a:r>
              <a:rPr lang="it-IT" sz="2400" dirty="0"/>
              <a:t>for i in range(len(nome)):</a:t>
            </a:r>
          </a:p>
          <a:p>
            <a:r>
              <a:rPr lang="it-IT" sz="2400" dirty="0"/>
              <a:t>      print(nome[i], i)</a:t>
            </a:r>
            <a:endParaRPr lang="pt-BR" sz="24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C964CBE-A165-0B00-7282-923801CA757B}"/>
              </a:ext>
            </a:extLst>
          </p:cNvPr>
          <p:cNvSpPr txBox="1"/>
          <p:nvPr/>
        </p:nvSpPr>
        <p:spPr>
          <a:xfrm>
            <a:off x="2972128" y="4698049"/>
            <a:ext cx="28425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nome = 'Maria Silva'</a:t>
            </a:r>
          </a:p>
          <a:p>
            <a:r>
              <a:rPr lang="pt-BR" sz="2400" dirty="0"/>
              <a:t>for letra in nome:</a:t>
            </a:r>
          </a:p>
          <a:p>
            <a:r>
              <a:rPr lang="pt-BR" sz="2400" dirty="0"/>
              <a:t>     print(letra)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72744C4-8D1B-BE95-4158-123209857209}"/>
              </a:ext>
            </a:extLst>
          </p:cNvPr>
          <p:cNvSpPr txBox="1"/>
          <p:nvPr/>
        </p:nvSpPr>
        <p:spPr>
          <a:xfrm>
            <a:off x="6384374" y="2940872"/>
            <a:ext cx="5807626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nome =‘Aria </a:t>
            </a:r>
            <a:r>
              <a:rPr lang="pt-BR" sz="2400" dirty="0" err="1"/>
              <a:t>Silava</a:t>
            </a:r>
            <a:r>
              <a:rPr lang="pt-BR" sz="2400" dirty="0"/>
              <a:t>’</a:t>
            </a:r>
          </a:p>
          <a:p>
            <a:r>
              <a:rPr lang="pt-BR" sz="2400" dirty="0"/>
              <a:t>#  nome = </a:t>
            </a:r>
            <a:r>
              <a:rPr lang="pt-BR" sz="2400" dirty="0" err="1"/>
              <a:t>nome.lower</a:t>
            </a:r>
            <a:r>
              <a:rPr lang="pt-BR" sz="2400" dirty="0"/>
              <a:t>()</a:t>
            </a:r>
          </a:p>
          <a:p>
            <a:r>
              <a:rPr lang="pt-BR" sz="2400" dirty="0"/>
              <a:t>i  =  0</a:t>
            </a:r>
          </a:p>
          <a:p>
            <a:r>
              <a:rPr lang="pt-BR" sz="2400" dirty="0" err="1"/>
              <a:t>conta_a</a:t>
            </a:r>
            <a:r>
              <a:rPr lang="pt-BR" sz="2400" dirty="0"/>
              <a:t> = 0</a:t>
            </a:r>
          </a:p>
          <a:p>
            <a:r>
              <a:rPr lang="pt-BR" sz="2400" dirty="0" err="1"/>
              <a:t>while</a:t>
            </a:r>
            <a:r>
              <a:rPr lang="pt-BR" sz="2400" dirty="0"/>
              <a:t> i &lt; len(nome):</a:t>
            </a:r>
          </a:p>
          <a:p>
            <a:r>
              <a:rPr lang="pt-BR" sz="2400" dirty="0"/>
              <a:t>      </a:t>
            </a:r>
            <a:r>
              <a:rPr lang="pt-BR" sz="2400" dirty="0" err="1"/>
              <a:t>if</a:t>
            </a:r>
            <a:r>
              <a:rPr lang="pt-BR" sz="2400" dirty="0"/>
              <a:t> (nome[i] == “a” </a:t>
            </a:r>
            <a:r>
              <a:rPr lang="pt-BR" sz="2400" dirty="0" err="1"/>
              <a:t>or</a:t>
            </a:r>
            <a:r>
              <a:rPr lang="pt-BR" sz="2400" dirty="0"/>
              <a:t> nome[i] == ‘A’):</a:t>
            </a:r>
          </a:p>
          <a:p>
            <a:r>
              <a:rPr lang="pt-BR" sz="2400" dirty="0"/>
              <a:t>         </a:t>
            </a:r>
            <a:r>
              <a:rPr lang="pt-BR" sz="2400" dirty="0" err="1"/>
              <a:t>conta_a</a:t>
            </a:r>
            <a:r>
              <a:rPr lang="pt-BR" sz="2400" dirty="0"/>
              <a:t> += 1 # </a:t>
            </a:r>
            <a:r>
              <a:rPr lang="pt-BR" sz="2400" dirty="0" err="1"/>
              <a:t>conta_a</a:t>
            </a:r>
            <a:r>
              <a:rPr lang="pt-BR" sz="2400" dirty="0"/>
              <a:t> = </a:t>
            </a:r>
            <a:r>
              <a:rPr lang="pt-BR" sz="2400" dirty="0" err="1"/>
              <a:t>conta_a</a:t>
            </a:r>
            <a:r>
              <a:rPr lang="pt-BR" sz="2400"/>
              <a:t> + </a:t>
            </a:r>
            <a:r>
              <a:rPr lang="pt-BR" sz="2400" dirty="0"/>
              <a:t>1</a:t>
            </a:r>
          </a:p>
          <a:p>
            <a:r>
              <a:rPr lang="pt-BR" sz="2400" dirty="0"/>
              <a:t>      i = i + 1</a:t>
            </a:r>
          </a:p>
          <a:p>
            <a:r>
              <a:rPr lang="pt-BR" sz="2400" dirty="0"/>
              <a:t>print(“\</a:t>
            </a:r>
            <a:r>
              <a:rPr lang="pt-BR" sz="2400" dirty="0" err="1"/>
              <a:t>nTotal</a:t>
            </a:r>
            <a:r>
              <a:rPr lang="pt-BR" sz="2400" dirty="0"/>
              <a:t> de letras a : “,</a:t>
            </a:r>
            <a:r>
              <a:rPr lang="pt-BR" sz="2400" dirty="0" err="1"/>
              <a:t>conta_a</a:t>
            </a:r>
            <a:r>
              <a:rPr lang="pt-BR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0811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631E8E1-1C1C-0357-47D9-C371324C3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BE36FAB-C2F9-7FB6-5D05-B5985CA9B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400" b="1" dirty="0"/>
              <a:t>Cap05-Exem-01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C6DDE4B-CB33-DC29-504D-CCC53D8F0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11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B1E4878-CC30-8E8C-8EC9-4725DF789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F-</a:t>
            </a:r>
            <a:r>
              <a:rPr lang="pt-BR" b="1" i="1" u="none" strike="noStrike" baseline="0" dirty="0" err="1">
                <a:latin typeface="CIDFont+F1"/>
              </a:rPr>
              <a:t>string</a:t>
            </a:r>
            <a:endParaRPr lang="pt-BR" b="1" i="1" dirty="0">
              <a:solidFill>
                <a:srgbClr val="0070C0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BA1AABF-6E5E-A5C5-1AE7-804756C0D4D2}"/>
              </a:ext>
            </a:extLst>
          </p:cNvPr>
          <p:cNvSpPr txBox="1"/>
          <p:nvPr/>
        </p:nvSpPr>
        <p:spPr>
          <a:xfrm>
            <a:off x="894522" y="1565756"/>
            <a:ext cx="1076721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73050" indent="-273050" algn="l">
              <a:buFont typeface="Arial" panose="020B0604020202020204" pitchFamily="34" charset="0"/>
              <a:buChar char="•"/>
            </a:pPr>
            <a:r>
              <a:rPr lang="pt-BR" sz="2800" b="0" i="0" u="none" strike="noStrike" baseline="0" dirty="0">
                <a:latin typeface="CIDFont+F2"/>
              </a:rPr>
              <a:t>Tipo especial de </a:t>
            </a:r>
            <a:r>
              <a:rPr lang="pt-BR" sz="2800" b="0" i="0" u="none" strike="noStrike" baseline="0" dirty="0" err="1">
                <a:latin typeface="CIDFont+F2"/>
              </a:rPr>
              <a:t>String</a:t>
            </a:r>
            <a:r>
              <a:rPr lang="pt-BR" sz="2800" b="0" i="0" u="none" strike="noStrike" baseline="0" dirty="0">
                <a:latin typeface="CIDFont+F2"/>
              </a:rPr>
              <a:t> que facilita a incorporação de variáveis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pt-BR" sz="2800" b="0" i="0" u="none" strike="noStrike" baseline="0" dirty="0">
                <a:latin typeface="CIDFont+F2"/>
              </a:rPr>
              <a:t>É criada com f’...’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>
                <a:latin typeface="CIDFont+F2"/>
              </a:rPr>
              <a:t> Permite acessar expressões usando {...}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>
                <a:latin typeface="CIDFont+F2"/>
              </a:rPr>
              <a:t>Exemplo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800" dirty="0">
              <a:latin typeface="CIDFont+F2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>
                <a:latin typeface="CIDFont+F2"/>
              </a:rPr>
              <a:t>palavra = ‘paralelepípedo’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2800" dirty="0">
                <a:latin typeface="CIDFont+F2"/>
              </a:rPr>
              <a:t>texto  = </a:t>
            </a:r>
            <a:r>
              <a:rPr lang="pt-BR" sz="2800" b="1" dirty="0" err="1">
                <a:solidFill>
                  <a:srgbClr val="FF0000"/>
                </a:solidFill>
                <a:highlight>
                  <a:srgbClr val="FFFF00"/>
                </a:highlight>
                <a:latin typeface="CIDFont+F2"/>
              </a:rPr>
              <a:t>f’A</a:t>
            </a:r>
            <a:r>
              <a:rPr lang="pt-BR" sz="2800" b="1" dirty="0">
                <a:solidFill>
                  <a:srgbClr val="FF0000"/>
                </a:solidFill>
                <a:highlight>
                  <a:srgbClr val="FFFF00"/>
                </a:highlight>
                <a:latin typeface="CIDFont+F2"/>
              </a:rPr>
              <a:t> palavra {palavra} tem {</a:t>
            </a:r>
            <a:r>
              <a:rPr lang="pt-BR" sz="2800" b="1" dirty="0" err="1">
                <a:solidFill>
                  <a:srgbClr val="FF0000"/>
                </a:solidFill>
                <a:highlight>
                  <a:srgbClr val="FFFF00"/>
                </a:highlight>
                <a:latin typeface="CIDFont+F2"/>
              </a:rPr>
              <a:t>len</a:t>
            </a:r>
            <a:r>
              <a:rPr lang="pt-BR" sz="2800" b="1" dirty="0">
                <a:solidFill>
                  <a:srgbClr val="FF0000"/>
                </a:solidFill>
                <a:highlight>
                  <a:srgbClr val="FFFF00"/>
                </a:highlight>
                <a:latin typeface="CIDFont+F2"/>
              </a:rPr>
              <a:t>(palavra) } letras !’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t-BR" sz="3200" dirty="0">
                <a:latin typeface="CIDFont+F2"/>
              </a:rPr>
              <a:t>p</a:t>
            </a:r>
            <a:r>
              <a:rPr lang="pt-BR" sz="3200" b="0" i="0" u="none" strike="noStrike" baseline="0" dirty="0">
                <a:latin typeface="CIDFont+F2"/>
              </a:rPr>
              <a:t>rint ( texto)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pt-BR" sz="3200" dirty="0">
              <a:latin typeface="CIDFont+F2"/>
            </a:endParaRPr>
          </a:p>
          <a:p>
            <a:pPr marL="800100" lvl="1"/>
            <a:r>
              <a:rPr lang="pt-BR" sz="3200" b="0" i="0" u="none" strike="noStrike" baseline="0" dirty="0">
                <a:latin typeface="CIDFont+F2"/>
              </a:rPr>
              <a:t>Será impresso: A palavra paralelepípedo tem 14 letras !</a:t>
            </a:r>
          </a:p>
        </p:txBody>
      </p:sp>
    </p:spTree>
    <p:extLst>
      <p:ext uri="{BB962C8B-B14F-4D97-AF65-F5344CB8AC3E}">
        <p14:creationId xmlns:p14="http://schemas.microsoft.com/office/powerpoint/2010/main" val="42647787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DA74356-3346-449E-892B-C1461BD58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F0C4DB9-A3E1-7411-ACCA-30DA6676F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400" b="1" dirty="0"/>
              <a:t>Cap05-Exem-02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13CA290-6AAC-4F12-9B56-592496D65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12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57D6D51-7CF9-C908-2C2B-1345566D1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F-</a:t>
            </a:r>
            <a:r>
              <a:rPr lang="pt-BR" b="1" i="1" dirty="0" err="1"/>
              <a:t>string</a:t>
            </a:r>
            <a:endParaRPr lang="pt-BR" b="1" i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ACBEE46-02EB-49D8-9D33-AF5CC37C7DC7}"/>
              </a:ext>
            </a:extLst>
          </p:cNvPr>
          <p:cNvSpPr txBox="1"/>
          <p:nvPr/>
        </p:nvSpPr>
        <p:spPr>
          <a:xfrm>
            <a:off x="690995" y="1349229"/>
            <a:ext cx="92846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Nem sempre as expressões numéricas aparecem como gostaríamos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4864AB2-E53E-F8CB-1EE5-67AC5AA9A22A}"/>
              </a:ext>
            </a:extLst>
          </p:cNvPr>
          <p:cNvSpPr txBox="1"/>
          <p:nvPr/>
        </p:nvSpPr>
        <p:spPr>
          <a:xfrm>
            <a:off x="904180" y="2303336"/>
            <a:ext cx="101753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>
                <a:latin typeface="CIDFont+F2"/>
              </a:rPr>
              <a:t>numerador = 5</a:t>
            </a:r>
          </a:p>
          <a:p>
            <a:r>
              <a:rPr lang="pt-BR" sz="2800" dirty="0">
                <a:latin typeface="CIDFont+F2"/>
              </a:rPr>
              <a:t>denominador = 3</a:t>
            </a:r>
          </a:p>
          <a:p>
            <a:r>
              <a:rPr lang="pt-BR" sz="2800" dirty="0">
                <a:latin typeface="CIDFont+F2"/>
              </a:rPr>
              <a:t>divisor = numerador  /  denominador</a:t>
            </a:r>
          </a:p>
          <a:p>
            <a:r>
              <a:rPr lang="pt-BR" sz="2800" dirty="0">
                <a:latin typeface="CIDFont+F2"/>
              </a:rPr>
              <a:t>print (f'{numerador}   /  {denominador}   =  %.2f  !' %(divisor))  # 1</a:t>
            </a:r>
          </a:p>
          <a:p>
            <a:r>
              <a:rPr lang="pt-BR" sz="2800" dirty="0">
                <a:latin typeface="CIDFont+F2"/>
              </a:rPr>
              <a:t>print (f'{numerador}   /  {denominador}   =  {divisor:.2f}  !’)            # 1</a:t>
            </a:r>
          </a:p>
          <a:p>
            <a:r>
              <a:rPr lang="pt-BR" sz="2800" dirty="0">
                <a:latin typeface="CIDFont+F2"/>
              </a:rPr>
              <a:t>print (f'\n{numerador}   /  {denominador}   =  {divisor}  !’)          # 2</a:t>
            </a:r>
          </a:p>
          <a:p>
            <a:r>
              <a:rPr lang="pt-BR" sz="1200" dirty="0">
                <a:latin typeface="CIDFont+F2"/>
              </a:rPr>
              <a:t>                </a:t>
            </a:r>
          </a:p>
          <a:p>
            <a:r>
              <a:rPr lang="pt-BR" sz="2800" dirty="0">
                <a:latin typeface="CIDFont+F2"/>
              </a:rPr>
              <a:t>  1               5   /  3   =  1.67  !</a:t>
            </a:r>
          </a:p>
          <a:p>
            <a:pPr marL="514350" indent="-514350" algn="ctr">
              <a:buAutoNum type="arabicPlain" startAt="5"/>
            </a:pPr>
            <a:endParaRPr lang="pt-BR" sz="2800" dirty="0">
              <a:latin typeface="CIDFont+F2"/>
            </a:endParaRPr>
          </a:p>
          <a:p>
            <a:r>
              <a:rPr lang="pt-BR" sz="2800" dirty="0">
                <a:latin typeface="CIDFont+F2"/>
              </a:rPr>
              <a:t>  2               5   /   3   =     1.66666666666666667 !</a:t>
            </a:r>
          </a:p>
        </p:txBody>
      </p:sp>
      <p:sp>
        <p:nvSpPr>
          <p:cNvPr id="8" name="Seta: para a Direita 7">
            <a:extLst>
              <a:ext uri="{FF2B5EF4-FFF2-40B4-BE49-F238E27FC236}">
                <a16:creationId xmlns:a16="http://schemas.microsoft.com/office/drawing/2014/main" id="{B90040D1-A7D8-8CBB-354A-C39D00F04430}"/>
              </a:ext>
            </a:extLst>
          </p:cNvPr>
          <p:cNvSpPr/>
          <p:nvPr/>
        </p:nvSpPr>
        <p:spPr>
          <a:xfrm>
            <a:off x="1608057" y="5206324"/>
            <a:ext cx="694806" cy="228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Seta: para a Direita 8">
            <a:extLst>
              <a:ext uri="{FF2B5EF4-FFF2-40B4-BE49-F238E27FC236}">
                <a16:creationId xmlns:a16="http://schemas.microsoft.com/office/drawing/2014/main" id="{7ECA7A53-D7BC-922D-F064-B19BBD31545F}"/>
              </a:ext>
            </a:extLst>
          </p:cNvPr>
          <p:cNvSpPr/>
          <p:nvPr/>
        </p:nvSpPr>
        <p:spPr>
          <a:xfrm>
            <a:off x="1619921" y="6087434"/>
            <a:ext cx="694806" cy="2286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40513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DA74356-3346-449E-892B-C1461BD58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F0C4DB9-A3E1-7411-ACCA-30DA6676F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400" b="1" dirty="0"/>
              <a:t>Cap05-Exem-03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13CA290-6AAC-4F12-9B56-592496D65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13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D57D6D51-7CF9-C908-2C2B-1345566D1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F-</a:t>
            </a:r>
            <a:r>
              <a:rPr lang="pt-BR" b="1" i="1" dirty="0" err="1"/>
              <a:t>string</a:t>
            </a:r>
            <a:endParaRPr lang="pt-BR" b="1" i="1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ACBEE46-02EB-49D8-9D33-AF5CC37C7DC7}"/>
              </a:ext>
            </a:extLst>
          </p:cNvPr>
          <p:cNvSpPr txBox="1"/>
          <p:nvPr/>
        </p:nvSpPr>
        <p:spPr>
          <a:xfrm>
            <a:off x="748145" y="1682019"/>
            <a:ext cx="92846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É possível formatar as expressões, indicando  o número de casas decimais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4864AB2-E53E-F8CB-1EE5-67AC5AA9A22A}"/>
              </a:ext>
            </a:extLst>
          </p:cNvPr>
          <p:cNvSpPr txBox="1"/>
          <p:nvPr/>
        </p:nvSpPr>
        <p:spPr>
          <a:xfrm>
            <a:off x="1250615" y="2695305"/>
            <a:ext cx="10075287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divisão = 5  /  3</a:t>
            </a:r>
          </a:p>
          <a:p>
            <a:endParaRPr lang="pt-BR" sz="2800" dirty="0"/>
          </a:p>
          <a:p>
            <a:r>
              <a:rPr lang="pt-BR" sz="2800" dirty="0"/>
              <a:t>print (f’{divisão}’)                                       1.66666666666666667       </a:t>
            </a:r>
          </a:p>
          <a:p>
            <a:endParaRPr lang="pt-BR" sz="2800" dirty="0"/>
          </a:p>
          <a:p>
            <a:r>
              <a:rPr lang="pt-BR" sz="2800" dirty="0"/>
              <a:t>print (f’ {divisão:.5f}’)                                1.66667</a:t>
            </a:r>
          </a:p>
          <a:p>
            <a:endParaRPr lang="pt-BR" sz="2800" dirty="0"/>
          </a:p>
          <a:p>
            <a:r>
              <a:rPr lang="pt-BR" sz="2800" dirty="0"/>
              <a:t>print(f’{divisão:.2f}’)                                  1.67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63614DB4-A429-9E80-76A8-E2FDE6DE9213}"/>
              </a:ext>
            </a:extLst>
          </p:cNvPr>
          <p:cNvCxnSpPr/>
          <p:nvPr/>
        </p:nvCxnSpPr>
        <p:spPr>
          <a:xfrm>
            <a:off x="4743456" y="3931092"/>
            <a:ext cx="93345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D9D3776C-C14A-1905-A0A6-C8C8F7D98D4F}"/>
              </a:ext>
            </a:extLst>
          </p:cNvPr>
          <p:cNvCxnSpPr/>
          <p:nvPr/>
        </p:nvCxnSpPr>
        <p:spPr>
          <a:xfrm>
            <a:off x="4714880" y="4783580"/>
            <a:ext cx="93345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52A57B5C-A916-9A05-51AC-1621CD67AB05}"/>
              </a:ext>
            </a:extLst>
          </p:cNvPr>
          <p:cNvCxnSpPr/>
          <p:nvPr/>
        </p:nvCxnSpPr>
        <p:spPr>
          <a:xfrm>
            <a:off x="4700592" y="5631310"/>
            <a:ext cx="93345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87328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3F1D091-11BF-F472-A204-79982A34B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1777DA1-F89E-7C76-5F65-F1703FF21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400" b="1" dirty="0"/>
              <a:t>Cap05-Exem-04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85A36D-C4A7-27CD-26C8-AA6B6129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14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4C7A1B1-E1FF-9045-6AB7-3A5E78F20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dirty="0"/>
              <a:t>Método </a:t>
            </a:r>
            <a:r>
              <a:rPr lang="pt-BR" b="1" i="1" dirty="0" err="1"/>
              <a:t>upper</a:t>
            </a:r>
            <a:r>
              <a:rPr lang="pt-BR" b="1" i="1" dirty="0"/>
              <a:t>()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E828EE4-CD1B-2EC8-6995-FA0006A52562}"/>
              </a:ext>
            </a:extLst>
          </p:cNvPr>
          <p:cNvSpPr txBox="1"/>
          <p:nvPr/>
        </p:nvSpPr>
        <p:spPr>
          <a:xfrm>
            <a:off x="857250" y="1415136"/>
            <a:ext cx="986200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 err="1"/>
              <a:t>string</a:t>
            </a:r>
            <a:r>
              <a:rPr lang="pt-BR" sz="3200" b="1" dirty="0" err="1">
                <a:solidFill>
                  <a:srgbClr val="FF0000"/>
                </a:solidFill>
              </a:rPr>
              <a:t>.upper</a:t>
            </a:r>
            <a:r>
              <a:rPr lang="pt-BR" sz="3200" b="1" dirty="0">
                <a:solidFill>
                  <a:srgbClr val="FF0000"/>
                </a:solidFill>
              </a:rPr>
              <a:t>()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3200" dirty="0"/>
              <a:t>Converte a </a:t>
            </a:r>
            <a:r>
              <a:rPr lang="pt-BR" sz="3200" dirty="0" err="1">
                <a:solidFill>
                  <a:srgbClr val="0070C0"/>
                </a:solidFill>
              </a:rPr>
              <a:t>string</a:t>
            </a:r>
            <a:r>
              <a:rPr lang="pt-BR" sz="3200" dirty="0"/>
              <a:t> em letras </a:t>
            </a:r>
            <a:r>
              <a:rPr lang="pt-BR" sz="3200" dirty="0">
                <a:solidFill>
                  <a:srgbClr val="0070C0"/>
                </a:solidFill>
              </a:rPr>
              <a:t>maiúsculas</a:t>
            </a:r>
          </a:p>
          <a:p>
            <a:pPr lvl="1"/>
            <a:endParaRPr lang="pt-B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70C0"/>
                </a:solidFill>
              </a:rPr>
              <a:t>A </a:t>
            </a:r>
            <a:r>
              <a:rPr lang="pt-BR" sz="3200" dirty="0" err="1">
                <a:solidFill>
                  <a:srgbClr val="0070C0"/>
                </a:solidFill>
              </a:rPr>
              <a:t>string</a:t>
            </a:r>
            <a:r>
              <a:rPr lang="pt-BR" sz="3200" dirty="0">
                <a:solidFill>
                  <a:srgbClr val="0070C0"/>
                </a:solidFill>
              </a:rPr>
              <a:t> original não é modificada !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267D29D-D562-8C02-8AB5-E3BFECDB06E9}"/>
              </a:ext>
            </a:extLst>
          </p:cNvPr>
          <p:cNvSpPr txBox="1"/>
          <p:nvPr/>
        </p:nvSpPr>
        <p:spPr>
          <a:xfrm>
            <a:off x="1798129" y="2508942"/>
            <a:ext cx="986200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texto = ‘Quem parte e reparte, fica com a maior parte’</a:t>
            </a:r>
          </a:p>
          <a:p>
            <a:endParaRPr lang="pt-BR" sz="2800" dirty="0"/>
          </a:p>
          <a:p>
            <a:r>
              <a:rPr lang="pt-BR" sz="2800" dirty="0"/>
              <a:t>print(</a:t>
            </a:r>
            <a:r>
              <a:rPr lang="pt-BR" sz="2800" dirty="0" err="1"/>
              <a:t>texto.upper</a:t>
            </a:r>
            <a:r>
              <a:rPr lang="pt-BR" sz="2800" dirty="0"/>
              <a:t>())</a:t>
            </a:r>
          </a:p>
          <a:p>
            <a:r>
              <a:rPr lang="pt-BR" sz="2800" dirty="0"/>
              <a:t>print(texto)</a:t>
            </a:r>
          </a:p>
          <a:p>
            <a:r>
              <a:rPr lang="pt-BR" sz="2800" dirty="0"/>
              <a:t>                 ‘Quem parte e reparte, fica com a maior parte’</a:t>
            </a:r>
          </a:p>
          <a:p>
            <a:r>
              <a:rPr lang="pt-BR" sz="2800" dirty="0"/>
              <a:t>texto = (</a:t>
            </a:r>
            <a:r>
              <a:rPr lang="pt-BR" sz="2800" dirty="0" err="1"/>
              <a:t>texto.upper</a:t>
            </a:r>
            <a:r>
              <a:rPr lang="pt-BR" sz="2800" dirty="0"/>
              <a:t>())</a:t>
            </a:r>
          </a:p>
          <a:p>
            <a:r>
              <a:rPr lang="pt-BR" sz="2800" dirty="0"/>
              <a:t>print(texto)</a:t>
            </a:r>
          </a:p>
          <a:p>
            <a:r>
              <a:rPr lang="pt-BR" sz="2800" dirty="0"/>
              <a:t>               ‘QUEM PARTE E REPARTE FICA COM A MAIOR PARTE’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9459AF8-222F-D2E6-511D-DC7A0ADFBC06}"/>
              </a:ext>
            </a:extLst>
          </p:cNvPr>
          <p:cNvCxnSpPr/>
          <p:nvPr/>
        </p:nvCxnSpPr>
        <p:spPr>
          <a:xfrm>
            <a:off x="1845785" y="5754459"/>
            <a:ext cx="93345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9F67E9C4-4418-AE91-0D15-519321CB4D3E}"/>
              </a:ext>
            </a:extLst>
          </p:cNvPr>
          <p:cNvCxnSpPr/>
          <p:nvPr/>
        </p:nvCxnSpPr>
        <p:spPr>
          <a:xfrm>
            <a:off x="1923887" y="4502597"/>
            <a:ext cx="93345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4817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3F1D091-11BF-F472-A204-79982A34B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1777DA1-F89E-7C76-5F65-F1703FF21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400" b="1" dirty="0"/>
              <a:t>Cap05-Exem-05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85A36D-C4A7-27CD-26C8-AA6B6129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15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4C7A1B1-E1FF-9045-6AB7-3A5E78F20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dirty="0"/>
              <a:t>Método </a:t>
            </a:r>
            <a:r>
              <a:rPr lang="pt-BR" b="1" i="1" dirty="0" err="1"/>
              <a:t>lower</a:t>
            </a:r>
            <a:r>
              <a:rPr lang="pt-BR" b="1" i="1" dirty="0"/>
              <a:t>()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E828EE4-CD1B-2EC8-6995-FA0006A52562}"/>
              </a:ext>
            </a:extLst>
          </p:cNvPr>
          <p:cNvSpPr txBox="1"/>
          <p:nvPr/>
        </p:nvSpPr>
        <p:spPr>
          <a:xfrm>
            <a:off x="500063" y="1790700"/>
            <a:ext cx="1021918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 err="1"/>
              <a:t>string.</a:t>
            </a:r>
            <a:r>
              <a:rPr lang="pt-BR" sz="3200" b="1" dirty="0" err="1">
                <a:solidFill>
                  <a:srgbClr val="FF0000"/>
                </a:solidFill>
              </a:rPr>
              <a:t>lower</a:t>
            </a:r>
            <a:r>
              <a:rPr lang="pt-BR" sz="3200" b="1" dirty="0">
                <a:solidFill>
                  <a:srgbClr val="FF0000"/>
                </a:solidFill>
              </a:rPr>
              <a:t>()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3200" dirty="0"/>
              <a:t>Converte a </a:t>
            </a:r>
            <a:r>
              <a:rPr lang="pt-BR" sz="3200" dirty="0" err="1">
                <a:solidFill>
                  <a:srgbClr val="0070C0"/>
                </a:solidFill>
              </a:rPr>
              <a:t>string</a:t>
            </a:r>
            <a:r>
              <a:rPr lang="pt-BR" sz="3200" dirty="0"/>
              <a:t> em letras </a:t>
            </a:r>
            <a:r>
              <a:rPr lang="pt-BR" sz="3200" dirty="0">
                <a:solidFill>
                  <a:srgbClr val="0070C0"/>
                </a:solidFill>
              </a:rPr>
              <a:t>minúsculas</a:t>
            </a:r>
          </a:p>
          <a:p>
            <a:pPr lvl="1"/>
            <a:endParaRPr lang="pt-BR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3200" dirty="0">
                <a:solidFill>
                  <a:srgbClr val="0070C0"/>
                </a:solidFill>
              </a:rPr>
              <a:t>A </a:t>
            </a:r>
            <a:r>
              <a:rPr lang="pt-BR" sz="3200" dirty="0" err="1">
                <a:solidFill>
                  <a:srgbClr val="0070C0"/>
                </a:solidFill>
              </a:rPr>
              <a:t>string</a:t>
            </a:r>
            <a:r>
              <a:rPr lang="pt-BR" sz="3200" dirty="0">
                <a:solidFill>
                  <a:srgbClr val="0070C0"/>
                </a:solidFill>
              </a:rPr>
              <a:t> original não é modificada !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267D29D-D562-8C02-8AB5-E3BFECDB06E9}"/>
              </a:ext>
            </a:extLst>
          </p:cNvPr>
          <p:cNvSpPr txBox="1"/>
          <p:nvPr/>
        </p:nvSpPr>
        <p:spPr>
          <a:xfrm>
            <a:off x="500063" y="3981192"/>
            <a:ext cx="1145278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texto = ‘Quem parte e reparte, fica com a maior parte’</a:t>
            </a:r>
          </a:p>
          <a:p>
            <a:endParaRPr lang="pt-BR" sz="2800" dirty="0"/>
          </a:p>
          <a:p>
            <a:r>
              <a:rPr lang="pt-BR" sz="2800" dirty="0"/>
              <a:t>print(</a:t>
            </a:r>
            <a:r>
              <a:rPr lang="pt-BR" sz="2800" dirty="0" err="1"/>
              <a:t>texto.lower</a:t>
            </a:r>
            <a:r>
              <a:rPr lang="pt-BR" sz="2800" dirty="0"/>
              <a:t>())                     ‘quem parte e reparte fica com a maior parte’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9459AF8-222F-D2E6-511D-DC7A0ADFBC06}"/>
              </a:ext>
            </a:extLst>
          </p:cNvPr>
          <p:cNvCxnSpPr/>
          <p:nvPr/>
        </p:nvCxnSpPr>
        <p:spPr>
          <a:xfrm>
            <a:off x="3811172" y="5136015"/>
            <a:ext cx="93345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7257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3F1D091-11BF-F472-A204-79982A34B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1777DA1-F89E-7C76-5F65-F1703FF21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400" b="1" dirty="0"/>
              <a:t>Cap05-Exem-06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85A36D-C4A7-27CD-26C8-AA6B6129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16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4C7A1B1-E1FF-9045-6AB7-3A5E78F20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dirty="0"/>
              <a:t>Método </a:t>
            </a:r>
            <a:r>
              <a:rPr lang="pt-BR" b="1" i="1" dirty="0" err="1"/>
              <a:t>find</a:t>
            </a:r>
            <a:r>
              <a:rPr lang="pt-BR" b="1" i="1" dirty="0"/>
              <a:t>()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E828EE4-CD1B-2EC8-6995-FA0006A52562}"/>
              </a:ext>
            </a:extLst>
          </p:cNvPr>
          <p:cNvSpPr txBox="1"/>
          <p:nvPr/>
        </p:nvSpPr>
        <p:spPr>
          <a:xfrm>
            <a:off x="742949" y="1638300"/>
            <a:ext cx="1109559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err="1"/>
              <a:t>string.</a:t>
            </a:r>
            <a:r>
              <a:rPr lang="pt-BR" sz="2800" b="1" dirty="0" err="1">
                <a:solidFill>
                  <a:srgbClr val="FF0000"/>
                </a:solidFill>
              </a:rPr>
              <a:t>find</a:t>
            </a:r>
            <a:r>
              <a:rPr lang="pt-BR" sz="2800" b="1" dirty="0">
                <a:solidFill>
                  <a:srgbClr val="FF0000"/>
                </a:solidFill>
              </a:rPr>
              <a:t>(</a:t>
            </a:r>
            <a:r>
              <a:rPr lang="pt-BR" sz="2800" b="1" dirty="0" err="1">
                <a:solidFill>
                  <a:srgbClr val="FF0000"/>
                </a:solidFill>
              </a:rPr>
              <a:t>substring</a:t>
            </a:r>
            <a:r>
              <a:rPr lang="pt-BR" sz="2800" b="1" dirty="0">
                <a:solidFill>
                  <a:srgbClr val="FF0000"/>
                </a:solidFill>
              </a:rPr>
              <a:t>, inicio, fim)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Retorna o índice da primeira ocorrência da </a:t>
            </a:r>
            <a:r>
              <a:rPr lang="pt-BR" sz="2800" b="1" dirty="0" err="1"/>
              <a:t>substring</a:t>
            </a:r>
            <a:r>
              <a:rPr lang="pt-BR" sz="2800" b="1" dirty="0"/>
              <a:t> </a:t>
            </a:r>
            <a:r>
              <a:rPr lang="pt-BR" sz="2800" dirty="0"/>
              <a:t>dentro</a:t>
            </a:r>
            <a:r>
              <a:rPr lang="pt-BR" sz="2800" b="1" dirty="0"/>
              <a:t> </a:t>
            </a:r>
            <a:r>
              <a:rPr lang="pt-BR" sz="2800" dirty="0"/>
              <a:t> da </a:t>
            </a:r>
            <a:r>
              <a:rPr lang="pt-BR" sz="2800" b="1" dirty="0" err="1"/>
              <a:t>string</a:t>
            </a:r>
            <a:r>
              <a:rPr lang="pt-BR" sz="2800" dirty="0"/>
              <a:t>, a partir da posição </a:t>
            </a:r>
            <a:r>
              <a:rPr lang="pt-BR" sz="2800" b="1" dirty="0"/>
              <a:t>início</a:t>
            </a:r>
            <a:r>
              <a:rPr lang="pt-BR" sz="2800" dirty="0"/>
              <a:t>, até a posição </a:t>
            </a:r>
            <a:r>
              <a:rPr lang="pt-BR" sz="2800" b="1" dirty="0">
                <a:solidFill>
                  <a:srgbClr val="FF0000"/>
                </a:solidFill>
              </a:rPr>
              <a:t>fim – 1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Retorna </a:t>
            </a:r>
            <a:r>
              <a:rPr lang="pt-BR" sz="2800" b="1" dirty="0"/>
              <a:t>-1</a:t>
            </a:r>
            <a:r>
              <a:rPr lang="pt-BR" sz="2800" dirty="0"/>
              <a:t> se a </a:t>
            </a:r>
            <a:r>
              <a:rPr lang="pt-BR" sz="2800" dirty="0" err="1"/>
              <a:t>substring</a:t>
            </a:r>
            <a:r>
              <a:rPr lang="pt-BR" sz="2800" dirty="0"/>
              <a:t> não for encontrada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b="1" dirty="0"/>
              <a:t>início</a:t>
            </a:r>
            <a:r>
              <a:rPr lang="pt-BR" sz="2800" dirty="0"/>
              <a:t> e </a:t>
            </a:r>
            <a:r>
              <a:rPr lang="pt-BR" sz="2800" b="1" dirty="0"/>
              <a:t>fim</a:t>
            </a:r>
            <a:r>
              <a:rPr lang="pt-BR" sz="2800" dirty="0"/>
              <a:t> são opcionais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Não é possível informar </a:t>
            </a:r>
            <a:r>
              <a:rPr lang="pt-BR" sz="2800" b="1" dirty="0"/>
              <a:t>fim</a:t>
            </a:r>
            <a:r>
              <a:rPr lang="pt-BR" sz="2800" dirty="0"/>
              <a:t> sem informar </a:t>
            </a:r>
            <a:r>
              <a:rPr lang="pt-BR" sz="2800" b="1" dirty="0"/>
              <a:t>início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EA7746C-97EC-E76D-1FED-92A534828BFD}"/>
              </a:ext>
            </a:extLst>
          </p:cNvPr>
          <p:cNvSpPr txBox="1"/>
          <p:nvPr/>
        </p:nvSpPr>
        <p:spPr>
          <a:xfrm>
            <a:off x="686971" y="4495399"/>
            <a:ext cx="108966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dirty="0"/>
              <a:t>texto = ‘A humildade é o sólido fundamento de todas as virtudes’</a:t>
            </a:r>
          </a:p>
          <a:p>
            <a:r>
              <a:rPr lang="pt-BR" sz="2400" dirty="0"/>
              <a:t>print(</a:t>
            </a:r>
            <a:r>
              <a:rPr lang="pt-BR" sz="2400" dirty="0" err="1"/>
              <a:t>texto.find</a:t>
            </a:r>
            <a:r>
              <a:rPr lang="pt-BR" sz="2400" dirty="0"/>
              <a:t>(‘da’))                                       7            </a:t>
            </a:r>
          </a:p>
          <a:p>
            <a:r>
              <a:rPr lang="pt-BR" sz="2400" dirty="0"/>
              <a:t>print(</a:t>
            </a:r>
            <a:r>
              <a:rPr lang="pt-BR" sz="2400" dirty="0" err="1"/>
              <a:t>texto.find</a:t>
            </a:r>
            <a:r>
              <a:rPr lang="pt-BR" sz="2400" dirty="0"/>
              <a:t>(‘da’, 27, 50))                        39</a:t>
            </a:r>
          </a:p>
          <a:p>
            <a:r>
              <a:rPr lang="pt-BR" sz="2400" dirty="0"/>
              <a:t>print(</a:t>
            </a:r>
            <a:r>
              <a:rPr lang="pt-BR" sz="2400" dirty="0" err="1"/>
              <a:t>texto.find</a:t>
            </a:r>
            <a:r>
              <a:rPr lang="pt-BR" sz="2400" dirty="0"/>
              <a:t>(‘da’, 27,35))                         -1</a:t>
            </a:r>
          </a:p>
          <a:p>
            <a:endParaRPr lang="pt-BR" dirty="0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E6BC3E52-3825-6C21-5428-F8F4AF9CEFB5}"/>
              </a:ext>
            </a:extLst>
          </p:cNvPr>
          <p:cNvCxnSpPr/>
          <p:nvPr/>
        </p:nvCxnSpPr>
        <p:spPr>
          <a:xfrm>
            <a:off x="4830346" y="5112202"/>
            <a:ext cx="93345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5B22480C-165D-0B4C-CD3D-9AE2BF048A3F}"/>
              </a:ext>
            </a:extLst>
          </p:cNvPr>
          <p:cNvCxnSpPr/>
          <p:nvPr/>
        </p:nvCxnSpPr>
        <p:spPr>
          <a:xfrm>
            <a:off x="4812467" y="5418728"/>
            <a:ext cx="93345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C312ED92-D173-D102-1B49-68D40EB99270}"/>
              </a:ext>
            </a:extLst>
          </p:cNvPr>
          <p:cNvCxnSpPr/>
          <p:nvPr/>
        </p:nvCxnSpPr>
        <p:spPr>
          <a:xfrm>
            <a:off x="4812467" y="5817052"/>
            <a:ext cx="93345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822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3F1D091-11BF-F472-A204-79982A34B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1777DA1-F89E-7C76-5F65-F1703FF21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400" b="1" dirty="0"/>
              <a:t>Cap05-Exem-07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85A36D-C4A7-27CD-26C8-AA6B6129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17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4C7A1B1-E1FF-9045-6AB7-3A5E78F20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dirty="0"/>
              <a:t>Método strip()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E828EE4-CD1B-2EC8-6995-FA0006A52562}"/>
              </a:ext>
            </a:extLst>
          </p:cNvPr>
          <p:cNvSpPr txBox="1"/>
          <p:nvPr/>
        </p:nvSpPr>
        <p:spPr>
          <a:xfrm>
            <a:off x="742949" y="1638300"/>
            <a:ext cx="1109559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err="1"/>
              <a:t>string</a:t>
            </a:r>
            <a:r>
              <a:rPr lang="pt-BR" sz="2800" b="1" dirty="0" err="1">
                <a:solidFill>
                  <a:srgbClr val="FF0000"/>
                </a:solidFill>
              </a:rPr>
              <a:t>.strip</a:t>
            </a:r>
            <a:r>
              <a:rPr lang="pt-BR" sz="2800" b="1" dirty="0">
                <a:solidFill>
                  <a:srgbClr val="FF0000"/>
                </a:solidFill>
              </a:rPr>
              <a:t>()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Exclui os vazios do início e do fim de uma </a:t>
            </a:r>
            <a:r>
              <a:rPr lang="pt-BR" sz="2800" dirty="0" err="1"/>
              <a:t>string</a:t>
            </a:r>
            <a:endParaRPr lang="pt-BR" sz="28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A </a:t>
            </a:r>
            <a:r>
              <a:rPr lang="pt-BR" sz="2800" dirty="0" err="1"/>
              <a:t>string</a:t>
            </a:r>
            <a:r>
              <a:rPr lang="pt-BR" sz="2800" dirty="0"/>
              <a:t> original não é modificada !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EA7746C-97EC-E76D-1FED-92A534828BFD}"/>
              </a:ext>
            </a:extLst>
          </p:cNvPr>
          <p:cNvSpPr txBox="1"/>
          <p:nvPr/>
        </p:nvSpPr>
        <p:spPr>
          <a:xfrm>
            <a:off x="647700" y="3771231"/>
            <a:ext cx="10896600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pt-BR" sz="2400" dirty="0"/>
              <a:t>texto =  ‘         Maria’</a:t>
            </a:r>
            <a:endParaRPr lang="pt-BR"/>
          </a:p>
          <a:p>
            <a:r>
              <a:rPr lang="pt-BR" sz="2400" dirty="0"/>
              <a:t>print(texto)        # ‘           Maria’</a:t>
            </a:r>
            <a:endParaRPr lang="pt-BR"/>
          </a:p>
          <a:p>
            <a:r>
              <a:rPr lang="pt-BR" sz="2400" dirty="0"/>
              <a:t>print(</a:t>
            </a:r>
            <a:r>
              <a:rPr lang="pt-BR" sz="2400" dirty="0" err="1"/>
              <a:t>texto.strip</a:t>
            </a:r>
            <a:r>
              <a:rPr lang="pt-BR" sz="2400" dirty="0"/>
              <a:t>())                         #’</a:t>
            </a:r>
            <a:r>
              <a:rPr lang="pt-BR" sz="2400" b="1" dirty="0"/>
              <a:t>Maria’</a:t>
            </a:r>
            <a:endParaRPr lang="pt-BR"/>
          </a:p>
          <a:p>
            <a:r>
              <a:rPr lang="pt-BR" sz="2400" dirty="0"/>
              <a:t>print(texto) # ‘           Maria’</a:t>
            </a:r>
            <a:endParaRPr lang="pt-BR"/>
          </a:p>
          <a:p>
            <a:r>
              <a:rPr lang="pt-BR" sz="2400" dirty="0"/>
              <a:t>texto = </a:t>
            </a:r>
            <a:r>
              <a:rPr lang="pt-BR" sz="2400" dirty="0" err="1"/>
              <a:t>texto.strip</a:t>
            </a:r>
            <a:r>
              <a:rPr lang="pt-BR" sz="2400" dirty="0"/>
              <a:t>()</a:t>
            </a:r>
            <a:endParaRPr lang="pt-BR"/>
          </a:p>
          <a:p>
            <a:r>
              <a:rPr lang="pt-BR" sz="2400" dirty="0"/>
              <a:t>print(texto) # ‘Maria’</a:t>
            </a:r>
            <a:endParaRPr lang="pt-BR"/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E6BC3E52-3825-6C21-5428-F8F4AF9CEFB5}"/>
              </a:ext>
            </a:extLst>
          </p:cNvPr>
          <p:cNvCxnSpPr/>
          <p:nvPr/>
        </p:nvCxnSpPr>
        <p:spPr>
          <a:xfrm>
            <a:off x="3401596" y="4750252"/>
            <a:ext cx="933450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33576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3F1D091-11BF-F472-A204-79982A34B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1777DA1-F89E-7C76-5F65-F1703FF21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400" b="1" dirty="0"/>
              <a:t>Cap05-Exem-08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85A36D-C4A7-27CD-26C8-AA6B6129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18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A4C7A1B1-E1FF-9045-6AB7-3A5E78F20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dirty="0"/>
              <a:t>Método count()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E828EE4-CD1B-2EC8-6995-FA0006A52562}"/>
              </a:ext>
            </a:extLst>
          </p:cNvPr>
          <p:cNvSpPr txBox="1"/>
          <p:nvPr/>
        </p:nvSpPr>
        <p:spPr>
          <a:xfrm>
            <a:off x="742949" y="1638300"/>
            <a:ext cx="1109559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err="1"/>
              <a:t>string</a:t>
            </a:r>
            <a:r>
              <a:rPr lang="pt-BR" sz="2800" b="1" dirty="0" err="1">
                <a:solidFill>
                  <a:srgbClr val="FF0000"/>
                </a:solidFill>
              </a:rPr>
              <a:t>.count</a:t>
            </a:r>
            <a:r>
              <a:rPr lang="pt-BR" sz="2800" b="1" dirty="0">
                <a:solidFill>
                  <a:srgbClr val="FF0000"/>
                </a:solidFill>
              </a:rPr>
              <a:t>()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Conta a ocorrência de uma palavra dentro de uma frase. Devolve um inteiro.</a:t>
            </a:r>
            <a:endParaRPr lang="pt-BR" sz="2800" b="1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pt-BR" sz="2800" dirty="0"/>
              <a:t>A </a:t>
            </a:r>
            <a:r>
              <a:rPr lang="pt-BR" sz="2800" dirty="0" err="1"/>
              <a:t>string</a:t>
            </a:r>
            <a:r>
              <a:rPr lang="pt-BR" sz="2800" dirty="0"/>
              <a:t> original não é modificada !</a:t>
            </a:r>
          </a:p>
          <a:p>
            <a:pPr lvl="1"/>
            <a:endParaRPr lang="pt-BR" sz="28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EA7746C-97EC-E76D-1FED-92A534828BFD}"/>
              </a:ext>
            </a:extLst>
          </p:cNvPr>
          <p:cNvSpPr txBox="1"/>
          <p:nvPr/>
        </p:nvSpPr>
        <p:spPr>
          <a:xfrm>
            <a:off x="742949" y="3885069"/>
            <a:ext cx="10896600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85838" indent="-985838"/>
            <a:r>
              <a:rPr lang="pt-BR" sz="2400" dirty="0"/>
              <a:t>frase = “Atirei o pau no gato, mas o gato não morreu. Chamei o cachorro e o gato correu”</a:t>
            </a:r>
          </a:p>
          <a:p>
            <a:r>
              <a:rPr lang="pt-BR" sz="2400" dirty="0" err="1"/>
              <a:t>quant_de_ocorrências</a:t>
            </a:r>
            <a:r>
              <a:rPr lang="pt-BR" sz="2400" dirty="0"/>
              <a:t> = 0</a:t>
            </a:r>
          </a:p>
          <a:p>
            <a:r>
              <a:rPr lang="pt-BR" sz="2400" dirty="0" err="1"/>
              <a:t>quant_de_ocorrências</a:t>
            </a:r>
            <a:r>
              <a:rPr lang="pt-BR" sz="2400" dirty="0"/>
              <a:t> = </a:t>
            </a:r>
            <a:r>
              <a:rPr lang="pt-BR" sz="2400" dirty="0" err="1"/>
              <a:t>frase.count</a:t>
            </a:r>
            <a:r>
              <a:rPr lang="pt-BR" sz="2400" dirty="0"/>
              <a:t> (’gato’)            </a:t>
            </a:r>
          </a:p>
          <a:p>
            <a:r>
              <a:rPr lang="pt-BR" sz="2400" dirty="0"/>
              <a:t>print(‘resultado : ‘,</a:t>
            </a:r>
            <a:r>
              <a:rPr lang="pt-BR" sz="2400" dirty="0" err="1"/>
              <a:t>quant_de_ocorrências</a:t>
            </a:r>
            <a:r>
              <a:rPr lang="pt-BR" sz="2400" dirty="0"/>
              <a:t>)            resultado : </a:t>
            </a:r>
            <a:r>
              <a:rPr lang="pt-BR" sz="2400" b="1" dirty="0"/>
              <a:t>3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860153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308D733-AE9C-44F2-43FA-8C985770D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51CE5A8-0E8C-69F4-F58D-E1FF4D8D7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400" b="1" dirty="0"/>
              <a:t>Cap05-Exem8-A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26CDD63-7EE5-5A2F-35DC-8013CEC69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19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E5F70C31-E452-300B-0309-3CE9F76705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Exemplo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EB46BFE-318B-72B6-B34C-8A25B59235DF}"/>
              </a:ext>
            </a:extLst>
          </p:cNvPr>
          <p:cNvSpPr txBox="1"/>
          <p:nvPr/>
        </p:nvSpPr>
        <p:spPr>
          <a:xfrm>
            <a:off x="476250" y="1353344"/>
            <a:ext cx="561975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1800" b="0" i="0" u="none" strike="noStrike" baseline="0" dirty="0">
                <a:latin typeface="CIDFont+F2"/>
              </a:rPr>
              <a:t>'''</a:t>
            </a:r>
          </a:p>
          <a:p>
            <a:pPr algn="l"/>
            <a:r>
              <a:rPr lang="pt-BR" sz="1800" b="0" i="0" u="none" strike="noStrike" baseline="0" dirty="0">
                <a:latin typeface="CIDFont+F2"/>
              </a:rPr>
              <a:t>Exemplo1</a:t>
            </a:r>
          </a:p>
          <a:p>
            <a:pPr algn="l"/>
            <a:r>
              <a:rPr lang="pt-BR" sz="1800" b="0" i="0" u="none" strike="noStrike" baseline="0" dirty="0">
                <a:latin typeface="CIDFont+F2"/>
              </a:rPr>
              <a:t>Programa para gerar a citação a partir de um nome</a:t>
            </a:r>
          </a:p>
          <a:p>
            <a:pPr algn="l"/>
            <a:r>
              <a:rPr lang="pt-BR" sz="1800" b="0" i="0" u="none" strike="noStrike" baseline="0" dirty="0">
                <a:latin typeface="CIDFont+F2"/>
              </a:rPr>
              <a:t>– Ex.: José Mane Silva  --&gt; </a:t>
            </a:r>
            <a:r>
              <a:rPr lang="pt-BR" sz="1800" b="1" i="0" u="none" strike="noStrike" baseline="0" dirty="0">
                <a:latin typeface="CIDFont+F2"/>
              </a:rPr>
              <a:t>SILVA, J. </a:t>
            </a:r>
            <a:r>
              <a:rPr lang="pt-BR" b="1" dirty="0">
                <a:latin typeface="CIDFont+F2"/>
              </a:rPr>
              <a:t>M</a:t>
            </a:r>
            <a:r>
              <a:rPr lang="pt-BR" sz="1800" b="1" i="0" u="none" strike="noStrike" baseline="0" dirty="0">
                <a:latin typeface="CIDFont+F2"/>
              </a:rPr>
              <a:t>.</a:t>
            </a:r>
          </a:p>
          <a:p>
            <a:pPr algn="l"/>
            <a:r>
              <a:rPr lang="pt-BR" sz="1800" b="0" i="0" u="none" strike="noStrike" baseline="0" dirty="0">
                <a:latin typeface="CIDFont+F2"/>
              </a:rPr>
              <a:t>'''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E6411F1-CD01-56E6-BDBF-39AE88C25D3D}"/>
              </a:ext>
            </a:extLst>
          </p:cNvPr>
          <p:cNvSpPr txBox="1"/>
          <p:nvPr/>
        </p:nvSpPr>
        <p:spPr>
          <a:xfrm>
            <a:off x="316522" y="2856062"/>
            <a:ext cx="11284927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000" b="0" i="0" u="none" strike="noStrike" baseline="0" dirty="0">
                <a:latin typeface="CIDFont+F2"/>
              </a:rPr>
              <a:t>Nome = input('Entre com um nome completo: ').strip()</a:t>
            </a:r>
          </a:p>
          <a:p>
            <a:pPr algn="l"/>
            <a:r>
              <a:rPr lang="pt-BR" sz="2000" b="0" i="0" u="none" strike="noStrike" baseline="0" dirty="0">
                <a:latin typeface="CIDFont+F2"/>
              </a:rPr>
              <a:t>iniciais = ‘’                                                                                   #  cria uma </a:t>
            </a:r>
            <a:r>
              <a:rPr lang="pt-BR" sz="2000" b="0" i="0" u="none" strike="noStrike" baseline="0" dirty="0" err="1">
                <a:latin typeface="CIDFont+F2"/>
              </a:rPr>
              <a:t>string</a:t>
            </a:r>
            <a:r>
              <a:rPr lang="pt-BR" sz="2000" b="0" i="0" u="none" strike="noStrike" baseline="0" dirty="0">
                <a:latin typeface="CIDFont+F2"/>
              </a:rPr>
              <a:t> vazia</a:t>
            </a:r>
          </a:p>
          <a:p>
            <a:pPr algn="l"/>
            <a:r>
              <a:rPr lang="pt-BR" sz="2000" b="0" i="0" u="none" strike="noStrike" baseline="0" dirty="0">
                <a:latin typeface="CIDFont+F2"/>
              </a:rPr>
              <a:t>inicio = 0                                                                                     #  posição inicial</a:t>
            </a:r>
          </a:p>
          <a:p>
            <a:pPr marL="6000750" indent="-6000750" algn="l"/>
            <a:r>
              <a:rPr lang="pt-BR" sz="2000" b="0" i="0" u="none" strike="noStrike" baseline="0" dirty="0">
                <a:latin typeface="CIDFont+F2"/>
              </a:rPr>
              <a:t>fim = </a:t>
            </a:r>
            <a:r>
              <a:rPr lang="pt-BR" sz="2000" b="0" i="0" u="none" strike="noStrike" baseline="0" dirty="0" err="1">
                <a:latin typeface="CIDFont+F2"/>
              </a:rPr>
              <a:t>nome.find</a:t>
            </a:r>
            <a:r>
              <a:rPr lang="pt-BR" sz="2000" b="0" i="0" u="none" strike="noStrike" baseline="0" dirty="0">
                <a:latin typeface="CIDFont+F2"/>
              </a:rPr>
              <a:t>(' ', inicio)                                                       #  vai encontrar a posição do primeiro espaço   encontrado dentro da </a:t>
            </a:r>
            <a:r>
              <a:rPr lang="pt-BR" sz="2000" b="0" i="0" u="none" strike="noStrike" baseline="0" dirty="0" err="1">
                <a:latin typeface="CIDFont+F2"/>
              </a:rPr>
              <a:t>string</a:t>
            </a:r>
            <a:r>
              <a:rPr lang="pt-BR" sz="2000" b="0" i="0" u="none" strike="noStrike" baseline="0" dirty="0">
                <a:latin typeface="CIDFont+F2"/>
              </a:rPr>
              <a:t> nome</a:t>
            </a:r>
          </a:p>
          <a:p>
            <a:pPr algn="l"/>
            <a:r>
              <a:rPr lang="pt-BR" sz="2000" b="0" i="0" u="none" strike="noStrike" baseline="0" dirty="0" err="1">
                <a:latin typeface="CIDFont+F2"/>
              </a:rPr>
              <a:t>while</a:t>
            </a:r>
            <a:r>
              <a:rPr lang="pt-BR" sz="2000" b="0" i="0" u="none" strike="noStrike" baseline="0" dirty="0">
                <a:latin typeface="CIDFont+F2"/>
              </a:rPr>
              <a:t> fim != -1:                                                                          #  enquanto </a:t>
            </a:r>
            <a:r>
              <a:rPr lang="pt-BR" sz="2000" b="0" i="0" u="none" strike="noStrike" baseline="0" dirty="0" err="1">
                <a:latin typeface="CIDFont+F2"/>
              </a:rPr>
              <a:t>substring</a:t>
            </a:r>
            <a:r>
              <a:rPr lang="pt-BR" sz="2000" b="0" i="0" u="none" strike="noStrike" baseline="0" dirty="0">
                <a:latin typeface="CIDFont+F2"/>
              </a:rPr>
              <a:t> não for encontrada</a:t>
            </a:r>
          </a:p>
          <a:p>
            <a:pPr algn="l"/>
            <a:r>
              <a:rPr lang="pt-BR" sz="2000" b="0" i="0" u="none" strike="noStrike" baseline="0" dirty="0">
                <a:latin typeface="CIDFont+F2"/>
              </a:rPr>
              <a:t>     iniciais += nome[inicio] + '. ‘</a:t>
            </a:r>
          </a:p>
          <a:p>
            <a:pPr algn="l"/>
            <a:r>
              <a:rPr lang="pt-BR" sz="2000" b="0" i="0" u="none" strike="noStrike" baseline="0" dirty="0">
                <a:latin typeface="CIDFont+F2"/>
              </a:rPr>
              <a:t>     inicio = fim + 1                                                                      #  nova posição inicial</a:t>
            </a:r>
          </a:p>
          <a:p>
            <a:pPr algn="l"/>
            <a:r>
              <a:rPr lang="pt-BR" sz="2000" b="0" i="0" u="none" strike="noStrike" baseline="0" dirty="0">
                <a:latin typeface="CIDFont+F2"/>
              </a:rPr>
              <a:t>     fim = </a:t>
            </a:r>
            <a:r>
              <a:rPr lang="pt-BR" sz="2000" b="0" i="0" u="none" strike="noStrike" baseline="0" dirty="0" err="1">
                <a:latin typeface="CIDFont+F2"/>
              </a:rPr>
              <a:t>nome.find</a:t>
            </a:r>
            <a:r>
              <a:rPr lang="pt-BR" sz="2000" b="0" i="0" u="none" strike="noStrike" baseline="0" dirty="0">
                <a:latin typeface="CIDFont+F2"/>
              </a:rPr>
              <a:t>(' ', inicio)</a:t>
            </a:r>
          </a:p>
          <a:p>
            <a:pPr algn="l"/>
            <a:r>
              <a:rPr lang="pt-BR" sz="2000" b="0" i="0" u="none" strike="noStrike" baseline="0" dirty="0">
                <a:latin typeface="CIDFont+F2"/>
              </a:rPr>
              <a:t>sobrenome = nome[</a:t>
            </a:r>
            <a:r>
              <a:rPr lang="pt-BR" sz="2000" b="0" i="0" u="none" strike="noStrike" baseline="0" dirty="0" err="1">
                <a:latin typeface="CIDFont+F2"/>
              </a:rPr>
              <a:t>inicio:len</a:t>
            </a:r>
            <a:r>
              <a:rPr lang="pt-BR" sz="2000" b="0" i="0" u="none" strike="noStrike" baseline="0" dirty="0">
                <a:latin typeface="CIDFont+F2"/>
              </a:rPr>
              <a:t>(nome)].</a:t>
            </a:r>
            <a:r>
              <a:rPr lang="pt-BR" sz="2000" b="0" i="0" u="none" strike="noStrike" baseline="0" dirty="0" err="1">
                <a:latin typeface="CIDFont+F2"/>
              </a:rPr>
              <a:t>upper</a:t>
            </a:r>
            <a:r>
              <a:rPr lang="pt-BR" sz="2000" b="0" i="0" u="none" strike="noStrike" baseline="0" dirty="0">
                <a:latin typeface="CIDFont+F2"/>
              </a:rPr>
              <a:t>()                   #  transforma o ultimo sobrenome em maiúsculas</a:t>
            </a:r>
          </a:p>
          <a:p>
            <a:pPr algn="l"/>
            <a:r>
              <a:rPr lang="pt-BR" sz="2000" b="0" i="0" u="none" strike="noStrike" baseline="0" dirty="0">
                <a:latin typeface="CIDFont+F2"/>
              </a:rPr>
              <a:t>print(sobrenome + ', ' + </a:t>
            </a:r>
            <a:r>
              <a:rPr lang="pt-BR" sz="2000" b="0" i="0" u="none" strike="noStrike" baseline="0" dirty="0" err="1">
                <a:latin typeface="CIDFont+F2"/>
              </a:rPr>
              <a:t>iniciais.upper</a:t>
            </a:r>
            <a:r>
              <a:rPr lang="pt-BR" sz="2000" b="0" i="0" u="none" strike="noStrike" baseline="0" dirty="0">
                <a:latin typeface="CIDFont+F2"/>
              </a:rPr>
              <a:t>().strip())</a:t>
            </a:r>
            <a:endParaRPr lang="pt-BR" sz="20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0288D27-9FD6-D68D-05C5-13487295F338}"/>
              </a:ext>
            </a:extLst>
          </p:cNvPr>
          <p:cNvSpPr txBox="1"/>
          <p:nvPr/>
        </p:nvSpPr>
        <p:spPr>
          <a:xfrm>
            <a:off x="6759819" y="1998017"/>
            <a:ext cx="51930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solidFill>
                  <a:srgbClr val="FF0000"/>
                </a:solidFill>
              </a:rPr>
              <a:t>Nome </a:t>
            </a:r>
            <a:r>
              <a:rPr lang="pt-BR" sz="2400" dirty="0"/>
              <a:t>                   </a:t>
            </a:r>
            <a:r>
              <a:rPr lang="pt-BR" sz="2400" b="1" dirty="0"/>
              <a:t>‘José Mané Silva’</a:t>
            </a:r>
          </a:p>
        </p:txBody>
      </p:sp>
      <p:cxnSp>
        <p:nvCxnSpPr>
          <p:cNvPr id="12" name="Conector de Seta Reta 11">
            <a:extLst>
              <a:ext uri="{FF2B5EF4-FFF2-40B4-BE49-F238E27FC236}">
                <a16:creationId xmlns:a16="http://schemas.microsoft.com/office/drawing/2014/main" id="{999E3FCE-11F7-15EF-E778-5AABD6C4644D}"/>
              </a:ext>
            </a:extLst>
          </p:cNvPr>
          <p:cNvCxnSpPr/>
          <p:nvPr/>
        </p:nvCxnSpPr>
        <p:spPr>
          <a:xfrm>
            <a:off x="8055219" y="2228850"/>
            <a:ext cx="650631" cy="0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9322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2088EF8-68C3-3E21-45A5-2B3F8DCEE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8358924-4E64-F6D3-C204-32F62A0C2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5C6B3BF-6BE9-8096-C7C9-8B55EF263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20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6D242AD6-11FC-EFF3-64ED-42D59E670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Método split( )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DA0D80A-E11E-A218-0C96-F636AB9C7166}"/>
              </a:ext>
            </a:extLst>
          </p:cNvPr>
          <p:cNvSpPr txBox="1"/>
          <p:nvPr/>
        </p:nvSpPr>
        <p:spPr>
          <a:xfrm>
            <a:off x="800100" y="1674674"/>
            <a:ext cx="105918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4000" b="1" i="0" u="none" strike="noStrike" baseline="0" dirty="0" err="1">
                <a:solidFill>
                  <a:srgbClr val="000000"/>
                </a:solidFill>
                <a:latin typeface="CIDFont+F2"/>
              </a:rPr>
              <a:t>string</a:t>
            </a:r>
            <a:r>
              <a:rPr lang="pt-BR" sz="4000" b="1" i="0" u="none" strike="noStrike" baseline="0" dirty="0" err="1">
                <a:solidFill>
                  <a:srgbClr val="FF0000"/>
                </a:solidFill>
                <a:latin typeface="CIDFont+F2"/>
              </a:rPr>
              <a:t>.split</a:t>
            </a:r>
            <a:r>
              <a:rPr lang="pt-BR" sz="4000" b="1" i="0" u="none" strike="noStrike" baseline="0" dirty="0">
                <a:solidFill>
                  <a:srgbClr val="FF0000"/>
                </a:solidFill>
                <a:latin typeface="CIDFont+F2"/>
              </a:rPr>
              <a:t>(separador)</a:t>
            </a:r>
          </a:p>
          <a:p>
            <a:pPr algn="l"/>
            <a:endParaRPr lang="pt-BR" sz="3200" b="0" i="0" u="none" strike="noStrike" baseline="0" dirty="0">
              <a:solidFill>
                <a:srgbClr val="000000"/>
              </a:solidFill>
              <a:latin typeface="CIDFont+F2"/>
            </a:endParaRPr>
          </a:p>
          <a:p>
            <a:pPr marL="990600" indent="-457200" algn="just">
              <a:buFont typeface="Arial" panose="020B0604020202020204" pitchFamily="34" charset="0"/>
              <a:buChar char="•"/>
            </a:pPr>
            <a:r>
              <a:rPr lang="pt-BR" sz="3200" b="0" i="0" u="none" strike="noStrike" baseline="0" dirty="0">
                <a:solidFill>
                  <a:srgbClr val="464653"/>
                </a:solidFill>
                <a:latin typeface="CIDFont+F2"/>
              </a:rPr>
              <a:t>Separa a </a:t>
            </a:r>
            <a:r>
              <a:rPr lang="pt-BR" sz="3200" b="0" i="0" u="none" strike="noStrike" baseline="0" dirty="0" err="1">
                <a:solidFill>
                  <a:srgbClr val="464653"/>
                </a:solidFill>
                <a:latin typeface="CIDFont+F2"/>
              </a:rPr>
              <a:t>string</a:t>
            </a:r>
            <a:r>
              <a:rPr lang="pt-BR" sz="3200" b="0" i="0" u="none" strike="noStrike" baseline="0" dirty="0">
                <a:solidFill>
                  <a:srgbClr val="464653"/>
                </a:solidFill>
                <a:latin typeface="CIDFont+F2"/>
              </a:rPr>
              <a:t> em "pedaços" que aparecem antes e depois do separador. Se o separador não for especificado, é usado espaços em branco, </a:t>
            </a:r>
            <a:r>
              <a:rPr lang="pt-BR" sz="3200" b="0" i="0" u="none" strike="noStrike" baseline="0" dirty="0" err="1">
                <a:solidFill>
                  <a:srgbClr val="464653"/>
                </a:solidFill>
                <a:latin typeface="CIDFont+F2"/>
              </a:rPr>
              <a:t>tabs</a:t>
            </a:r>
            <a:r>
              <a:rPr lang="pt-BR" sz="3200" b="0" i="0" u="none" strike="noStrike" baseline="0" dirty="0">
                <a:solidFill>
                  <a:srgbClr val="464653"/>
                </a:solidFill>
                <a:latin typeface="CIDFont+F2"/>
              </a:rPr>
              <a:t> e quebras de linha como separador</a:t>
            </a:r>
          </a:p>
          <a:p>
            <a:pPr algn="l"/>
            <a:endParaRPr lang="pt-BR" sz="3200" b="0" i="0" u="none" strike="noStrike" baseline="0" dirty="0">
              <a:solidFill>
                <a:srgbClr val="464653"/>
              </a:solidFill>
              <a:latin typeface="CIDFont+F2"/>
            </a:endParaRPr>
          </a:p>
          <a:p>
            <a:pPr marL="914400" indent="-457200" algn="l">
              <a:buFont typeface="Arial" panose="020B0604020202020204" pitchFamily="34" charset="0"/>
              <a:buChar char="•"/>
              <a:tabLst>
                <a:tab pos="266700" algn="l"/>
              </a:tabLst>
            </a:pPr>
            <a:r>
              <a:rPr lang="pt-BR" sz="3200" b="0" i="0" u="none" strike="noStrike" baseline="0" dirty="0">
                <a:solidFill>
                  <a:srgbClr val="464653"/>
                </a:solidFill>
                <a:latin typeface="CIDFont+F2"/>
              </a:rPr>
              <a:t>Útil para ler várias entradas de uma única vez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560516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9B65165-769E-B75D-4C23-3946EA929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F022308-01AA-08F0-66F4-5B237079C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400" b="1" dirty="0"/>
              <a:t>Cap05-Exem-09 - Cap05-Exem-10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77ADA6-0604-1463-DDD6-935A23A55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21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D4F0664-FC3D-897A-5CA7-A10BBCBBA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Método split( ) - Exemplos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29F211B-DE61-AD66-168F-57F664D1B651}"/>
              </a:ext>
            </a:extLst>
          </p:cNvPr>
          <p:cNvSpPr txBox="1"/>
          <p:nvPr/>
        </p:nvSpPr>
        <p:spPr>
          <a:xfrm>
            <a:off x="216618" y="1805285"/>
            <a:ext cx="6735232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0" i="0" u="none" strike="noStrike" baseline="0" dirty="0">
                <a:latin typeface="CIDFont+F2"/>
              </a:rPr>
              <a:t>x, y = input("Digite dois valores: ").split()</a:t>
            </a:r>
          </a:p>
          <a:p>
            <a:pPr algn="l"/>
            <a:r>
              <a:rPr lang="pt-BR" sz="2800" b="0" i="0" u="none" strike="noStrike" baseline="0" dirty="0">
                <a:latin typeface="CIDFont+F2"/>
              </a:rPr>
              <a:t>print(x)</a:t>
            </a:r>
          </a:p>
          <a:p>
            <a:pPr algn="l"/>
            <a:r>
              <a:rPr lang="pt-BR" sz="2800" b="0" i="0" u="none" strike="noStrike" baseline="0" dirty="0">
                <a:latin typeface="CIDFont+F2"/>
              </a:rPr>
              <a:t>print(y)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79059A3-FDDB-7065-38F4-277E0765E25C}"/>
              </a:ext>
            </a:extLst>
          </p:cNvPr>
          <p:cNvSpPr txBox="1"/>
          <p:nvPr/>
        </p:nvSpPr>
        <p:spPr>
          <a:xfrm>
            <a:off x="216619" y="3953116"/>
            <a:ext cx="742718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0" i="0" u="none" strike="noStrike" baseline="0" dirty="0">
                <a:latin typeface="CIDFont+F2"/>
              </a:rPr>
              <a:t>dia, </a:t>
            </a:r>
            <a:r>
              <a:rPr lang="pt-BR" sz="2800" b="0" i="0" u="none" strike="noStrike" baseline="0" dirty="0" err="1">
                <a:latin typeface="CIDFont+F2"/>
              </a:rPr>
              <a:t>mes</a:t>
            </a:r>
            <a:r>
              <a:rPr lang="pt-BR" sz="2800" b="0" i="0" u="none" strike="noStrike" baseline="0" dirty="0">
                <a:latin typeface="CIDFont+F2"/>
              </a:rPr>
              <a:t>, ano = input("Digite uma data:").split("/")</a:t>
            </a:r>
          </a:p>
          <a:p>
            <a:pPr algn="l"/>
            <a:r>
              <a:rPr lang="pt-BR" sz="2800" b="0" i="0" u="none" strike="noStrike" baseline="0" dirty="0">
                <a:latin typeface="CIDFont+F2"/>
              </a:rPr>
              <a:t>print(dia)</a:t>
            </a:r>
          </a:p>
          <a:p>
            <a:pPr algn="l"/>
            <a:r>
              <a:rPr lang="pt-BR" sz="2800" b="0" i="0" u="none" strike="noStrike" baseline="0" dirty="0">
                <a:latin typeface="CIDFont+F2"/>
              </a:rPr>
              <a:t>print(mes)</a:t>
            </a:r>
          </a:p>
          <a:p>
            <a:pPr algn="l"/>
            <a:r>
              <a:rPr lang="pt-BR" sz="2800" b="0" i="0" u="none" strike="noStrike" baseline="0" dirty="0">
                <a:latin typeface="CIDFont+F2"/>
              </a:rPr>
              <a:t>print(ano)</a:t>
            </a:r>
            <a:endParaRPr lang="pt-BR" sz="28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194461D-2A85-8F1A-D3F8-18975CE763FC}"/>
              </a:ext>
            </a:extLst>
          </p:cNvPr>
          <p:cNvSpPr txBox="1"/>
          <p:nvPr/>
        </p:nvSpPr>
        <p:spPr>
          <a:xfrm>
            <a:off x="8339143" y="1897617"/>
            <a:ext cx="3636218" cy="1200329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l"/>
            <a:r>
              <a:rPr lang="pt-BR" sz="2400" b="1" i="0" u="none" strike="noStrike" baseline="0" dirty="0">
                <a:solidFill>
                  <a:schemeClr val="tx2">
                    <a:lumMod val="90000"/>
                    <a:lumOff val="10000"/>
                  </a:schemeClr>
                </a:solidFill>
                <a:latin typeface="CIDFont+F2"/>
              </a:rPr>
              <a:t>Digite dois valores: 10 20</a:t>
            </a:r>
          </a:p>
          <a:p>
            <a:pPr algn="l"/>
            <a:r>
              <a:rPr lang="pt-BR" sz="2400" b="1" i="0" u="none" strike="noStrike" baseline="0" dirty="0">
                <a:solidFill>
                  <a:schemeClr val="tx2">
                    <a:lumMod val="90000"/>
                    <a:lumOff val="10000"/>
                  </a:schemeClr>
                </a:solidFill>
                <a:latin typeface="CIDFont+F2"/>
              </a:rPr>
              <a:t>10</a:t>
            </a:r>
          </a:p>
          <a:p>
            <a:pPr algn="l"/>
            <a:r>
              <a:rPr lang="pt-BR" sz="2400" b="1" i="0" u="none" strike="noStrike" baseline="0" dirty="0">
                <a:solidFill>
                  <a:schemeClr val="tx2">
                    <a:lumMod val="90000"/>
                    <a:lumOff val="10000"/>
                  </a:schemeClr>
                </a:solidFill>
                <a:latin typeface="CIDFont+F2"/>
              </a:rPr>
              <a:t>20</a:t>
            </a:r>
            <a:endParaRPr lang="pt-BR" sz="24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C948FE3-B394-36CF-689D-15C58216A264}"/>
              </a:ext>
            </a:extLst>
          </p:cNvPr>
          <p:cNvSpPr txBox="1"/>
          <p:nvPr/>
        </p:nvSpPr>
        <p:spPr>
          <a:xfrm>
            <a:off x="8167541" y="3867388"/>
            <a:ext cx="3894699" cy="201593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l"/>
            <a:r>
              <a:rPr lang="pt-BR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IDFont+F2"/>
              </a:rPr>
              <a:t>Digite uma data:31/05/2021</a:t>
            </a:r>
          </a:p>
          <a:p>
            <a:pPr algn="l"/>
            <a:endParaRPr lang="pt-BR" sz="1100" b="1" dirty="0">
              <a:solidFill>
                <a:schemeClr val="tx2">
                  <a:lumMod val="90000"/>
                  <a:lumOff val="10000"/>
                </a:schemeClr>
              </a:solidFill>
              <a:latin typeface="CIDFont+F2"/>
            </a:endParaRPr>
          </a:p>
          <a:p>
            <a:pPr algn="l"/>
            <a:r>
              <a:rPr lang="pt-BR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IDFont+F2"/>
              </a:rPr>
              <a:t>31</a:t>
            </a:r>
          </a:p>
          <a:p>
            <a:pPr algn="l"/>
            <a:endParaRPr lang="pt-BR" sz="1000" b="1" dirty="0">
              <a:solidFill>
                <a:schemeClr val="tx2">
                  <a:lumMod val="90000"/>
                  <a:lumOff val="10000"/>
                </a:schemeClr>
              </a:solidFill>
              <a:latin typeface="CIDFont+F2"/>
            </a:endParaRPr>
          </a:p>
          <a:p>
            <a:pPr algn="l"/>
            <a:r>
              <a:rPr lang="pt-BR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IDFont+F2"/>
              </a:rPr>
              <a:t>05</a:t>
            </a:r>
          </a:p>
          <a:p>
            <a:pPr algn="l"/>
            <a:endParaRPr lang="pt-BR" sz="800" b="1" dirty="0">
              <a:solidFill>
                <a:schemeClr val="tx2">
                  <a:lumMod val="90000"/>
                  <a:lumOff val="10000"/>
                </a:schemeClr>
              </a:solidFill>
              <a:latin typeface="CIDFont+F2"/>
            </a:endParaRPr>
          </a:p>
          <a:p>
            <a:pPr algn="l"/>
            <a:r>
              <a:rPr lang="pt-BR" sz="2400" b="1" dirty="0">
                <a:solidFill>
                  <a:schemeClr val="tx2">
                    <a:lumMod val="90000"/>
                    <a:lumOff val="10000"/>
                  </a:schemeClr>
                </a:solidFill>
                <a:latin typeface="CIDFont+F2"/>
              </a:rPr>
              <a:t>2021</a:t>
            </a:r>
          </a:p>
        </p:txBody>
      </p:sp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3F322B5D-B450-8324-0666-EA81079399DF}"/>
              </a:ext>
            </a:extLst>
          </p:cNvPr>
          <p:cNvSpPr/>
          <p:nvPr/>
        </p:nvSpPr>
        <p:spPr>
          <a:xfrm>
            <a:off x="6200776" y="1954768"/>
            <a:ext cx="1966766" cy="26105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Seta: para a Esquerda 7">
            <a:extLst>
              <a:ext uri="{FF2B5EF4-FFF2-40B4-BE49-F238E27FC236}">
                <a16:creationId xmlns:a16="http://schemas.microsoft.com/office/drawing/2014/main" id="{AA82DF73-65A8-5E0B-4FB9-02F78FDD903A}"/>
              </a:ext>
            </a:extLst>
          </p:cNvPr>
          <p:cNvSpPr/>
          <p:nvPr/>
        </p:nvSpPr>
        <p:spPr>
          <a:xfrm>
            <a:off x="1448972" y="2386007"/>
            <a:ext cx="6718569" cy="24550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: para a Esquerda 11">
            <a:extLst>
              <a:ext uri="{FF2B5EF4-FFF2-40B4-BE49-F238E27FC236}">
                <a16:creationId xmlns:a16="http://schemas.microsoft.com/office/drawing/2014/main" id="{98F63939-0807-B76B-E31A-AD8E2C8F8098}"/>
              </a:ext>
            </a:extLst>
          </p:cNvPr>
          <p:cNvSpPr/>
          <p:nvPr/>
        </p:nvSpPr>
        <p:spPr>
          <a:xfrm>
            <a:off x="1442809" y="2801702"/>
            <a:ext cx="6718569" cy="24550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Seta: para a Esquerda 12">
            <a:extLst>
              <a:ext uri="{FF2B5EF4-FFF2-40B4-BE49-F238E27FC236}">
                <a16:creationId xmlns:a16="http://schemas.microsoft.com/office/drawing/2014/main" id="{BBD38A2B-3A43-2F18-F465-F8CF482313A5}"/>
              </a:ext>
            </a:extLst>
          </p:cNvPr>
          <p:cNvSpPr/>
          <p:nvPr/>
        </p:nvSpPr>
        <p:spPr>
          <a:xfrm>
            <a:off x="7529512" y="4036208"/>
            <a:ext cx="533253" cy="24550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Seta: para a Esquerda 13">
            <a:extLst>
              <a:ext uri="{FF2B5EF4-FFF2-40B4-BE49-F238E27FC236}">
                <a16:creationId xmlns:a16="http://schemas.microsoft.com/office/drawing/2014/main" id="{1545AB72-525A-F430-FE4D-B493979CE938}"/>
              </a:ext>
            </a:extLst>
          </p:cNvPr>
          <p:cNvSpPr/>
          <p:nvPr/>
        </p:nvSpPr>
        <p:spPr>
          <a:xfrm>
            <a:off x="1857373" y="4506726"/>
            <a:ext cx="6229204" cy="245508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eta: para a Esquerda 14">
            <a:extLst>
              <a:ext uri="{FF2B5EF4-FFF2-40B4-BE49-F238E27FC236}">
                <a16:creationId xmlns:a16="http://schemas.microsoft.com/office/drawing/2014/main" id="{50D9D44A-C9E0-719A-ADEE-EB968FF935F3}"/>
              </a:ext>
            </a:extLst>
          </p:cNvPr>
          <p:cNvSpPr/>
          <p:nvPr/>
        </p:nvSpPr>
        <p:spPr>
          <a:xfrm>
            <a:off x="1885949" y="4987179"/>
            <a:ext cx="6229203" cy="26245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: para a Esquerda 15">
            <a:extLst>
              <a:ext uri="{FF2B5EF4-FFF2-40B4-BE49-F238E27FC236}">
                <a16:creationId xmlns:a16="http://schemas.microsoft.com/office/drawing/2014/main" id="{CCA1499C-A215-C156-0F88-E71F7DFC440D}"/>
              </a:ext>
            </a:extLst>
          </p:cNvPr>
          <p:cNvSpPr/>
          <p:nvPr/>
        </p:nvSpPr>
        <p:spPr>
          <a:xfrm>
            <a:off x="1885948" y="5451945"/>
            <a:ext cx="6229203" cy="26245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476250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6" grpId="0" animBg="1"/>
      <p:bldP spid="8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9B65165-769E-B75D-4C23-3946EA929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F022308-01AA-08F0-66F4-5B237079C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400" b="1" dirty="0"/>
              <a:t>Cap05-Exem-11</a:t>
            </a:r>
            <a:endParaRPr lang="pt-BR" sz="14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877ADA6-0604-1463-DDD6-935A23A55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22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D4F0664-FC3D-897A-5CA7-A10BBCBBA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Método split( ) - Exemplos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29F211B-DE61-AD66-168F-57F664D1B651}"/>
              </a:ext>
            </a:extLst>
          </p:cNvPr>
          <p:cNvSpPr txBox="1"/>
          <p:nvPr/>
        </p:nvSpPr>
        <p:spPr>
          <a:xfrm>
            <a:off x="528112" y="2044005"/>
            <a:ext cx="1055136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800" b="0" i="0" u="none" strike="noStrike" baseline="0" dirty="0">
                <a:latin typeface="CIDFont+F2"/>
              </a:rPr>
              <a:t>fila = input("Digite uma sequência de números separados por espaço: ")</a:t>
            </a:r>
          </a:p>
          <a:p>
            <a:pPr algn="l"/>
            <a:r>
              <a:rPr lang="en-US" sz="2800" b="0" i="0" u="none" strike="noStrike" baseline="0" dirty="0">
                <a:latin typeface="CIDFont+F2"/>
              </a:rPr>
              <a:t>for item in </a:t>
            </a:r>
            <a:r>
              <a:rPr lang="en-US" sz="2800" b="0" i="0" u="none" strike="noStrike" baseline="0" dirty="0" err="1">
                <a:latin typeface="CIDFont+F2"/>
              </a:rPr>
              <a:t>fila.split</a:t>
            </a:r>
            <a:r>
              <a:rPr lang="en-US" sz="2800" b="0" i="0" u="none" strike="noStrike" baseline="0" dirty="0">
                <a:latin typeface="CIDFont+F2"/>
              </a:rPr>
              <a:t>(" "):</a:t>
            </a:r>
          </a:p>
          <a:p>
            <a:pPr algn="l"/>
            <a:r>
              <a:rPr lang="pt-BR" sz="2800" b="0" i="0" u="none" strike="noStrike" baseline="0" dirty="0">
                <a:latin typeface="CIDFont+F2"/>
              </a:rPr>
              <a:t>     print(item)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C948FE3-B394-36CF-689D-15C58216A264}"/>
              </a:ext>
            </a:extLst>
          </p:cNvPr>
          <p:cNvSpPr txBox="1"/>
          <p:nvPr/>
        </p:nvSpPr>
        <p:spPr>
          <a:xfrm>
            <a:off x="2474000" y="3553847"/>
            <a:ext cx="8925065" cy="2677656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l"/>
            <a:r>
              <a:rPr lang="pt-BR" sz="2400" b="1" i="0" u="none" strike="noStrike" baseline="0" dirty="0">
                <a:latin typeface="CIDFont+F2"/>
              </a:rPr>
              <a:t>Digite uma sequência de números separados por espaço: 1 2 3 4 5 6</a:t>
            </a:r>
          </a:p>
          <a:p>
            <a:pPr algn="l"/>
            <a:r>
              <a:rPr lang="pt-BR" sz="2400" b="1" i="0" u="none" strike="noStrike" baseline="0" dirty="0">
                <a:latin typeface="CIDFont+F2"/>
              </a:rPr>
              <a:t>1</a:t>
            </a:r>
          </a:p>
          <a:p>
            <a:pPr algn="l"/>
            <a:r>
              <a:rPr lang="pt-BR" sz="2400" b="1" i="0" u="none" strike="noStrike" baseline="0" dirty="0">
                <a:latin typeface="CIDFont+F2"/>
              </a:rPr>
              <a:t>2</a:t>
            </a:r>
          </a:p>
          <a:p>
            <a:pPr algn="l"/>
            <a:r>
              <a:rPr lang="pt-BR" sz="2400" b="1" i="0" u="none" strike="noStrike" baseline="0" dirty="0">
                <a:latin typeface="CIDFont+F2"/>
              </a:rPr>
              <a:t>3</a:t>
            </a:r>
          </a:p>
          <a:p>
            <a:pPr algn="l"/>
            <a:r>
              <a:rPr lang="pt-BR" sz="2400" b="1" i="0" u="none" strike="noStrike" baseline="0" dirty="0">
                <a:latin typeface="CIDFont+F2"/>
              </a:rPr>
              <a:t>4</a:t>
            </a:r>
          </a:p>
          <a:p>
            <a:pPr algn="l"/>
            <a:r>
              <a:rPr lang="pt-BR" sz="2400" b="1" i="0" u="none" strike="noStrike" baseline="0" dirty="0">
                <a:latin typeface="CIDFont+F2"/>
              </a:rPr>
              <a:t>5</a:t>
            </a:r>
          </a:p>
          <a:p>
            <a:pPr algn="l"/>
            <a:r>
              <a:rPr lang="pt-BR" sz="2400" b="1" i="0" u="none" strike="noStrike" baseline="0" dirty="0">
                <a:latin typeface="CIDFont+F2"/>
              </a:rPr>
              <a:t>6</a:t>
            </a:r>
            <a:endParaRPr lang="pt-BR" sz="2400" b="1" dirty="0">
              <a:solidFill>
                <a:schemeClr val="tx2">
                  <a:lumMod val="90000"/>
                  <a:lumOff val="10000"/>
                </a:schemeClr>
              </a:solidFill>
              <a:latin typeface="CIDFont+F2"/>
            </a:endParaRPr>
          </a:p>
        </p:txBody>
      </p:sp>
    </p:spTree>
    <p:extLst>
      <p:ext uri="{BB962C8B-B14F-4D97-AF65-F5344CB8AC3E}">
        <p14:creationId xmlns:p14="http://schemas.microsoft.com/office/powerpoint/2010/main" val="24795070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CDF16FA-EB48-687D-875E-807B102FF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004C880-B89B-A399-5D37-F697A1304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F43BFA7-0061-CEC8-12AA-691C25197B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23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7DB76C1E-C1F6-F576-CFC8-53D4A27E6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Método </a:t>
            </a:r>
            <a:r>
              <a:rPr lang="pt-BR" b="1" i="1" u="none" strike="noStrike" baseline="0" dirty="0" err="1">
                <a:latin typeface="CIDFont+F1"/>
              </a:rPr>
              <a:t>partition</a:t>
            </a:r>
            <a:r>
              <a:rPr lang="pt-BR" b="1" i="1" u="none" strike="noStrike" baseline="0" dirty="0">
                <a:latin typeface="CIDFont+F1"/>
              </a:rPr>
              <a:t>( )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9B781E6-0BB6-5D5E-5D03-CCF04D31A20E}"/>
              </a:ext>
            </a:extLst>
          </p:cNvPr>
          <p:cNvSpPr txBox="1"/>
          <p:nvPr/>
        </p:nvSpPr>
        <p:spPr>
          <a:xfrm>
            <a:off x="609600" y="1847850"/>
            <a:ext cx="10934700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0" i="0" u="none" strike="noStrike" baseline="0" dirty="0">
                <a:latin typeface="CIDFont+F3"/>
              </a:rPr>
              <a:t>• </a:t>
            </a:r>
            <a:r>
              <a:rPr lang="pt-BR" sz="4000" b="1" dirty="0" err="1">
                <a:solidFill>
                  <a:srgbClr val="000000"/>
                </a:solidFill>
                <a:latin typeface="CIDFont+F2"/>
              </a:rPr>
              <a:t>string.</a:t>
            </a:r>
            <a:r>
              <a:rPr lang="pt-BR" sz="4000" b="1" dirty="0" err="1">
                <a:solidFill>
                  <a:srgbClr val="FF0000"/>
                </a:solidFill>
                <a:latin typeface="CIDFont+F2"/>
              </a:rPr>
              <a:t>partition</a:t>
            </a:r>
            <a:r>
              <a:rPr lang="pt-BR" sz="4000" b="1" dirty="0">
                <a:solidFill>
                  <a:srgbClr val="FF0000"/>
                </a:solidFill>
                <a:latin typeface="CIDFont+F2"/>
              </a:rPr>
              <a:t>(separador)</a:t>
            </a:r>
          </a:p>
          <a:p>
            <a:pPr algn="l"/>
            <a:endParaRPr lang="pt-BR" sz="2800" b="0" i="0" u="none" strike="noStrike" baseline="0" dirty="0">
              <a:latin typeface="CIDFont+F2"/>
            </a:endParaRPr>
          </a:p>
          <a:p>
            <a:pPr marL="266700" indent="-266700" algn="l"/>
            <a:r>
              <a:rPr lang="pt-BR" sz="2800" b="0" i="0" u="none" strike="noStrike" baseline="0" dirty="0">
                <a:latin typeface="CIDFont+F3"/>
              </a:rPr>
              <a:t>• </a:t>
            </a:r>
            <a:r>
              <a:rPr lang="pt-BR" sz="2800" b="0" i="0" u="none" strike="noStrike" baseline="0" dirty="0">
                <a:latin typeface="CIDFont+F2"/>
              </a:rPr>
              <a:t>Separa a </a:t>
            </a:r>
            <a:r>
              <a:rPr lang="pt-BR" sz="2800" b="0" i="0" u="none" strike="noStrike" baseline="0" dirty="0" err="1">
                <a:latin typeface="CIDFont+F2"/>
              </a:rPr>
              <a:t>string</a:t>
            </a:r>
            <a:r>
              <a:rPr lang="pt-BR" sz="2800" b="0" i="0" u="none" strike="noStrike" baseline="0" dirty="0">
                <a:latin typeface="CIDFont+F2"/>
              </a:rPr>
              <a:t> em três pedaços: o que vem antes da primeira ocorrência do separador, o separador e o que vem depois do separador</a:t>
            </a:r>
          </a:p>
          <a:p>
            <a:pPr algn="l"/>
            <a:endParaRPr lang="pt-BR" sz="2800" b="0" i="0" u="none" strike="noStrike" baseline="0" dirty="0">
              <a:latin typeface="CIDFont+F2"/>
            </a:endParaRPr>
          </a:p>
          <a:p>
            <a:pPr marL="266700" indent="-266700" algn="l"/>
            <a:r>
              <a:rPr lang="pt-BR" sz="2800" b="0" i="0" u="none" strike="noStrike" baseline="0" dirty="0">
                <a:latin typeface="CIDFont+F3"/>
              </a:rPr>
              <a:t>• </a:t>
            </a:r>
            <a:r>
              <a:rPr lang="pt-BR" sz="2800" b="0" i="0" u="none" strike="noStrike" baseline="0" dirty="0">
                <a:latin typeface="CIDFont+F2"/>
              </a:rPr>
              <a:t>Útil para ler várias entradas de uma única vez, quando não é possível (pela lógica do problema) usar o for para iterar sobre o split da entrada</a:t>
            </a: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214231554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DD2BB0D-4B91-61D7-0D62-324BDFFF6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4A947AC2-8129-0F7D-92B1-273D1FB69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400" b="1" dirty="0"/>
              <a:t>Cap05-Exem-12 – Cap05-Exem-13</a:t>
            </a:r>
            <a:endParaRPr lang="pt-BR" sz="14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0668180-6CCF-571F-78F2-77E4837CA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24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7924C31-BE35-F45C-9046-13AE6101D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Método </a:t>
            </a:r>
            <a:r>
              <a:rPr lang="pt-BR" b="1" i="1" u="none" strike="noStrike" baseline="0" dirty="0" err="1">
                <a:latin typeface="CIDFont+F1"/>
              </a:rPr>
              <a:t>partition</a:t>
            </a:r>
            <a:r>
              <a:rPr lang="pt-BR" b="1" i="1" u="none" strike="noStrike" baseline="0" dirty="0">
                <a:latin typeface="CIDFont+F1"/>
              </a:rPr>
              <a:t>( ) - Exemplos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97FD715-1390-8EC0-8440-C59297B715B0}"/>
              </a:ext>
            </a:extLst>
          </p:cNvPr>
          <p:cNvSpPr txBox="1"/>
          <p:nvPr/>
        </p:nvSpPr>
        <p:spPr>
          <a:xfrm>
            <a:off x="341285" y="1649734"/>
            <a:ext cx="763905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400" b="0" i="0" u="none" strike="noStrike" baseline="0" dirty="0">
                <a:latin typeface="CIDFont+F2"/>
              </a:rPr>
              <a:t>antes, </a:t>
            </a:r>
            <a:r>
              <a:rPr lang="pt-BR" sz="2400" b="0" i="0" u="none" strike="noStrike" baseline="0" dirty="0" err="1">
                <a:latin typeface="CIDFont+F2"/>
              </a:rPr>
              <a:t>sep</a:t>
            </a:r>
            <a:r>
              <a:rPr lang="pt-BR" sz="2400" b="0" i="0" u="none" strike="noStrike" baseline="0" dirty="0">
                <a:latin typeface="CIDFont+F2"/>
              </a:rPr>
              <a:t>, depois = input("Digite valores:").</a:t>
            </a:r>
            <a:r>
              <a:rPr lang="pt-BR" sz="2400" b="0" i="0" u="none" strike="noStrike" baseline="0" dirty="0" err="1">
                <a:latin typeface="CIDFont+F2"/>
              </a:rPr>
              <a:t>partition</a:t>
            </a:r>
            <a:r>
              <a:rPr lang="pt-BR" sz="2400" b="0" i="0" u="none" strike="noStrike" baseline="0" dirty="0">
                <a:latin typeface="CIDFont+F2"/>
              </a:rPr>
              <a:t>("-")</a:t>
            </a:r>
          </a:p>
          <a:p>
            <a:pPr algn="l"/>
            <a:r>
              <a:rPr lang="pt-BR" sz="2400" b="0" i="0" u="none" strike="noStrike" baseline="0" dirty="0">
                <a:latin typeface="CIDFont+F2"/>
              </a:rPr>
              <a:t>print(antes)</a:t>
            </a:r>
          </a:p>
          <a:p>
            <a:pPr algn="l"/>
            <a:r>
              <a:rPr lang="pt-BR" sz="2400" b="0" i="0" u="none" strike="noStrike" baseline="0" dirty="0">
                <a:latin typeface="CIDFont+F2"/>
              </a:rPr>
              <a:t>print(</a:t>
            </a:r>
            <a:r>
              <a:rPr lang="pt-BR" sz="2400" b="0" i="0" u="none" strike="noStrike" baseline="0" dirty="0" err="1">
                <a:latin typeface="CIDFont+F2"/>
              </a:rPr>
              <a:t>sep</a:t>
            </a:r>
            <a:r>
              <a:rPr lang="pt-BR" sz="2400" b="0" i="0" u="none" strike="noStrike" baseline="0" dirty="0">
                <a:latin typeface="CIDFont+F2"/>
              </a:rPr>
              <a:t>)</a:t>
            </a:r>
          </a:p>
          <a:p>
            <a:pPr algn="l"/>
            <a:r>
              <a:rPr lang="pt-BR" sz="2400" b="0" i="0" u="none" strike="noStrike" baseline="0" dirty="0">
                <a:latin typeface="CIDFont+F2"/>
              </a:rPr>
              <a:t>print(depois</a:t>
            </a:r>
            <a:r>
              <a:rPr lang="pt-BR" sz="1800" b="0" i="0" u="none" strike="noStrike" baseline="0" dirty="0">
                <a:latin typeface="CIDFont+F2"/>
              </a:rPr>
              <a:t>)</a:t>
            </a:r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1B1665FA-8378-4F6E-0FF0-612EAD6EB53F}"/>
              </a:ext>
            </a:extLst>
          </p:cNvPr>
          <p:cNvSpPr txBox="1"/>
          <p:nvPr/>
        </p:nvSpPr>
        <p:spPr>
          <a:xfrm>
            <a:off x="239151" y="3852749"/>
            <a:ext cx="784331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pt-BR" sz="2400" b="0" i="0" u="none" strike="noStrike" baseline="0" dirty="0">
                <a:latin typeface="CIDFont+F2"/>
              </a:rPr>
              <a:t>antes, </a:t>
            </a:r>
            <a:r>
              <a:rPr lang="pt-BR" sz="2400" b="0" i="0" u="none" strike="noStrike" baseline="0" dirty="0" err="1">
                <a:latin typeface="CIDFont+F2"/>
              </a:rPr>
              <a:t>sep</a:t>
            </a:r>
            <a:r>
              <a:rPr lang="pt-BR" sz="2400" b="0" i="0" u="none" strike="noStrike" baseline="0" dirty="0">
                <a:latin typeface="CIDFont+F2"/>
              </a:rPr>
              <a:t>, depois = input("Digite valores:").</a:t>
            </a:r>
            <a:r>
              <a:rPr lang="pt-BR" sz="2400" b="0" i="0" u="none" strike="noStrike" baseline="0" dirty="0" err="1">
                <a:latin typeface="CIDFont+F2"/>
              </a:rPr>
              <a:t>partition</a:t>
            </a:r>
            <a:r>
              <a:rPr lang="pt-BR" sz="2400" b="0" i="0" u="none" strike="noStrike" baseline="0" dirty="0">
                <a:latin typeface="CIDFont+F2"/>
              </a:rPr>
              <a:t>(" ")</a:t>
            </a:r>
          </a:p>
          <a:p>
            <a:pPr algn="l"/>
            <a:r>
              <a:rPr lang="pt-BR" sz="2400" b="0" i="0" u="none" strike="noStrike" baseline="0" dirty="0">
                <a:latin typeface="CIDFont+F2"/>
              </a:rPr>
              <a:t>print(antes)</a:t>
            </a:r>
          </a:p>
          <a:p>
            <a:pPr algn="l"/>
            <a:r>
              <a:rPr lang="pt-BR" sz="2400" b="0" i="0" u="none" strike="noStrike" baseline="0" dirty="0">
                <a:latin typeface="CIDFont+F2"/>
              </a:rPr>
              <a:t>print(</a:t>
            </a:r>
            <a:r>
              <a:rPr lang="pt-BR" sz="2400" b="0" i="0" u="none" strike="noStrike" baseline="0" dirty="0" err="1">
                <a:latin typeface="CIDFont+F2"/>
              </a:rPr>
              <a:t>sep</a:t>
            </a:r>
            <a:r>
              <a:rPr lang="pt-BR" sz="2400" b="0" i="0" u="none" strike="noStrike" baseline="0" dirty="0">
                <a:latin typeface="CIDFont+F2"/>
              </a:rPr>
              <a:t>)</a:t>
            </a:r>
          </a:p>
          <a:p>
            <a:pPr algn="l"/>
            <a:r>
              <a:rPr lang="pt-BR" sz="2400" b="0" i="0" u="none" strike="noStrike" baseline="0" dirty="0">
                <a:latin typeface="CIDFont+F2"/>
              </a:rPr>
              <a:t>print(depois)</a:t>
            </a:r>
            <a:endParaRPr lang="pt-BR" sz="24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E6F5EE9-E887-4C96-DEA0-F4C6B3F55B0C}"/>
              </a:ext>
            </a:extLst>
          </p:cNvPr>
          <p:cNvSpPr txBox="1"/>
          <p:nvPr/>
        </p:nvSpPr>
        <p:spPr>
          <a:xfrm>
            <a:off x="8082469" y="1685880"/>
            <a:ext cx="3941634" cy="156966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l"/>
            <a:r>
              <a:rPr lang="pt-BR" sz="2400" b="1" i="0" u="none" strike="noStrike" baseline="0" dirty="0">
                <a:latin typeface="CIDFont+F2"/>
              </a:rPr>
              <a:t>Digite valores:10-20-30-40-50</a:t>
            </a:r>
          </a:p>
          <a:p>
            <a:pPr algn="l"/>
            <a:r>
              <a:rPr lang="pt-BR" sz="2400" b="1" i="0" u="none" strike="noStrike" baseline="0" dirty="0">
                <a:latin typeface="CIDFont+F2"/>
              </a:rPr>
              <a:t>10</a:t>
            </a:r>
          </a:p>
          <a:p>
            <a:pPr algn="l"/>
            <a:r>
              <a:rPr lang="pt-BR" sz="2400" b="1" i="0" u="none" strike="noStrike" baseline="0" dirty="0">
                <a:latin typeface="CIDFont+F2"/>
              </a:rPr>
              <a:t>-</a:t>
            </a:r>
          </a:p>
          <a:p>
            <a:pPr algn="l"/>
            <a:r>
              <a:rPr lang="pt-BR" sz="2400" b="1" i="0" u="none" strike="noStrike" baseline="0" dirty="0">
                <a:latin typeface="CIDFont+F2"/>
              </a:rPr>
              <a:t>20-30-40-50</a:t>
            </a:r>
            <a:endParaRPr lang="pt-BR" sz="2400" b="1" i="0" u="none" strike="noStrike" baseline="0" dirty="0">
              <a:solidFill>
                <a:schemeClr val="tx2">
                  <a:lumMod val="90000"/>
                  <a:lumOff val="10000"/>
                </a:schemeClr>
              </a:solidFill>
              <a:latin typeface="CIDFont+F2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F4FE1F7F-EE0B-662D-7854-22B24FD8024C}"/>
              </a:ext>
            </a:extLst>
          </p:cNvPr>
          <p:cNvSpPr txBox="1"/>
          <p:nvPr/>
        </p:nvSpPr>
        <p:spPr>
          <a:xfrm>
            <a:off x="8082469" y="3845357"/>
            <a:ext cx="3941634" cy="1569660"/>
          </a:xfrm>
          <a:prstGeom prst="rect">
            <a:avLst/>
          </a:prstGeom>
          <a:solidFill>
            <a:srgbClr val="FFC000"/>
          </a:solidFill>
        </p:spPr>
        <p:txBody>
          <a:bodyPr wrap="square" rtlCol="0">
            <a:spAutoFit/>
          </a:bodyPr>
          <a:lstStyle/>
          <a:p>
            <a:pPr algn="l"/>
            <a:r>
              <a:rPr lang="pt-BR" sz="2400" b="1" i="0" u="none" strike="noStrike" baseline="0" dirty="0">
                <a:latin typeface="CIDFont+F2"/>
              </a:rPr>
              <a:t>Digite valores:10 20 30 40 50</a:t>
            </a:r>
          </a:p>
          <a:p>
            <a:pPr algn="l"/>
            <a:r>
              <a:rPr lang="pt-BR" sz="2400" b="1" i="0" u="none" strike="noStrike" baseline="0" dirty="0">
                <a:latin typeface="CIDFont+F2"/>
              </a:rPr>
              <a:t>10</a:t>
            </a:r>
          </a:p>
          <a:p>
            <a:pPr algn="l"/>
            <a:endParaRPr lang="pt-BR" sz="2400" b="1" i="0" u="none" strike="noStrike" baseline="0" dirty="0">
              <a:latin typeface="CIDFont+F2"/>
            </a:endParaRPr>
          </a:p>
          <a:p>
            <a:pPr algn="l"/>
            <a:r>
              <a:rPr lang="pt-BR" sz="2400" b="1" i="0" u="none" strike="noStrike" baseline="0" dirty="0">
                <a:latin typeface="CIDFont+F2"/>
              </a:rPr>
              <a:t>20 30 40 50</a:t>
            </a:r>
            <a:endParaRPr lang="pt-BR" sz="2400" b="1" dirty="0">
              <a:solidFill>
                <a:schemeClr val="tx2">
                  <a:lumMod val="90000"/>
                  <a:lumOff val="10000"/>
                </a:schemeClr>
              </a:solidFill>
            </a:endParaRPr>
          </a:p>
        </p:txBody>
      </p:sp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1484B99C-1561-B457-3B57-BF919BEADE45}"/>
              </a:ext>
            </a:extLst>
          </p:cNvPr>
          <p:cNvSpPr/>
          <p:nvPr/>
        </p:nvSpPr>
        <p:spPr>
          <a:xfrm>
            <a:off x="7486650" y="1814514"/>
            <a:ext cx="493685" cy="20076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Seta: para a Esquerda 11">
            <a:extLst>
              <a:ext uri="{FF2B5EF4-FFF2-40B4-BE49-F238E27FC236}">
                <a16:creationId xmlns:a16="http://schemas.microsoft.com/office/drawing/2014/main" id="{902B6F4E-BFEE-AEAA-10BC-A284E4C866F5}"/>
              </a:ext>
            </a:extLst>
          </p:cNvPr>
          <p:cNvSpPr/>
          <p:nvPr/>
        </p:nvSpPr>
        <p:spPr>
          <a:xfrm>
            <a:off x="2114550" y="2152528"/>
            <a:ext cx="5873695" cy="21629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Seta: para a Esquerda 12">
            <a:extLst>
              <a:ext uri="{FF2B5EF4-FFF2-40B4-BE49-F238E27FC236}">
                <a16:creationId xmlns:a16="http://schemas.microsoft.com/office/drawing/2014/main" id="{382B56C9-C940-BF9F-8FBD-AD13DA641F83}"/>
              </a:ext>
            </a:extLst>
          </p:cNvPr>
          <p:cNvSpPr/>
          <p:nvPr/>
        </p:nvSpPr>
        <p:spPr>
          <a:xfrm>
            <a:off x="2106640" y="2569586"/>
            <a:ext cx="5873695" cy="21629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Seta: para a Esquerda 13">
            <a:extLst>
              <a:ext uri="{FF2B5EF4-FFF2-40B4-BE49-F238E27FC236}">
                <a16:creationId xmlns:a16="http://schemas.microsoft.com/office/drawing/2014/main" id="{DC7B2A93-3AC8-9428-7887-A9FDDD9AE510}"/>
              </a:ext>
            </a:extLst>
          </p:cNvPr>
          <p:cNvSpPr/>
          <p:nvPr/>
        </p:nvSpPr>
        <p:spPr>
          <a:xfrm>
            <a:off x="2114550" y="2936176"/>
            <a:ext cx="5873695" cy="20076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Seta: para a Esquerda 14">
            <a:extLst>
              <a:ext uri="{FF2B5EF4-FFF2-40B4-BE49-F238E27FC236}">
                <a16:creationId xmlns:a16="http://schemas.microsoft.com/office/drawing/2014/main" id="{A2B2C4B8-EDCE-A271-7CC2-E07DC498EC95}"/>
              </a:ext>
            </a:extLst>
          </p:cNvPr>
          <p:cNvSpPr/>
          <p:nvPr/>
        </p:nvSpPr>
        <p:spPr>
          <a:xfrm>
            <a:off x="7494560" y="3985118"/>
            <a:ext cx="493685" cy="20076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Seta: para a Esquerda 15">
            <a:extLst>
              <a:ext uri="{FF2B5EF4-FFF2-40B4-BE49-F238E27FC236}">
                <a16:creationId xmlns:a16="http://schemas.microsoft.com/office/drawing/2014/main" id="{835877D6-0D7B-C5F3-6287-264AACCA5045}"/>
              </a:ext>
            </a:extLst>
          </p:cNvPr>
          <p:cNvSpPr/>
          <p:nvPr/>
        </p:nvSpPr>
        <p:spPr>
          <a:xfrm>
            <a:off x="2106639" y="4369102"/>
            <a:ext cx="5873695" cy="21629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Seta: para a Esquerda 16">
            <a:extLst>
              <a:ext uri="{FF2B5EF4-FFF2-40B4-BE49-F238E27FC236}">
                <a16:creationId xmlns:a16="http://schemas.microsoft.com/office/drawing/2014/main" id="{F6D7E84A-52E8-02CB-1BC6-1FA7BD382FE5}"/>
              </a:ext>
            </a:extLst>
          </p:cNvPr>
          <p:cNvSpPr/>
          <p:nvPr/>
        </p:nvSpPr>
        <p:spPr>
          <a:xfrm>
            <a:off x="2114550" y="4711085"/>
            <a:ext cx="5873695" cy="216297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Seta: para a Esquerda 17">
            <a:extLst>
              <a:ext uri="{FF2B5EF4-FFF2-40B4-BE49-F238E27FC236}">
                <a16:creationId xmlns:a16="http://schemas.microsoft.com/office/drawing/2014/main" id="{803F4FF0-3CEF-D3F5-BB5B-2E3BE10C89DF}"/>
              </a:ext>
            </a:extLst>
          </p:cNvPr>
          <p:cNvSpPr/>
          <p:nvPr/>
        </p:nvSpPr>
        <p:spPr>
          <a:xfrm>
            <a:off x="2106639" y="5132097"/>
            <a:ext cx="5873695" cy="200761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9615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3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3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3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3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3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3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3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3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  <p:bldP spid="10" grpId="0" animBg="1"/>
      <p:bldP spid="11" grpId="0" animBg="1"/>
      <p:bldP spid="6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78A38-D193-FDA7-9447-970565EE4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3D08072-2569-C6E7-CE8F-8D4E3C7E5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BF3E50A4-4424-D24F-99DC-12DB6CED9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BA3D5AA-2134-57DE-0E7C-7CB0528FE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25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51EEF87-8F65-D7A2-F167-278DD618F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Método </a:t>
            </a:r>
            <a:r>
              <a:rPr lang="pt-BR" b="1" i="1" u="none" strike="noStrike" baseline="0" dirty="0" err="1">
                <a:latin typeface="CIDFont+F1"/>
              </a:rPr>
              <a:t>replace</a:t>
            </a:r>
            <a:r>
              <a:rPr lang="pt-BR" b="1" i="1" u="none" strike="noStrike" baseline="0" dirty="0">
                <a:latin typeface="CIDFont+F1"/>
              </a:rPr>
              <a:t>( )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3CE7D5A-D8CF-B42F-C770-75F444911FF1}"/>
              </a:ext>
            </a:extLst>
          </p:cNvPr>
          <p:cNvSpPr txBox="1"/>
          <p:nvPr/>
        </p:nvSpPr>
        <p:spPr>
          <a:xfrm>
            <a:off x="581464" y="1566952"/>
            <a:ext cx="10934700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 err="1">
                <a:solidFill>
                  <a:srgbClr val="FF0000"/>
                </a:solidFill>
                <a:latin typeface="CIDFont+F2"/>
              </a:rPr>
              <a:t>string.replace</a:t>
            </a:r>
            <a:r>
              <a:rPr lang="pt-BR" sz="4000" b="1" dirty="0">
                <a:solidFill>
                  <a:srgbClr val="FF0000"/>
                </a:solidFill>
                <a:latin typeface="CIDFont+F2"/>
              </a:rPr>
              <a:t>(Valor velho, Valor novo, contador)</a:t>
            </a:r>
          </a:p>
          <a:p>
            <a:pPr algn="l"/>
            <a:endParaRPr lang="pt-BR" sz="2800" b="0" i="0" u="none" strike="noStrike" baseline="0" dirty="0">
              <a:latin typeface="CIDFont+F2"/>
            </a:endParaRPr>
          </a:p>
          <a:p>
            <a:pPr marL="266700" indent="-266700" algn="l"/>
            <a:r>
              <a:rPr lang="pt-BR" sz="2800" b="0" i="0" u="none" strike="noStrike" baseline="0" dirty="0">
                <a:latin typeface="CIDFont+F3"/>
              </a:rPr>
              <a:t>•  O método </a:t>
            </a:r>
            <a:r>
              <a:rPr lang="pt-BR" sz="2800" b="0" i="0" u="none" strike="noStrike" baseline="0" dirty="0" err="1">
                <a:latin typeface="CIDFont+F3"/>
              </a:rPr>
              <a:t>replace</a:t>
            </a:r>
            <a:r>
              <a:rPr lang="pt-BR" sz="2800" b="0" i="0" u="none" strike="noStrike" baseline="0" dirty="0">
                <a:latin typeface="CIDFont+F3"/>
              </a:rPr>
              <a:t> troca uma determinada string por outra em uma frase especificada. Ele troca todas ou um determinado número da string velha.</a:t>
            </a: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A2DD5665-BAA5-296A-91F4-6F22617844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625175"/>
              </p:ext>
            </p:extLst>
          </p:nvPr>
        </p:nvGraphicFramePr>
        <p:xfrm>
          <a:off x="815485" y="4052249"/>
          <a:ext cx="9895303" cy="1981200"/>
        </p:xfrm>
        <a:graphic>
          <a:graphicData uri="http://schemas.openxmlformats.org/drawingml/2006/table">
            <a:tbl>
              <a:tblPr/>
              <a:tblGrid>
                <a:gridCol w="1622079">
                  <a:extLst>
                    <a:ext uri="{9D8B030D-6E8A-4147-A177-3AD203B41FA5}">
                      <a16:colId xmlns:a16="http://schemas.microsoft.com/office/drawing/2014/main" val="1704138255"/>
                    </a:ext>
                  </a:extLst>
                </a:gridCol>
                <a:gridCol w="8273224">
                  <a:extLst>
                    <a:ext uri="{9D8B030D-6E8A-4147-A177-3AD203B41FA5}">
                      <a16:colId xmlns:a16="http://schemas.microsoft.com/office/drawing/2014/main" val="273194416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pt-BR" b="1" dirty="0">
                          <a:effectLst/>
                        </a:rPr>
                        <a:t>Parâmetro</a:t>
                      </a: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pt-BR" b="1" dirty="0">
                          <a:effectLst/>
                        </a:rPr>
                        <a:t>Descrição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753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pt-BR" i="1" dirty="0">
                          <a:effectLst/>
                        </a:rPr>
                        <a:t>Valor velho</a:t>
                      </a:r>
                      <a:endParaRPr lang="pt-BR" dirty="0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A string a ser </a:t>
                      </a:r>
                      <a:r>
                        <a:rPr lang="en-US" dirty="0" err="1">
                          <a:effectLst/>
                        </a:rPr>
                        <a:t>procurada</a:t>
                      </a:r>
                      <a:r>
                        <a:rPr lang="en-US" dirty="0">
                          <a:effectLst/>
                        </a:rPr>
                        <a:t> e </a:t>
                      </a:r>
                      <a:r>
                        <a:rPr lang="en-US" dirty="0" err="1">
                          <a:effectLst/>
                        </a:rPr>
                        <a:t>trocada</a:t>
                      </a:r>
                      <a:r>
                        <a:rPr lang="en-US" dirty="0">
                          <a:effectLst/>
                        </a:rPr>
                        <a:t>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1923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pt-BR" i="1" dirty="0">
                          <a:effectLst/>
                        </a:rPr>
                        <a:t>Novo Valor</a:t>
                      </a:r>
                      <a:endParaRPr lang="pt-BR" dirty="0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effectLst/>
                        </a:rPr>
                        <a:t>A string que </a:t>
                      </a:r>
                      <a:r>
                        <a:rPr lang="en-US" dirty="0" err="1">
                          <a:effectLst/>
                        </a:rPr>
                        <a:t>substituirá</a:t>
                      </a:r>
                      <a:r>
                        <a:rPr lang="en-US" dirty="0">
                          <a:effectLst/>
                        </a:rPr>
                        <a:t> a String </a:t>
                      </a:r>
                      <a:r>
                        <a:rPr lang="en-US" dirty="0" err="1">
                          <a:effectLst/>
                        </a:rPr>
                        <a:t>Velha</a:t>
                      </a:r>
                      <a:r>
                        <a:rPr lang="en-US" dirty="0">
                          <a:effectLst/>
                        </a:rPr>
                        <a:t>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15245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pt-BR" i="1" dirty="0">
                          <a:effectLst/>
                        </a:rPr>
                        <a:t>Contador</a:t>
                      </a:r>
                      <a:endParaRPr lang="pt-BR" dirty="0">
                        <a:effectLst/>
                      </a:endParaRPr>
                    </a:p>
                  </a:txBody>
                  <a:tcPr marL="1524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 err="1">
                          <a:effectLst/>
                        </a:rPr>
                        <a:t>Opcional</a:t>
                      </a:r>
                      <a:r>
                        <a:rPr lang="en-US" dirty="0">
                          <a:effectLst/>
                        </a:rPr>
                        <a:t>. Um </a:t>
                      </a:r>
                      <a:r>
                        <a:rPr lang="en-US" dirty="0" err="1">
                          <a:effectLst/>
                        </a:rPr>
                        <a:t>número</a:t>
                      </a:r>
                      <a:r>
                        <a:rPr lang="en-US" dirty="0">
                          <a:effectLst/>
                        </a:rPr>
                        <a:t> que </a:t>
                      </a:r>
                      <a:r>
                        <a:rPr lang="en-US" dirty="0" err="1">
                          <a:effectLst/>
                        </a:rPr>
                        <a:t>especifica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quantas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ocorrências</a:t>
                      </a:r>
                      <a:r>
                        <a:rPr lang="en-US" dirty="0">
                          <a:effectLst/>
                        </a:rPr>
                        <a:t> da string </a:t>
                      </a:r>
                      <a:r>
                        <a:rPr lang="en-US" dirty="0" err="1">
                          <a:effectLst/>
                        </a:rPr>
                        <a:t>Velha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serão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trocados</a:t>
                      </a:r>
                      <a:r>
                        <a:rPr lang="en-US" dirty="0">
                          <a:effectLst/>
                        </a:rPr>
                        <a:t>. O default </a:t>
                      </a:r>
                      <a:r>
                        <a:rPr lang="en-US" dirty="0" err="1">
                          <a:effectLst/>
                        </a:rPr>
                        <a:t>são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r>
                        <a:rPr lang="en-US" dirty="0" err="1">
                          <a:effectLst/>
                        </a:rPr>
                        <a:t>todas</a:t>
                      </a:r>
                      <a:r>
                        <a:rPr lang="en-US" dirty="0">
                          <a:effectLst/>
                        </a:rPr>
                        <a:t> as strings </a:t>
                      </a:r>
                      <a:r>
                        <a:rPr lang="en-US" dirty="0" err="1">
                          <a:effectLst/>
                        </a:rPr>
                        <a:t>velhas</a:t>
                      </a:r>
                      <a:r>
                        <a:rPr lang="en-US" dirty="0">
                          <a:effectLst/>
                        </a:rPr>
                        <a:t>.</a:t>
                      </a:r>
                    </a:p>
                  </a:txBody>
                  <a:tcPr marL="76200" marR="76200" marT="76200" marB="7620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00551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9170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30D7D4-D1DA-BC55-D00C-FE43EA3E4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565D1B6-CBCB-94B5-3F40-CA3C2CAD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86676ED-0A97-355D-10BA-84AE41442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400" b="1" dirty="0"/>
              <a:t>Cap05-Exem-14</a:t>
            </a:r>
            <a:endParaRPr lang="pt-BR" sz="14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B48D5D1-DBF8-BC44-8C93-F2550588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26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F65223EB-9B63-FAF0-E5DF-82E946FC8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Método </a:t>
            </a:r>
            <a:r>
              <a:rPr lang="pt-BR" b="1" i="1" u="none" strike="noStrike" baseline="0" dirty="0" err="1">
                <a:latin typeface="CIDFont+F1"/>
              </a:rPr>
              <a:t>replace</a:t>
            </a:r>
            <a:r>
              <a:rPr lang="pt-BR" b="1" i="1" u="none" strike="noStrike" baseline="0" dirty="0">
                <a:latin typeface="CIDFont+F1"/>
              </a:rPr>
              <a:t>( )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1A99211-C248-C828-3C83-37F7F8B07283}"/>
              </a:ext>
            </a:extLst>
          </p:cNvPr>
          <p:cNvSpPr txBox="1"/>
          <p:nvPr/>
        </p:nvSpPr>
        <p:spPr>
          <a:xfrm>
            <a:off x="534278" y="1413063"/>
            <a:ext cx="10934700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>
                <a:solidFill>
                  <a:srgbClr val="FF0000"/>
                </a:solidFill>
                <a:latin typeface="CIDFont+F2"/>
              </a:rPr>
              <a:t>Exemplo</a:t>
            </a:r>
          </a:p>
          <a:p>
            <a:pPr algn="l"/>
            <a:endParaRPr lang="pt-BR" sz="2800" b="0" i="0" u="none" strike="noStrike" baseline="0" dirty="0">
              <a:latin typeface="CIDFont+F2"/>
            </a:endParaRPr>
          </a:p>
          <a:p>
            <a:pPr marL="266700" indent="-266700" algn="l"/>
            <a:r>
              <a:rPr lang="pt-BR" sz="2800" dirty="0">
                <a:latin typeface="CIDFont+F3"/>
              </a:rPr>
              <a:t>•  Troca todas as as ocorrências da palavra um por três.</a:t>
            </a:r>
          </a:p>
          <a:p>
            <a:pPr marL="266700" indent="-266700" algn="l"/>
            <a:endParaRPr lang="pt-BR" sz="2800" dirty="0">
              <a:latin typeface="CIDFont+F3"/>
            </a:endParaRPr>
          </a:p>
          <a:p>
            <a:pPr marL="1343025" indent="-900113" algn="l"/>
            <a:r>
              <a:rPr lang="pt-BR" sz="2800" b="1" dirty="0" err="1">
                <a:solidFill>
                  <a:schemeClr val="accent6">
                    <a:lumMod val="50000"/>
                  </a:schemeClr>
                </a:solidFill>
                <a:latin typeface="CIDFont+F3"/>
              </a:rPr>
              <a:t>txt</a:t>
            </a:r>
            <a:r>
              <a:rPr lang="pt-BR" sz="2800" b="1" dirty="0">
                <a:solidFill>
                  <a:schemeClr val="accent6">
                    <a:lumMod val="50000"/>
                  </a:schemeClr>
                </a:solidFill>
                <a:latin typeface="CIDFont+F3"/>
              </a:rPr>
              <a:t> = "um-um foi um cavalo de corrida, dois-dois foi um também"</a:t>
            </a:r>
          </a:p>
          <a:p>
            <a:pPr marL="1343025" indent="-900113" algn="l"/>
            <a:r>
              <a:rPr lang="pt-BR" sz="2800" b="1" dirty="0">
                <a:solidFill>
                  <a:schemeClr val="accent6">
                    <a:lumMod val="50000"/>
                  </a:schemeClr>
                </a:solidFill>
                <a:latin typeface="CIDFont+F3"/>
              </a:rPr>
              <a:t>x = </a:t>
            </a:r>
            <a:r>
              <a:rPr lang="pt-BR" sz="2800" b="1" dirty="0" err="1">
                <a:solidFill>
                  <a:schemeClr val="accent6">
                    <a:lumMod val="50000"/>
                  </a:schemeClr>
                </a:solidFill>
                <a:latin typeface="CIDFont+F3"/>
              </a:rPr>
              <a:t>txt.replace</a:t>
            </a:r>
            <a:r>
              <a:rPr lang="pt-BR" sz="2800" b="1" dirty="0">
                <a:solidFill>
                  <a:schemeClr val="accent6">
                    <a:lumMod val="50000"/>
                  </a:schemeClr>
                </a:solidFill>
                <a:latin typeface="CIDFont+F3"/>
              </a:rPr>
              <a:t>("um", "três")</a:t>
            </a:r>
          </a:p>
          <a:p>
            <a:pPr marL="1343025" indent="-900113" algn="l"/>
            <a:r>
              <a:rPr lang="pt-BR" sz="2800" b="1" dirty="0">
                <a:solidFill>
                  <a:schemeClr val="accent6">
                    <a:lumMod val="50000"/>
                  </a:schemeClr>
                </a:solidFill>
                <a:latin typeface="CIDFont+F3"/>
              </a:rPr>
              <a:t>print("\n\</a:t>
            </a:r>
            <a:r>
              <a:rPr lang="pt-BR" sz="2800" b="1" dirty="0" err="1">
                <a:solidFill>
                  <a:schemeClr val="accent6">
                    <a:lumMod val="50000"/>
                  </a:schemeClr>
                </a:solidFill>
                <a:latin typeface="CIDFont+F3"/>
              </a:rPr>
              <a:t>n",x</a:t>
            </a:r>
            <a:r>
              <a:rPr lang="pt-BR" sz="2800" b="1" dirty="0">
                <a:solidFill>
                  <a:schemeClr val="accent6">
                    <a:lumMod val="50000"/>
                  </a:schemeClr>
                </a:solidFill>
                <a:latin typeface="CIDFont+F3"/>
              </a:rPr>
              <a:t>)</a:t>
            </a:r>
          </a:p>
          <a:p>
            <a:pPr marL="1343025" indent="-900113" algn="l"/>
            <a:endParaRPr lang="pt-BR" sz="2800" b="1" dirty="0">
              <a:solidFill>
                <a:schemeClr val="accent6">
                  <a:lumMod val="50000"/>
                </a:schemeClr>
              </a:solidFill>
              <a:latin typeface="CIDFont+F3"/>
            </a:endParaRPr>
          </a:p>
          <a:p>
            <a:pPr marL="1343025" indent="-900113" algn="l"/>
            <a:r>
              <a:rPr lang="pt-BR" sz="2800" b="1" dirty="0" err="1">
                <a:solidFill>
                  <a:schemeClr val="accent6">
                    <a:lumMod val="50000"/>
                  </a:schemeClr>
                </a:solidFill>
                <a:latin typeface="CIDFont+F3"/>
              </a:rPr>
              <a:t>txt</a:t>
            </a:r>
            <a:r>
              <a:rPr lang="pt-BR" sz="2800" b="1" dirty="0">
                <a:solidFill>
                  <a:schemeClr val="accent6">
                    <a:lumMod val="50000"/>
                  </a:schemeClr>
                </a:solidFill>
                <a:latin typeface="CIDFont+F3"/>
              </a:rPr>
              <a:t> = "um-um foi um cavalo de corrida, dois-dois foi um também"</a:t>
            </a:r>
          </a:p>
          <a:p>
            <a:pPr marL="1343025" indent="-900113" algn="l"/>
            <a:r>
              <a:rPr lang="pt-BR" sz="2800" b="1" dirty="0">
                <a:solidFill>
                  <a:schemeClr val="accent6">
                    <a:lumMod val="50000"/>
                  </a:schemeClr>
                </a:solidFill>
                <a:latin typeface="CIDFont+F3"/>
              </a:rPr>
              <a:t>x = </a:t>
            </a:r>
            <a:r>
              <a:rPr lang="pt-BR" sz="2800" b="1" dirty="0" err="1">
                <a:solidFill>
                  <a:schemeClr val="accent6">
                    <a:lumMod val="50000"/>
                  </a:schemeClr>
                </a:solidFill>
                <a:latin typeface="CIDFont+F3"/>
              </a:rPr>
              <a:t>txt.replace</a:t>
            </a:r>
            <a:r>
              <a:rPr lang="pt-BR" sz="2800" b="1" dirty="0">
                <a:solidFill>
                  <a:schemeClr val="accent6">
                    <a:lumMod val="50000"/>
                  </a:schemeClr>
                </a:solidFill>
                <a:latin typeface="CIDFont+F3"/>
              </a:rPr>
              <a:t>("um", "três", 2)</a:t>
            </a:r>
          </a:p>
          <a:p>
            <a:pPr marL="1343025" indent="-900113" algn="l"/>
            <a:r>
              <a:rPr lang="pt-BR" sz="2800" b="1" dirty="0">
                <a:solidFill>
                  <a:schemeClr val="accent6">
                    <a:lumMod val="50000"/>
                  </a:schemeClr>
                </a:solidFill>
                <a:latin typeface="CIDFont+F3"/>
              </a:rPr>
              <a:t>print("\n\</a:t>
            </a:r>
            <a:r>
              <a:rPr lang="pt-BR" sz="2800" b="1" dirty="0" err="1">
                <a:solidFill>
                  <a:schemeClr val="accent6">
                    <a:lumMod val="50000"/>
                  </a:schemeClr>
                </a:solidFill>
                <a:latin typeface="CIDFont+F3"/>
              </a:rPr>
              <a:t>n",x</a:t>
            </a:r>
            <a:r>
              <a:rPr lang="pt-BR" sz="2800" b="1" dirty="0">
                <a:solidFill>
                  <a:schemeClr val="accent6">
                    <a:lumMod val="50000"/>
                  </a:schemeClr>
                </a:solidFill>
                <a:latin typeface="CIDFont+F3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707847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7E5FF-2DD9-D09B-0D1A-01A730F4E3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0C78C7C-0720-F2CD-08A2-6891543CE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4825A8C-9F09-308D-C364-9A7C7671C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400" b="1" dirty="0"/>
              <a:t>Cap05-Exem-15</a:t>
            </a:r>
            <a:endParaRPr lang="pt-BR" sz="14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81E2227-23F5-E8CA-5B79-6F60E1104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smtClean="0"/>
              <a:pPr algn="r"/>
              <a:t>27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97F08B5-0A79-27A1-0253-5BEDB7F51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Método </a:t>
            </a:r>
            <a:r>
              <a:rPr lang="pt-BR" b="1" i="1" dirty="0" err="1">
                <a:latin typeface="CIDFont+F1"/>
              </a:rPr>
              <a:t>join</a:t>
            </a:r>
            <a:r>
              <a:rPr lang="pt-BR" b="1" i="1" u="none" strike="noStrike" baseline="0" dirty="0">
                <a:latin typeface="CIDFont+F1"/>
              </a:rPr>
              <a:t>( )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1755EA3D-DD26-859E-BD41-58DD8060FEBB}"/>
              </a:ext>
            </a:extLst>
          </p:cNvPr>
          <p:cNvSpPr txBox="1"/>
          <p:nvPr/>
        </p:nvSpPr>
        <p:spPr>
          <a:xfrm>
            <a:off x="581464" y="1409784"/>
            <a:ext cx="109347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4000" b="1" dirty="0" err="1">
                <a:solidFill>
                  <a:srgbClr val="FF0000"/>
                </a:solidFill>
                <a:latin typeface="CIDFont+F2"/>
              </a:rPr>
              <a:t>string.join</a:t>
            </a:r>
            <a:r>
              <a:rPr lang="pt-BR" sz="4000" b="1" dirty="0">
                <a:solidFill>
                  <a:srgbClr val="FF0000"/>
                </a:solidFill>
                <a:latin typeface="CIDFont+F2"/>
              </a:rPr>
              <a:t>()</a:t>
            </a:r>
          </a:p>
          <a:p>
            <a:pPr algn="l"/>
            <a:endParaRPr lang="pt-BR" sz="2800" b="0" i="0" u="none" strike="noStrike" baseline="0" dirty="0">
              <a:latin typeface="CIDFont+F2"/>
            </a:endParaRPr>
          </a:p>
          <a:p>
            <a:pPr marL="266700" indent="-266700" algn="l"/>
            <a:r>
              <a:rPr lang="pt-BR" sz="2800" b="0" i="0" u="none" strike="noStrike" baseline="0" dirty="0">
                <a:latin typeface="CIDFont+F3"/>
              </a:rPr>
              <a:t>•</a:t>
            </a:r>
            <a:r>
              <a:rPr lang="pt-BR" sz="2800" dirty="0">
                <a:latin typeface="CIDFont+F3"/>
              </a:rPr>
              <a:t> O método Join() pega todos os itens em uma iteração e os junta dentro de uma string. A string precisa ser especificada com um separador.</a:t>
            </a:r>
          </a:p>
          <a:p>
            <a:pPr marL="266700" indent="-266700" algn="l"/>
            <a:endParaRPr lang="pt-BR" sz="2800" b="0" i="0" u="none" strike="noStrike" baseline="0" dirty="0">
              <a:latin typeface="CIDFont+F3"/>
            </a:endParaRPr>
          </a:p>
          <a:p>
            <a:pPr marL="266700" indent="-266700" algn="l"/>
            <a:r>
              <a:rPr lang="pt-BR" sz="2800" b="1" i="0" u="none" strike="noStrike" baseline="0" dirty="0">
                <a:solidFill>
                  <a:srgbClr val="FF0000"/>
                </a:solidFill>
                <a:latin typeface="CIDFont+F3"/>
              </a:rPr>
              <a:t>Exemplo: 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C21EBBCD-C4B8-6B9B-CC22-24D67E67F26F}"/>
              </a:ext>
            </a:extLst>
          </p:cNvPr>
          <p:cNvSpPr txBox="1"/>
          <p:nvPr/>
        </p:nvSpPr>
        <p:spPr>
          <a:xfrm>
            <a:off x="844061" y="4529398"/>
            <a:ext cx="997699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Meu_dicionario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 = {"name: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Ze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", “país: Nepal"}</a:t>
            </a:r>
          </a:p>
          <a:p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meuSeparador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 " # "</a:t>
            </a:r>
          </a:p>
          <a:p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meuSeparador.join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Meu_dicionario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print("\n\</a:t>
            </a:r>
            <a:r>
              <a:rPr lang="pt-BR" sz="2400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n",x</a:t>
            </a:r>
            <a:r>
              <a:rPr lang="pt-BR" sz="2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6172081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93B81-1140-A6B9-25D4-82751098A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77815A6-BF21-2A68-D8A2-3BA1CB159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A1EE551-77D8-B5BE-9EED-D79B358195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400" b="1" dirty="0"/>
              <a:t>Cap05-Exem-16</a:t>
            </a:r>
            <a:endParaRPr lang="pt-BR" sz="14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F8FF1F5-0A7C-D930-1931-042346690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smtClean="0"/>
              <a:pPr algn="r"/>
              <a:t>28</a:t>
            </a:fld>
            <a:endParaRPr lang="pt-BR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C5B7EEFA-ADDA-EBC0-408F-FAF43E03C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Método capitalize( ) e </a:t>
            </a:r>
            <a:r>
              <a:rPr lang="pt-BR" b="1" i="1" u="none" strike="noStrike" baseline="0" dirty="0" err="1">
                <a:latin typeface="CIDFont+F1"/>
              </a:rPr>
              <a:t>title</a:t>
            </a:r>
            <a:r>
              <a:rPr lang="pt-BR" b="1" i="1" u="none" strike="noStrike" baseline="0" dirty="0">
                <a:latin typeface="CIDFont+F1"/>
              </a:rPr>
              <a:t>()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9C05823-85D1-C10A-2C99-9A414D9BA394}"/>
              </a:ext>
            </a:extLst>
          </p:cNvPr>
          <p:cNvSpPr txBox="1"/>
          <p:nvPr/>
        </p:nvSpPr>
        <p:spPr>
          <a:xfrm>
            <a:off x="365209" y="1281602"/>
            <a:ext cx="1158763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b="1" dirty="0" err="1">
                <a:solidFill>
                  <a:srgbClr val="FF0000"/>
                </a:solidFill>
                <a:latin typeface="CIDFont+F2"/>
              </a:rPr>
              <a:t>string.capitalize</a:t>
            </a:r>
            <a:r>
              <a:rPr lang="pt-BR" sz="3600" b="1" dirty="0">
                <a:solidFill>
                  <a:srgbClr val="FF0000"/>
                </a:solidFill>
                <a:latin typeface="CIDFont+F2"/>
              </a:rPr>
              <a:t>()   -  </a:t>
            </a:r>
            <a:r>
              <a:rPr lang="pt-BR" sz="3600" b="1" dirty="0" err="1">
                <a:solidFill>
                  <a:srgbClr val="FF0000"/>
                </a:solidFill>
                <a:latin typeface="CIDFont+F2"/>
              </a:rPr>
              <a:t>string.title</a:t>
            </a:r>
            <a:r>
              <a:rPr lang="pt-BR" sz="3600" b="1" dirty="0">
                <a:solidFill>
                  <a:srgbClr val="FF0000"/>
                </a:solidFill>
                <a:latin typeface="CIDFont+F2"/>
              </a:rPr>
              <a:t>()</a:t>
            </a:r>
          </a:p>
          <a:p>
            <a:pPr algn="l"/>
            <a:endParaRPr lang="pt-BR" sz="1200" b="0" i="0" u="none" strike="noStrike" baseline="0" dirty="0">
              <a:latin typeface="CIDFont+F2"/>
            </a:endParaRPr>
          </a:p>
          <a:p>
            <a:pPr marL="266700" indent="-266700"/>
            <a:r>
              <a:rPr lang="pt-BR" sz="2200" b="0" i="0" u="none" strike="noStrike" baseline="0" dirty="0">
                <a:latin typeface="CIDFont+F3"/>
              </a:rPr>
              <a:t>•</a:t>
            </a:r>
            <a:r>
              <a:rPr lang="pt-BR" sz="2200" dirty="0">
                <a:latin typeface="CIDFont+F3"/>
              </a:rPr>
              <a:t> </a:t>
            </a:r>
            <a:r>
              <a:rPr lang="pt-BR" sz="2800" dirty="0">
                <a:latin typeface="CIDFont+F3"/>
              </a:rPr>
              <a:t>O método capitalize() Converte o primeiro caractere da string em maiúscula, e os demais em minúsculas.</a:t>
            </a:r>
          </a:p>
          <a:p>
            <a:pPr marL="266700" indent="-266700"/>
            <a:endParaRPr lang="pt-BR" sz="1400" dirty="0">
              <a:latin typeface="CIDFont+F3"/>
            </a:endParaRPr>
          </a:p>
          <a:p>
            <a:pPr marL="266700" indent="-266700"/>
            <a:r>
              <a:rPr lang="pt-BR" sz="2800" dirty="0">
                <a:latin typeface="CIDFont+F3"/>
              </a:rPr>
              <a:t>• O método </a:t>
            </a:r>
            <a:r>
              <a:rPr lang="pt-BR" sz="2800" dirty="0" err="1">
                <a:latin typeface="CIDFont+F3"/>
              </a:rPr>
              <a:t>title</a:t>
            </a:r>
            <a:r>
              <a:rPr lang="pt-BR" sz="2800" dirty="0">
                <a:latin typeface="CIDFont+F3"/>
              </a:rPr>
              <a:t>() </a:t>
            </a:r>
            <a:r>
              <a:rPr lang="pt-BR" sz="2800" dirty="0"/>
              <a:t> Converte a </a:t>
            </a:r>
            <a:r>
              <a:rPr lang="pt-BR" sz="2800" b="1" dirty="0">
                <a:solidFill>
                  <a:srgbClr val="FF0000"/>
                </a:solidFill>
                <a:highlight>
                  <a:srgbClr val="FFFF00"/>
                </a:highlight>
              </a:rPr>
              <a:t>primeira letra de cada palavra </a:t>
            </a:r>
            <a:r>
              <a:rPr lang="pt-BR" sz="2800" dirty="0"/>
              <a:t>na string para maiúscula. 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63D97A3-92A1-316C-6AF1-4108DD4221D5}"/>
              </a:ext>
            </a:extLst>
          </p:cNvPr>
          <p:cNvSpPr txBox="1"/>
          <p:nvPr/>
        </p:nvSpPr>
        <p:spPr>
          <a:xfrm>
            <a:off x="642938" y="4053445"/>
            <a:ext cx="578643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200" dirty="0"/>
              <a:t>texto = "</a:t>
            </a:r>
            <a:r>
              <a:rPr lang="pt-BR" sz="2200" dirty="0" err="1"/>
              <a:t>pYtHoN</a:t>
            </a:r>
            <a:r>
              <a:rPr lang="pt-BR" sz="2200" dirty="0"/>
              <a:t> é incrível e MUITO útil!"</a:t>
            </a:r>
          </a:p>
          <a:p>
            <a:r>
              <a:rPr lang="pt-BR" sz="2200" dirty="0"/>
              <a:t>print("Original:     ", texto)</a:t>
            </a:r>
          </a:p>
          <a:p>
            <a:endParaRPr lang="pt-BR" sz="2200" dirty="0"/>
          </a:p>
          <a:p>
            <a:pPr marL="185738" indent="-185738"/>
            <a:r>
              <a:rPr lang="pt-BR" sz="2200" dirty="0"/>
              <a:t># </a:t>
            </a:r>
            <a:r>
              <a:rPr lang="pt-BR" sz="2200" b="1" dirty="0">
                <a:solidFill>
                  <a:srgbClr val="FF0000"/>
                </a:solidFill>
                <a:highlight>
                  <a:srgbClr val="FFFF00"/>
                </a:highlight>
              </a:rPr>
              <a:t>Apenas a primeira letra maiúscula e o resto minúsculo</a:t>
            </a:r>
          </a:p>
          <a:p>
            <a:r>
              <a:rPr lang="pt-BR" sz="2200" dirty="0"/>
              <a:t>print("\</a:t>
            </a:r>
            <a:r>
              <a:rPr lang="pt-BR" sz="2200" dirty="0" err="1"/>
              <a:t>ncapitalize</a:t>
            </a:r>
            <a:r>
              <a:rPr lang="pt-BR" sz="2200" dirty="0"/>
              <a:t>(): ", </a:t>
            </a:r>
            <a:r>
              <a:rPr lang="pt-BR" sz="2200" dirty="0" err="1"/>
              <a:t>texto.capitalize</a:t>
            </a:r>
            <a:r>
              <a:rPr lang="pt-BR" sz="2200" dirty="0"/>
              <a:t>())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B28CA24-217A-FE64-153A-6ECCB42AE985}"/>
              </a:ext>
            </a:extLst>
          </p:cNvPr>
          <p:cNvSpPr txBox="1"/>
          <p:nvPr/>
        </p:nvSpPr>
        <p:spPr>
          <a:xfrm>
            <a:off x="6615120" y="4053445"/>
            <a:ext cx="545310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5738" indent="-185738"/>
            <a:r>
              <a:rPr lang="pt-BR" sz="2200" dirty="0"/>
              <a:t># </a:t>
            </a:r>
            <a:r>
              <a:rPr lang="pt-BR" sz="2200" b="1" dirty="0">
                <a:solidFill>
                  <a:srgbClr val="FF0000"/>
                </a:solidFill>
                <a:highlight>
                  <a:srgbClr val="FFFF00"/>
                </a:highlight>
              </a:rPr>
              <a:t>Primeira letra de cada palavra maiúscula</a:t>
            </a:r>
          </a:p>
          <a:p>
            <a:r>
              <a:rPr lang="pt-BR" sz="2200" dirty="0"/>
              <a:t>print("\</a:t>
            </a:r>
            <a:r>
              <a:rPr lang="pt-BR" sz="2200" dirty="0" err="1"/>
              <a:t>ntitle</a:t>
            </a:r>
            <a:r>
              <a:rPr lang="pt-BR" sz="2200" dirty="0"/>
              <a:t>():      ", </a:t>
            </a:r>
            <a:r>
              <a:rPr lang="pt-BR" sz="2200" dirty="0" err="1"/>
              <a:t>texto.title</a:t>
            </a:r>
            <a:r>
              <a:rPr lang="pt-BR" sz="2200" dirty="0"/>
              <a:t>())</a:t>
            </a:r>
          </a:p>
          <a:p>
            <a:endParaRPr lang="pt-BR" sz="2200" dirty="0"/>
          </a:p>
          <a:p>
            <a:r>
              <a:rPr lang="pt-BR" sz="2200" dirty="0"/>
              <a:t># </a:t>
            </a:r>
            <a:r>
              <a:rPr lang="pt-BR" sz="2200" b="1" dirty="0">
                <a:solidFill>
                  <a:srgbClr val="FF0000"/>
                </a:solidFill>
                <a:highlight>
                  <a:srgbClr val="FFFF00"/>
                </a:highlight>
              </a:rPr>
              <a:t>Tudo em maiúsculo</a:t>
            </a:r>
          </a:p>
          <a:p>
            <a:r>
              <a:rPr lang="pt-BR" sz="2200" dirty="0"/>
              <a:t>print("\</a:t>
            </a:r>
            <a:r>
              <a:rPr lang="pt-BR" sz="2200" dirty="0" err="1"/>
              <a:t>nupper</a:t>
            </a:r>
            <a:r>
              <a:rPr lang="pt-BR" sz="2200" dirty="0"/>
              <a:t>():      ", </a:t>
            </a:r>
            <a:r>
              <a:rPr lang="pt-BR" sz="2200" dirty="0" err="1"/>
              <a:t>texto.upper</a:t>
            </a:r>
            <a:r>
              <a:rPr lang="pt-BR" sz="2200" dirty="0"/>
              <a:t>())</a:t>
            </a:r>
          </a:p>
        </p:txBody>
      </p:sp>
    </p:spTree>
    <p:extLst>
      <p:ext uri="{BB962C8B-B14F-4D97-AF65-F5344CB8AC3E}">
        <p14:creationId xmlns:p14="http://schemas.microsoft.com/office/powerpoint/2010/main" val="900632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3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3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3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30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3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3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3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3000" fill="hold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42D8BAB-4148-5BB2-3313-B7651090D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040A127-6AAE-F322-C461-C485101F1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400" b="1" dirty="0"/>
              <a:t>Cap05-Exem-17</a:t>
            </a:r>
            <a:endParaRPr lang="pt-BR" sz="14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0789A1-EEAB-4125-A03D-44F40EC98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29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5372AAE3-9063-21B1-C179-A75F3E9A8D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Exemplos de Métodos do </a:t>
            </a:r>
            <a:r>
              <a:rPr lang="pt-BR" b="1" i="1" dirty="0" err="1"/>
              <a:t>Ptython</a:t>
            </a:r>
            <a:endParaRPr lang="pt-BR" b="1" i="1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73E012A4-3203-1D69-6C2F-15A43D3EB8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963820"/>
              </p:ext>
            </p:extLst>
          </p:nvPr>
        </p:nvGraphicFramePr>
        <p:xfrm>
          <a:off x="306852" y="1315471"/>
          <a:ext cx="1156068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4599">
                  <a:extLst>
                    <a:ext uri="{9D8B030D-6E8A-4147-A177-3AD203B41FA5}">
                      <a16:colId xmlns:a16="http://schemas.microsoft.com/office/drawing/2014/main" val="4104165228"/>
                    </a:ext>
                  </a:extLst>
                </a:gridCol>
                <a:gridCol w="9356083">
                  <a:extLst>
                    <a:ext uri="{9D8B030D-6E8A-4147-A177-3AD203B41FA5}">
                      <a16:colId xmlns:a16="http://schemas.microsoft.com/office/drawing/2014/main" val="3288708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Texto original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/>
                        <a:t>'  Python é incrível 123!  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579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err="1"/>
                        <a:t>upper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PYTHON É INCRÍVEL 123!   (Tudo maiúsculo)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525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/>
                        <a:t>lower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 err="1"/>
                        <a:t>python</a:t>
                      </a:r>
                      <a:r>
                        <a:rPr lang="pt-BR" sz="2400" dirty="0"/>
                        <a:t> é incrível 123!   (Tudo minúsculo)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291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/>
                        <a:t>capitalize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Python é incrível 123!    (Primeira letra maiúscula)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988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err="1"/>
                        <a:t>title</a:t>
                      </a:r>
                      <a:r>
                        <a:rPr lang="pt-BR" sz="2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Python É Incrível 123!   (Primeira letra de cada palavra maiúscula)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713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err="1"/>
                        <a:t>swapcase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 err="1"/>
                        <a:t>pYTHON</a:t>
                      </a:r>
                      <a:r>
                        <a:rPr lang="pt-BR" sz="2400" dirty="0"/>
                        <a:t> É INCRÍVEL 123!   (Inverte maiúsculas/minúsculas)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90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/>
                        <a:t>strip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Python é incrível 123!   (Remove espaços início/fim)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13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err="1"/>
                        <a:t>lstrip</a:t>
                      </a:r>
                      <a:r>
                        <a:rPr lang="pt-BR" sz="24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Python é incrível 123!   (Remove espaços à esquerda)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1625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err="1"/>
                        <a:t>rstrip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Python é incrível 123! (Remove espaços à direita)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9628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err="1"/>
                        <a:t>find</a:t>
                      </a:r>
                      <a:r>
                        <a:rPr lang="pt-BR" sz="2400" dirty="0"/>
                        <a:t>('é')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9 (Índice da primeira ocorrência)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89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err="1"/>
                        <a:t>rfind</a:t>
                      </a:r>
                      <a:r>
                        <a:rPr lang="pt-BR" sz="2400" dirty="0"/>
                        <a:t>('é')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9 (Índice da última ocorrência)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767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9766827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7E448-62E7-F811-60B7-78C14A02DA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CEA4AF-1F1F-E961-F5A4-561DEDC72E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C69CF55-91D0-1DCB-0D12-A09D20709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400" b="1" dirty="0"/>
              <a:t>Cap05-Exem-17</a:t>
            </a:r>
            <a:endParaRPr lang="pt-BR" sz="14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BA1B122-EEA0-A55A-455B-34AF28991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30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334DF4D0-5141-DF39-D2DF-36FD5096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Exemplos de Métodos do </a:t>
            </a:r>
            <a:r>
              <a:rPr lang="pt-BR" b="1" i="1" dirty="0" err="1"/>
              <a:t>Ptython</a:t>
            </a:r>
            <a:endParaRPr lang="pt-BR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45E7235F-47BB-C19E-61BC-ED5F93DB3E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773684"/>
              </p:ext>
            </p:extLst>
          </p:nvPr>
        </p:nvGraphicFramePr>
        <p:xfrm>
          <a:off x="357186" y="1315795"/>
          <a:ext cx="11510348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38202">
                  <a:extLst>
                    <a:ext uri="{9D8B030D-6E8A-4147-A177-3AD203B41FA5}">
                      <a16:colId xmlns:a16="http://schemas.microsoft.com/office/drawing/2014/main" val="4104165228"/>
                    </a:ext>
                  </a:extLst>
                </a:gridCol>
                <a:gridCol w="7972146">
                  <a:extLst>
                    <a:ext uri="{9D8B030D-6E8A-4147-A177-3AD203B41FA5}">
                      <a16:colId xmlns:a16="http://schemas.microsoft.com/office/drawing/2014/main" val="3288708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Texto original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/>
                        <a:t>'  Python é incrível 123!  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579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/>
                        <a:t>count('i')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2 (Conta quantas vezes aparece)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525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err="1"/>
                        <a:t>startswith</a:t>
                      </a:r>
                      <a:r>
                        <a:rPr lang="pt-BR" sz="2400" dirty="0"/>
                        <a:t>('</a:t>
                      </a:r>
                      <a:r>
                        <a:rPr lang="pt-BR" sz="2400" dirty="0" err="1"/>
                        <a:t>Py</a:t>
                      </a:r>
                      <a:r>
                        <a:rPr lang="pt-BR" sz="2400" dirty="0"/>
                        <a:t>')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False (Verifica início da string)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291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err="1"/>
                        <a:t>endswith</a:t>
                      </a:r>
                      <a:r>
                        <a:rPr lang="pt-BR" sz="2400" dirty="0"/>
                        <a:t>('!')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False (Verifica fim da string)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988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err="1"/>
                        <a:t>replace</a:t>
                      </a:r>
                      <a:r>
                        <a:rPr lang="pt-BR" sz="2400" dirty="0"/>
                        <a:t>('</a:t>
                      </a:r>
                      <a:r>
                        <a:rPr lang="pt-BR" sz="2400" dirty="0" err="1"/>
                        <a:t>incrível','legal</a:t>
                      </a:r>
                      <a:r>
                        <a:rPr lang="pt-BR" sz="2400" dirty="0"/>
                        <a:t>')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Python é legal 123!   (Substitui texto)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713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/>
                        <a:t>split()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['Python', 'é', 'incrível', '123!'] (Divide em lista (palavras))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90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err="1"/>
                        <a:t>join</a:t>
                      </a:r>
                      <a:r>
                        <a:rPr lang="pt-BR" sz="2400" dirty="0"/>
                        <a:t>(['A','B','C'])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A-B-C (Junta lista com separador)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13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err="1"/>
                        <a:t>isalpha</a:t>
                      </a:r>
                      <a:r>
                        <a:rPr lang="pt-BR" sz="2400" dirty="0"/>
                        <a:t>()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True (Só letras)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1625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err="1"/>
                        <a:t>isdigit</a:t>
                      </a:r>
                      <a:r>
                        <a:rPr lang="pt-BR" sz="2400" dirty="0"/>
                        <a:t>()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True (Só números)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9628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err="1"/>
                        <a:t>isalnum</a:t>
                      </a:r>
                      <a:r>
                        <a:rPr lang="pt-BR" sz="2400" dirty="0"/>
                        <a:t>()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True (Letras e números)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89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err="1"/>
                        <a:t>isspace</a:t>
                      </a:r>
                      <a:r>
                        <a:rPr lang="pt-BR" sz="2400" dirty="0"/>
                        <a:t>()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True (Só espaços)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767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78245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C5177A-DADC-6C65-6D1B-7BC2C2E4B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62BCF0D-0479-F7D7-E09D-42EA3A970A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63DFBD3-7DBB-C6EB-426D-246E77CFE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400" b="1" dirty="0"/>
              <a:t>Cap05-Exem-17</a:t>
            </a:r>
            <a:endParaRPr lang="pt-BR" sz="140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4750FE0-164A-2743-7070-D95C2EBFB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31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5ACBFF6-B556-F02A-9617-0868933A9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dirty="0"/>
              <a:t>Exemplos de Métodos do </a:t>
            </a:r>
            <a:r>
              <a:rPr lang="pt-BR" b="1" i="1" dirty="0" err="1"/>
              <a:t>Ptython</a:t>
            </a:r>
            <a:endParaRPr lang="pt-BR" dirty="0"/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2C26737A-2362-FF3B-EF70-AE5311D8A7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9817128"/>
              </p:ext>
            </p:extLst>
          </p:nvPr>
        </p:nvGraphicFramePr>
        <p:xfrm>
          <a:off x="457202" y="1313206"/>
          <a:ext cx="1141033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158">
                  <a:extLst>
                    <a:ext uri="{9D8B030D-6E8A-4147-A177-3AD203B41FA5}">
                      <a16:colId xmlns:a16="http://schemas.microsoft.com/office/drawing/2014/main" val="4104165228"/>
                    </a:ext>
                  </a:extLst>
                </a:gridCol>
                <a:gridCol w="9229174">
                  <a:extLst>
                    <a:ext uri="{9D8B030D-6E8A-4147-A177-3AD203B41FA5}">
                      <a16:colId xmlns:a16="http://schemas.microsoft.com/office/drawing/2014/main" val="328870892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2400" b="1" dirty="0"/>
                        <a:t>Texto original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b="1" dirty="0"/>
                        <a:t>'  Python é incrível 123!  '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2579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err="1"/>
                        <a:t>zfill</a:t>
                      </a:r>
                      <a:r>
                        <a:rPr lang="pt-BR" sz="2400" dirty="0"/>
                        <a:t>(10)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0000000042 (Preenche com zeros à esquerda)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7525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/>
                        <a:t>center(20,'-')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-------Python------- (Centraliza com preenchimento)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22913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err="1"/>
                        <a:t>ljust</a:t>
                      </a:r>
                      <a:r>
                        <a:rPr lang="pt-BR" sz="2400" dirty="0"/>
                        <a:t>(20,'-')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Python-------------- (Alinha à esquerda)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3988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 err="1"/>
                        <a:t>rjust</a:t>
                      </a:r>
                      <a:r>
                        <a:rPr lang="pt-BR" sz="2400" dirty="0"/>
                        <a:t>(20,'-')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--------------Python (Alinha à direita)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0713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/>
                        <a:t>partition(' ')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('  ', ' ', 'Python é incrível 123!  ') (Divide em (antes, </a:t>
                      </a:r>
                      <a:r>
                        <a:rPr lang="pt-BR" sz="2400" dirty="0" err="1"/>
                        <a:t>sep</a:t>
                      </a:r>
                      <a:r>
                        <a:rPr lang="pt-BR" sz="2400" dirty="0"/>
                        <a:t>, depois))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73906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dirty="0"/>
                        <a:t>rpartition(' ')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('  Python é incrível 123!', ' ', ' ') (Divide a partir da direita)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51331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anose="020B0604020202020204" pitchFamily="34" charset="-128"/>
                        </a:rPr>
                        <a:t>islower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anose="020B0604020202020204" pitchFamily="34" charset="-128"/>
                        </a:rPr>
                        <a:t>()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só minúsculas.</a:t>
                      </a:r>
                      <a:endParaRPr kumimoji="0" lang="pt-BR" altLang="pt-BR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1625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anose="020B0604020202020204" pitchFamily="34" charset="-128"/>
                        </a:rPr>
                        <a:t>istitle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anose="020B0604020202020204" pitchFamily="34" charset="-128"/>
                        </a:rPr>
                        <a:t>()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se está no formato “Título”.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96287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altLang="pt-BR" sz="2400" dirty="0">
                          <a:latin typeface="Arial Unicode MS" panose="020B0604020202020204" pitchFamily="34" charset="-128"/>
                        </a:rPr>
                        <a:t>encode()</a:t>
                      </a:r>
                      <a:r>
                        <a:rPr lang="pt-BR" altLang="pt-BR" sz="2400" dirty="0"/>
                        <a:t> 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altLang="pt-BR" sz="2400" dirty="0"/>
                        <a:t>retorna versão codificada (bytes)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2895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pt-BR" altLang="pt-BR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anose="020B0604020202020204" pitchFamily="34" charset="-128"/>
                        </a:rPr>
                        <a:t>isspace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anose="020B0604020202020204" pitchFamily="34" charset="-128"/>
                        </a:rPr>
                        <a:t>()</a:t>
                      </a:r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endParaRPr lang="pt-BR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pt-BR" altLang="pt-BR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</a:rPr>
                        <a:t>só espaços</a:t>
                      </a:r>
                      <a:endParaRPr lang="pt-BR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0767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01094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1E1A6B2-C484-3D54-5AD2-84232970C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305B664-C5D7-6C15-3929-D9D6F6C00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400" b="1" dirty="0"/>
              <a:t>Cap05-Prog02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3F2848F-152F-4127-F1F6-84C5BDD9A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32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953E86FB-E9E3-7708-5FDC-CD2933DD5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Exercícios</a:t>
            </a:r>
            <a:r>
              <a:rPr lang="pt-BR" sz="1800" b="0" i="1" u="none" strike="noStrike" baseline="0" dirty="0">
                <a:latin typeface="CIDFont+F1"/>
              </a:rPr>
              <a:t>:</a:t>
            </a:r>
            <a:endParaRPr lang="pt-BR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BDC6D05-74BE-E1CB-AAF1-8D92385CC62E}"/>
              </a:ext>
            </a:extLst>
          </p:cNvPr>
          <p:cNvSpPr txBox="1"/>
          <p:nvPr/>
        </p:nvSpPr>
        <p:spPr>
          <a:xfrm>
            <a:off x="609599" y="1545789"/>
            <a:ext cx="1125793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6700" indent="-266700" algn="l"/>
            <a:r>
              <a:rPr lang="pt-BR" sz="3200" b="0" i="0" u="none" strike="noStrike" baseline="0" dirty="0">
                <a:latin typeface="CIDFont+F2"/>
              </a:rPr>
              <a:t>1.Escreva um programa que lê uma frase, uma palavra antiga e uma palavra nova. O programa deve imprimir a frase com as ocorrências da palavra antiga substituídas pela palavra nova.</a:t>
            </a:r>
          </a:p>
          <a:p>
            <a:pPr marL="266700" indent="-266700" algn="l"/>
            <a:endParaRPr lang="pt-BR" sz="3200" b="0" i="0" u="none" strike="noStrike" baseline="0" dirty="0">
              <a:latin typeface="CIDFont+F2"/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pt-BR" sz="3200" b="0" i="0" u="none" strike="noStrike" baseline="0" dirty="0">
                <a:latin typeface="CIDFont+F2"/>
              </a:rPr>
              <a:t>Exemplo:</a:t>
            </a:r>
          </a:p>
          <a:p>
            <a:pPr marL="457200" algn="l"/>
            <a:r>
              <a:rPr lang="pt-BR" sz="3200" b="0" i="0" u="none" strike="noStrike" baseline="0" dirty="0">
                <a:latin typeface="CIDFont+F3"/>
              </a:rPr>
              <a:t>– </a:t>
            </a:r>
            <a:r>
              <a:rPr lang="pt-BR" sz="3200" b="0" i="0" u="none" strike="noStrike" baseline="0" dirty="0">
                <a:latin typeface="CIDFont+F2"/>
              </a:rPr>
              <a:t>Frase: “Quem parte e reparte fica com a maior parte”</a:t>
            </a:r>
          </a:p>
          <a:p>
            <a:pPr marL="457200" algn="l"/>
            <a:r>
              <a:rPr lang="pt-BR" sz="3200" b="0" i="0" u="none" strike="noStrike" baseline="0" dirty="0">
                <a:latin typeface="CIDFont+F3"/>
              </a:rPr>
              <a:t>– </a:t>
            </a:r>
            <a:r>
              <a:rPr lang="pt-BR" sz="3200" b="0" i="0" u="none" strike="noStrike" baseline="0" dirty="0">
                <a:latin typeface="CIDFont+F2"/>
              </a:rPr>
              <a:t>Palavra antiga: “parte”</a:t>
            </a:r>
          </a:p>
          <a:p>
            <a:pPr marL="457200" algn="l"/>
            <a:r>
              <a:rPr lang="pt-BR" sz="3200" b="0" i="0" u="none" strike="noStrike" baseline="0" dirty="0">
                <a:latin typeface="CIDFont+F3"/>
              </a:rPr>
              <a:t>– </a:t>
            </a:r>
            <a:r>
              <a:rPr lang="pt-BR" sz="3200" b="0" i="0" u="none" strike="noStrike" baseline="0" dirty="0">
                <a:latin typeface="CIDFont+F2"/>
              </a:rPr>
              <a:t>Palavra nova: “parcela”</a:t>
            </a:r>
          </a:p>
          <a:p>
            <a:pPr marL="457200" algn="l"/>
            <a:r>
              <a:rPr lang="pt-BR" sz="3200" b="0" i="0" u="none" strike="noStrike" baseline="0" dirty="0">
                <a:latin typeface="CIDFont+F3"/>
              </a:rPr>
              <a:t>– </a:t>
            </a:r>
            <a:r>
              <a:rPr lang="pt-BR" sz="3200" b="0" i="0" u="none" strike="noStrike" baseline="0" dirty="0">
                <a:latin typeface="CIDFont+F2"/>
              </a:rPr>
              <a:t>Saída: “Quem parcela e reparte fica com a maior parcela”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410796616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9C64EA7-8749-506E-CF0C-38F63268D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81AE199-26F1-0E7F-18A4-0D676C56B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400" b="1" dirty="0"/>
              <a:t>Cap05-Prog03 – Cap05-Prog04 – Cap05-Prog05 – Cap05Prog06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3FA21B-5FDE-3862-D7A1-106D7DDEE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33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6598DEA6-A091-D00D-DA0E-E17AF5572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Exercícios: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60BEDD6-56B2-71F5-2BD7-1C9761661100}"/>
              </a:ext>
            </a:extLst>
          </p:cNvPr>
          <p:cNvSpPr txBox="1"/>
          <p:nvPr/>
        </p:nvSpPr>
        <p:spPr>
          <a:xfrm>
            <a:off x="119575" y="1408023"/>
            <a:ext cx="11952849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/>
            <a:r>
              <a:rPr lang="pt-BR" sz="2400" b="0" i="0" u="none" strike="noStrike" baseline="0" dirty="0">
                <a:latin typeface="CIDFont+F2"/>
              </a:rPr>
              <a:t>2. Faça um programa que leia uma frase e retorne o número de palavras que a frase contém.</a:t>
            </a:r>
          </a:p>
          <a:p>
            <a:pPr marL="457200" indent="-457200" algn="just"/>
            <a:endParaRPr lang="pt-BR" sz="2400" b="0" i="0" u="none" strike="noStrike" baseline="0" dirty="0">
              <a:latin typeface="CIDFont+F2"/>
            </a:endParaRPr>
          </a:p>
          <a:p>
            <a:pPr marL="457200" indent="-457200" algn="just"/>
            <a:r>
              <a:rPr lang="pt-BR" sz="2400" b="0" i="0" u="none" strike="noStrike" baseline="0" dirty="0">
                <a:latin typeface="CIDFont+F2"/>
              </a:rPr>
              <a:t>3. Faça um programa que recebe uma frase e substitui todas as ocorrências de espaço por “#”.</a:t>
            </a:r>
          </a:p>
          <a:p>
            <a:pPr marL="457200" indent="-457200" algn="just"/>
            <a:endParaRPr lang="pt-BR" sz="2400" b="0" i="0" u="none" strike="noStrike" baseline="0" dirty="0">
              <a:latin typeface="CIDFont+F2"/>
            </a:endParaRPr>
          </a:p>
          <a:p>
            <a:pPr marL="457200" indent="-457200" algn="just"/>
            <a:r>
              <a:rPr lang="pt-BR" sz="2400" dirty="0">
                <a:latin typeface="CIDFont+F2"/>
              </a:rPr>
              <a:t>4.</a:t>
            </a:r>
            <a:r>
              <a:rPr lang="pt-BR" sz="2400" b="0" i="0" u="none" strike="noStrike" baseline="0" dirty="0">
                <a:latin typeface="CIDFont+F2"/>
              </a:rPr>
              <a:t> Faça um programa que decida se duas </a:t>
            </a:r>
            <a:r>
              <a:rPr lang="pt-BR" sz="2400" b="0" i="0" u="none" strike="noStrike" baseline="0" dirty="0" err="1">
                <a:latin typeface="CIDFont+F2"/>
              </a:rPr>
              <a:t>strings</a:t>
            </a:r>
            <a:r>
              <a:rPr lang="pt-BR" sz="2400" b="0" i="0" u="none" strike="noStrike" baseline="0" dirty="0">
                <a:latin typeface="CIDFont+F2"/>
              </a:rPr>
              <a:t> lidas do teclado são </a:t>
            </a:r>
            <a:r>
              <a:rPr lang="pt-BR" sz="2400" b="0" i="0" u="none" strike="noStrike" baseline="0" dirty="0" err="1">
                <a:latin typeface="CIDFont+F2"/>
              </a:rPr>
              <a:t>palíndromas</a:t>
            </a:r>
            <a:r>
              <a:rPr lang="pt-BR" sz="2400" b="0" i="0" u="none" strike="noStrike" baseline="0" dirty="0">
                <a:latin typeface="CIDFont+F2"/>
              </a:rPr>
              <a:t> mútuas, ou seja, se uma é igual à outra quando lida de traz para frente. </a:t>
            </a:r>
            <a:r>
              <a:rPr lang="pt-BR" sz="2400" b="0" i="0" u="none" strike="noStrike" baseline="0" dirty="0">
                <a:latin typeface="CIDFont+F3"/>
              </a:rPr>
              <a:t>• </a:t>
            </a:r>
            <a:r>
              <a:rPr lang="pt-BR" sz="2400" b="0" i="0" u="none" strike="noStrike" baseline="0" dirty="0">
                <a:latin typeface="CIDFont+F2"/>
              </a:rPr>
              <a:t>Exemplo: </a:t>
            </a:r>
            <a:r>
              <a:rPr lang="pt-BR" sz="2400" b="1" i="0" u="none" strike="noStrike" baseline="0" dirty="0">
                <a:latin typeface="CIDFont+F5"/>
              </a:rPr>
              <a:t>amor </a:t>
            </a:r>
            <a:r>
              <a:rPr lang="pt-BR" sz="2400" b="1" i="0" u="none" strike="noStrike" baseline="0" dirty="0">
                <a:latin typeface="CIDFont+F2"/>
              </a:rPr>
              <a:t>e </a:t>
            </a:r>
            <a:r>
              <a:rPr lang="pt-BR" sz="2400" b="1" i="0" u="none" strike="noStrike" baseline="0" dirty="0" err="1">
                <a:latin typeface="CIDFont+F5"/>
              </a:rPr>
              <a:t>roma</a:t>
            </a:r>
            <a:r>
              <a:rPr lang="pt-BR" sz="2400" b="0" i="0" u="none" strike="noStrike" baseline="0" dirty="0">
                <a:latin typeface="CIDFont+F2"/>
              </a:rPr>
              <a:t>.</a:t>
            </a:r>
          </a:p>
          <a:p>
            <a:pPr marL="457200" indent="-457200" algn="just"/>
            <a:endParaRPr lang="pt-BR" sz="2400" b="0" i="0" u="none" strike="noStrike" baseline="0" dirty="0">
              <a:latin typeface="CIDFont+F2"/>
            </a:endParaRPr>
          </a:p>
          <a:p>
            <a:pPr marL="266700" indent="-266700" algn="just"/>
            <a:r>
              <a:rPr lang="pt-BR" sz="2400" b="0" i="0" u="none" strike="noStrike" baseline="0" dirty="0">
                <a:latin typeface="CIDFont+F2"/>
              </a:rPr>
              <a:t>5. Um anagrama é uma palavra que é feita a partir da transposição das letras de outra palavra ou frase. Por exemplo, “Iracema” é um anagrama para “America”. Escreva um programa que decida se uma </a:t>
            </a:r>
            <a:r>
              <a:rPr lang="pt-BR" sz="2400" b="0" i="0" u="none" strike="noStrike" baseline="0" dirty="0" err="1">
                <a:latin typeface="CIDFont+F2"/>
              </a:rPr>
              <a:t>string</a:t>
            </a:r>
            <a:r>
              <a:rPr lang="pt-BR" sz="2400" b="0" i="0" u="none" strike="noStrike" baseline="0" dirty="0">
                <a:latin typeface="CIDFont+F2"/>
              </a:rPr>
              <a:t> é um anagrama de outra </a:t>
            </a:r>
            <a:r>
              <a:rPr lang="pt-BR" sz="2400" b="0" i="0" u="none" strike="noStrike" baseline="0" dirty="0" err="1">
                <a:latin typeface="CIDFont+F2"/>
              </a:rPr>
              <a:t>string</a:t>
            </a:r>
            <a:r>
              <a:rPr lang="pt-BR" sz="2400" b="0" i="0" u="none" strike="noStrike" baseline="0" dirty="0">
                <a:latin typeface="CIDFont+F2"/>
              </a:rPr>
              <a:t>, ignorando os espaços em branco. O programa deve considerar maiúsculas e minúsculas como sendo caracteres iguais, ou seja, “a” = “A”. Obs.: utilize a função </a:t>
            </a:r>
            <a:r>
              <a:rPr lang="pt-BR" sz="2400" b="0" i="0" u="none" strike="noStrike" baseline="0" dirty="0" err="1">
                <a:latin typeface="CIDFont+F2"/>
              </a:rPr>
              <a:t>sorted</a:t>
            </a:r>
            <a:r>
              <a:rPr lang="pt-BR" sz="2400" b="0" i="0" u="none" strike="noStrike" baseline="0" dirty="0">
                <a:latin typeface="CIDFont+F2"/>
              </a:rPr>
              <a:t>() que transforma uma </a:t>
            </a:r>
            <a:r>
              <a:rPr lang="pt-BR" sz="2400" b="0" i="0" u="none" strike="noStrike" baseline="0" dirty="0" err="1">
                <a:latin typeface="CIDFont+F2"/>
              </a:rPr>
              <a:t>string</a:t>
            </a:r>
            <a:r>
              <a:rPr lang="pt-BR" sz="2400" b="0" i="0" u="none" strike="noStrike" baseline="0" dirty="0">
                <a:latin typeface="CIDFont+F2"/>
              </a:rPr>
              <a:t> em uma lista de caracteres em ordem crescente.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7323203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B026D2D-9FE5-EEF7-7296-FDFC2F073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pt-BR"/>
              <a:t>25/07/2024</a:t>
            </a:r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B2094E6-DB76-0552-AD2F-F9A57168F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 sz="1400" b="1" dirty="0"/>
              <a:t>Cap05-Prog07 – Cap05Prog08  -  Cap05-Prog09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720890-B6C3-5C4C-76A8-080B70180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/>
            <a:fld id="{250292FE-8D56-4E3A-9427-CB428FF60A53}" type="slidenum">
              <a:rPr lang="pt-BR" b="1" smtClean="0"/>
              <a:pPr algn="r"/>
              <a:t>34</a:t>
            </a:fld>
            <a:endParaRPr lang="pt-BR" b="1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80A78509-05F7-55BF-3E50-5C69E8B44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b="1" i="1" u="none" strike="noStrike" baseline="0" dirty="0">
                <a:latin typeface="CIDFont+F1"/>
              </a:rPr>
              <a:t>Exercícios:</a:t>
            </a:r>
            <a:endParaRPr lang="pt-BR" b="1" i="1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AE91B29-842D-3081-9964-005F2949C82D}"/>
              </a:ext>
            </a:extLst>
          </p:cNvPr>
          <p:cNvSpPr txBox="1"/>
          <p:nvPr/>
        </p:nvSpPr>
        <p:spPr>
          <a:xfrm>
            <a:off x="571500" y="1397675"/>
            <a:ext cx="1084273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8288" indent="-268288" algn="l"/>
            <a:r>
              <a:rPr lang="pt-BR" sz="2400" b="0" i="0" u="none" strike="noStrike" baseline="0" dirty="0">
                <a:latin typeface="CIDFont+F2"/>
              </a:rPr>
              <a:t>6. Faça um programa que leia o nome do usuário e mostre o nome de trás para frente, utilizando somente letras maiúsculas.</a:t>
            </a:r>
          </a:p>
          <a:p>
            <a:pPr marL="268288" algn="l"/>
            <a:r>
              <a:rPr lang="pt-BR" sz="2400" b="0" i="0" u="none" strike="noStrike" baseline="0" dirty="0">
                <a:latin typeface="CIDFont+F2"/>
              </a:rPr>
              <a:t>Exemplo:</a:t>
            </a:r>
          </a:p>
          <a:p>
            <a:pPr marL="268288" algn="l"/>
            <a:r>
              <a:rPr lang="pt-BR" sz="2400" b="1" i="0" u="none" strike="noStrike" baseline="0" dirty="0">
                <a:solidFill>
                  <a:srgbClr val="FF0000"/>
                </a:solidFill>
                <a:latin typeface="CIDFont+F2"/>
              </a:rPr>
              <a:t>Nome = Vanessa  -  Resultado gerado pelo programa:  ASSENAV</a:t>
            </a:r>
          </a:p>
          <a:p>
            <a:pPr marL="268288" algn="l"/>
            <a:endParaRPr lang="pt-BR" sz="2400" dirty="0">
              <a:latin typeface="CIDFont+F2"/>
            </a:endParaRPr>
          </a:p>
          <a:p>
            <a:pPr marL="268288" indent="-268288" algn="l"/>
            <a:r>
              <a:rPr lang="pt-BR" sz="2400" b="0" i="0" u="none" strike="noStrike" baseline="0" dirty="0">
                <a:latin typeface="CIDFont+F2"/>
              </a:rPr>
              <a:t>7. Faça um programa que leia o nome do usuário e o imprima na vertical, em forma de escada, usando apenas letras maiúsculas.</a:t>
            </a:r>
          </a:p>
          <a:p>
            <a:pPr marL="268288" algn="l"/>
            <a:r>
              <a:rPr lang="pt-BR" sz="2400" b="0" i="0" u="none" strike="noStrike" baseline="0" dirty="0">
                <a:latin typeface="CIDFont+F2"/>
              </a:rPr>
              <a:t>Exemplo:  Nome = </a:t>
            </a:r>
            <a:r>
              <a:rPr lang="pt-BR" sz="2400" b="0" i="0" u="none" strike="noStrike" baseline="0" dirty="0" err="1">
                <a:latin typeface="CIDFont+F2"/>
              </a:rPr>
              <a:t>Cefet</a:t>
            </a:r>
            <a:r>
              <a:rPr lang="pt-BR" sz="2400" b="0" i="0" u="none" strike="noStrike" baseline="0" dirty="0">
                <a:latin typeface="CIDFont+F2"/>
              </a:rPr>
              <a:t>      Resultado gerado pelo programa: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4ECFC1D0-85AD-C941-F20A-B250ABF1EA2E}"/>
              </a:ext>
            </a:extLst>
          </p:cNvPr>
          <p:cNvSpPr txBox="1"/>
          <p:nvPr/>
        </p:nvSpPr>
        <p:spPr>
          <a:xfrm>
            <a:off x="583324" y="4584078"/>
            <a:ext cx="909670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 algn="just"/>
            <a:r>
              <a:rPr lang="pt-BR" sz="2400" b="0" i="0" u="none" strike="noStrike" baseline="0" dirty="0">
                <a:latin typeface="CIDFont+F2"/>
              </a:rPr>
              <a:t>8. Faça um programa que leia uma data de nascimento válida no formato </a:t>
            </a:r>
            <a:r>
              <a:rPr lang="pt-BR" sz="2400" b="0" i="0" u="none" strike="noStrike" baseline="0" dirty="0" err="1">
                <a:latin typeface="CIDFont+F2"/>
              </a:rPr>
              <a:t>dd</a:t>
            </a:r>
            <a:r>
              <a:rPr lang="pt-BR" sz="2400" b="0" i="0" u="none" strike="noStrike" baseline="0" dirty="0">
                <a:latin typeface="CIDFont+F2"/>
              </a:rPr>
              <a:t>/mm/</a:t>
            </a:r>
            <a:r>
              <a:rPr lang="pt-BR" sz="2400" b="0" i="0" u="none" strike="noStrike" baseline="0" dirty="0" err="1">
                <a:latin typeface="CIDFont+F2"/>
              </a:rPr>
              <a:t>aaaa</a:t>
            </a:r>
            <a:r>
              <a:rPr lang="pt-BR" sz="2400" b="0" i="0" u="none" strike="noStrike" baseline="0" dirty="0">
                <a:latin typeface="CIDFont+F2"/>
              </a:rPr>
              <a:t> e imprima a data com o mês escrito por extenso. Exemplo:  </a:t>
            </a:r>
            <a:r>
              <a:rPr lang="pt-BR" sz="2400" b="1" i="0" u="none" strike="noStrike" baseline="0" dirty="0">
                <a:solidFill>
                  <a:srgbClr val="FF0000"/>
                </a:solidFill>
                <a:latin typeface="CIDFont+F2"/>
              </a:rPr>
              <a:t>Data = 22/08/1960</a:t>
            </a:r>
          </a:p>
          <a:p>
            <a:pPr marL="2601913" algn="just"/>
            <a:r>
              <a:rPr lang="pt-BR" sz="2400" b="1" i="0" u="none" strike="noStrike" baseline="0" dirty="0">
                <a:solidFill>
                  <a:srgbClr val="FF0000"/>
                </a:solidFill>
                <a:latin typeface="CIDFont+F2"/>
              </a:rPr>
              <a:t>  Resultado :  22 de </a:t>
            </a:r>
            <a:r>
              <a:rPr lang="pt-BR" sz="2400" b="1" dirty="0">
                <a:solidFill>
                  <a:srgbClr val="FF0000"/>
                </a:solidFill>
                <a:latin typeface="CIDFont+F2"/>
              </a:rPr>
              <a:t>Agosto</a:t>
            </a:r>
            <a:r>
              <a:rPr lang="pt-BR" sz="2400" b="1" i="0" u="none" strike="noStrike" baseline="0" dirty="0">
                <a:solidFill>
                  <a:srgbClr val="FF0000"/>
                </a:solidFill>
                <a:latin typeface="CIDFont+F2"/>
              </a:rPr>
              <a:t> de 1960</a:t>
            </a:r>
            <a:endParaRPr lang="pt-BR" sz="2400" b="1" dirty="0">
              <a:solidFill>
                <a:srgbClr val="FF0000"/>
              </a:solidFill>
              <a:latin typeface="CIDFont+F2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B38171E-D51D-9E51-AE65-A84E57E493DD}"/>
              </a:ext>
            </a:extLst>
          </p:cNvPr>
          <p:cNvSpPr txBox="1"/>
          <p:nvPr/>
        </p:nvSpPr>
        <p:spPr>
          <a:xfrm>
            <a:off x="10338495" y="4016871"/>
            <a:ext cx="933850" cy="1477328"/>
          </a:xfrm>
          <a:prstGeom prst="rect">
            <a:avLst/>
          </a:prstGeom>
          <a:noFill/>
          <a:ln w="3175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</a:rPr>
              <a:t>C</a:t>
            </a:r>
          </a:p>
          <a:p>
            <a:r>
              <a:rPr lang="pt-BR" b="1" dirty="0">
                <a:solidFill>
                  <a:srgbClr val="FF0000"/>
                </a:solidFill>
              </a:rPr>
              <a:t>CE</a:t>
            </a:r>
          </a:p>
          <a:p>
            <a:r>
              <a:rPr lang="pt-BR" b="1" dirty="0">
                <a:solidFill>
                  <a:srgbClr val="FF0000"/>
                </a:solidFill>
              </a:rPr>
              <a:t>CEF</a:t>
            </a:r>
          </a:p>
          <a:p>
            <a:r>
              <a:rPr lang="pt-BR" b="1" dirty="0">
                <a:solidFill>
                  <a:srgbClr val="FF0000"/>
                </a:solidFill>
              </a:rPr>
              <a:t>CEFE</a:t>
            </a:r>
          </a:p>
          <a:p>
            <a:r>
              <a:rPr lang="pt-BR" b="1" dirty="0">
                <a:solidFill>
                  <a:srgbClr val="FF0000"/>
                </a:solidFill>
              </a:rPr>
              <a:t>CEFET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E4D32F0A-7A89-B8A9-5AAF-FCDF6B38BA23}"/>
              </a:ext>
            </a:extLst>
          </p:cNvPr>
          <p:cNvCxnSpPr>
            <a:cxnSpLocks/>
          </p:cNvCxnSpPr>
          <p:nvPr/>
        </p:nvCxnSpPr>
        <p:spPr>
          <a:xfrm>
            <a:off x="8513379" y="4209393"/>
            <a:ext cx="1671145" cy="0"/>
          </a:xfrm>
          <a:prstGeom prst="straightConnector1">
            <a:avLst/>
          </a:prstGeom>
          <a:ln w="4127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83323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24A3A580C3F0644BAE65217E90A3571B" ma:contentTypeVersion="10" ma:contentTypeDescription="Crie um novo documento." ma:contentTypeScope="" ma:versionID="17db1123b059ccd9b7a0137fb695dfba">
  <xsd:schema xmlns:xsd="http://www.w3.org/2001/XMLSchema" xmlns:xs="http://www.w3.org/2001/XMLSchema" xmlns:p="http://schemas.microsoft.com/office/2006/metadata/properties" xmlns:ns2="30a7b03c-4792-4e17-9dab-b93b92a33270" xmlns:ns3="5c7a6bef-5354-4968-b627-13d8ea6c420d" targetNamespace="http://schemas.microsoft.com/office/2006/metadata/properties" ma:root="true" ma:fieldsID="8a52f4d396bca3b056e9e32e12d83d9c" ns2:_="" ns3:_="">
    <xsd:import namespace="30a7b03c-4792-4e17-9dab-b93b92a33270"/>
    <xsd:import namespace="5c7a6bef-5354-4968-b627-13d8ea6c420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0a7b03c-4792-4e17-9dab-b93b92a332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c666036a-182f-4ecd-b44e-d420e52619f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7a6bef-5354-4968-b627-13d8ea6c420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53475c2-86e0-40c6-a7f9-d735a9095961}" ma:internalName="TaxCatchAll" ma:showField="CatchAllData" ma:web="5c7a6bef-5354-4968-b627-13d8ea6c420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0a7b03c-4792-4e17-9dab-b93b92a33270">
      <Terms xmlns="http://schemas.microsoft.com/office/infopath/2007/PartnerControls"/>
    </lcf76f155ced4ddcb4097134ff3c332f>
    <TaxCatchAll xmlns="5c7a6bef-5354-4968-b627-13d8ea6c420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DB2BA1A-EFEB-484D-94F7-474FE27149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0a7b03c-4792-4e17-9dab-b93b92a33270"/>
    <ds:schemaRef ds:uri="5c7a6bef-5354-4968-b627-13d8ea6c420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385779C-0905-42A4-980A-EFEDC8BBF6AB}">
  <ds:schemaRefs>
    <ds:schemaRef ds:uri="http://schemas.microsoft.com/office/2006/metadata/properties"/>
    <ds:schemaRef ds:uri="http://schemas.microsoft.com/office/infopath/2007/PartnerControls"/>
    <ds:schemaRef ds:uri="30a7b03c-4792-4e17-9dab-b93b92a33270"/>
    <ds:schemaRef ds:uri="5c7a6bef-5354-4968-b627-13d8ea6c420d"/>
  </ds:schemaRefs>
</ds:datastoreItem>
</file>

<file path=customXml/itemProps3.xml><?xml version="1.0" encoding="utf-8"?>
<ds:datastoreItem xmlns:ds="http://schemas.openxmlformats.org/officeDocument/2006/customXml" ds:itemID="{269A8C35-EBB4-4ED4-8634-F0D578AEF55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11180</TotalTime>
  <Words>3001</Words>
  <Application>Microsoft Office PowerPoint</Application>
  <PresentationFormat>Widescreen</PresentationFormat>
  <Paragraphs>540</Paragraphs>
  <Slides>34</Slides>
  <Notes>5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35" baseType="lpstr">
      <vt:lpstr>Tema do Office</vt:lpstr>
      <vt:lpstr>              Centro Federal de Educação Tecnológica Celso Suckow da Fonseca Escola de Informática e Computação Ciência da Computação</vt:lpstr>
      <vt:lpstr>Strings em Python </vt:lpstr>
      <vt:lpstr>Strings</vt:lpstr>
      <vt:lpstr>Acesso ao conteúdo de uma String </vt:lpstr>
      <vt:lpstr>Acesso ao conteúdo de uma String </vt:lpstr>
      <vt:lpstr>Alteração </vt:lpstr>
      <vt:lpstr>Operadores e Funções utilizados em Strings</vt:lpstr>
      <vt:lpstr>Operador + (concatenação)</vt:lpstr>
      <vt:lpstr>Percorrendo Strings em Python</vt:lpstr>
      <vt:lpstr>Formas de acesso à String</vt:lpstr>
      <vt:lpstr>F-string</vt:lpstr>
      <vt:lpstr>F-string</vt:lpstr>
      <vt:lpstr>F-string</vt:lpstr>
      <vt:lpstr>Método upper()</vt:lpstr>
      <vt:lpstr>Método lower()</vt:lpstr>
      <vt:lpstr>Método find()</vt:lpstr>
      <vt:lpstr>Método strip()</vt:lpstr>
      <vt:lpstr>Método count()</vt:lpstr>
      <vt:lpstr>Exemplo</vt:lpstr>
      <vt:lpstr>Método split( )</vt:lpstr>
      <vt:lpstr>Método split( ) - Exemplos</vt:lpstr>
      <vt:lpstr>Método split( ) - Exemplos</vt:lpstr>
      <vt:lpstr>Método partition( )</vt:lpstr>
      <vt:lpstr>Método partition( ) - Exemplos</vt:lpstr>
      <vt:lpstr>Método replace( )</vt:lpstr>
      <vt:lpstr>Método replace( )</vt:lpstr>
      <vt:lpstr>Método join( )</vt:lpstr>
      <vt:lpstr>Método capitalize( ) e title()</vt:lpstr>
      <vt:lpstr>Exemplos de Métodos do Ptython</vt:lpstr>
      <vt:lpstr>Exemplos de Métodos do Ptython</vt:lpstr>
      <vt:lpstr>Exemplos de Métodos do Ptython</vt:lpstr>
      <vt:lpstr>Exercícios:</vt:lpstr>
      <vt:lpstr>Exercícios:</vt:lpstr>
      <vt:lpstr>Exercícios: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ALMIR SILVA DA SILVEIRA</dc:creator>
  <cp:lastModifiedBy>ALMIR SILVA DA SILVEIRA</cp:lastModifiedBy>
  <cp:revision>193</cp:revision>
  <dcterms:created xsi:type="dcterms:W3CDTF">2024-07-25T18:00:53Z</dcterms:created>
  <dcterms:modified xsi:type="dcterms:W3CDTF">2026-04-25T18:47:11Z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0x01010024A3A580C3F0644BAE65217E90A3571B</vt:lpwstr>
  </property>
  <property fmtid="{D5CDD505-2E9C-101B-9397-08002B2CF9AE}" pid="3" name="MediaServiceImageTags">
    <vt:lpwstr/>
  </property>
</Properties>
</file>