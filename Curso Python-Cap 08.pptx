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258" r:id="rId5"/>
    <p:sldId id="259" r:id="rId6"/>
    <p:sldId id="306" r:id="rId7"/>
    <p:sldId id="305" r:id="rId8"/>
    <p:sldId id="260" r:id="rId9"/>
    <p:sldId id="304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00"/>
    <a:srgbClr val="0079B6"/>
    <a:srgbClr val="FC4810"/>
    <a:srgbClr val="FE4D2A"/>
    <a:srgbClr val="2D100B"/>
    <a:srgbClr val="2C110C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269D01E-BC32-4049-B463-5C60D7B0CCD2}" styleName="Estilo com Tema 2 - Ênfas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50" autoAdjust="0"/>
    <p:restoredTop sz="95095" autoAdjust="0"/>
  </p:normalViewPr>
  <p:slideViewPr>
    <p:cSldViewPr snapToGrid="0">
      <p:cViewPr varScale="1">
        <p:scale>
          <a:sx n="112" d="100"/>
          <a:sy n="112" d="100"/>
        </p:scale>
        <p:origin x="192" y="96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234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D7F6E95-DF0A-DDE8-9E53-D9371CC825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44EA07-597F-F819-7229-532D66BD13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BDEF1-98DE-47F3-AB9B-696578D75E17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97D246-3E04-820B-A4C8-7E38ADED3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651051-B63C-CCEF-B43D-06863876E8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A3027-C7E8-477B-B942-A004D5627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403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62CF-6E2E-4950-A4C6-2F0629CEB57A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4D19-40F4-4FB2-BB02-0ACB3B3819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5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6BDC-F7DD-220C-CACB-623D63919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1EF9C-808A-F892-ED25-C59BF2633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C2D21-355A-B4C6-D7BF-FC594A57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F13E9C-3250-5D7A-CE51-894FC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CD16C1-6D70-DEDF-955E-96C301AA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11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FA50B-B228-B2CB-4BBD-59790D44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9151" y="6356350"/>
            <a:ext cx="1209821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pt-BR" dirty="0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33E03-04D3-3C99-D4CC-393AD437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56350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D6B47-DA56-AC52-B164-35891B6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9480" y="6356350"/>
            <a:ext cx="873369" cy="365125"/>
          </a:xfrm>
        </p:spPr>
        <p:txBody>
          <a:bodyPr/>
          <a:lstStyle>
            <a:lvl1pPr algn="l">
              <a:defRPr/>
            </a:lvl1pPr>
          </a:lstStyle>
          <a:p>
            <a:fld id="{250292FE-8D56-4E3A-9427-CB428FF60A53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107C4F4-2068-EDC6-F8E0-984352F6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32" y="365125"/>
            <a:ext cx="9862002" cy="988219"/>
          </a:xfrm>
        </p:spPr>
        <p:txBody>
          <a:bodyPr>
            <a:norm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Centro Federal de Educação Tecnológica Celso Suckow da Fonseca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5CB7DE-4FD2-82C8-8085-8522769A2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4466" y="349522"/>
            <a:ext cx="1681066" cy="9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4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0012B-5FFB-503A-93D2-2F43E17D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AC1D0C-2F68-C972-9E1F-BA1FD83C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7B6F4-628B-9CD7-8F7F-2A564084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11514-16C5-4418-818A-FDECA547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883EA9-82C8-DD6A-6F7E-A1052938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76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8F2E-F87A-28D2-5177-D8AF0FC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AD59D1-A894-70DE-B49C-7E1C42153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A1CB66-D4B3-0C42-5406-A3972149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5A9045-E299-D1BC-548E-DA60065B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861DB-B126-C096-C0C8-75EA29D0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93C2C-87A8-7ADD-E4C9-5C96068C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06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73ED7-1686-5F8A-10A9-F50F6603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DAE2A-0C8E-84B7-FF7F-0075E7B6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C14A8-D0E9-8760-78FF-07B539BD8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7A9A5-E119-FD4F-CCDF-BB396DFF6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5E3807-E3CF-D08F-555A-BAE67FCD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F527B8-39F7-34AC-744A-DB3EAF11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187CDB-4CAD-C47F-7F68-4B977C1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03A58A-4C31-DEDB-994F-3A747346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01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EEE29-8BDC-371F-1F50-0966199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665B26-3B57-E9CD-FEE1-8F12BEB5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300C64-73E3-2FDB-857F-DD1BF80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810EA3-9932-5C64-9D4A-2CF0AEF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02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5D1DE8-C2E7-563C-BC88-550A37CD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7F044E-5BF1-1E08-B412-3A8E378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2ECD8-BC8E-75AF-3253-F35E2EC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41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9D38-2472-977E-F0B5-2A8A7C3D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AD1A9-6513-146C-8A98-E6EB5DC7B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800B00-B279-50DA-DBD9-6C613A9D8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C20CA-FD74-F909-C6A2-CAFF4EC7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E8670-D013-EC8F-D118-AB063F6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3CD7B-732D-B650-F141-5F79FB19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70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9DBC3-3401-A3D2-B219-259F44F8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29A8F6-B5A7-41C2-5EDB-B3AC72B59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2B7809-70B0-CFDE-77FE-019E49D8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D4786D-E5B0-5995-B806-7759C6B7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C364B-4223-A58F-49EE-FDCB6E1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B41AD-07A8-879B-D075-7E057EE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3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12E53-480A-BCC2-AF43-0C32667B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7777D6-06A6-D2A5-0BEA-E9A8A19A0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FBCF5-1061-4ADF-5028-EB2D4615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448D7-E146-7AC9-3404-C4353F51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4F478F-8BE1-E167-FE88-5357CBEB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80F69-9B91-0B85-B18D-29C478C3E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CEE54A-78BE-B888-5435-1F4BB92E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09EE3-9541-F7F1-FC4A-5B0F583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835FE-3B42-0F74-F3A7-1EC2DE7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765329-397C-FC63-6BE6-8BC5E6B0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4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392734-EB08-7F99-9C05-CEFB6E10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2EE65-2666-D63F-D25E-DE0E33A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F20C4-E182-7218-6B83-DB95542FC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4A0E7-B671-9258-1B0E-12AFF67F1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40868-9CE7-5A9C-049A-DF55CBD7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7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5C6A1B-B42D-97AA-6E2D-CC2DD52B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</a:t>
            </a: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40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3F93AE-CC61-84FA-B813-FE5A675C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C5ABB53-4A29-DA28-55A7-C099606F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7948" y="6356349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C0536A0-9280-5193-6FB9-ED255F9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600" y="6356350"/>
            <a:ext cx="421249" cy="365125"/>
          </a:xfrm>
        </p:spPr>
        <p:txBody>
          <a:bodyPr/>
          <a:lstStyle/>
          <a:p>
            <a:fld id="{250292FE-8D56-4E3A-9427-CB428FF60A53}" type="slidenum">
              <a:rPr lang="pt-BR" smtClean="0"/>
              <a:pPr/>
              <a:t>1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FACD24-BD62-72C2-991F-8DBA2BDB6F87}"/>
              </a:ext>
            </a:extLst>
          </p:cNvPr>
          <p:cNvSpPr txBox="1"/>
          <p:nvPr/>
        </p:nvSpPr>
        <p:spPr>
          <a:xfrm>
            <a:off x="543697" y="2028616"/>
            <a:ext cx="108863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Algoritmos Computacionais e</a:t>
            </a:r>
          </a:p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Estrutura de Dados em Python</a:t>
            </a:r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– Cap-08 –</a:t>
            </a:r>
          </a:p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Função</a:t>
            </a:r>
          </a:p>
          <a:p>
            <a:pPr algn="ctr"/>
            <a:endParaRPr lang="pt-B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8B4042-4B7D-847F-883F-141C385B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B00BA0-9E8F-BC0F-B89E-5A61ED02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35B0AE-55E9-0CE1-41AB-EDECA738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35E6337-AA41-584A-0117-A5ACC483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Função em Python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DE32A49-7A7A-AD2F-17F8-EB0212355943}"/>
              </a:ext>
            </a:extLst>
          </p:cNvPr>
          <p:cNvSpPr txBox="1"/>
          <p:nvPr/>
        </p:nvSpPr>
        <p:spPr>
          <a:xfrm>
            <a:off x="825910" y="1519085"/>
            <a:ext cx="105156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 dirty="0">
                <a:latin typeface="CIDFont+F3"/>
              </a:rPr>
              <a:t>O que vimos até agora:</a:t>
            </a:r>
          </a:p>
          <a:p>
            <a:pPr algn="l"/>
            <a:endParaRPr lang="pt-BR" sz="3200" b="0" i="0" u="none" strike="noStrike" baseline="0" dirty="0">
              <a:latin typeface="CIDFont+F3"/>
            </a:endParaRPr>
          </a:p>
          <a:p>
            <a:pPr algn="l"/>
            <a:r>
              <a:rPr lang="pt-BR" sz="2400" b="0" i="0" u="none" strike="noStrike" baseline="0" dirty="0">
                <a:latin typeface="CIDFont+F4"/>
              </a:rPr>
              <a:t>• </a:t>
            </a:r>
            <a:r>
              <a:rPr lang="pt-BR" sz="2400" b="0" i="0" u="none" strike="noStrike" baseline="0" dirty="0">
                <a:latin typeface="CIDFont+F2"/>
              </a:rPr>
              <a:t>Programas que usam </a:t>
            </a:r>
            <a:r>
              <a:rPr lang="pt-BR" sz="2400" b="0" i="0" u="none" strike="noStrike" baseline="0" dirty="0">
                <a:latin typeface="CIDFont+F3"/>
              </a:rPr>
              <a:t>apenas sequência, repetição e decisão</a:t>
            </a:r>
          </a:p>
          <a:p>
            <a:pPr algn="l"/>
            <a:endParaRPr lang="pt-BR" sz="2400" b="0" i="0" u="none" strike="noStrike" baseline="0" dirty="0">
              <a:latin typeface="CIDFont+F3"/>
            </a:endParaRPr>
          </a:p>
          <a:p>
            <a:pPr marL="176213" indent="-176213" algn="l"/>
            <a:r>
              <a:rPr lang="pt-BR" sz="2400" b="0" i="0" u="none" strike="noStrike" baseline="0" dirty="0">
                <a:latin typeface="CIDFont+F4"/>
              </a:rPr>
              <a:t>• </a:t>
            </a:r>
            <a:r>
              <a:rPr lang="pt-BR" sz="2400" b="0" i="0" u="none" strike="noStrike" baseline="0" dirty="0">
                <a:latin typeface="CIDFont+F2"/>
              </a:rPr>
              <a:t>Capacidade de resolver diversos problemas, mas </a:t>
            </a:r>
            <a:r>
              <a:rPr lang="pt-BR" sz="2400" b="0" i="0" u="none" strike="noStrike" baseline="0" dirty="0">
                <a:latin typeface="CIDFont+F3"/>
              </a:rPr>
              <a:t>difícil de resolver problemas grandes</a:t>
            </a:r>
          </a:p>
          <a:p>
            <a:pPr marL="176213" indent="-176213" algn="l"/>
            <a:endParaRPr lang="pt-BR" sz="2400" b="0" i="0" u="none" strike="noStrike" baseline="0" dirty="0">
              <a:latin typeface="CIDFont+F3"/>
            </a:endParaRPr>
          </a:p>
          <a:p>
            <a:pPr marL="176213" indent="-176213" algn="l"/>
            <a:r>
              <a:rPr lang="pt-BR" sz="2400" b="0" i="0" u="none" strike="noStrike" baseline="0" dirty="0">
                <a:latin typeface="CIDFont+F4"/>
              </a:rPr>
              <a:t>– </a:t>
            </a:r>
            <a:r>
              <a:rPr lang="pt-BR" sz="2400" b="0" i="0" u="none" strike="noStrike" baseline="0" dirty="0">
                <a:latin typeface="CIDFont+F2"/>
              </a:rPr>
              <a:t>Em algumas situações, é necessário </a:t>
            </a:r>
            <a:r>
              <a:rPr lang="pt-BR" sz="2400" b="0" i="0" u="none" strike="noStrike" baseline="0" dirty="0">
                <a:latin typeface="CIDFont+F3"/>
              </a:rPr>
              <a:t>repetir o mesmo trecho de código </a:t>
            </a:r>
            <a:r>
              <a:rPr lang="pt-BR" sz="2400" b="0" i="0" u="none" strike="noStrike" baseline="0" dirty="0">
                <a:latin typeface="CIDFont+F2"/>
              </a:rPr>
              <a:t>em diversos pontos do programa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4261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E252D4-E1F5-AC3F-FBBE-F8D9FA80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C63D5F-6E84-EC8B-8D2C-B3365677C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FD9EB8-D3B2-A85E-522F-C9B84656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8FECD09-F7B8-8903-7EC7-AD006332A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1" dirty="0"/>
              <a:t>Minha  1ª Função no Python - definição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BACE531-1A1B-8A5D-D598-3C0CD9BBAFDD}"/>
              </a:ext>
            </a:extLst>
          </p:cNvPr>
          <p:cNvSpPr txBox="1"/>
          <p:nvPr/>
        </p:nvSpPr>
        <p:spPr>
          <a:xfrm>
            <a:off x="1366146" y="1545068"/>
            <a:ext cx="9862003" cy="452431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highlight>
                  <a:srgbClr val="FF0000"/>
                </a:highlight>
              </a:rPr>
              <a:t># Exemplo uma Função</a:t>
            </a:r>
          </a:p>
          <a:p>
            <a:r>
              <a:rPr lang="pt-BR" sz="3600" b="1" dirty="0" err="1">
                <a:solidFill>
                  <a:srgbClr val="FFFF00"/>
                </a:solidFill>
                <a:highlight>
                  <a:srgbClr val="FF0000"/>
                </a:highlight>
              </a:rPr>
              <a:t>def</a:t>
            </a:r>
            <a:r>
              <a:rPr lang="pt-BR" sz="3600" b="1" dirty="0">
                <a:solidFill>
                  <a:srgbClr val="FFFF00"/>
                </a:solidFill>
                <a:highlight>
                  <a:srgbClr val="FF0000"/>
                </a:highlight>
              </a:rPr>
              <a:t>   alo():</a:t>
            </a:r>
          </a:p>
          <a:p>
            <a:pPr marL="622300">
              <a:tabLst>
                <a:tab pos="444500" algn="l"/>
              </a:tabLst>
            </a:pPr>
            <a:r>
              <a:rPr lang="pt-BR" altLang="pt-BR" sz="3600" b="1" i="1" dirty="0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0000"/>
                </a:highlight>
                <a:latin typeface="Arial Unicode MS" panose="020B0604020202020204" pitchFamily="34" charset="-128"/>
              </a:rPr>
              <a:t># Escreve ‘Alo Mundo !’ e não retorna nada</a:t>
            </a:r>
            <a:r>
              <a:rPr lang="pt-BR" altLang="pt-BR" sz="3600" b="1" dirty="0">
                <a:solidFill>
                  <a:schemeClr val="bg1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    </a:t>
            </a:r>
          </a:p>
          <a:p>
            <a:pPr marL="622300">
              <a:tabLst>
                <a:tab pos="444500" algn="l"/>
              </a:tabLst>
            </a:pPr>
            <a:r>
              <a:rPr lang="pt-BR" altLang="pt-BR" sz="3600" b="1" dirty="0">
                <a:solidFill>
                  <a:schemeClr val="bg1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print </a:t>
            </a:r>
            <a:r>
              <a:rPr lang="pt-BR" altLang="pt-BR" sz="3600" b="1" dirty="0">
                <a:solidFill>
                  <a:schemeClr val="bg1"/>
                </a:solidFill>
                <a:highlight>
                  <a:srgbClr val="FF0000"/>
                </a:highlight>
                <a:latin typeface="Arial Unicode MS" panose="020B0604020202020204" pitchFamily="34" charset="-128"/>
              </a:rPr>
              <a:t>(</a:t>
            </a:r>
            <a:r>
              <a:rPr lang="pt-BR" altLang="pt-BR" sz="3600" b="1" dirty="0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0000"/>
                </a:highlight>
                <a:latin typeface="Arial Unicode MS" panose="020B0604020202020204" pitchFamily="34" charset="-128"/>
              </a:rPr>
              <a:t>"Alo, Mundo !"</a:t>
            </a:r>
            <a:r>
              <a:rPr lang="pt-BR" altLang="pt-BR" sz="3600" b="1" dirty="0">
                <a:solidFill>
                  <a:schemeClr val="bg1"/>
                </a:solidFill>
                <a:highlight>
                  <a:srgbClr val="FF0000"/>
                </a:highlight>
                <a:latin typeface="Arial Unicode MS" panose="020B0604020202020204" pitchFamily="34" charset="-128"/>
              </a:rPr>
              <a:t>)</a:t>
            </a:r>
          </a:p>
          <a:p>
            <a:r>
              <a:rPr lang="pt-BR" sz="3600" b="1" dirty="0">
                <a:solidFill>
                  <a:schemeClr val="bg1"/>
                </a:solidFill>
                <a:highlight>
                  <a:srgbClr val="FF0000"/>
                </a:highlight>
                <a:latin typeface="Arial Unicode MS" panose="020B0604020202020204" pitchFamily="34" charset="-128"/>
              </a:rPr>
              <a:t> </a:t>
            </a:r>
          </a:p>
          <a:p>
            <a:r>
              <a:rPr lang="pt-BR" sz="3600" b="1" dirty="0">
                <a:solidFill>
                  <a:schemeClr val="bg1"/>
                </a:solidFill>
                <a:highlight>
                  <a:srgbClr val="FF0000"/>
                </a:highlight>
                <a:latin typeface="Arial Unicode MS" panose="020B0604020202020204" pitchFamily="34" charset="-128"/>
              </a:rPr>
              <a:t># O Programa Principal começa aqui</a:t>
            </a:r>
          </a:p>
          <a:p>
            <a:endParaRPr lang="pt-BR" sz="3600" b="1" dirty="0">
              <a:solidFill>
                <a:schemeClr val="bg1"/>
              </a:solidFill>
              <a:highlight>
                <a:srgbClr val="FF0000"/>
              </a:highlight>
              <a:latin typeface="Arial Unicode MS" panose="020B0604020202020204" pitchFamily="34" charset="-128"/>
            </a:endParaRPr>
          </a:p>
          <a:p>
            <a:r>
              <a:rPr lang="pt-BR" sz="3600" b="1" dirty="0">
                <a:solidFill>
                  <a:schemeClr val="bg1"/>
                </a:solidFill>
                <a:highlight>
                  <a:srgbClr val="FF0000"/>
                </a:highlight>
                <a:latin typeface="Arial Unicode MS" panose="020B0604020202020204" pitchFamily="34" charset="-128"/>
              </a:rPr>
              <a:t>alo()</a:t>
            </a:r>
            <a:endParaRPr lang="pt-BR" sz="3600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1811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F913FA-169F-8D58-CF33-4D355713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8898AA6-6648-BF02-F8BB-92345BB0F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94DD48-7F67-214B-0A2C-CCEAB10A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4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7DC00FB-0C24-55D5-D025-E09232B7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Declaração de Funções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B95A3A3-FA8E-1114-DE86-700145D0E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649563"/>
              </p:ext>
            </p:extLst>
          </p:nvPr>
        </p:nvGraphicFramePr>
        <p:xfrm>
          <a:off x="2950667" y="2719811"/>
          <a:ext cx="689420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403">
                  <a:extLst>
                    <a:ext uri="{9D8B030D-6E8A-4147-A177-3AD203B41FA5}">
                      <a16:colId xmlns:a16="http://schemas.microsoft.com/office/drawing/2014/main" val="3023376410"/>
                    </a:ext>
                  </a:extLst>
                </a:gridCol>
                <a:gridCol w="3930225">
                  <a:extLst>
                    <a:ext uri="{9D8B030D-6E8A-4147-A177-3AD203B41FA5}">
                      <a16:colId xmlns:a16="http://schemas.microsoft.com/office/drawing/2014/main" val="615195817"/>
                    </a:ext>
                  </a:extLst>
                </a:gridCol>
                <a:gridCol w="1524554">
                  <a:extLst>
                    <a:ext uri="{9D8B030D-6E8A-4147-A177-3AD203B41FA5}">
                      <a16:colId xmlns:a16="http://schemas.microsoft.com/office/drawing/2014/main" val="2120222480"/>
                    </a:ext>
                  </a:extLst>
                </a:gridCol>
                <a:gridCol w="465021">
                  <a:extLst>
                    <a:ext uri="{9D8B030D-6E8A-4147-A177-3AD203B41FA5}">
                      <a16:colId xmlns:a16="http://schemas.microsoft.com/office/drawing/2014/main" val="75047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def</a:t>
                      </a:r>
                      <a:endParaRPr lang="pt-BR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 err="1">
                          <a:solidFill>
                            <a:schemeClr val="bg1"/>
                          </a:solidFill>
                        </a:rPr>
                        <a:t>exibir_Mensagem</a:t>
                      </a:r>
                      <a:endParaRPr lang="pt-B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(nome)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45960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FD3E509D-A485-C721-F82E-6BB98B4B4127}"/>
              </a:ext>
            </a:extLst>
          </p:cNvPr>
          <p:cNvSpPr txBox="1"/>
          <p:nvPr/>
        </p:nvSpPr>
        <p:spPr>
          <a:xfrm>
            <a:off x="239151" y="1457316"/>
            <a:ext cx="26897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Palavra chave do Python utilizada na declaração de funções</a:t>
            </a:r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34711CEB-1A77-BA76-4130-350F083841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93483" y="2094006"/>
            <a:ext cx="728138" cy="657228"/>
          </a:xfrm>
          <a:prstGeom prst="bentConnector3">
            <a:avLst>
              <a:gd name="adj1" fmla="val -2979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9B4167A-29F8-BE27-AAA6-85831E508F98}"/>
              </a:ext>
            </a:extLst>
          </p:cNvPr>
          <p:cNvSpPr txBox="1"/>
          <p:nvPr/>
        </p:nvSpPr>
        <p:spPr>
          <a:xfrm>
            <a:off x="3757592" y="1457296"/>
            <a:ext cx="1600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Nome da Função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AE04D648-8FAE-FFF1-7A00-086B0879A3E0}"/>
              </a:ext>
            </a:extLst>
          </p:cNvPr>
          <p:cNvCxnSpPr>
            <a:cxnSpLocks/>
          </p:cNvCxnSpPr>
          <p:nvPr/>
        </p:nvCxnSpPr>
        <p:spPr>
          <a:xfrm flipH="1">
            <a:off x="4529116" y="2245441"/>
            <a:ext cx="1" cy="49837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93B59EC1-40CD-4C8F-EFD9-9A40B90DE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618308"/>
              </p:ext>
            </p:extLst>
          </p:nvPr>
        </p:nvGraphicFramePr>
        <p:xfrm>
          <a:off x="3857885" y="3155820"/>
          <a:ext cx="5509628" cy="497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628">
                  <a:extLst>
                    <a:ext uri="{9D8B030D-6E8A-4147-A177-3AD203B41FA5}">
                      <a16:colId xmlns:a16="http://schemas.microsoft.com/office/drawing/2014/main" val="615195817"/>
                    </a:ext>
                  </a:extLst>
                </a:gridCol>
              </a:tblGrid>
              <a:tr h="497475">
                <a:tc>
                  <a:txBody>
                    <a:bodyPr/>
                    <a:lstStyle/>
                    <a:p>
                      <a:r>
                        <a:rPr lang="pt-BR" sz="2400" dirty="0"/>
                        <a:t>print(‘Seja Bem-vindo :  ‘, nome)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45960"/>
                  </a:ext>
                </a:extLst>
              </a:tr>
            </a:tbl>
          </a:graphicData>
        </a:graphic>
      </p:graphicFrame>
      <p:sp>
        <p:nvSpPr>
          <p:cNvPr id="24" name="CaixaDeTexto 23">
            <a:extLst>
              <a:ext uri="{FF2B5EF4-FFF2-40B4-BE49-F238E27FC236}">
                <a16:creationId xmlns:a16="http://schemas.microsoft.com/office/drawing/2014/main" id="{856E1EB3-80A3-1353-6780-BE520CCECF28}"/>
              </a:ext>
            </a:extLst>
          </p:cNvPr>
          <p:cNvSpPr txBox="1"/>
          <p:nvPr/>
        </p:nvSpPr>
        <p:spPr>
          <a:xfrm>
            <a:off x="257165" y="4357678"/>
            <a:ext cx="1771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Indentação do Código</a:t>
            </a:r>
          </a:p>
        </p:txBody>
      </p: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077CBBDC-D321-6684-B61A-0974E532FA38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028815" y="3946502"/>
            <a:ext cx="1297745" cy="826675"/>
          </a:xfrm>
          <a:prstGeom prst="bentConnector3">
            <a:avLst>
              <a:gd name="adj1" fmla="val 99543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372862F-33DD-07CA-D49B-16D15C317889}"/>
              </a:ext>
            </a:extLst>
          </p:cNvPr>
          <p:cNvSpPr txBox="1"/>
          <p:nvPr/>
        </p:nvSpPr>
        <p:spPr>
          <a:xfrm>
            <a:off x="3842387" y="4022187"/>
            <a:ext cx="266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rgbClr val="FF0000"/>
                </a:solidFill>
              </a:rPr>
              <a:t>return</a:t>
            </a:r>
            <a:r>
              <a:rPr lang="pt-BR" sz="2400" dirty="0"/>
              <a:t> (“Foi Fácil”)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191C427-5073-6F00-B03C-DE81C17D6E10}"/>
              </a:ext>
            </a:extLst>
          </p:cNvPr>
          <p:cNvSpPr txBox="1"/>
          <p:nvPr/>
        </p:nvSpPr>
        <p:spPr>
          <a:xfrm>
            <a:off x="5300642" y="1457296"/>
            <a:ext cx="6891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Lista de Parâmetros entre parênteses. Se não existir  parâmetros, basta abrir e fechar parênteses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178A004B-0A02-1FB1-9F9F-C173B007C34B}"/>
              </a:ext>
            </a:extLst>
          </p:cNvPr>
          <p:cNvCxnSpPr>
            <a:cxnSpLocks/>
          </p:cNvCxnSpPr>
          <p:nvPr/>
        </p:nvCxnSpPr>
        <p:spPr>
          <a:xfrm>
            <a:off x="8358188" y="2258049"/>
            <a:ext cx="0" cy="457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9EC7F32-E8B0-8101-C100-31A8C132026A}"/>
              </a:ext>
            </a:extLst>
          </p:cNvPr>
          <p:cNvSpPr txBox="1"/>
          <p:nvPr/>
        </p:nvSpPr>
        <p:spPr>
          <a:xfrm>
            <a:off x="2005532" y="4917968"/>
            <a:ext cx="4266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Retorno da Função (opcional)</a:t>
            </a:r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CBA05DEB-242F-5CE6-D9D6-B5A1C3855192}"/>
              </a:ext>
            </a:extLst>
          </p:cNvPr>
          <p:cNvCxnSpPr>
            <a:cxnSpLocks/>
          </p:cNvCxnSpPr>
          <p:nvPr/>
        </p:nvCxnSpPr>
        <p:spPr>
          <a:xfrm flipV="1">
            <a:off x="5673674" y="4597086"/>
            <a:ext cx="0" cy="44291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0FC5AAE-2C65-D894-9499-66B57CC12B7F}"/>
              </a:ext>
            </a:extLst>
          </p:cNvPr>
          <p:cNvSpPr txBox="1"/>
          <p:nvPr/>
        </p:nvSpPr>
        <p:spPr>
          <a:xfrm>
            <a:off x="7596996" y="4621496"/>
            <a:ext cx="1727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Comandos da função</a:t>
            </a:r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2567B7DB-F9E5-3FF5-E775-19101B0CC877}"/>
              </a:ext>
            </a:extLst>
          </p:cNvPr>
          <p:cNvCxnSpPr>
            <a:cxnSpLocks/>
          </p:cNvCxnSpPr>
          <p:nvPr/>
        </p:nvCxnSpPr>
        <p:spPr>
          <a:xfrm flipV="1">
            <a:off x="8277979" y="4225707"/>
            <a:ext cx="0" cy="3605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F3F6C196-1F2B-0A44-3ACE-8D8D985C65B8}"/>
              </a:ext>
            </a:extLst>
          </p:cNvPr>
          <p:cNvSpPr txBox="1"/>
          <p:nvPr/>
        </p:nvSpPr>
        <p:spPr>
          <a:xfrm>
            <a:off x="9431953" y="4219268"/>
            <a:ext cx="2520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Caracter dois pontos  para indicar a abertura de um bloco de comandos</a:t>
            </a:r>
          </a:p>
        </p:txBody>
      </p: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F6FA0337-C946-EC7F-6BF0-9F69B21253F7}"/>
              </a:ext>
            </a:extLst>
          </p:cNvPr>
          <p:cNvCxnSpPr>
            <a:cxnSpLocks/>
            <a:endCxn id="6" idx="3"/>
          </p:cNvCxnSpPr>
          <p:nvPr/>
        </p:nvCxnSpPr>
        <p:spPr>
          <a:xfrm rot="16200000" flipV="1">
            <a:off x="9683421" y="3109860"/>
            <a:ext cx="1277296" cy="95439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ve Esquerda 13">
            <a:extLst>
              <a:ext uri="{FF2B5EF4-FFF2-40B4-BE49-F238E27FC236}">
                <a16:creationId xmlns:a16="http://schemas.microsoft.com/office/drawing/2014/main" id="{581B01C9-44C4-BEFB-6D54-0DE0077BC538}"/>
              </a:ext>
            </a:extLst>
          </p:cNvPr>
          <p:cNvSpPr/>
          <p:nvPr/>
        </p:nvSpPr>
        <p:spPr>
          <a:xfrm rot="16200000">
            <a:off x="3213264" y="3327793"/>
            <a:ext cx="230498" cy="829619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have Esquerda 10">
            <a:extLst>
              <a:ext uri="{FF2B5EF4-FFF2-40B4-BE49-F238E27FC236}">
                <a16:creationId xmlns:a16="http://schemas.microsoft.com/office/drawing/2014/main" id="{53E8A6DA-796E-EDDC-6BC3-E17EF2B0693F}"/>
              </a:ext>
            </a:extLst>
          </p:cNvPr>
          <p:cNvSpPr/>
          <p:nvPr/>
        </p:nvSpPr>
        <p:spPr>
          <a:xfrm rot="16200000">
            <a:off x="6407703" y="1327756"/>
            <a:ext cx="458275" cy="5282919"/>
          </a:xfrm>
          <a:prstGeom prst="leftBrace">
            <a:avLst>
              <a:gd name="adj1" fmla="val 8333"/>
              <a:gd name="adj2" fmla="val 81006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B9D79CE-0304-9DF8-345E-7BFC823C0664}"/>
              </a:ext>
            </a:extLst>
          </p:cNvPr>
          <p:cNvSpPr txBox="1"/>
          <p:nvPr/>
        </p:nvSpPr>
        <p:spPr>
          <a:xfrm>
            <a:off x="3068977" y="5764684"/>
            <a:ext cx="4817723" cy="46166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print(</a:t>
            </a:r>
            <a:r>
              <a:rPr lang="pt-BR" sz="2400" b="1" dirty="0" err="1">
                <a:solidFill>
                  <a:schemeClr val="bg1"/>
                </a:solidFill>
              </a:rPr>
              <a:t>exibir_Mensagem</a:t>
            </a:r>
            <a:r>
              <a:rPr lang="pt-BR" sz="2400" b="1" dirty="0">
                <a:solidFill>
                  <a:schemeClr val="bg1"/>
                </a:solidFill>
              </a:rPr>
              <a:t>("Amigo"))</a:t>
            </a:r>
          </a:p>
        </p:txBody>
      </p:sp>
      <p:sp>
        <p:nvSpPr>
          <p:cNvPr id="21" name="Chave Esquerda 20">
            <a:extLst>
              <a:ext uri="{FF2B5EF4-FFF2-40B4-BE49-F238E27FC236}">
                <a16:creationId xmlns:a16="http://schemas.microsoft.com/office/drawing/2014/main" id="{6AEA2969-54CA-5E05-631D-5136C991A568}"/>
              </a:ext>
            </a:extLst>
          </p:cNvPr>
          <p:cNvSpPr/>
          <p:nvPr/>
        </p:nvSpPr>
        <p:spPr>
          <a:xfrm rot="16200000">
            <a:off x="5604053" y="3952001"/>
            <a:ext cx="139243" cy="1150926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EC5C501-0537-CB21-39B6-5D2D6B64AE45}"/>
              </a:ext>
            </a:extLst>
          </p:cNvPr>
          <p:cNvSpPr txBox="1"/>
          <p:nvPr/>
        </p:nvSpPr>
        <p:spPr>
          <a:xfrm>
            <a:off x="179094" y="5525353"/>
            <a:ext cx="1553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Prog. Principal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8DD04AF2-3165-9DC3-D550-8C08A77C96F6}"/>
              </a:ext>
            </a:extLst>
          </p:cNvPr>
          <p:cNvCxnSpPr>
            <a:stCxn id="27" idx="3"/>
          </p:cNvCxnSpPr>
          <p:nvPr/>
        </p:nvCxnSpPr>
        <p:spPr>
          <a:xfrm flipV="1">
            <a:off x="1732456" y="5940851"/>
            <a:ext cx="1218211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72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3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3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3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3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24" grpId="0"/>
      <p:bldP spid="30" grpId="0"/>
      <p:bldP spid="34" grpId="0"/>
      <p:bldP spid="37" grpId="0"/>
      <p:bldP spid="40" grpId="0"/>
      <p:bldP spid="14" grpId="0" animBg="1"/>
      <p:bldP spid="11" grpId="0" animBg="1"/>
      <p:bldP spid="21" grpId="0" animBg="1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F05A2F-4FFF-CFA5-CB94-2250CB45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A7241A-9868-96B0-3F2F-26ED7E5C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D22C76-EF0B-E8FB-6B28-A9E95945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7619EC4-8AED-F957-CE9F-40F42AF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Função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405C71A-D1ED-8A30-28C2-07836B8A041A}"/>
              </a:ext>
            </a:extLst>
          </p:cNvPr>
          <p:cNvSpPr txBox="1"/>
          <p:nvPr/>
        </p:nvSpPr>
        <p:spPr>
          <a:xfrm>
            <a:off x="844061" y="1531733"/>
            <a:ext cx="2441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0" i="0" u="none" strike="noStrike" baseline="0" dirty="0">
                <a:latin typeface="CIDFont+F1"/>
              </a:rPr>
              <a:t>Exemplo1: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62E53E5-9BEA-831B-FD0A-040471FF3C7A}"/>
              </a:ext>
            </a:extLst>
          </p:cNvPr>
          <p:cNvSpPr txBox="1"/>
          <p:nvPr/>
        </p:nvSpPr>
        <p:spPr>
          <a:xfrm>
            <a:off x="3037635" y="1932792"/>
            <a:ext cx="3181935" cy="193899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pt-BR" sz="2000" dirty="0"/>
              <a:t>a = [1, 2, 3, 4, 5]</a:t>
            </a:r>
          </a:p>
          <a:p>
            <a:r>
              <a:rPr lang="pt-BR" sz="2000" dirty="0"/>
              <a:t>soma = 0</a:t>
            </a:r>
          </a:p>
          <a:p>
            <a:r>
              <a:rPr lang="pt-BR" sz="2000" dirty="0"/>
              <a:t>for  i  in a:</a:t>
            </a:r>
          </a:p>
          <a:p>
            <a:r>
              <a:rPr lang="pt-BR" sz="2000" dirty="0"/>
              <a:t>    soma  += e</a:t>
            </a:r>
          </a:p>
          <a:p>
            <a:r>
              <a:rPr lang="pt-BR" sz="2000" dirty="0"/>
              <a:t>media = soma  / </a:t>
            </a:r>
            <a:r>
              <a:rPr lang="pt-BR" sz="2000" dirty="0" err="1"/>
              <a:t>len</a:t>
            </a:r>
            <a:r>
              <a:rPr lang="pt-BR" sz="2000" dirty="0"/>
              <a:t>(a)</a:t>
            </a:r>
          </a:p>
          <a:p>
            <a:r>
              <a:rPr lang="pt-BR" sz="2000" dirty="0"/>
              <a:t>print (media)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D827A22-EF22-B194-EE96-583DCAFC1C29}"/>
              </a:ext>
            </a:extLst>
          </p:cNvPr>
          <p:cNvSpPr txBox="1"/>
          <p:nvPr/>
        </p:nvSpPr>
        <p:spPr>
          <a:xfrm>
            <a:off x="3022377" y="4281718"/>
            <a:ext cx="3181935" cy="193899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pt-BR" sz="2000" dirty="0"/>
              <a:t>a = [01, 20, 30, 40]</a:t>
            </a:r>
          </a:p>
          <a:p>
            <a:r>
              <a:rPr lang="pt-BR" sz="2000" dirty="0"/>
              <a:t>soma = 0</a:t>
            </a:r>
          </a:p>
          <a:p>
            <a:r>
              <a:rPr lang="pt-BR" sz="2000" dirty="0"/>
              <a:t>for  i  in a:</a:t>
            </a:r>
          </a:p>
          <a:p>
            <a:r>
              <a:rPr lang="pt-BR" sz="2000" dirty="0"/>
              <a:t>    soma  += e</a:t>
            </a:r>
          </a:p>
          <a:p>
            <a:r>
              <a:rPr lang="pt-BR" sz="2000" dirty="0"/>
              <a:t>media = soma  / </a:t>
            </a:r>
            <a:r>
              <a:rPr lang="pt-BR" sz="2000" dirty="0" err="1"/>
              <a:t>len</a:t>
            </a:r>
            <a:r>
              <a:rPr lang="pt-BR" sz="2000" dirty="0"/>
              <a:t>(a)</a:t>
            </a:r>
          </a:p>
          <a:p>
            <a:r>
              <a:rPr lang="pt-BR" sz="2000" dirty="0"/>
              <a:t>print (media)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AEEBA5E-EB2D-0E85-9A75-D8DA3600291C}"/>
              </a:ext>
            </a:extLst>
          </p:cNvPr>
          <p:cNvSpPr/>
          <p:nvPr/>
        </p:nvSpPr>
        <p:spPr>
          <a:xfrm>
            <a:off x="7771754" y="3270042"/>
            <a:ext cx="2656114" cy="1349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Trecho se repete 2 vezes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B72E0818-6F79-817F-A199-FBE046B6D7E5}"/>
              </a:ext>
            </a:extLst>
          </p:cNvPr>
          <p:cNvCxnSpPr>
            <a:cxnSpLocks/>
          </p:cNvCxnSpPr>
          <p:nvPr/>
        </p:nvCxnSpPr>
        <p:spPr>
          <a:xfrm>
            <a:off x="6034216" y="3051902"/>
            <a:ext cx="1737538" cy="61439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AE22756-1E6F-F91B-00F0-2786ED36715C}"/>
              </a:ext>
            </a:extLst>
          </p:cNvPr>
          <p:cNvCxnSpPr>
            <a:cxnSpLocks/>
          </p:cNvCxnSpPr>
          <p:nvPr/>
        </p:nvCxnSpPr>
        <p:spPr>
          <a:xfrm flipV="1">
            <a:off x="6034216" y="4272843"/>
            <a:ext cx="1737538" cy="123386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ve Direita 14">
            <a:extLst>
              <a:ext uri="{FF2B5EF4-FFF2-40B4-BE49-F238E27FC236}">
                <a16:creationId xmlns:a16="http://schemas.microsoft.com/office/drawing/2014/main" id="{5BC52FBE-C854-33DB-BDED-A8DB25AA5630}"/>
              </a:ext>
            </a:extLst>
          </p:cNvPr>
          <p:cNvSpPr/>
          <p:nvPr/>
        </p:nvSpPr>
        <p:spPr>
          <a:xfrm>
            <a:off x="5338119" y="2320612"/>
            <a:ext cx="543697" cy="14664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have Direita 16">
            <a:extLst>
              <a:ext uri="{FF2B5EF4-FFF2-40B4-BE49-F238E27FC236}">
                <a16:creationId xmlns:a16="http://schemas.microsoft.com/office/drawing/2014/main" id="{714C0930-2E6E-05C3-2393-BD223E0AED6B}"/>
              </a:ext>
            </a:extLst>
          </p:cNvPr>
          <p:cNvSpPr/>
          <p:nvPr/>
        </p:nvSpPr>
        <p:spPr>
          <a:xfrm>
            <a:off x="5387283" y="4709991"/>
            <a:ext cx="543697" cy="14517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E663AA0-147C-8DF7-CA29-2201EAD4AABB}"/>
              </a:ext>
            </a:extLst>
          </p:cNvPr>
          <p:cNvSpPr/>
          <p:nvPr/>
        </p:nvSpPr>
        <p:spPr>
          <a:xfrm>
            <a:off x="7683917" y="4709991"/>
            <a:ext cx="2819464" cy="75952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Por que não otimizar ?</a:t>
            </a:r>
          </a:p>
        </p:txBody>
      </p:sp>
    </p:spTree>
    <p:extLst>
      <p:ext uri="{BB962C8B-B14F-4D97-AF65-F5344CB8AC3E}">
        <p14:creationId xmlns:p14="http://schemas.microsoft.com/office/powerpoint/2010/main" val="319301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7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A39A56-95A5-62EA-0769-0ECA7061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22908D-3204-9E97-6AC5-380C598A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Cap08-Prog00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E2250C-1759-42E8-92A3-0F1726C5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8910383-AF27-28D0-39CF-F2B8E9B3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Exemplo Função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3F29C3-A3DC-C618-3055-3330EB7C3EF7}"/>
              </a:ext>
            </a:extLst>
          </p:cNvPr>
          <p:cNvSpPr txBox="1"/>
          <p:nvPr/>
        </p:nvSpPr>
        <p:spPr>
          <a:xfrm>
            <a:off x="2864590" y="1777355"/>
            <a:ext cx="762842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def</a:t>
            </a:r>
            <a:r>
              <a:rPr lang="pt-BR" sz="2400" b="1" dirty="0"/>
              <a:t> </a:t>
            </a:r>
            <a:r>
              <a:rPr lang="pt-BR" sz="2400" b="1" dirty="0" err="1"/>
              <a:t>somarElementosLista</a:t>
            </a:r>
            <a:r>
              <a:rPr lang="pt-BR" sz="2400" b="1" dirty="0"/>
              <a:t>(</a:t>
            </a:r>
            <a:r>
              <a:rPr lang="pt-BR" sz="2400" b="1" dirty="0" err="1"/>
              <a:t>mamae</a:t>
            </a:r>
            <a:r>
              <a:rPr lang="pt-BR" sz="2400" b="1" dirty="0"/>
              <a:t>):</a:t>
            </a:r>
          </a:p>
          <a:p>
            <a:r>
              <a:rPr lang="pt-BR" sz="2400" b="1" dirty="0"/>
              <a:t>  </a:t>
            </a:r>
          </a:p>
          <a:p>
            <a:r>
              <a:rPr lang="pt-BR" sz="2400" b="1" dirty="0"/>
              <a:t>    soma = 0</a:t>
            </a:r>
          </a:p>
          <a:p>
            <a:endParaRPr lang="pt-BR" sz="2400" b="1" dirty="0"/>
          </a:p>
          <a:p>
            <a:r>
              <a:rPr lang="pt-BR" sz="2400" b="1" dirty="0"/>
              <a:t>    for valor in </a:t>
            </a:r>
            <a:r>
              <a:rPr lang="pt-BR" sz="2400" b="1" dirty="0" err="1"/>
              <a:t>mamae</a:t>
            </a:r>
            <a:r>
              <a:rPr lang="pt-BR" sz="2400" b="1" dirty="0"/>
              <a:t> :</a:t>
            </a:r>
          </a:p>
          <a:p>
            <a:r>
              <a:rPr lang="pt-BR" sz="2400" b="1" dirty="0"/>
              <a:t>      </a:t>
            </a:r>
          </a:p>
          <a:p>
            <a:r>
              <a:rPr lang="pt-BR" sz="2400" b="1" dirty="0"/>
              <a:t>        soma = soma + valor</a:t>
            </a:r>
          </a:p>
          <a:p>
            <a:endParaRPr lang="pt-BR" sz="2400" b="1" dirty="0"/>
          </a:p>
          <a:p>
            <a:r>
              <a:rPr lang="pt-BR" sz="2400" b="1" dirty="0"/>
              <a:t>    </a:t>
            </a:r>
            <a:r>
              <a:rPr lang="pt-BR" sz="2400" b="1" dirty="0" err="1"/>
              <a:t>return</a:t>
            </a:r>
            <a:r>
              <a:rPr lang="pt-BR" sz="2400" b="1" dirty="0"/>
              <a:t> soma</a:t>
            </a:r>
          </a:p>
          <a:p>
            <a:endParaRPr lang="pt-BR" sz="2400" b="1" dirty="0"/>
          </a:p>
          <a:p>
            <a:r>
              <a:rPr lang="pt-BR" sz="2400" b="1" dirty="0"/>
              <a:t>print(</a:t>
            </a:r>
            <a:r>
              <a:rPr lang="pt-BR" sz="2400" b="1" dirty="0" err="1"/>
              <a:t>somarElementosLista</a:t>
            </a:r>
            <a:r>
              <a:rPr lang="pt-BR" sz="2400" b="1" dirty="0"/>
              <a:t>([3, 4, 6, 9, 10, 23,  13]))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2DFDC55D-7200-C8E3-5DEC-3CD96E826DA0}"/>
              </a:ext>
            </a:extLst>
          </p:cNvPr>
          <p:cNvCxnSpPr/>
          <p:nvPr/>
        </p:nvCxnSpPr>
        <p:spPr>
          <a:xfrm>
            <a:off x="4554908" y="5076202"/>
            <a:ext cx="888763" cy="42729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17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7920601-7328-6972-FDCC-3B29C950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BA9185D-858F-0554-3BBA-70C5F25A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CC35C4-90D7-5209-0FF1-18B1950F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979BF11-8053-F02C-E6B7-8D929B26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3"/>
              </a:rPr>
              <a:t>Problemas desta “repetição”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D4DC18-D8DC-3514-BE62-554572684001}"/>
              </a:ext>
            </a:extLst>
          </p:cNvPr>
          <p:cNvSpPr txBox="1"/>
          <p:nvPr/>
        </p:nvSpPr>
        <p:spPr>
          <a:xfrm>
            <a:off x="1088571" y="1915886"/>
            <a:ext cx="10261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l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Programa muito grande, porque tem várias </a:t>
            </a:r>
            <a:r>
              <a:rPr lang="pt-BR" sz="3600" b="0" i="0" u="none" strike="noStrike" baseline="0" dirty="0">
                <a:latin typeface="CIDFont+F3"/>
              </a:rPr>
              <a:t>partes repetidas </a:t>
            </a:r>
          </a:p>
          <a:p>
            <a:pPr algn="l"/>
            <a:endParaRPr lang="pt-BR" sz="3600" b="0" i="0" u="none" strike="noStrike" baseline="0" dirty="0">
              <a:latin typeface="CIDFont+F3"/>
            </a:endParaRPr>
          </a:p>
          <a:p>
            <a:pPr marL="363538" indent="-363538" algn="l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3"/>
              </a:rPr>
              <a:t>Defeitos ficam difíceis de corrigir </a:t>
            </a:r>
            <a:r>
              <a:rPr lang="pt-BR" sz="3600" b="0" i="0" u="none" strike="noStrike" baseline="0" dirty="0">
                <a:latin typeface="CIDFont+F2"/>
              </a:rPr>
              <a:t>(e se eu esquecer de corrigir o defeito em uma das N repetições daquele trecho de código?)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06713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03AD655-C8C2-D927-BABB-5DD11990E5CC}"/>
              </a:ext>
            </a:extLst>
          </p:cNvPr>
          <p:cNvSpPr/>
          <p:nvPr/>
        </p:nvSpPr>
        <p:spPr>
          <a:xfrm>
            <a:off x="8401087" y="3949375"/>
            <a:ext cx="3339791" cy="208915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C8D352E-CE48-AE9D-585C-18973418F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70C845F-76A6-539A-ADFF-59CFADC9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1A1F64-3FB9-3C9D-25D5-93251D45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D5971BC-0B6A-B2AA-0131-ABA8921A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3"/>
              </a:rPr>
              <a:t>Solução: subprogramação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7F53629-71F6-7C8C-395E-33DD85364725}"/>
              </a:ext>
            </a:extLst>
          </p:cNvPr>
          <p:cNvSpPr txBox="1"/>
          <p:nvPr/>
        </p:nvSpPr>
        <p:spPr>
          <a:xfrm>
            <a:off x="327881" y="1353344"/>
            <a:ext cx="110234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3538" indent="-363538" algn="l"/>
            <a:r>
              <a:rPr lang="pt-BR" sz="3200" b="0" i="0" u="none" strike="noStrike" baseline="0" dirty="0">
                <a:latin typeface="CIDFont+F4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Definir o trecho de código que se repete como uma </a:t>
            </a:r>
            <a:r>
              <a:rPr lang="pt-BR" sz="3200" b="1" i="0" u="none" strike="noStrike" baseline="0" dirty="0">
                <a:latin typeface="CIDFont+F3"/>
              </a:rPr>
              <a:t>função</a:t>
            </a:r>
            <a:r>
              <a:rPr lang="pt-BR" sz="3200" b="0" i="0" u="none" strike="noStrike" baseline="0" dirty="0">
                <a:latin typeface="CIDFont+F3"/>
              </a:rPr>
              <a:t> </a:t>
            </a:r>
            <a:r>
              <a:rPr lang="pt-BR" sz="3200" b="0" i="0" u="none" strike="noStrike" baseline="0" dirty="0">
                <a:latin typeface="CIDFont+F2"/>
              </a:rPr>
              <a:t>que é chamada no programa</a:t>
            </a:r>
          </a:p>
          <a:p>
            <a:pPr algn="l"/>
            <a:endParaRPr lang="pt-BR" sz="3200" b="0" i="0" u="none" strike="noStrike" baseline="0" dirty="0">
              <a:latin typeface="CIDFont+F2"/>
            </a:endParaRPr>
          </a:p>
          <a:p>
            <a:pPr marL="363538" indent="-363538" algn="l"/>
            <a:r>
              <a:rPr lang="pt-BR" sz="3200" b="0" i="0" u="none" strike="noStrike" baseline="0" dirty="0">
                <a:latin typeface="CIDFont+F4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A função é definida uma única vez, e chamada várias vezes dentro do programa</a:t>
            </a:r>
          </a:p>
          <a:p>
            <a:pPr algn="l"/>
            <a:endParaRPr lang="pt-BR" sz="3200" b="0" i="0" u="none" strike="noStrike" baseline="0" dirty="0">
              <a:latin typeface="CIDFont+F2"/>
            </a:endParaRPr>
          </a:p>
          <a:p>
            <a:pPr algn="l"/>
            <a:r>
              <a:rPr lang="pt-BR" sz="3200" b="0" i="0" u="none" strike="noStrike" baseline="0" dirty="0">
                <a:latin typeface="CIDFont+F4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Antes: um programa gigante</a:t>
            </a:r>
          </a:p>
          <a:p>
            <a:pPr algn="l"/>
            <a:endParaRPr lang="pt-BR" sz="3200" b="0" i="0" u="none" strike="noStrike" baseline="0" dirty="0">
              <a:latin typeface="CIDFont+F2"/>
            </a:endParaRPr>
          </a:p>
          <a:p>
            <a:pPr algn="l"/>
            <a:r>
              <a:rPr lang="pt-BR" sz="3200" b="0" i="0" u="none" strike="noStrike" baseline="0" dirty="0">
                <a:latin typeface="CIDFont+F4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Depois: vários programas menores</a:t>
            </a:r>
            <a:endParaRPr lang="pt-BR" sz="3200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2AD6224-0160-E16D-24AF-9930E06DF95D}"/>
              </a:ext>
            </a:extLst>
          </p:cNvPr>
          <p:cNvSpPr/>
          <p:nvPr/>
        </p:nvSpPr>
        <p:spPr>
          <a:xfrm>
            <a:off x="6001435" y="3884382"/>
            <a:ext cx="1756229" cy="11466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Programa Grande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48A3CB1-A763-5AAF-ED9C-1FA5F8E1AB2C}"/>
              </a:ext>
            </a:extLst>
          </p:cNvPr>
          <p:cNvSpPr/>
          <p:nvPr/>
        </p:nvSpPr>
        <p:spPr>
          <a:xfrm>
            <a:off x="6615941" y="5240617"/>
            <a:ext cx="1291771" cy="615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Programa Principal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295E983-DC4F-0B6E-8080-84891B2C66FC}"/>
              </a:ext>
            </a:extLst>
          </p:cNvPr>
          <p:cNvSpPr/>
          <p:nvPr/>
        </p:nvSpPr>
        <p:spPr>
          <a:xfrm>
            <a:off x="8926684" y="5218453"/>
            <a:ext cx="1291771" cy="615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Função C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2EDCD7D-4F48-E30F-1174-991897F4E6F2}"/>
              </a:ext>
            </a:extLst>
          </p:cNvPr>
          <p:cNvSpPr/>
          <p:nvPr/>
        </p:nvSpPr>
        <p:spPr>
          <a:xfrm>
            <a:off x="10347595" y="4666724"/>
            <a:ext cx="1291771" cy="615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Função B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DC7B0D9-5556-0C57-CA46-1A88AAFE73D4}"/>
              </a:ext>
            </a:extLst>
          </p:cNvPr>
          <p:cNvSpPr/>
          <p:nvPr/>
        </p:nvSpPr>
        <p:spPr>
          <a:xfrm>
            <a:off x="8926683" y="4066393"/>
            <a:ext cx="1291771" cy="615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Função A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609C27D-7069-F8C1-B02F-D3E38BB5274D}"/>
              </a:ext>
            </a:extLst>
          </p:cNvPr>
          <p:cNvCxnSpPr>
            <a:cxnSpLocks/>
          </p:cNvCxnSpPr>
          <p:nvPr/>
        </p:nvCxnSpPr>
        <p:spPr>
          <a:xfrm flipV="1">
            <a:off x="7974519" y="4434810"/>
            <a:ext cx="952164" cy="92425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FEE1E548-EAC2-10D7-7C4B-2B18FCE6195A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7907712" y="5526258"/>
            <a:ext cx="1018972" cy="23476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C0D7787-8B3C-4C63-ABA8-1C5B4E3BD22E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9663347" y="4738136"/>
            <a:ext cx="684248" cy="23639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4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139FAE-E5B2-CE39-E5CB-90167DD23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6BE406-65B0-351E-7670-EAD5BE1A9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Cap08-Prog01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D05D48-943C-2A5D-65E1-29738127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0475FB5-BAE5-8989-2E02-CFB6E314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Voltando ao Exemplo1: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A1535A-5E52-40DB-9648-A39C3F9E9AB7}"/>
              </a:ext>
            </a:extLst>
          </p:cNvPr>
          <p:cNvSpPr txBox="1"/>
          <p:nvPr/>
        </p:nvSpPr>
        <p:spPr>
          <a:xfrm>
            <a:off x="2569027" y="1584366"/>
            <a:ext cx="3909877" cy="2308324"/>
          </a:xfrm>
          <a:prstGeom prst="rect">
            <a:avLst/>
          </a:prstGeom>
          <a:noFill/>
          <a:ln w="38100">
            <a:solidFill>
              <a:srgbClr val="0070C0"/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rgbClr val="FF0000"/>
                </a:solidFill>
              </a:rPr>
              <a:t>def</a:t>
            </a:r>
            <a:r>
              <a:rPr lang="pt-BR" sz="2400" b="1" dirty="0"/>
              <a:t> </a:t>
            </a:r>
            <a:r>
              <a:rPr lang="pt-BR" sz="2400" b="1" dirty="0" err="1">
                <a:solidFill>
                  <a:schemeClr val="accent1"/>
                </a:solidFill>
              </a:rPr>
              <a:t>calcula_media</a:t>
            </a:r>
            <a:r>
              <a:rPr lang="pt-BR" sz="2400" b="1" dirty="0">
                <a:solidFill>
                  <a:schemeClr val="accent1"/>
                </a:solidFill>
              </a:rPr>
              <a:t>(V)</a:t>
            </a:r>
          </a:p>
          <a:p>
            <a:r>
              <a:rPr lang="pt-BR" sz="2400" dirty="0"/>
              <a:t>       soma = 0</a:t>
            </a:r>
          </a:p>
          <a:p>
            <a:r>
              <a:rPr lang="pt-BR" sz="2400" dirty="0"/>
              <a:t>       for  i in V:</a:t>
            </a:r>
          </a:p>
          <a:p>
            <a:r>
              <a:rPr lang="pt-BR" sz="2400" dirty="0"/>
              <a:t>             soma  += i</a:t>
            </a:r>
          </a:p>
          <a:p>
            <a:r>
              <a:rPr lang="pt-BR" sz="2400" dirty="0"/>
              <a:t>       media = soma  / </a:t>
            </a:r>
            <a:r>
              <a:rPr lang="pt-BR" sz="2400" dirty="0" err="1"/>
              <a:t>len</a:t>
            </a:r>
            <a:r>
              <a:rPr lang="pt-BR" sz="2400" dirty="0"/>
              <a:t>(V)</a:t>
            </a:r>
          </a:p>
          <a:p>
            <a:r>
              <a:rPr lang="pt-BR" sz="2400" dirty="0"/>
              <a:t>       </a:t>
            </a:r>
            <a:r>
              <a:rPr lang="pt-BR" sz="2400" b="1" dirty="0" err="1">
                <a:solidFill>
                  <a:srgbClr val="FF0000"/>
                </a:solidFill>
              </a:rPr>
              <a:t>return</a:t>
            </a:r>
            <a:r>
              <a:rPr lang="pt-BR" sz="2400" b="1" dirty="0"/>
              <a:t> </a:t>
            </a:r>
            <a:r>
              <a:rPr lang="pt-BR" sz="2400" dirty="0"/>
              <a:t>media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BFD731-A704-B491-F8E0-A700E9C9688B}"/>
              </a:ext>
            </a:extLst>
          </p:cNvPr>
          <p:cNvSpPr txBox="1"/>
          <p:nvPr/>
        </p:nvSpPr>
        <p:spPr>
          <a:xfrm>
            <a:off x="2569027" y="4271703"/>
            <a:ext cx="39029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 = [1, 2, 3, 4, 5]</a:t>
            </a:r>
          </a:p>
          <a:p>
            <a:r>
              <a:rPr lang="pt-BR" sz="2400" dirty="0"/>
              <a:t>print</a:t>
            </a:r>
            <a:r>
              <a:rPr lang="pt-BR" sz="2400" b="1" dirty="0"/>
              <a:t>(</a:t>
            </a:r>
            <a:r>
              <a:rPr lang="pt-BR" sz="2400" dirty="0"/>
              <a:t>‘\n’,</a:t>
            </a:r>
            <a:r>
              <a:rPr lang="pt-BR" sz="2400" b="1" dirty="0" err="1">
                <a:solidFill>
                  <a:schemeClr val="accent1"/>
                </a:solidFill>
              </a:rPr>
              <a:t>calcula_media</a:t>
            </a:r>
            <a:r>
              <a:rPr lang="pt-BR" sz="2400" b="1" dirty="0">
                <a:solidFill>
                  <a:schemeClr val="accent1"/>
                </a:solidFill>
              </a:rPr>
              <a:t>(a)</a:t>
            </a:r>
            <a:r>
              <a:rPr lang="pt-BR" sz="2400" b="1" dirty="0"/>
              <a:t>)</a:t>
            </a:r>
          </a:p>
          <a:p>
            <a:r>
              <a:rPr lang="pt-BR" sz="2400" dirty="0"/>
              <a:t>b = [10, 20, 30, 40]</a:t>
            </a:r>
          </a:p>
          <a:p>
            <a:r>
              <a:rPr lang="pt-BR" sz="2400" dirty="0"/>
              <a:t>print</a:t>
            </a:r>
            <a:r>
              <a:rPr lang="pt-BR" sz="2400" b="1" dirty="0"/>
              <a:t>(</a:t>
            </a:r>
            <a:r>
              <a:rPr lang="pt-BR" sz="2400" dirty="0"/>
              <a:t>‘\n’,</a:t>
            </a:r>
            <a:r>
              <a:rPr lang="pt-BR" sz="2400" b="1" dirty="0" err="1">
                <a:solidFill>
                  <a:schemeClr val="accent1"/>
                </a:solidFill>
              </a:rPr>
              <a:t>calcula_media</a:t>
            </a:r>
            <a:r>
              <a:rPr lang="pt-BR" sz="2400" b="1" dirty="0">
                <a:solidFill>
                  <a:schemeClr val="accent1"/>
                </a:solidFill>
              </a:rPr>
              <a:t>(b)</a:t>
            </a:r>
            <a:r>
              <a:rPr lang="pt-BR" sz="2400" b="1" dirty="0"/>
              <a:t>)</a:t>
            </a:r>
          </a:p>
        </p:txBody>
      </p:sp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AB321DBE-4E4D-8818-F0BF-844086E911D0}"/>
              </a:ext>
            </a:extLst>
          </p:cNvPr>
          <p:cNvSpPr/>
          <p:nvPr/>
        </p:nvSpPr>
        <p:spPr>
          <a:xfrm>
            <a:off x="6908794" y="1914638"/>
            <a:ext cx="2583543" cy="1626848"/>
          </a:xfrm>
          <a:prstGeom prst="lef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Definição da função</a:t>
            </a:r>
          </a:p>
        </p:txBody>
      </p:sp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C5199F0A-3EAB-29EE-8FEB-EF3FE8E0BA0E}"/>
              </a:ext>
            </a:extLst>
          </p:cNvPr>
          <p:cNvSpPr/>
          <p:nvPr/>
        </p:nvSpPr>
        <p:spPr>
          <a:xfrm>
            <a:off x="6403013" y="4578016"/>
            <a:ext cx="2583543" cy="614887"/>
          </a:xfrm>
          <a:prstGeom prst="lef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Chamada da função</a:t>
            </a:r>
          </a:p>
        </p:txBody>
      </p:sp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A686EC60-5606-B804-2380-37DC16977A78}"/>
              </a:ext>
            </a:extLst>
          </p:cNvPr>
          <p:cNvSpPr/>
          <p:nvPr/>
        </p:nvSpPr>
        <p:spPr>
          <a:xfrm>
            <a:off x="6403013" y="5304345"/>
            <a:ext cx="2590473" cy="614887"/>
          </a:xfrm>
          <a:prstGeom prst="lef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Chamada da função</a:t>
            </a:r>
          </a:p>
        </p:txBody>
      </p:sp>
    </p:spTree>
    <p:extLst>
      <p:ext uri="{BB962C8B-B14F-4D97-AF65-F5344CB8AC3E}">
        <p14:creationId xmlns:p14="http://schemas.microsoft.com/office/powerpoint/2010/main" val="223150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81E941-CEA0-E30F-6BD2-673D268B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627CC3-09C1-20E8-8FEA-0A4A9027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4F4512-22CE-07CD-1804-1E276684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2FE5562-1060-58AB-9697-6F54117E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Vantagens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50D74E-4A95-D000-9899-F5C4CD5C7502}"/>
              </a:ext>
            </a:extLst>
          </p:cNvPr>
          <p:cNvSpPr txBox="1"/>
          <p:nvPr/>
        </p:nvSpPr>
        <p:spPr>
          <a:xfrm>
            <a:off x="844060" y="1357230"/>
            <a:ext cx="1102347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Economia de código</a:t>
            </a:r>
          </a:p>
          <a:p>
            <a:pPr marL="363538" algn="l"/>
            <a:r>
              <a:rPr lang="pt-BR" sz="2800" b="0" i="0" u="none" strike="noStrike" baseline="0" dirty="0">
                <a:latin typeface="CIDFont+F4"/>
              </a:rPr>
              <a:t>– </a:t>
            </a:r>
            <a:r>
              <a:rPr lang="pt-BR" sz="2800" b="0" i="0" u="none" strike="noStrike" baseline="0" dirty="0">
                <a:latin typeface="CIDFont+F2"/>
              </a:rPr>
              <a:t>Quanto mais repetição, mais economia</a:t>
            </a:r>
          </a:p>
          <a:p>
            <a:pPr algn="l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Facilidade na correção de defeitos</a:t>
            </a:r>
          </a:p>
          <a:p>
            <a:pPr marL="363538" algn="l"/>
            <a:r>
              <a:rPr lang="pt-BR" sz="2800" b="0" i="0" u="none" strike="noStrike" baseline="0" dirty="0">
                <a:latin typeface="CIDFont+F4"/>
              </a:rPr>
              <a:t>– </a:t>
            </a:r>
            <a:r>
              <a:rPr lang="pt-BR" sz="2800" b="0" i="0" u="none" strike="noStrike" baseline="0" dirty="0">
                <a:latin typeface="CIDFont+F2"/>
              </a:rPr>
              <a:t>Corrigir o defeito em um único local</a:t>
            </a:r>
          </a:p>
          <a:p>
            <a:pPr algn="l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Legibilidade do código</a:t>
            </a:r>
          </a:p>
          <a:p>
            <a:pPr marL="363538" algn="l"/>
            <a:r>
              <a:rPr lang="pt-BR" sz="2800" b="0" i="0" u="none" strike="noStrike" baseline="0" dirty="0">
                <a:latin typeface="CIDFont+F4"/>
              </a:rPr>
              <a:t>– </a:t>
            </a:r>
            <a:r>
              <a:rPr lang="pt-BR" sz="2800" b="0" i="0" u="none" strike="noStrike" baseline="0" dirty="0">
                <a:latin typeface="CIDFont+F2"/>
              </a:rPr>
              <a:t>Podemos dar nomes mais intuitivos a blocos de código</a:t>
            </a:r>
          </a:p>
          <a:p>
            <a:pPr marL="363538" algn="l"/>
            <a:r>
              <a:rPr lang="pt-BR" sz="2800" b="0" i="0" u="none" strike="noStrike" baseline="0" dirty="0">
                <a:latin typeface="CIDFont+F4"/>
              </a:rPr>
              <a:t>– </a:t>
            </a:r>
            <a:r>
              <a:rPr lang="pt-BR" sz="2800" b="0" i="0" u="none" strike="noStrike" baseline="0" dirty="0">
                <a:latin typeface="CIDFont+F2"/>
              </a:rPr>
              <a:t>É como se criássemos nossos próprios comandos</a:t>
            </a:r>
          </a:p>
          <a:p>
            <a:pPr algn="l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Melhor tratamento de complexidade</a:t>
            </a:r>
          </a:p>
          <a:p>
            <a:pPr marL="363538" algn="l"/>
            <a:r>
              <a:rPr lang="pt-BR" sz="2800" b="0" i="0" u="none" strike="noStrike" baseline="0" dirty="0">
                <a:latin typeface="CIDFont+F4"/>
              </a:rPr>
              <a:t>– </a:t>
            </a:r>
            <a:r>
              <a:rPr lang="pt-BR" sz="2800" b="0" i="0" u="none" strike="noStrike" baseline="0" dirty="0">
                <a:latin typeface="CIDFont+F2"/>
              </a:rPr>
              <a:t>Estratégia de “dividir para conquistar” nos permite lidar melhor com a complexidade de programas grandes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626682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FC6ABE81-DA3C-DCD4-8024-EB4C87E5A939}"/>
              </a:ext>
            </a:extLst>
          </p:cNvPr>
          <p:cNvSpPr/>
          <p:nvPr/>
        </p:nvSpPr>
        <p:spPr>
          <a:xfrm>
            <a:off x="2598039" y="1737414"/>
            <a:ext cx="989190" cy="3697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3002B47-A865-530B-1F8C-A0D335E67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966309B-FB4D-DA31-C0D4-2900E7F7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821D89-0607-8D07-674C-62C651AD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E33B65A-8BC2-7562-12FF-E5B4B5D1F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6619" y="-36301"/>
            <a:ext cx="9862002" cy="988219"/>
          </a:xfrm>
        </p:spPr>
        <p:txBody>
          <a:bodyPr/>
          <a:lstStyle/>
          <a:p>
            <a:pPr algn="ctr"/>
            <a:r>
              <a:rPr lang="pt-BR" b="1" dirty="0"/>
              <a:t>Fluxo de execução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36C363E-14F2-5DCC-8496-1259520BE9E5}"/>
              </a:ext>
            </a:extLst>
          </p:cNvPr>
          <p:cNvSpPr txBox="1"/>
          <p:nvPr/>
        </p:nvSpPr>
        <p:spPr>
          <a:xfrm>
            <a:off x="2861964" y="2761443"/>
            <a:ext cx="563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a()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06FBCD7-F087-9D39-BC51-8B0D963CAB3C}"/>
              </a:ext>
            </a:extLst>
          </p:cNvPr>
          <p:cNvSpPr txBox="1"/>
          <p:nvPr/>
        </p:nvSpPr>
        <p:spPr>
          <a:xfrm>
            <a:off x="2870292" y="4045951"/>
            <a:ext cx="555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c()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E92DB41-2CB7-54C4-ECE3-28CF35C0BA6E}"/>
              </a:ext>
            </a:extLst>
          </p:cNvPr>
          <p:cNvCxnSpPr/>
          <p:nvPr/>
        </p:nvCxnSpPr>
        <p:spPr>
          <a:xfrm>
            <a:off x="2401760" y="2143815"/>
            <a:ext cx="0" cy="7402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tângulo 34">
            <a:extLst>
              <a:ext uri="{FF2B5EF4-FFF2-40B4-BE49-F238E27FC236}">
                <a16:creationId xmlns:a16="http://schemas.microsoft.com/office/drawing/2014/main" id="{392ECA3F-D1E4-7935-BB08-710EA5E04D92}"/>
              </a:ext>
            </a:extLst>
          </p:cNvPr>
          <p:cNvSpPr/>
          <p:nvPr/>
        </p:nvSpPr>
        <p:spPr>
          <a:xfrm>
            <a:off x="4977808" y="1938539"/>
            <a:ext cx="1572450" cy="2698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 err="1"/>
              <a:t>def</a:t>
            </a:r>
            <a:r>
              <a:rPr lang="pt-BR" dirty="0"/>
              <a:t>(a):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b()</a:t>
            </a:r>
          </a:p>
          <a:p>
            <a:pPr algn="ctr"/>
            <a:r>
              <a:rPr lang="pt-BR" dirty="0" err="1"/>
              <a:t>return</a:t>
            </a:r>
            <a:endParaRPr lang="pt-BR" dirty="0"/>
          </a:p>
          <a:p>
            <a:pPr algn="ctr"/>
            <a:r>
              <a:rPr lang="pt-BR" dirty="0"/>
              <a:t>...</a:t>
            </a:r>
          </a:p>
          <a:p>
            <a:pPr algn="ctr"/>
            <a:endParaRPr lang="pt-BR" dirty="0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50B295DD-425A-B155-C79C-A0C1D46EF490}"/>
              </a:ext>
            </a:extLst>
          </p:cNvPr>
          <p:cNvSpPr/>
          <p:nvPr/>
        </p:nvSpPr>
        <p:spPr>
          <a:xfrm>
            <a:off x="2757707" y="21728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4F04DF0E-055F-FCD7-826D-3A440382F42D}"/>
              </a:ext>
            </a:extLst>
          </p:cNvPr>
          <p:cNvSpPr/>
          <p:nvPr/>
        </p:nvSpPr>
        <p:spPr>
          <a:xfrm>
            <a:off x="3072220" y="21728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5836E4E5-D451-3C3C-D4AE-059115785936}"/>
              </a:ext>
            </a:extLst>
          </p:cNvPr>
          <p:cNvSpPr/>
          <p:nvPr/>
        </p:nvSpPr>
        <p:spPr>
          <a:xfrm>
            <a:off x="3362504" y="21728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DC7276DE-4258-AB6E-FD12-EA9E03FADA46}"/>
              </a:ext>
            </a:extLst>
          </p:cNvPr>
          <p:cNvSpPr/>
          <p:nvPr/>
        </p:nvSpPr>
        <p:spPr>
          <a:xfrm>
            <a:off x="2743193" y="25066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CD7BBAE1-2DF4-BA25-96C3-58B48581F8EF}"/>
              </a:ext>
            </a:extLst>
          </p:cNvPr>
          <p:cNvSpPr/>
          <p:nvPr/>
        </p:nvSpPr>
        <p:spPr>
          <a:xfrm>
            <a:off x="3057706" y="25066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C46CDFC4-7E9E-C0EF-4C87-9FE53DAB8D7D}"/>
              </a:ext>
            </a:extLst>
          </p:cNvPr>
          <p:cNvSpPr/>
          <p:nvPr/>
        </p:nvSpPr>
        <p:spPr>
          <a:xfrm>
            <a:off x="3347990" y="25066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A51E6602-1004-A2AC-4D53-18B58FA2CAE4}"/>
              </a:ext>
            </a:extLst>
          </p:cNvPr>
          <p:cNvSpPr/>
          <p:nvPr/>
        </p:nvSpPr>
        <p:spPr>
          <a:xfrm>
            <a:off x="7946565" y="1580128"/>
            <a:ext cx="1257694" cy="21892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def</a:t>
            </a:r>
            <a:r>
              <a:rPr lang="pt-BR" dirty="0"/>
              <a:t>(b):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 err="1"/>
              <a:t>return</a:t>
            </a:r>
            <a:endParaRPr lang="pt-BR" dirty="0"/>
          </a:p>
          <a:p>
            <a:pPr algn="ctr"/>
            <a:r>
              <a:rPr lang="pt-BR" dirty="0"/>
              <a:t>...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557995F8-6297-2DC6-435C-A945CA74B5B1}"/>
              </a:ext>
            </a:extLst>
          </p:cNvPr>
          <p:cNvSpPr/>
          <p:nvPr/>
        </p:nvSpPr>
        <p:spPr>
          <a:xfrm>
            <a:off x="7941515" y="4326746"/>
            <a:ext cx="1262743" cy="21892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def</a:t>
            </a:r>
            <a:r>
              <a:rPr lang="pt-BR" dirty="0"/>
              <a:t>(c):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 err="1"/>
              <a:t>return</a:t>
            </a:r>
            <a:endParaRPr lang="pt-BR" dirty="0"/>
          </a:p>
          <a:p>
            <a:pPr algn="ctr"/>
            <a:r>
              <a:rPr lang="pt-BR" dirty="0"/>
              <a:t>...</a:t>
            </a:r>
          </a:p>
        </p:txBody>
      </p:sp>
      <p:cxnSp>
        <p:nvCxnSpPr>
          <p:cNvPr id="73" name="Conector: Curvo 72">
            <a:extLst>
              <a:ext uri="{FF2B5EF4-FFF2-40B4-BE49-F238E27FC236}">
                <a16:creationId xmlns:a16="http://schemas.microsoft.com/office/drawing/2014/main" id="{33137BF8-A48A-1D25-7A6D-859AF1C76E10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425461" y="2603022"/>
            <a:ext cx="1788734" cy="358476"/>
          </a:xfrm>
          <a:prstGeom prst="curvedConnector3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DD78D400-F419-F024-A95E-86AB38573564}"/>
              </a:ext>
            </a:extLst>
          </p:cNvPr>
          <p:cNvCxnSpPr>
            <a:cxnSpLocks/>
          </p:cNvCxnSpPr>
          <p:nvPr/>
        </p:nvCxnSpPr>
        <p:spPr>
          <a:xfrm>
            <a:off x="5175138" y="2741164"/>
            <a:ext cx="0" cy="825035"/>
          </a:xfrm>
          <a:prstGeom prst="straightConnector1">
            <a:avLst/>
          </a:prstGeom>
          <a:ln w="41275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: Curvo 76">
            <a:extLst>
              <a:ext uri="{FF2B5EF4-FFF2-40B4-BE49-F238E27FC236}">
                <a16:creationId xmlns:a16="http://schemas.microsoft.com/office/drawing/2014/main" id="{12D55965-A607-B386-1757-5641894D5A38}"/>
              </a:ext>
            </a:extLst>
          </p:cNvPr>
          <p:cNvCxnSpPr>
            <a:cxnSpLocks/>
          </p:cNvCxnSpPr>
          <p:nvPr/>
        </p:nvCxnSpPr>
        <p:spPr>
          <a:xfrm flipV="1">
            <a:off x="5939433" y="1940615"/>
            <a:ext cx="2203077" cy="1825739"/>
          </a:xfrm>
          <a:prstGeom prst="curvedConnector3">
            <a:avLst>
              <a:gd name="adj1" fmla="val 50000"/>
            </a:avLst>
          </a:prstGeom>
          <a:ln w="41275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de Seta Reta 85">
            <a:extLst>
              <a:ext uri="{FF2B5EF4-FFF2-40B4-BE49-F238E27FC236}">
                <a16:creationId xmlns:a16="http://schemas.microsoft.com/office/drawing/2014/main" id="{DCD9D064-1096-B18E-6B62-083F2550025C}"/>
              </a:ext>
            </a:extLst>
          </p:cNvPr>
          <p:cNvCxnSpPr>
            <a:cxnSpLocks/>
          </p:cNvCxnSpPr>
          <p:nvPr/>
        </p:nvCxnSpPr>
        <p:spPr>
          <a:xfrm>
            <a:off x="8135252" y="2043466"/>
            <a:ext cx="0" cy="1006258"/>
          </a:xfrm>
          <a:prstGeom prst="straightConnector1">
            <a:avLst/>
          </a:prstGeom>
          <a:ln w="41275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>
            <a:extLst>
              <a:ext uri="{FF2B5EF4-FFF2-40B4-BE49-F238E27FC236}">
                <a16:creationId xmlns:a16="http://schemas.microsoft.com/office/drawing/2014/main" id="{AFEE4265-56EC-E1F9-9F43-9DF3B7739494}"/>
              </a:ext>
            </a:extLst>
          </p:cNvPr>
          <p:cNvCxnSpPr>
            <a:cxnSpLocks/>
          </p:cNvCxnSpPr>
          <p:nvPr/>
        </p:nvCxnSpPr>
        <p:spPr>
          <a:xfrm>
            <a:off x="5175138" y="3929054"/>
            <a:ext cx="0" cy="309503"/>
          </a:xfrm>
          <a:prstGeom prst="straightConnector1">
            <a:avLst/>
          </a:prstGeom>
          <a:ln w="41275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: Curvo 92">
            <a:extLst>
              <a:ext uri="{FF2B5EF4-FFF2-40B4-BE49-F238E27FC236}">
                <a16:creationId xmlns:a16="http://schemas.microsoft.com/office/drawing/2014/main" id="{74F00EBD-31CC-9B34-4128-885D7EFA175C}"/>
              </a:ext>
            </a:extLst>
          </p:cNvPr>
          <p:cNvCxnSpPr>
            <a:cxnSpLocks/>
          </p:cNvCxnSpPr>
          <p:nvPr/>
        </p:nvCxnSpPr>
        <p:spPr>
          <a:xfrm rot="10800000">
            <a:off x="3351206" y="3127596"/>
            <a:ext cx="1731370" cy="1111796"/>
          </a:xfrm>
          <a:prstGeom prst="curvedConnector3">
            <a:avLst>
              <a:gd name="adj1" fmla="val 50000"/>
            </a:avLst>
          </a:prstGeom>
          <a:ln w="38100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110">
            <a:extLst>
              <a:ext uri="{FF2B5EF4-FFF2-40B4-BE49-F238E27FC236}">
                <a16:creationId xmlns:a16="http://schemas.microsoft.com/office/drawing/2014/main" id="{FF1ABDB5-ED5B-9A90-B293-3AC9249A5F3C}"/>
              </a:ext>
            </a:extLst>
          </p:cNvPr>
          <p:cNvCxnSpPr>
            <a:cxnSpLocks/>
          </p:cNvCxnSpPr>
          <p:nvPr/>
        </p:nvCxnSpPr>
        <p:spPr>
          <a:xfrm flipH="1">
            <a:off x="6096000" y="3159803"/>
            <a:ext cx="2031995" cy="784872"/>
          </a:xfrm>
          <a:prstGeom prst="straightConnector1">
            <a:avLst/>
          </a:prstGeom>
          <a:ln w="38100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>
            <a:extLst>
              <a:ext uri="{FF2B5EF4-FFF2-40B4-BE49-F238E27FC236}">
                <a16:creationId xmlns:a16="http://schemas.microsoft.com/office/drawing/2014/main" id="{CC4BECA0-C13F-4DED-D02D-D39A9C08F77E}"/>
              </a:ext>
            </a:extLst>
          </p:cNvPr>
          <p:cNvCxnSpPr>
            <a:cxnSpLocks/>
            <a:endCxn id="30" idx="2"/>
          </p:cNvCxnSpPr>
          <p:nvPr/>
        </p:nvCxnSpPr>
        <p:spPr>
          <a:xfrm flipH="1" flipV="1">
            <a:off x="3147877" y="4446061"/>
            <a:ext cx="5128616" cy="1533651"/>
          </a:xfrm>
          <a:prstGeom prst="straightConnector1">
            <a:avLst/>
          </a:prstGeom>
          <a:ln w="38100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: Curvo 117">
            <a:extLst>
              <a:ext uri="{FF2B5EF4-FFF2-40B4-BE49-F238E27FC236}">
                <a16:creationId xmlns:a16="http://schemas.microsoft.com/office/drawing/2014/main" id="{5A4E8ACB-670B-5EFF-8729-92C7E155E687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3425461" y="4246006"/>
            <a:ext cx="4717049" cy="572066"/>
          </a:xfrm>
          <a:prstGeom prst="curvedConnector3">
            <a:avLst>
              <a:gd name="adj1" fmla="val 50000"/>
            </a:avLst>
          </a:prstGeom>
          <a:ln w="38100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de Seta Reta 130">
            <a:extLst>
              <a:ext uri="{FF2B5EF4-FFF2-40B4-BE49-F238E27FC236}">
                <a16:creationId xmlns:a16="http://schemas.microsoft.com/office/drawing/2014/main" id="{4B6449A8-FEDA-CF99-E2A5-116EDE6107DE}"/>
              </a:ext>
            </a:extLst>
          </p:cNvPr>
          <p:cNvCxnSpPr>
            <a:cxnSpLocks/>
          </p:cNvCxnSpPr>
          <p:nvPr/>
        </p:nvCxnSpPr>
        <p:spPr>
          <a:xfrm>
            <a:off x="8121542" y="4995852"/>
            <a:ext cx="0" cy="825035"/>
          </a:xfrm>
          <a:prstGeom prst="straightConnector1">
            <a:avLst/>
          </a:prstGeom>
          <a:ln w="41275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de Seta Reta 146">
            <a:extLst>
              <a:ext uri="{FF2B5EF4-FFF2-40B4-BE49-F238E27FC236}">
                <a16:creationId xmlns:a16="http://schemas.microsoft.com/office/drawing/2014/main" id="{9FE77B8D-426C-AD3B-EC43-56B2F0929818}"/>
              </a:ext>
            </a:extLst>
          </p:cNvPr>
          <p:cNvCxnSpPr/>
          <p:nvPr/>
        </p:nvCxnSpPr>
        <p:spPr>
          <a:xfrm>
            <a:off x="2401760" y="3159803"/>
            <a:ext cx="0" cy="1078754"/>
          </a:xfrm>
          <a:prstGeom prst="straightConnector1">
            <a:avLst/>
          </a:prstGeom>
          <a:ln w="38100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4D00B519-FFD2-2E00-10AE-03AD6A24F062}"/>
              </a:ext>
            </a:extLst>
          </p:cNvPr>
          <p:cNvSpPr/>
          <p:nvPr/>
        </p:nvSpPr>
        <p:spPr>
          <a:xfrm>
            <a:off x="2781293" y="33194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BEA7468-AE81-DBC2-6714-D2252BCEB659}"/>
              </a:ext>
            </a:extLst>
          </p:cNvPr>
          <p:cNvSpPr/>
          <p:nvPr/>
        </p:nvSpPr>
        <p:spPr>
          <a:xfrm>
            <a:off x="3095806" y="33194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DC7F876-10AE-2043-203A-17A659C41E97}"/>
              </a:ext>
            </a:extLst>
          </p:cNvPr>
          <p:cNvSpPr/>
          <p:nvPr/>
        </p:nvSpPr>
        <p:spPr>
          <a:xfrm>
            <a:off x="3386090" y="33194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09AFA8E-994E-7B3B-EB53-D3A1CA610EE0}"/>
              </a:ext>
            </a:extLst>
          </p:cNvPr>
          <p:cNvSpPr/>
          <p:nvPr/>
        </p:nvSpPr>
        <p:spPr>
          <a:xfrm>
            <a:off x="2781293" y="35607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73FC5E2-F03D-4207-39CD-486AD5C276CF}"/>
              </a:ext>
            </a:extLst>
          </p:cNvPr>
          <p:cNvSpPr/>
          <p:nvPr/>
        </p:nvSpPr>
        <p:spPr>
          <a:xfrm>
            <a:off x="3095806" y="35607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2F9D835-CE49-0E6E-01A9-306C16471ECF}"/>
              </a:ext>
            </a:extLst>
          </p:cNvPr>
          <p:cNvSpPr/>
          <p:nvPr/>
        </p:nvSpPr>
        <p:spPr>
          <a:xfrm>
            <a:off x="3386090" y="35607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1CB7AFE-9DAA-BB7F-97DF-A8A301DC1AE5}"/>
              </a:ext>
            </a:extLst>
          </p:cNvPr>
          <p:cNvSpPr/>
          <p:nvPr/>
        </p:nvSpPr>
        <p:spPr>
          <a:xfrm>
            <a:off x="2768593" y="38274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880589C-703A-7FAC-520E-D133EBEBB618}"/>
              </a:ext>
            </a:extLst>
          </p:cNvPr>
          <p:cNvSpPr/>
          <p:nvPr/>
        </p:nvSpPr>
        <p:spPr>
          <a:xfrm>
            <a:off x="3083106" y="38274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39F4BD6E-879D-03EB-CDAA-C1228E837E63}"/>
              </a:ext>
            </a:extLst>
          </p:cNvPr>
          <p:cNvSpPr/>
          <p:nvPr/>
        </p:nvSpPr>
        <p:spPr>
          <a:xfrm>
            <a:off x="3373390" y="38274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87" name="Elipse 86">
            <a:extLst>
              <a:ext uri="{FF2B5EF4-FFF2-40B4-BE49-F238E27FC236}">
                <a16:creationId xmlns:a16="http://schemas.microsoft.com/office/drawing/2014/main" id="{98FD3389-0AC5-1CEF-7049-D8EBFB4D1C8D}"/>
              </a:ext>
            </a:extLst>
          </p:cNvPr>
          <p:cNvSpPr/>
          <p:nvPr/>
        </p:nvSpPr>
        <p:spPr>
          <a:xfrm>
            <a:off x="2795807" y="46366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0C1BA87F-E0B5-0DD4-FDA1-E1F4AAB26855}"/>
              </a:ext>
            </a:extLst>
          </p:cNvPr>
          <p:cNvSpPr/>
          <p:nvPr/>
        </p:nvSpPr>
        <p:spPr>
          <a:xfrm>
            <a:off x="3110320" y="46366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5EB1EBF8-BBD4-2F0F-7115-4F997C813F7F}"/>
              </a:ext>
            </a:extLst>
          </p:cNvPr>
          <p:cNvSpPr/>
          <p:nvPr/>
        </p:nvSpPr>
        <p:spPr>
          <a:xfrm>
            <a:off x="3400604" y="46366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545FE888-1D31-E262-0D09-F5DEF15B6702}"/>
              </a:ext>
            </a:extLst>
          </p:cNvPr>
          <p:cNvSpPr/>
          <p:nvPr/>
        </p:nvSpPr>
        <p:spPr>
          <a:xfrm>
            <a:off x="2781293" y="49704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E3714421-0A37-46E4-09E7-4EB232A4720F}"/>
              </a:ext>
            </a:extLst>
          </p:cNvPr>
          <p:cNvSpPr/>
          <p:nvPr/>
        </p:nvSpPr>
        <p:spPr>
          <a:xfrm>
            <a:off x="3095806" y="49704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DF4DE362-577E-DE80-6B76-82EFDF1B4313}"/>
              </a:ext>
            </a:extLst>
          </p:cNvPr>
          <p:cNvSpPr/>
          <p:nvPr/>
        </p:nvSpPr>
        <p:spPr>
          <a:xfrm>
            <a:off x="3386090" y="49704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5A287E04-ECC2-B4EA-B259-6CCC5D2CEBFC}"/>
              </a:ext>
            </a:extLst>
          </p:cNvPr>
          <p:cNvSpPr/>
          <p:nvPr/>
        </p:nvSpPr>
        <p:spPr>
          <a:xfrm>
            <a:off x="5310407" y="30110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8094DB50-A25C-0C79-13F8-B9BAD58550DE}"/>
              </a:ext>
            </a:extLst>
          </p:cNvPr>
          <p:cNvSpPr/>
          <p:nvPr/>
        </p:nvSpPr>
        <p:spPr>
          <a:xfrm>
            <a:off x="5624920" y="30110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7" name="Elipse 96">
            <a:extLst>
              <a:ext uri="{FF2B5EF4-FFF2-40B4-BE49-F238E27FC236}">
                <a16:creationId xmlns:a16="http://schemas.microsoft.com/office/drawing/2014/main" id="{F5AE371A-859E-9413-C7A2-CE68CA3C1DBA}"/>
              </a:ext>
            </a:extLst>
          </p:cNvPr>
          <p:cNvSpPr/>
          <p:nvPr/>
        </p:nvSpPr>
        <p:spPr>
          <a:xfrm>
            <a:off x="5915204" y="30110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3A5B1219-D3CA-F4BD-0C7A-6D12EAF16213}"/>
              </a:ext>
            </a:extLst>
          </p:cNvPr>
          <p:cNvSpPr/>
          <p:nvPr/>
        </p:nvSpPr>
        <p:spPr>
          <a:xfrm>
            <a:off x="5295893" y="33448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9" name="Elipse 98">
            <a:extLst>
              <a:ext uri="{FF2B5EF4-FFF2-40B4-BE49-F238E27FC236}">
                <a16:creationId xmlns:a16="http://schemas.microsoft.com/office/drawing/2014/main" id="{ADDDC34E-2EAF-D164-4197-D7A41BCAA691}"/>
              </a:ext>
            </a:extLst>
          </p:cNvPr>
          <p:cNvSpPr/>
          <p:nvPr/>
        </p:nvSpPr>
        <p:spPr>
          <a:xfrm>
            <a:off x="5610406" y="33448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0" name="Elipse 99">
            <a:extLst>
              <a:ext uri="{FF2B5EF4-FFF2-40B4-BE49-F238E27FC236}">
                <a16:creationId xmlns:a16="http://schemas.microsoft.com/office/drawing/2014/main" id="{C1B074ED-0A23-96B4-A1E0-4A94CE128C3E}"/>
              </a:ext>
            </a:extLst>
          </p:cNvPr>
          <p:cNvSpPr/>
          <p:nvPr/>
        </p:nvSpPr>
        <p:spPr>
          <a:xfrm>
            <a:off x="5900690" y="33448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1" name="Elipse 100">
            <a:extLst>
              <a:ext uri="{FF2B5EF4-FFF2-40B4-BE49-F238E27FC236}">
                <a16:creationId xmlns:a16="http://schemas.microsoft.com/office/drawing/2014/main" id="{17FF6B02-49B8-57AD-6501-C7D6C04D12F0}"/>
              </a:ext>
            </a:extLst>
          </p:cNvPr>
          <p:cNvSpPr/>
          <p:nvPr/>
        </p:nvSpPr>
        <p:spPr>
          <a:xfrm>
            <a:off x="8231407" y="23633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2" name="Elipse 101">
            <a:extLst>
              <a:ext uri="{FF2B5EF4-FFF2-40B4-BE49-F238E27FC236}">
                <a16:creationId xmlns:a16="http://schemas.microsoft.com/office/drawing/2014/main" id="{D09C0A63-1D22-6FE5-3CB4-BD03A284A321}"/>
              </a:ext>
            </a:extLst>
          </p:cNvPr>
          <p:cNvSpPr/>
          <p:nvPr/>
        </p:nvSpPr>
        <p:spPr>
          <a:xfrm>
            <a:off x="8545920" y="23633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112778AA-0520-D9FF-366A-B686E35FE50F}"/>
              </a:ext>
            </a:extLst>
          </p:cNvPr>
          <p:cNvSpPr/>
          <p:nvPr/>
        </p:nvSpPr>
        <p:spPr>
          <a:xfrm>
            <a:off x="8836204" y="23633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4" name="Elipse 103">
            <a:extLst>
              <a:ext uri="{FF2B5EF4-FFF2-40B4-BE49-F238E27FC236}">
                <a16:creationId xmlns:a16="http://schemas.microsoft.com/office/drawing/2014/main" id="{AD22EB74-1F3C-2F78-5356-205D060B8BC0}"/>
              </a:ext>
            </a:extLst>
          </p:cNvPr>
          <p:cNvSpPr/>
          <p:nvPr/>
        </p:nvSpPr>
        <p:spPr>
          <a:xfrm>
            <a:off x="8216893" y="26971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5" name="Elipse 104">
            <a:extLst>
              <a:ext uri="{FF2B5EF4-FFF2-40B4-BE49-F238E27FC236}">
                <a16:creationId xmlns:a16="http://schemas.microsoft.com/office/drawing/2014/main" id="{0404490F-FFAC-00BA-E5B3-9B47AF1AF341}"/>
              </a:ext>
            </a:extLst>
          </p:cNvPr>
          <p:cNvSpPr/>
          <p:nvPr/>
        </p:nvSpPr>
        <p:spPr>
          <a:xfrm>
            <a:off x="8531406" y="26971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6" name="Elipse 105">
            <a:extLst>
              <a:ext uri="{FF2B5EF4-FFF2-40B4-BE49-F238E27FC236}">
                <a16:creationId xmlns:a16="http://schemas.microsoft.com/office/drawing/2014/main" id="{7EA66DD1-9C13-C910-E5EC-F98D163A25FC}"/>
              </a:ext>
            </a:extLst>
          </p:cNvPr>
          <p:cNvSpPr/>
          <p:nvPr/>
        </p:nvSpPr>
        <p:spPr>
          <a:xfrm>
            <a:off x="8821690" y="26971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9797EE99-E754-415C-AD9E-AC8C7C4FD6E4}"/>
              </a:ext>
            </a:extLst>
          </p:cNvPr>
          <p:cNvSpPr/>
          <p:nvPr/>
        </p:nvSpPr>
        <p:spPr>
          <a:xfrm>
            <a:off x="8244107" y="51319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8" name="Elipse 107">
            <a:extLst>
              <a:ext uri="{FF2B5EF4-FFF2-40B4-BE49-F238E27FC236}">
                <a16:creationId xmlns:a16="http://schemas.microsoft.com/office/drawing/2014/main" id="{A588DF69-F601-51E6-1FB4-4F347ECA7B76}"/>
              </a:ext>
            </a:extLst>
          </p:cNvPr>
          <p:cNvSpPr/>
          <p:nvPr/>
        </p:nvSpPr>
        <p:spPr>
          <a:xfrm>
            <a:off x="8558620" y="51319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9" name="Elipse 108">
            <a:extLst>
              <a:ext uri="{FF2B5EF4-FFF2-40B4-BE49-F238E27FC236}">
                <a16:creationId xmlns:a16="http://schemas.microsoft.com/office/drawing/2014/main" id="{A6C1BDBF-80AD-092D-448C-29334089B68B}"/>
              </a:ext>
            </a:extLst>
          </p:cNvPr>
          <p:cNvSpPr/>
          <p:nvPr/>
        </p:nvSpPr>
        <p:spPr>
          <a:xfrm>
            <a:off x="8848904" y="5131941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10" name="Elipse 109">
            <a:extLst>
              <a:ext uri="{FF2B5EF4-FFF2-40B4-BE49-F238E27FC236}">
                <a16:creationId xmlns:a16="http://schemas.microsoft.com/office/drawing/2014/main" id="{99F118E7-05AF-82C5-7E7A-CDB1D2EAE2B8}"/>
              </a:ext>
            </a:extLst>
          </p:cNvPr>
          <p:cNvSpPr/>
          <p:nvPr/>
        </p:nvSpPr>
        <p:spPr>
          <a:xfrm>
            <a:off x="8229593" y="54657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12" name="Elipse 111">
            <a:extLst>
              <a:ext uri="{FF2B5EF4-FFF2-40B4-BE49-F238E27FC236}">
                <a16:creationId xmlns:a16="http://schemas.microsoft.com/office/drawing/2014/main" id="{992337E7-9286-A000-83CC-4B879B99E7E0}"/>
              </a:ext>
            </a:extLst>
          </p:cNvPr>
          <p:cNvSpPr/>
          <p:nvPr/>
        </p:nvSpPr>
        <p:spPr>
          <a:xfrm>
            <a:off x="8544106" y="54657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13" name="Elipse 112">
            <a:extLst>
              <a:ext uri="{FF2B5EF4-FFF2-40B4-BE49-F238E27FC236}">
                <a16:creationId xmlns:a16="http://schemas.microsoft.com/office/drawing/2014/main" id="{1E4FE2E2-193C-330A-6A52-899F27722D43}"/>
              </a:ext>
            </a:extLst>
          </p:cNvPr>
          <p:cNvSpPr/>
          <p:nvPr/>
        </p:nvSpPr>
        <p:spPr>
          <a:xfrm>
            <a:off x="8834390" y="5465768"/>
            <a:ext cx="77472" cy="8060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81B1C315-6233-E968-3393-D7C0C59D32AD}"/>
              </a:ext>
            </a:extLst>
          </p:cNvPr>
          <p:cNvCxnSpPr>
            <a:cxnSpLocks/>
          </p:cNvCxnSpPr>
          <p:nvPr/>
        </p:nvCxnSpPr>
        <p:spPr>
          <a:xfrm>
            <a:off x="2369882" y="4431091"/>
            <a:ext cx="0" cy="781456"/>
          </a:xfrm>
          <a:prstGeom prst="straightConnector1">
            <a:avLst/>
          </a:prstGeom>
          <a:ln w="38100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E06A48-F0C2-4D64-4D8B-983FD566BF4C}"/>
              </a:ext>
            </a:extLst>
          </p:cNvPr>
          <p:cNvSpPr txBox="1"/>
          <p:nvPr/>
        </p:nvSpPr>
        <p:spPr>
          <a:xfrm>
            <a:off x="2768593" y="1271588"/>
            <a:ext cx="694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P.P.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A9B0984-0C2C-667A-2CA9-E42EBA9784D3}"/>
              </a:ext>
            </a:extLst>
          </p:cNvPr>
          <p:cNvSpPr txBox="1"/>
          <p:nvPr/>
        </p:nvSpPr>
        <p:spPr>
          <a:xfrm>
            <a:off x="4977640" y="1488656"/>
            <a:ext cx="1408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FUNÇÃO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E7AB300-F65B-D541-C0A4-1C15F31AC4D1}"/>
              </a:ext>
            </a:extLst>
          </p:cNvPr>
          <p:cNvSpPr txBox="1"/>
          <p:nvPr/>
        </p:nvSpPr>
        <p:spPr>
          <a:xfrm>
            <a:off x="7898650" y="1174931"/>
            <a:ext cx="1408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FUNÇÃO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A08C5CD-FFBB-A201-84A4-31B476CBF9C3}"/>
              </a:ext>
            </a:extLst>
          </p:cNvPr>
          <p:cNvSpPr txBox="1"/>
          <p:nvPr/>
        </p:nvSpPr>
        <p:spPr>
          <a:xfrm>
            <a:off x="7911006" y="3915179"/>
            <a:ext cx="1396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FUNÇÃO</a:t>
            </a:r>
          </a:p>
        </p:txBody>
      </p:sp>
    </p:spTree>
    <p:extLst>
      <p:ext uri="{BB962C8B-B14F-4D97-AF65-F5344CB8AC3E}">
        <p14:creationId xmlns:p14="http://schemas.microsoft.com/office/powerpoint/2010/main" val="304406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C18FA8-2276-0F13-0675-C5AB479D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45F7DB-3F59-27DC-5D0F-2DC4481B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AFEC84-595F-C81E-6B52-B0978E3F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322" y="6356350"/>
            <a:ext cx="87336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8DC4D5E-81ED-E254-277A-8C0144F5B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Fluxo de Execução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A404EF4-D792-6602-257B-CFCE4790F038}"/>
              </a:ext>
            </a:extLst>
          </p:cNvPr>
          <p:cNvSpPr txBox="1"/>
          <p:nvPr/>
        </p:nvSpPr>
        <p:spPr>
          <a:xfrm>
            <a:off x="1221859" y="1376778"/>
            <a:ext cx="916100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def</a:t>
            </a:r>
            <a:r>
              <a:rPr lang="pt-BR" sz="2800" dirty="0"/>
              <a:t> calcula_media(v):</a:t>
            </a:r>
          </a:p>
          <a:p>
            <a:r>
              <a:rPr lang="pt-BR" sz="2800" dirty="0"/>
              <a:t>         soma = 0</a:t>
            </a:r>
          </a:p>
          <a:p>
            <a:r>
              <a:rPr lang="pt-BR" sz="2800" dirty="0"/>
              <a:t>         for i in v:</a:t>
            </a:r>
          </a:p>
          <a:p>
            <a:r>
              <a:rPr lang="pt-BR" sz="2800" dirty="0"/>
              <a:t>               soma += i</a:t>
            </a:r>
          </a:p>
          <a:p>
            <a:r>
              <a:rPr lang="pt-BR" sz="2800" dirty="0"/>
              <a:t>         media = soma  /  len(v)</a:t>
            </a:r>
          </a:p>
          <a:p>
            <a:r>
              <a:rPr lang="pt-BR" sz="2800" dirty="0"/>
              <a:t>          </a:t>
            </a:r>
            <a:r>
              <a:rPr lang="pt-BR" sz="2800" b="1" dirty="0"/>
              <a:t>return</a:t>
            </a:r>
            <a:r>
              <a:rPr lang="pt-BR" sz="2800" dirty="0"/>
              <a:t> media</a:t>
            </a:r>
          </a:p>
          <a:p>
            <a:endParaRPr lang="pt-BR" sz="1600" dirty="0"/>
          </a:p>
          <a:p>
            <a:r>
              <a:rPr lang="pt-BR" sz="2800" dirty="0"/>
              <a:t>a = [1,  2,  3,  4,  5]        # Prog. Principal</a:t>
            </a:r>
          </a:p>
          <a:p>
            <a:r>
              <a:rPr lang="pt-BR" sz="2800" dirty="0"/>
              <a:t>print (calcula_media(a))</a:t>
            </a:r>
          </a:p>
          <a:p>
            <a:r>
              <a:rPr lang="pt-BR" sz="2800" dirty="0"/>
              <a:t>b =  [10,  20,  30,  40]</a:t>
            </a:r>
          </a:p>
          <a:p>
            <a:r>
              <a:rPr lang="pt-BR" sz="2800" dirty="0"/>
              <a:t>print (calcula_media(b))</a:t>
            </a:r>
          </a:p>
        </p:txBody>
      </p:sp>
      <p:sp>
        <p:nvSpPr>
          <p:cNvPr id="11" name="Seta: Curva para Cima 10">
            <a:extLst>
              <a:ext uri="{FF2B5EF4-FFF2-40B4-BE49-F238E27FC236}">
                <a16:creationId xmlns:a16="http://schemas.microsoft.com/office/drawing/2014/main" id="{D9766C98-612A-6675-A9E3-F3B9D03AFA2D}"/>
              </a:ext>
            </a:extLst>
          </p:cNvPr>
          <p:cNvSpPr/>
          <p:nvPr/>
        </p:nvSpPr>
        <p:spPr>
          <a:xfrm rot="15682906">
            <a:off x="4347884" y="1344083"/>
            <a:ext cx="4063229" cy="3116022"/>
          </a:xfrm>
          <a:prstGeom prst="curvedUpArrow">
            <a:avLst>
              <a:gd name="adj1" fmla="val 10465"/>
              <a:gd name="adj2" fmla="val 31123"/>
              <a:gd name="adj3" fmla="val 3729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D0727D46-E0CD-97D5-5C51-F1A3449097F2}"/>
              </a:ext>
            </a:extLst>
          </p:cNvPr>
          <p:cNvCxnSpPr/>
          <p:nvPr/>
        </p:nvCxnSpPr>
        <p:spPr>
          <a:xfrm>
            <a:off x="988636" y="1563565"/>
            <a:ext cx="0" cy="201748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eta: Curva para Baixo 13">
            <a:extLst>
              <a:ext uri="{FF2B5EF4-FFF2-40B4-BE49-F238E27FC236}">
                <a16:creationId xmlns:a16="http://schemas.microsoft.com/office/drawing/2014/main" id="{41BA5D26-D948-6F23-0D12-211B43B4A538}"/>
              </a:ext>
            </a:extLst>
          </p:cNvPr>
          <p:cNvSpPr/>
          <p:nvPr/>
        </p:nvSpPr>
        <p:spPr>
          <a:xfrm rot="4083850">
            <a:off x="4785207" y="2979640"/>
            <a:ext cx="1707214" cy="2178938"/>
          </a:xfrm>
          <a:prstGeom prst="curvedDownArrow">
            <a:avLst>
              <a:gd name="adj1" fmla="val 15231"/>
              <a:gd name="adj2" fmla="val 31603"/>
              <a:gd name="adj3" fmla="val 36609"/>
            </a:avLst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816DF08-A112-6F9E-E01C-74EB3AC92E64}"/>
              </a:ext>
            </a:extLst>
          </p:cNvPr>
          <p:cNvCxnSpPr/>
          <p:nvPr/>
        </p:nvCxnSpPr>
        <p:spPr>
          <a:xfrm>
            <a:off x="1024911" y="4448978"/>
            <a:ext cx="0" cy="1277258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8F176322-7747-3526-E905-24E49AF2BEA8}"/>
              </a:ext>
            </a:extLst>
          </p:cNvPr>
          <p:cNvSpPr/>
          <p:nvPr/>
        </p:nvSpPr>
        <p:spPr>
          <a:xfrm>
            <a:off x="9291225" y="2117260"/>
            <a:ext cx="2644627" cy="2016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Execução começa no primeiro comando que está fora de uma função. 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F639D49-8EE7-8A30-0813-35D50B986CA2}"/>
              </a:ext>
            </a:extLst>
          </p:cNvPr>
          <p:cNvCxnSpPr/>
          <p:nvPr/>
        </p:nvCxnSpPr>
        <p:spPr>
          <a:xfrm>
            <a:off x="1180578" y="1563565"/>
            <a:ext cx="0" cy="201748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eta: Curva para Baixo 7">
            <a:extLst>
              <a:ext uri="{FF2B5EF4-FFF2-40B4-BE49-F238E27FC236}">
                <a16:creationId xmlns:a16="http://schemas.microsoft.com/office/drawing/2014/main" id="{D20234F7-1500-56EB-F9A0-57F78F8BD94D}"/>
              </a:ext>
            </a:extLst>
          </p:cNvPr>
          <p:cNvSpPr/>
          <p:nvPr/>
        </p:nvSpPr>
        <p:spPr>
          <a:xfrm rot="6052874" flipV="1">
            <a:off x="-403668" y="4279436"/>
            <a:ext cx="2836708" cy="1392565"/>
          </a:xfrm>
          <a:prstGeom prst="curvedDownArrow">
            <a:avLst>
              <a:gd name="adj1" fmla="val 11757"/>
              <a:gd name="adj2" fmla="val 40457"/>
              <a:gd name="adj3" fmla="val 48071"/>
            </a:avLst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Seta: Curva para Cima 8">
            <a:extLst>
              <a:ext uri="{FF2B5EF4-FFF2-40B4-BE49-F238E27FC236}">
                <a16:creationId xmlns:a16="http://schemas.microsoft.com/office/drawing/2014/main" id="{3C574785-F764-CDD7-393E-FC011F67056F}"/>
              </a:ext>
            </a:extLst>
          </p:cNvPr>
          <p:cNvSpPr/>
          <p:nvPr/>
        </p:nvSpPr>
        <p:spPr>
          <a:xfrm rot="15898187">
            <a:off x="3707881" y="2070109"/>
            <a:ext cx="5021477" cy="2671340"/>
          </a:xfrm>
          <a:prstGeom prst="curvedUpArrow">
            <a:avLst>
              <a:gd name="adj1" fmla="val 25000"/>
              <a:gd name="adj2" fmla="val 39438"/>
              <a:gd name="adj3" fmla="val 310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6A9EC46-D446-F180-9338-5747435EC39C}"/>
              </a:ext>
            </a:extLst>
          </p:cNvPr>
          <p:cNvSpPr txBox="1"/>
          <p:nvPr/>
        </p:nvSpPr>
        <p:spPr>
          <a:xfrm>
            <a:off x="1463720" y="6023961"/>
            <a:ext cx="608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Vai para a linha seguinte a última chamada da função</a:t>
            </a:r>
          </a:p>
        </p:txBody>
      </p:sp>
    </p:spTree>
    <p:extLst>
      <p:ext uri="{BB962C8B-B14F-4D97-AF65-F5344CB8AC3E}">
        <p14:creationId xmlns:p14="http://schemas.microsoft.com/office/powerpoint/2010/main" val="351455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5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6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4" grpId="0" animBg="1"/>
      <p:bldP spid="14" grpId="1" animBg="1"/>
      <p:bldP spid="18" grpId="0" animBg="1"/>
      <p:bldP spid="8" grpId="0" animBg="1"/>
      <p:bldP spid="9" grpId="0" animBg="1"/>
      <p:bldP spid="9" grpId="1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1E330E5-D398-CB43-8477-41526AA52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DCCA17-EB6C-C38E-8AB3-815A5278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9BC11C-CE0F-116E-AC6B-5B591052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BCBF884-E9B3-EF0A-898C-9D5DD536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Declaração de Função em 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371831-6107-AA9F-E73A-8C1DF0B047D1}"/>
              </a:ext>
            </a:extLst>
          </p:cNvPr>
          <p:cNvSpPr txBox="1"/>
          <p:nvPr/>
        </p:nvSpPr>
        <p:spPr>
          <a:xfrm>
            <a:off x="2005532" y="1254135"/>
            <a:ext cx="711669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Declaração de Função </a:t>
            </a:r>
          </a:p>
          <a:p>
            <a:endParaRPr lang="pt-BR" sz="2000" dirty="0"/>
          </a:p>
          <a:p>
            <a:r>
              <a:rPr lang="pt-BR" sz="2400" dirty="0"/>
              <a:t>def nome_função {&lt;parâmetro&gt;}:</a:t>
            </a:r>
          </a:p>
          <a:p>
            <a:r>
              <a:rPr lang="pt-BR" sz="2400" dirty="0"/>
              <a:t>     &lt;comando&gt;</a:t>
            </a:r>
          </a:p>
          <a:p>
            <a:r>
              <a:rPr lang="pt-BR" sz="2400" dirty="0"/>
              <a:t>     [return &lt;expressão&gt;]</a:t>
            </a:r>
          </a:p>
          <a:p>
            <a:endParaRPr lang="pt-BR" sz="2400" dirty="0"/>
          </a:p>
          <a:p>
            <a:r>
              <a:rPr lang="pt-BR" sz="2400" dirty="0"/>
              <a:t>Exemplo:</a:t>
            </a:r>
          </a:p>
          <a:p>
            <a:pPr marL="1428750" defTabSz="1071563"/>
            <a:r>
              <a:rPr lang="pt-BR" sz="2400" dirty="0"/>
              <a:t>    def calcula_media(v):</a:t>
            </a:r>
          </a:p>
          <a:p>
            <a:pPr marL="1428750" defTabSz="1071563"/>
            <a:r>
              <a:rPr lang="pt-BR" sz="2400" dirty="0"/>
              <a:t>            soma  =  0;</a:t>
            </a:r>
          </a:p>
          <a:p>
            <a:pPr marL="1428750" defTabSz="1071563"/>
            <a:r>
              <a:rPr lang="pt-BR" sz="2400" dirty="0"/>
              <a:t>           for i  in v:</a:t>
            </a:r>
          </a:p>
          <a:p>
            <a:pPr marL="1428750" defTabSz="1071563"/>
            <a:r>
              <a:rPr lang="pt-BR" sz="2400" dirty="0"/>
              <a:t>                    soma += i</a:t>
            </a:r>
          </a:p>
          <a:p>
            <a:pPr marL="1428750" defTabSz="1071563"/>
            <a:r>
              <a:rPr lang="pt-BR" sz="2400" dirty="0"/>
              <a:t>           media  = soma  /  len(v)</a:t>
            </a:r>
          </a:p>
          <a:p>
            <a:pPr marL="1428750" defTabSz="1071563"/>
            <a:r>
              <a:rPr lang="pt-BR" sz="2400" dirty="0"/>
              <a:t>           return media </a:t>
            </a:r>
          </a:p>
        </p:txBody>
      </p:sp>
    </p:spTree>
    <p:extLst>
      <p:ext uri="{BB962C8B-B14F-4D97-AF65-F5344CB8AC3E}">
        <p14:creationId xmlns:p14="http://schemas.microsoft.com/office/powerpoint/2010/main" val="1114602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BBDAC1C-96F1-5D4E-55B2-C3DF433F4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02BBCF7-EE31-861C-3F8D-766253CBF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Cap08-Exem01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C9A8B3-DB82-2295-B2EA-0342C15A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BC1D2AC-8FB4-002C-E334-187AEB5D5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Função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EE289-F9DE-0FE5-3E4A-3CAC994F404F}"/>
              </a:ext>
            </a:extLst>
          </p:cNvPr>
          <p:cNvSpPr txBox="1"/>
          <p:nvPr/>
        </p:nvSpPr>
        <p:spPr>
          <a:xfrm>
            <a:off x="2249949" y="1592689"/>
            <a:ext cx="60796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def</a:t>
            </a:r>
            <a:r>
              <a:rPr lang="pt-BR" sz="2400" dirty="0"/>
              <a:t> calcula_tempo(velocidade, distancia):</a:t>
            </a:r>
          </a:p>
          <a:p>
            <a:r>
              <a:rPr lang="pt-BR" sz="2400" dirty="0"/>
              <a:t>      tempo  = distancia  / velocidade</a:t>
            </a:r>
          </a:p>
          <a:p>
            <a:r>
              <a:rPr lang="pt-BR" sz="2400" dirty="0"/>
              <a:t>      return  tempo</a:t>
            </a:r>
          </a:p>
          <a:p>
            <a:endParaRPr lang="pt-BR" sz="2400" dirty="0"/>
          </a:p>
          <a:p>
            <a:r>
              <a:rPr lang="pt-BR" sz="2400" b="1" dirty="0"/>
              <a:t>def</a:t>
            </a:r>
            <a:r>
              <a:rPr lang="pt-BR" sz="2400" dirty="0"/>
              <a:t>  calcula_distancia (velocidade,  tempo):</a:t>
            </a:r>
          </a:p>
          <a:p>
            <a:r>
              <a:rPr lang="pt-BR" sz="2400" dirty="0"/>
              <a:t>       distancia  =  velocidade  *  tempo</a:t>
            </a:r>
          </a:p>
          <a:p>
            <a:r>
              <a:rPr lang="pt-BR" sz="2400" dirty="0"/>
              <a:t>       return distancia </a:t>
            </a:r>
          </a:p>
          <a:p>
            <a:endParaRPr lang="pt-BR" sz="2400" dirty="0"/>
          </a:p>
          <a:p>
            <a:r>
              <a:rPr lang="pt-BR" sz="2400" dirty="0"/>
              <a:t>t  = calcula_ tempo(10, 5)</a:t>
            </a:r>
          </a:p>
          <a:p>
            <a:r>
              <a:rPr lang="pt-BR" sz="2400" dirty="0"/>
              <a:t>print (t)       </a:t>
            </a:r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# </a:t>
            </a:r>
            <a:r>
              <a:rPr lang="pt-BR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=&gt; 0.5</a:t>
            </a:r>
          </a:p>
          <a:p>
            <a:r>
              <a:rPr lang="pt-BR" sz="2400" dirty="0"/>
              <a:t>d  = calcula_distancia(5,  4)</a:t>
            </a:r>
          </a:p>
          <a:p>
            <a:r>
              <a:rPr lang="pt-BR" sz="2400" dirty="0"/>
              <a:t>print (d)     </a:t>
            </a:r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#  </a:t>
            </a:r>
            <a:r>
              <a:rPr lang="pt-BR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=&gt;  20</a:t>
            </a:r>
          </a:p>
        </p:txBody>
      </p:sp>
    </p:spTree>
    <p:extLst>
      <p:ext uri="{BB962C8B-B14F-4D97-AF65-F5344CB8AC3E}">
        <p14:creationId xmlns:p14="http://schemas.microsoft.com/office/powerpoint/2010/main" val="1314059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F4B8BFA-B019-294A-CE95-6BE790967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FEB03F-228D-2B5E-8A7E-18147A4D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2EBBA1-B986-2240-7FE5-D629758D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121130-7AEE-20ED-83AF-235CA5EE2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Importante Lembrar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CDD936-EB0E-B295-70B7-4CB1A2E1F449}"/>
              </a:ext>
            </a:extLst>
          </p:cNvPr>
          <p:cNvSpPr txBox="1"/>
          <p:nvPr/>
        </p:nvSpPr>
        <p:spPr>
          <a:xfrm>
            <a:off x="239152" y="1524258"/>
            <a:ext cx="1171369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Um programa Python pode ter zero ou mais definições de função</a:t>
            </a: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Uma função pode ter zero ou mais parâmetros</a:t>
            </a: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Uma função pode ser chamada zero ou mais vezes</a:t>
            </a: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Uma função só é executada quando é chamada</a:t>
            </a:r>
          </a:p>
          <a:p>
            <a:pPr marL="363538" indent="-363538" algn="l"/>
            <a:r>
              <a:rPr lang="pt-BR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Duas chamadas de uma mesma função podem produzir resultados diferentes</a:t>
            </a: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Uma função que retorna um valor deve usar </a:t>
            </a:r>
            <a:r>
              <a:rPr lang="pt-BR" sz="2800" b="1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</a:p>
          <a:p>
            <a:pPr marL="261938" algn="l"/>
            <a:r>
              <a:rPr lang="pt-BR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Assim que o comando </a:t>
            </a:r>
            <a:r>
              <a:rPr lang="pt-BR" sz="2800" b="1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pt-BR" sz="2800" b="0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executado, a função termina</a:t>
            </a: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Uma função pode não retornar nenhum valor</a:t>
            </a:r>
          </a:p>
          <a:p>
            <a:pPr marL="536575" indent="-274638" algn="l"/>
            <a:r>
              <a:rPr lang="pt-BR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Nesse caso a função termina quando sua última linha de código for executada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79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3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3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52C1FE-3ED7-D186-1336-31651747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034321-D2D9-F3BA-D138-CB86765C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99EE21-517B-51A9-0711-DC8DBC56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C67F4A5-B300-4EA2-9AEE-8BC6BE841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Escopo de Variáveis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C84E6E0-2390-EE56-9678-471955EE0EB0}"/>
              </a:ext>
            </a:extLst>
          </p:cNvPr>
          <p:cNvSpPr txBox="1"/>
          <p:nvPr/>
        </p:nvSpPr>
        <p:spPr>
          <a:xfrm>
            <a:off x="798286" y="1556540"/>
            <a:ext cx="1068251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• Variáveis podem ser locais ou globais</a:t>
            </a:r>
          </a:p>
          <a:p>
            <a:pPr algn="l"/>
            <a:endParaRPr lang="pt-BR" sz="28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• Variáveis locais</a:t>
            </a:r>
          </a:p>
          <a:p>
            <a:pPr marL="261938" algn="l"/>
            <a:r>
              <a:rPr lang="pt-BR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– Declaradas dentro de uma função</a:t>
            </a:r>
          </a:p>
          <a:p>
            <a:pPr marL="261938" algn="l"/>
            <a:r>
              <a:rPr lang="pt-BR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– São visíveis somente dentro da função onde foram declaradas</a:t>
            </a:r>
          </a:p>
          <a:p>
            <a:pPr marL="261938" algn="l"/>
            <a:r>
              <a:rPr lang="pt-BR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– São destruídas ao término da execução da função</a:t>
            </a:r>
          </a:p>
          <a:p>
            <a:pPr marL="261938" algn="l"/>
            <a:endParaRPr lang="pt-BR" sz="28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• Variáveis globais</a:t>
            </a:r>
          </a:p>
          <a:p>
            <a:pPr marL="261938" algn="l"/>
            <a:r>
              <a:rPr lang="pt-BR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– Declaradas fora de todas as funções</a:t>
            </a:r>
          </a:p>
          <a:p>
            <a:pPr marL="261938" algn="l"/>
            <a:r>
              <a:rPr lang="pt-BR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– São visíveis por TODAS as funções do programa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356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970A8A4-4ECF-6ABA-BF35-CADF12E4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790F29C-2EA7-0A7F-48CC-E40D0FAD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64FAD0-1C74-8278-8796-FE5539CF2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8C9371E-7695-DDB4-982B-A70A1447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Exemplo: Variáveis Locais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D9BC44-940D-57BF-6570-8F5D6A5B187E}"/>
              </a:ext>
            </a:extLst>
          </p:cNvPr>
          <p:cNvSpPr txBox="1"/>
          <p:nvPr/>
        </p:nvSpPr>
        <p:spPr>
          <a:xfrm>
            <a:off x="1793964" y="1208844"/>
            <a:ext cx="95939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def </a:t>
            </a:r>
            <a:r>
              <a:rPr lang="pt-BR" sz="2800" dirty="0"/>
              <a:t>calcula_tempo (velocidade,  distancia):</a:t>
            </a:r>
          </a:p>
          <a:p>
            <a:r>
              <a:rPr lang="pt-BR" sz="2800" dirty="0"/>
              <a:t>        </a:t>
            </a:r>
            <a:r>
              <a:rPr lang="pt-BR" sz="2800" b="1" dirty="0">
                <a:solidFill>
                  <a:srgbClr val="FF0000"/>
                </a:solidFill>
              </a:rPr>
              <a:t>tempo</a:t>
            </a:r>
            <a:r>
              <a:rPr lang="pt-BR" sz="2800" dirty="0"/>
              <a:t>  =  distancia  /  velocidade</a:t>
            </a:r>
          </a:p>
          <a:p>
            <a:r>
              <a:rPr lang="pt-BR" sz="2800" dirty="0"/>
              <a:t>        </a:t>
            </a:r>
            <a:r>
              <a:rPr lang="pt-BR" sz="2800" b="1" dirty="0"/>
              <a:t>return</a:t>
            </a:r>
            <a:r>
              <a:rPr lang="pt-BR" sz="2800" dirty="0"/>
              <a:t> tempo</a:t>
            </a:r>
          </a:p>
          <a:p>
            <a:endParaRPr lang="pt-BR" sz="2800" dirty="0"/>
          </a:p>
          <a:p>
            <a:r>
              <a:rPr lang="pt-BR" sz="2800" b="1" dirty="0"/>
              <a:t>def</a:t>
            </a:r>
            <a:r>
              <a:rPr lang="pt-BR" sz="2800" dirty="0"/>
              <a:t> calcula_distancia ( velocidade, tempo):</a:t>
            </a:r>
          </a:p>
          <a:p>
            <a:r>
              <a:rPr lang="pt-BR" sz="2800" dirty="0"/>
              <a:t>          </a:t>
            </a:r>
            <a:r>
              <a:rPr lang="pt-BR" sz="2800" b="1" dirty="0">
                <a:solidFill>
                  <a:srgbClr val="FF0000"/>
                </a:solidFill>
              </a:rPr>
              <a:t>distancia</a:t>
            </a:r>
            <a:r>
              <a:rPr lang="pt-BR" sz="2800" dirty="0"/>
              <a:t>  - velocidade  *  tempo</a:t>
            </a:r>
          </a:p>
          <a:p>
            <a:r>
              <a:rPr lang="pt-BR" sz="2800" dirty="0"/>
              <a:t>           </a:t>
            </a:r>
            <a:r>
              <a:rPr lang="pt-BR" sz="2800" b="1" dirty="0"/>
              <a:t>return </a:t>
            </a:r>
            <a:r>
              <a:rPr lang="pt-BR" sz="2800" dirty="0"/>
              <a:t>distancia</a:t>
            </a:r>
          </a:p>
          <a:p>
            <a:endParaRPr lang="pt-BR" sz="2800" dirty="0"/>
          </a:p>
          <a:p>
            <a:r>
              <a:rPr lang="pt-BR" sz="2800" dirty="0"/>
              <a:t>t  = calcula_tempo (10,  5)</a:t>
            </a:r>
          </a:p>
          <a:p>
            <a:r>
              <a:rPr lang="pt-BR" sz="2800" dirty="0"/>
              <a:t>print (t)</a:t>
            </a:r>
          </a:p>
          <a:p>
            <a:r>
              <a:rPr lang="pt-BR" sz="2800" dirty="0"/>
              <a:t>d  =  calcula_distancia(5,  4)</a:t>
            </a:r>
          </a:p>
          <a:p>
            <a:r>
              <a:rPr lang="pt-BR" sz="2800" dirty="0"/>
              <a:t>print(d)</a:t>
            </a:r>
          </a:p>
        </p:txBody>
      </p:sp>
    </p:spTree>
    <p:extLst>
      <p:ext uri="{BB962C8B-B14F-4D97-AF65-F5344CB8AC3E}">
        <p14:creationId xmlns:p14="http://schemas.microsoft.com/office/powerpoint/2010/main" val="104729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1F4F9A-86C3-3118-74B5-8960CA7C1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BE66E2-CB63-D34F-1216-EA1E2FD0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0363E1-D2F8-64F5-8F75-BEFA00DFA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43EB88B-EB72-6694-E760-F3690B48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Exemplo: Parâmetros também se comportam como Variáveis Locais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17F1E6-0BD0-9F13-5494-BF90F378762F}"/>
              </a:ext>
            </a:extLst>
          </p:cNvPr>
          <p:cNvSpPr txBox="1"/>
          <p:nvPr/>
        </p:nvSpPr>
        <p:spPr>
          <a:xfrm>
            <a:off x="885371" y="1814289"/>
            <a:ext cx="100452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def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calcula_tempo (</a:t>
            </a:r>
            <a:r>
              <a:rPr lang="pt-BR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velocidade, distancia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    tempo  =  </a:t>
            </a:r>
            <a:r>
              <a:rPr lang="pt-BR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distancia  /  velocidade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tempo</a:t>
            </a: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calcula_distancia  ( </a:t>
            </a:r>
            <a:r>
              <a:rPr lang="pt-BR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velocidade,  tempo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      distancia  =  </a:t>
            </a:r>
            <a:r>
              <a:rPr lang="pt-BR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velocidade  *  tempo</a:t>
            </a:r>
          </a:p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return 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t  = calcula_tempo (10,  5)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print (t)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  = calcula_distancia (5, 4)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print(d)</a:t>
            </a:r>
          </a:p>
        </p:txBody>
      </p:sp>
    </p:spTree>
    <p:extLst>
      <p:ext uri="{BB962C8B-B14F-4D97-AF65-F5344CB8AC3E}">
        <p14:creationId xmlns:p14="http://schemas.microsoft.com/office/powerpoint/2010/main" val="2051454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1F4F9A-86C3-3118-74B5-8960CA7C1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BE66E2-CB63-D34F-1216-EA1E2FD0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Cap08-Exem02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0363E1-D2F8-64F5-8F75-BEFA00DFA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43EB88B-EB72-6694-E760-F3690B48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Exemplo: Variáveis Globais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17F1E6-0BD0-9F13-5494-BF90F378762F}"/>
              </a:ext>
            </a:extLst>
          </p:cNvPr>
          <p:cNvSpPr txBox="1"/>
          <p:nvPr/>
        </p:nvSpPr>
        <p:spPr>
          <a:xfrm>
            <a:off x="885371" y="1614257"/>
            <a:ext cx="100452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def </a:t>
            </a:r>
            <a:r>
              <a:rPr lang="pt-BR" sz="2400" dirty="0"/>
              <a:t> calcula_tempo (velocidade, distancia):</a:t>
            </a:r>
          </a:p>
          <a:p>
            <a:r>
              <a:rPr lang="pt-BR" sz="2400" dirty="0"/>
              <a:t>        tempo  =  distancia  /  velocidade</a:t>
            </a:r>
          </a:p>
          <a:p>
            <a:r>
              <a:rPr lang="pt-BR" sz="2400" dirty="0"/>
              <a:t>        </a:t>
            </a:r>
            <a:r>
              <a:rPr lang="pt-BR" sz="2400" b="1" dirty="0"/>
              <a:t>return</a:t>
            </a:r>
            <a:r>
              <a:rPr lang="pt-BR" sz="2400" dirty="0"/>
              <a:t> tempo</a:t>
            </a:r>
          </a:p>
          <a:p>
            <a:endParaRPr lang="pt-BR" sz="2400" dirty="0"/>
          </a:p>
          <a:p>
            <a:r>
              <a:rPr lang="pt-BR" sz="2400" b="1" dirty="0"/>
              <a:t>def</a:t>
            </a:r>
            <a:r>
              <a:rPr lang="pt-BR" sz="2400" dirty="0"/>
              <a:t>  calcula_distancia  ( velocidade,  tempo):</a:t>
            </a:r>
          </a:p>
          <a:p>
            <a:r>
              <a:rPr lang="pt-BR" sz="2400" dirty="0"/>
              <a:t>          distancia  =  velocidade  *  tempo</a:t>
            </a:r>
          </a:p>
          <a:p>
            <a:r>
              <a:rPr lang="pt-BR" sz="2400" b="1" dirty="0"/>
              <a:t>          return  </a:t>
            </a:r>
            <a:r>
              <a:rPr lang="pt-BR" sz="2400" dirty="0"/>
              <a:t>distancia</a:t>
            </a:r>
          </a:p>
          <a:p>
            <a:endParaRPr lang="pt-BR" sz="2400" dirty="0"/>
          </a:p>
          <a:p>
            <a:r>
              <a:rPr lang="pt-BR" sz="2400" b="1" dirty="0">
                <a:solidFill>
                  <a:srgbClr val="FF0000"/>
                </a:solidFill>
              </a:rPr>
              <a:t>t</a:t>
            </a:r>
            <a:r>
              <a:rPr lang="pt-BR" sz="2400" dirty="0"/>
              <a:t>  = calcula_tempo (10,  5)</a:t>
            </a:r>
          </a:p>
          <a:p>
            <a:r>
              <a:rPr lang="pt-BR" sz="2400" dirty="0"/>
              <a:t>print (t)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d</a:t>
            </a:r>
            <a:r>
              <a:rPr lang="pt-BR" sz="2400" dirty="0"/>
              <a:t>  = calcula_distancia (5, 4)</a:t>
            </a:r>
          </a:p>
          <a:p>
            <a:r>
              <a:rPr lang="pt-BR" sz="2400" dirty="0"/>
              <a:t>print(d)</a:t>
            </a:r>
          </a:p>
        </p:txBody>
      </p:sp>
    </p:spTree>
    <p:extLst>
      <p:ext uri="{BB962C8B-B14F-4D97-AF65-F5344CB8AC3E}">
        <p14:creationId xmlns:p14="http://schemas.microsoft.com/office/powerpoint/2010/main" val="2537899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8769457-1073-4D82-409E-308FD48A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D035785-B498-80BE-2023-0860203F7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2CAFE6-65CA-C012-746E-9EB02C29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59C2D6B-72AD-27CA-3E49-058098EC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0" u="none" strike="noStrike" baseline="0" dirty="0">
                <a:latin typeface="CIDFont+F1"/>
              </a:rPr>
              <a:t>Uso de Variáveis Locais x Variáveis Globais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5C6CBE8-763F-24C2-D979-27A0037B3FAC}"/>
              </a:ext>
            </a:extLst>
          </p:cNvPr>
          <p:cNvSpPr txBox="1"/>
          <p:nvPr/>
        </p:nvSpPr>
        <p:spPr>
          <a:xfrm>
            <a:off x="377372" y="1493467"/>
            <a:ext cx="11490162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Cuidado com o uso de variáveis globais dentro das funções</a:t>
            </a:r>
          </a:p>
          <a:p>
            <a:pPr marL="449263" algn="l"/>
            <a:r>
              <a:rPr lang="pt-BR" sz="3200" b="0" i="0" u="none" strike="noStrike" baseline="0" dirty="0">
                <a:latin typeface="CIDFont+F4"/>
              </a:rPr>
              <a:t>– </a:t>
            </a:r>
            <a:r>
              <a:rPr lang="pt-BR" sz="3200" b="0" i="0" u="none" strike="noStrike" baseline="0" dirty="0">
                <a:latin typeface="CIDFont+F2"/>
              </a:rPr>
              <a:t>Dificultam o entendimento do programa</a:t>
            </a:r>
          </a:p>
          <a:p>
            <a:pPr marL="449263" algn="l"/>
            <a:r>
              <a:rPr lang="pt-BR" sz="3200" b="0" i="0" u="none" strike="noStrike" baseline="0" dirty="0">
                <a:latin typeface="CIDFont+F4"/>
              </a:rPr>
              <a:t>– </a:t>
            </a:r>
            <a:r>
              <a:rPr lang="pt-BR" sz="3200" b="0" i="0" u="none" strike="noStrike" baseline="0" dirty="0">
                <a:latin typeface="CIDFont+F2"/>
              </a:rPr>
              <a:t>Dificultam a correção de defeitos no programa</a:t>
            </a:r>
          </a:p>
          <a:p>
            <a:pPr marL="1257300" indent="-449263" algn="just" defTabSz="900113"/>
            <a:r>
              <a:rPr lang="pt-BR" sz="2800" b="0" i="0" u="none" strike="noStrike" baseline="0" dirty="0">
                <a:latin typeface="CIDFont+F4"/>
              </a:rPr>
              <a:t>• </a:t>
            </a:r>
            <a:r>
              <a:rPr lang="pt-BR" sz="2800" b="0" i="0" u="none" strike="noStrike" baseline="0" dirty="0">
                <a:latin typeface="CIDFont+F2"/>
              </a:rPr>
              <a:t>Se a variável pode ser usada por qualquer função do programa, encontrar um defeito envolvendo o valor desta variável pode ser muito complexo</a:t>
            </a:r>
          </a:p>
          <a:p>
            <a:pPr algn="l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Recomendação</a:t>
            </a:r>
          </a:p>
          <a:p>
            <a:pPr marL="812800" indent="-363538" algn="just"/>
            <a:r>
              <a:rPr lang="pt-BR" sz="3600" b="0" i="0" u="none" strike="noStrike" baseline="0" dirty="0">
                <a:latin typeface="CIDFont+F4"/>
              </a:rPr>
              <a:t>– </a:t>
            </a:r>
            <a:r>
              <a:rPr lang="pt-BR" sz="3600" b="0" i="0" u="none" strike="noStrike" baseline="0" dirty="0">
                <a:latin typeface="CIDFont+F2"/>
              </a:rPr>
              <a:t>Sempre que possível, usar variáveis </a:t>
            </a:r>
            <a:r>
              <a:rPr lang="pt-BR" sz="3600" b="1" i="0" u="none" strike="noStrike" baseline="0" dirty="0">
                <a:latin typeface="CIDFont+F3"/>
              </a:rPr>
              <a:t>locais</a:t>
            </a:r>
            <a:r>
              <a:rPr lang="pt-BR" sz="3600" b="0" i="0" u="none" strike="noStrike" baseline="0" dirty="0">
                <a:latin typeface="CIDFont+F3"/>
              </a:rPr>
              <a:t> </a:t>
            </a:r>
            <a:r>
              <a:rPr lang="pt-BR" sz="3600" b="0" i="0" u="none" strike="noStrike" baseline="0" dirty="0">
                <a:latin typeface="CIDFont+F2"/>
              </a:rPr>
              <a:t>e passar os valores necessários para a função como parâmetro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764632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5281E9-DA26-CB2E-C4AB-A0411CDB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9B0C39-0770-55A6-BFF1-01524958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E72920-F69C-EA7F-E17C-D54024DC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07BCF88-387D-9096-1CD0-DF4658C81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Uso de Variável Global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313F97A-DDCC-480E-1871-5B0E4C247627}"/>
              </a:ext>
            </a:extLst>
          </p:cNvPr>
          <p:cNvSpPr txBox="1"/>
          <p:nvPr/>
        </p:nvSpPr>
        <p:spPr>
          <a:xfrm>
            <a:off x="844060" y="1569722"/>
            <a:ext cx="110234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3538" indent="-363538"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4"/>
              </a:rPr>
              <a:t>• 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Variáveis globais podem ser acessadas dentro de uma função</a:t>
            </a:r>
          </a:p>
          <a:p>
            <a:pPr marL="363538" indent="-363538" algn="l"/>
            <a:endParaRPr lang="pt-BR" sz="36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363538" indent="-363538"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4"/>
              </a:rPr>
              <a:t>• 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Se for necessário altera-las, é necessário declarar essa intenção escrevendo, no início da função, o comando</a:t>
            </a:r>
          </a:p>
          <a:p>
            <a:pPr marL="363538" indent="-363538" algn="l"/>
            <a:endParaRPr lang="pt-BR" sz="36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363538" algn="l"/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global &lt;nome da variável&gt;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704484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593F48-490C-DDD5-C5D4-3F5190B9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41F2797-3D76-101E-43C1-BCC8B19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Cap08-Exem03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6056D6-AF35-A6D6-C2E0-B678D068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1A8F1AB-CAD0-506D-9335-98047E4B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2235200" indent="-2235200"/>
            <a:r>
              <a:rPr lang="pt-BR" b="1" i="0" u="none" strike="noStrike" baseline="0" dirty="0">
                <a:latin typeface="CIDFont+F3"/>
              </a:rPr>
              <a:t>Exemplo: Variáveis globais acessadas na</a:t>
            </a:r>
            <a:br>
              <a:rPr lang="pt-BR" b="1" i="0" u="none" strike="noStrike" baseline="0" dirty="0">
                <a:latin typeface="CIDFont+F3"/>
              </a:rPr>
            </a:br>
            <a:r>
              <a:rPr lang="pt-BR" b="1" i="0" u="none" strike="noStrike" baseline="0" dirty="0">
                <a:latin typeface="CIDFont+F3"/>
              </a:rPr>
              <a:t>função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614B2-A779-3F4B-7E6F-E6E6FF5AB46A}"/>
              </a:ext>
            </a:extLst>
          </p:cNvPr>
          <p:cNvSpPr txBox="1"/>
          <p:nvPr/>
        </p:nvSpPr>
        <p:spPr>
          <a:xfrm>
            <a:off x="2644112" y="1377240"/>
            <a:ext cx="49351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def maior():</a:t>
            </a:r>
          </a:p>
          <a:p>
            <a:r>
              <a:rPr lang="pt-BR" sz="3600" dirty="0"/>
              <a:t>         if  </a:t>
            </a:r>
            <a:r>
              <a:rPr lang="pt-BR" sz="3600" b="1" dirty="0"/>
              <a:t>a </a:t>
            </a:r>
            <a:r>
              <a:rPr lang="pt-BR" sz="3600" dirty="0"/>
              <a:t> &gt;  </a:t>
            </a:r>
            <a:r>
              <a:rPr lang="pt-BR" sz="3600" b="1" dirty="0"/>
              <a:t>b</a:t>
            </a:r>
            <a:r>
              <a:rPr lang="pt-BR" sz="3600" dirty="0"/>
              <a:t>:</a:t>
            </a:r>
          </a:p>
          <a:p>
            <a:r>
              <a:rPr lang="pt-BR" sz="3600" dirty="0"/>
              <a:t>               return </a:t>
            </a:r>
            <a:r>
              <a:rPr lang="pt-BR" sz="3600" b="1" dirty="0"/>
              <a:t>a</a:t>
            </a:r>
          </a:p>
          <a:p>
            <a:r>
              <a:rPr lang="pt-BR" sz="3600" dirty="0"/>
              <a:t>         </a:t>
            </a:r>
            <a:r>
              <a:rPr lang="pt-BR" sz="3600" dirty="0" err="1"/>
              <a:t>else</a:t>
            </a:r>
            <a:r>
              <a:rPr lang="pt-BR" sz="3600" dirty="0"/>
              <a:t>:</a:t>
            </a:r>
          </a:p>
          <a:p>
            <a:r>
              <a:rPr lang="pt-BR" sz="3600" b="1" dirty="0"/>
              <a:t>                </a:t>
            </a:r>
            <a:r>
              <a:rPr lang="pt-BR" sz="3600" dirty="0"/>
              <a:t>return</a:t>
            </a:r>
            <a:r>
              <a:rPr lang="pt-BR" sz="3600" b="1" dirty="0"/>
              <a:t> b</a:t>
            </a:r>
          </a:p>
          <a:p>
            <a:r>
              <a:rPr lang="pt-BR" sz="3600" b="1" dirty="0"/>
              <a:t>a </a:t>
            </a:r>
            <a:r>
              <a:rPr lang="pt-BR" sz="3600" dirty="0"/>
              <a:t>=  1</a:t>
            </a:r>
          </a:p>
          <a:p>
            <a:r>
              <a:rPr lang="pt-BR" sz="3600" b="1" dirty="0"/>
              <a:t>b </a:t>
            </a:r>
            <a:r>
              <a:rPr lang="pt-BR" sz="3600" dirty="0"/>
              <a:t>=  2</a:t>
            </a:r>
          </a:p>
          <a:p>
            <a:r>
              <a:rPr lang="pt-BR" sz="3600" dirty="0"/>
              <a:t>m  =  maior()</a:t>
            </a:r>
          </a:p>
          <a:p>
            <a:r>
              <a:rPr lang="pt-BR" sz="3600" dirty="0"/>
              <a:t>print(m)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51B416A-97D6-548E-ED04-361F980F0287}"/>
              </a:ext>
            </a:extLst>
          </p:cNvPr>
          <p:cNvSpPr/>
          <p:nvPr/>
        </p:nvSpPr>
        <p:spPr>
          <a:xfrm>
            <a:off x="7728155" y="2757949"/>
            <a:ext cx="3437127" cy="21188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Péssima prática de programação</a:t>
            </a:r>
          </a:p>
        </p:txBody>
      </p:sp>
    </p:spTree>
    <p:extLst>
      <p:ext uri="{BB962C8B-B14F-4D97-AF65-F5344CB8AC3E}">
        <p14:creationId xmlns:p14="http://schemas.microsoft.com/office/powerpoint/2010/main" val="4039497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593F48-490C-DDD5-C5D4-3F5190B9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41F2797-3D76-101E-43C1-BCC8B19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Cap08-Exem04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6056D6-AF35-A6D6-C2E0-B678D068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1A8F1AB-CAD0-506D-9335-98047E4B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2235200" indent="-2235200"/>
            <a:r>
              <a:rPr lang="pt-BR" b="1" i="0" u="none" strike="noStrike" baseline="0" dirty="0">
                <a:latin typeface="CIDFont+F3"/>
              </a:rPr>
              <a:t>Exemplo: Variável global modificada na função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614B2-A779-3F4B-7E6F-E6E6FF5AB46A}"/>
              </a:ext>
            </a:extLst>
          </p:cNvPr>
          <p:cNvSpPr txBox="1"/>
          <p:nvPr/>
        </p:nvSpPr>
        <p:spPr>
          <a:xfrm>
            <a:off x="2644112" y="1377240"/>
            <a:ext cx="6197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def maior():</a:t>
            </a:r>
          </a:p>
          <a:p>
            <a:r>
              <a:rPr lang="pt-BR" sz="2800" dirty="0"/>
              <a:t>         </a:t>
            </a:r>
            <a:r>
              <a:rPr lang="pt-BR" sz="2800" b="1" dirty="0"/>
              <a:t>global m</a:t>
            </a:r>
          </a:p>
          <a:p>
            <a:r>
              <a:rPr lang="pt-BR" sz="2800" dirty="0"/>
              <a:t>         if  </a:t>
            </a:r>
            <a:r>
              <a:rPr lang="pt-BR" sz="2800" b="1" dirty="0"/>
              <a:t>a </a:t>
            </a:r>
            <a:r>
              <a:rPr lang="pt-BR" sz="2800" dirty="0"/>
              <a:t> &gt;  </a:t>
            </a:r>
            <a:r>
              <a:rPr lang="pt-BR" sz="2800" b="1" dirty="0"/>
              <a:t>b</a:t>
            </a:r>
            <a:r>
              <a:rPr lang="pt-BR" sz="2800" dirty="0"/>
              <a:t>:</a:t>
            </a:r>
          </a:p>
          <a:p>
            <a:r>
              <a:rPr lang="pt-BR" sz="2800" dirty="0"/>
              <a:t>               </a:t>
            </a:r>
            <a:r>
              <a:rPr lang="pt-BR" sz="2800" b="1" dirty="0"/>
              <a:t>m  </a:t>
            </a:r>
            <a:r>
              <a:rPr lang="pt-BR" sz="2800" dirty="0"/>
              <a:t>=  a</a:t>
            </a:r>
            <a:endParaRPr lang="pt-BR" sz="2800" b="1" dirty="0"/>
          </a:p>
          <a:p>
            <a:r>
              <a:rPr lang="pt-BR" sz="2800" dirty="0"/>
              <a:t>          else:</a:t>
            </a:r>
          </a:p>
          <a:p>
            <a:r>
              <a:rPr lang="pt-BR" sz="2800" b="1" dirty="0"/>
              <a:t>                m</a:t>
            </a:r>
            <a:r>
              <a:rPr lang="pt-BR" sz="2800" dirty="0"/>
              <a:t>  </a:t>
            </a:r>
            <a:r>
              <a:rPr lang="pt-BR" sz="2800" b="1" dirty="0"/>
              <a:t>=  b</a:t>
            </a:r>
          </a:p>
          <a:p>
            <a:r>
              <a:rPr lang="pt-BR" sz="2800" b="1" dirty="0"/>
              <a:t>m </a:t>
            </a:r>
            <a:r>
              <a:rPr lang="pt-BR" sz="2800" dirty="0"/>
              <a:t>= 0</a:t>
            </a:r>
          </a:p>
          <a:p>
            <a:r>
              <a:rPr lang="pt-BR" sz="2800" b="1" dirty="0"/>
              <a:t>a </a:t>
            </a:r>
            <a:r>
              <a:rPr lang="pt-BR" sz="2800" dirty="0"/>
              <a:t>=  1</a:t>
            </a:r>
          </a:p>
          <a:p>
            <a:r>
              <a:rPr lang="pt-BR" sz="2800" b="1" dirty="0"/>
              <a:t>b </a:t>
            </a:r>
            <a:r>
              <a:rPr lang="pt-BR" sz="2800" dirty="0"/>
              <a:t>=  2</a:t>
            </a:r>
          </a:p>
          <a:p>
            <a:r>
              <a:rPr lang="pt-BR" sz="2800" dirty="0"/>
              <a:t>maior()</a:t>
            </a:r>
          </a:p>
          <a:p>
            <a:r>
              <a:rPr lang="pt-BR" sz="2800" dirty="0"/>
              <a:t>print(</a:t>
            </a:r>
            <a:r>
              <a:rPr lang="pt-BR" sz="2800" b="1" dirty="0"/>
              <a:t>m</a:t>
            </a:r>
            <a:r>
              <a:rPr lang="pt-BR" sz="2800" dirty="0"/>
              <a:t>)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51B416A-97D6-548E-ED04-361F980F0287}"/>
              </a:ext>
            </a:extLst>
          </p:cNvPr>
          <p:cNvSpPr/>
          <p:nvPr/>
        </p:nvSpPr>
        <p:spPr>
          <a:xfrm>
            <a:off x="8172450" y="3429001"/>
            <a:ext cx="2992832" cy="1447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Péssima, péssima, péssima prática de programação</a:t>
            </a:r>
          </a:p>
        </p:txBody>
      </p:sp>
    </p:spTree>
    <p:extLst>
      <p:ext uri="{BB962C8B-B14F-4D97-AF65-F5344CB8AC3E}">
        <p14:creationId xmlns:p14="http://schemas.microsoft.com/office/powerpoint/2010/main" val="2873584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593F48-490C-DDD5-C5D4-3F5190B9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41F2797-3D76-101E-43C1-BCC8B19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Cap08-Exem05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6056D6-AF35-A6D6-C2E0-B678D068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1A8F1AB-CAD0-506D-9335-98047E4B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2235200" indent="-2235200"/>
            <a:r>
              <a:rPr lang="pt-BR" b="1" i="0" u="none" strike="noStrike" baseline="0" dirty="0">
                <a:latin typeface="CIDFont+F3"/>
              </a:rPr>
              <a:t>Sem uso de variáveis globais: muito mais elegante !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614B2-A779-3F4B-7E6F-E6E6FF5AB46A}"/>
              </a:ext>
            </a:extLst>
          </p:cNvPr>
          <p:cNvSpPr txBox="1"/>
          <p:nvPr/>
        </p:nvSpPr>
        <p:spPr>
          <a:xfrm>
            <a:off x="2186912" y="1481936"/>
            <a:ext cx="37566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def maior(a, b):</a:t>
            </a:r>
          </a:p>
          <a:p>
            <a:r>
              <a:rPr lang="pt-BR" sz="2400" dirty="0"/>
              <a:t>          if  a  &gt;  b:</a:t>
            </a:r>
          </a:p>
          <a:p>
            <a:r>
              <a:rPr lang="pt-BR" sz="2400" dirty="0"/>
              <a:t>               maior </a:t>
            </a:r>
            <a:r>
              <a:rPr lang="pt-BR" sz="2400" b="1" dirty="0"/>
              <a:t>  </a:t>
            </a:r>
            <a:r>
              <a:rPr lang="pt-BR" sz="2400" dirty="0"/>
              <a:t>=  a</a:t>
            </a:r>
            <a:endParaRPr lang="pt-BR" sz="2400" b="1" dirty="0"/>
          </a:p>
          <a:p>
            <a:r>
              <a:rPr lang="pt-BR" sz="2400" dirty="0"/>
              <a:t>          else:</a:t>
            </a:r>
          </a:p>
          <a:p>
            <a:r>
              <a:rPr lang="pt-BR" sz="2400" b="1" dirty="0"/>
              <a:t>                </a:t>
            </a:r>
            <a:r>
              <a:rPr lang="pt-BR" sz="2400" dirty="0"/>
              <a:t>maior  =</a:t>
            </a:r>
            <a:r>
              <a:rPr lang="pt-BR" sz="2400" b="1" dirty="0"/>
              <a:t>  </a:t>
            </a:r>
            <a:r>
              <a:rPr lang="pt-BR" sz="2400" dirty="0"/>
              <a:t>b</a:t>
            </a:r>
          </a:p>
          <a:p>
            <a:r>
              <a:rPr lang="pt-BR" sz="2400" dirty="0"/>
              <a:t>           return maior</a:t>
            </a:r>
          </a:p>
          <a:p>
            <a:endParaRPr lang="pt-BR" sz="2400" b="1" dirty="0"/>
          </a:p>
          <a:p>
            <a:r>
              <a:rPr lang="pt-BR" sz="2400" dirty="0"/>
              <a:t>m</a:t>
            </a:r>
            <a:r>
              <a:rPr lang="pt-BR" sz="2400" b="1" dirty="0"/>
              <a:t> </a:t>
            </a:r>
            <a:r>
              <a:rPr lang="pt-BR" sz="2400" dirty="0"/>
              <a:t>= 1</a:t>
            </a:r>
          </a:p>
          <a:p>
            <a:r>
              <a:rPr lang="pt-BR" sz="2400" dirty="0"/>
              <a:t>a</a:t>
            </a:r>
            <a:r>
              <a:rPr lang="pt-BR" sz="2400" b="1" dirty="0"/>
              <a:t> </a:t>
            </a:r>
            <a:r>
              <a:rPr lang="pt-BR" sz="2400" dirty="0"/>
              <a:t>=   2</a:t>
            </a:r>
          </a:p>
          <a:p>
            <a:r>
              <a:rPr lang="pt-BR" sz="2400" dirty="0"/>
              <a:t>b =  1</a:t>
            </a:r>
          </a:p>
          <a:p>
            <a:r>
              <a:rPr lang="pt-BR" sz="2400"/>
              <a:t>m</a:t>
            </a:r>
            <a:r>
              <a:rPr lang="pt-BR" sz="2400" b="1"/>
              <a:t> </a:t>
            </a:r>
            <a:r>
              <a:rPr lang="pt-BR" sz="2400" dirty="0"/>
              <a:t>=   maior(a, b)</a:t>
            </a:r>
          </a:p>
          <a:p>
            <a:r>
              <a:rPr lang="pt-BR" sz="2400" dirty="0"/>
              <a:t>print(m)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51B416A-97D6-548E-ED04-361F980F0287}"/>
              </a:ext>
            </a:extLst>
          </p:cNvPr>
          <p:cNvSpPr/>
          <p:nvPr/>
        </p:nvSpPr>
        <p:spPr>
          <a:xfrm>
            <a:off x="8172450" y="3429001"/>
            <a:ext cx="2992832" cy="1447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Vejam que agora </a:t>
            </a:r>
            <a:r>
              <a:rPr lang="pt-BR" b="1" dirty="0">
                <a:solidFill>
                  <a:srgbClr val="FFFF00"/>
                </a:solidFill>
              </a:rPr>
              <a:t>a</a:t>
            </a:r>
            <a:r>
              <a:rPr lang="pt-BR" b="1" dirty="0"/>
              <a:t> e </a:t>
            </a:r>
            <a:r>
              <a:rPr lang="pt-BR" b="1" dirty="0">
                <a:solidFill>
                  <a:srgbClr val="FFFF00"/>
                </a:solidFill>
              </a:rPr>
              <a:t>b</a:t>
            </a:r>
            <a:r>
              <a:rPr lang="pt-BR" b="1" dirty="0"/>
              <a:t> são parâmentros</a:t>
            </a:r>
          </a:p>
        </p:txBody>
      </p:sp>
    </p:spTree>
    <p:extLst>
      <p:ext uri="{BB962C8B-B14F-4D97-AF65-F5344CB8AC3E}">
        <p14:creationId xmlns:p14="http://schemas.microsoft.com/office/powerpoint/2010/main" val="753313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593F48-490C-DDD5-C5D4-3F5190B9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41F2797-3D76-101E-43C1-BCC8B19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Cap08-Exem06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6056D6-AF35-A6D6-C2E0-B678D068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1A8F1AB-CAD0-506D-9335-98047E4B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85725" indent="-85725"/>
            <a:r>
              <a:rPr lang="pt-BR" b="1" i="0" u="none" strike="noStrike" baseline="0" dirty="0">
                <a:latin typeface="CIDFont+F3"/>
              </a:rPr>
              <a:t>Sem uso de variáveis globais: muito mais elegante !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614B2-A779-3F4B-7E6F-E6E6FF5AB46A}"/>
              </a:ext>
            </a:extLst>
          </p:cNvPr>
          <p:cNvSpPr txBox="1"/>
          <p:nvPr/>
        </p:nvSpPr>
        <p:spPr>
          <a:xfrm>
            <a:off x="2129756" y="1777355"/>
            <a:ext cx="6197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def maior(x, y):</a:t>
            </a:r>
          </a:p>
          <a:p>
            <a:r>
              <a:rPr lang="pt-BR" sz="2400" dirty="0"/>
              <a:t>          if  x</a:t>
            </a:r>
            <a:r>
              <a:rPr lang="pt-BR" sz="2400" b="1" dirty="0"/>
              <a:t> </a:t>
            </a:r>
            <a:r>
              <a:rPr lang="pt-BR" sz="2400" dirty="0"/>
              <a:t> &gt;  y:</a:t>
            </a:r>
          </a:p>
          <a:p>
            <a:r>
              <a:rPr lang="pt-BR" sz="2400" dirty="0"/>
              <a:t>               maior </a:t>
            </a:r>
            <a:r>
              <a:rPr lang="pt-BR" sz="2400" b="1" dirty="0"/>
              <a:t>  </a:t>
            </a:r>
            <a:r>
              <a:rPr lang="pt-BR" sz="2400" dirty="0"/>
              <a:t>=  x</a:t>
            </a:r>
            <a:endParaRPr lang="pt-BR" sz="2400" b="1" dirty="0"/>
          </a:p>
          <a:p>
            <a:r>
              <a:rPr lang="pt-BR" sz="2400" dirty="0"/>
              <a:t>          else:</a:t>
            </a:r>
          </a:p>
          <a:p>
            <a:r>
              <a:rPr lang="pt-BR" sz="2400" b="1" dirty="0"/>
              <a:t>                </a:t>
            </a:r>
            <a:r>
              <a:rPr lang="pt-BR" sz="2400" dirty="0"/>
              <a:t>maior  =  y</a:t>
            </a:r>
          </a:p>
          <a:p>
            <a:r>
              <a:rPr lang="pt-BR" sz="2400" dirty="0"/>
              <a:t>           return maior</a:t>
            </a:r>
          </a:p>
          <a:p>
            <a:r>
              <a:rPr lang="pt-BR" sz="2400" dirty="0"/>
              <a:t>m = 1</a:t>
            </a:r>
          </a:p>
          <a:p>
            <a:r>
              <a:rPr lang="pt-BR" sz="2400" dirty="0"/>
              <a:t>a = 2</a:t>
            </a:r>
          </a:p>
          <a:p>
            <a:r>
              <a:rPr lang="pt-BR" sz="2400" dirty="0"/>
              <a:t>b = 1</a:t>
            </a:r>
          </a:p>
          <a:p>
            <a:r>
              <a:rPr lang="pt-BR" sz="2400" dirty="0"/>
              <a:t>m=   maior(a, b)</a:t>
            </a:r>
          </a:p>
          <a:p>
            <a:r>
              <a:rPr lang="pt-BR" sz="2400" dirty="0"/>
              <a:t>print(m)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51B416A-97D6-548E-ED04-361F980F0287}"/>
              </a:ext>
            </a:extLst>
          </p:cNvPr>
          <p:cNvSpPr/>
          <p:nvPr/>
        </p:nvSpPr>
        <p:spPr>
          <a:xfrm>
            <a:off x="8786818" y="3429001"/>
            <a:ext cx="2992832" cy="1447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Os parâmetros também poderiam ter </a:t>
            </a:r>
            <a:r>
              <a:rPr lang="pt-BR" b="1" dirty="0"/>
              <a:t>outros nomes</a:t>
            </a:r>
          </a:p>
        </p:txBody>
      </p:sp>
    </p:spTree>
    <p:extLst>
      <p:ext uri="{BB962C8B-B14F-4D97-AF65-F5344CB8AC3E}">
        <p14:creationId xmlns:p14="http://schemas.microsoft.com/office/powerpoint/2010/main" val="1595354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A3490B-D47A-8534-00B8-A5C36392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42C5BC-7430-7804-DDDE-FD207CAB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DDC44C-1626-29B0-8EA3-5B69C4E3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2AFA86A-589C-3374-4D3D-24FD3E199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Passagem de Parâmetros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A5A269-5899-A5C0-BF0F-37ED425DB1D9}"/>
              </a:ext>
            </a:extLst>
          </p:cNvPr>
          <p:cNvSpPr txBox="1"/>
          <p:nvPr/>
        </p:nvSpPr>
        <p:spPr>
          <a:xfrm>
            <a:off x="730352" y="1403995"/>
            <a:ext cx="1112519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-361950" algn="just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Quando uma função é chamada, é necessário fornecer um valor para cada um de seus parâmetros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pt-BR" sz="3600" b="0" i="0" u="none" strike="noStrike" baseline="0" dirty="0">
                <a:latin typeface="CIDFont+F2"/>
              </a:rPr>
              <a:t>Isso pode ser feito informando o valor diretamente</a:t>
            </a:r>
          </a:p>
          <a:p>
            <a:pPr marL="984250" lvl="1">
              <a:tabLst>
                <a:tab pos="984250" algn="l"/>
              </a:tabLst>
            </a:pPr>
            <a:r>
              <a:rPr lang="pt-BR" sz="4000" b="1" dirty="0">
                <a:latin typeface="CIDFont+F4"/>
              </a:rPr>
              <a:t>t  =  calcula_tempo (1, 2)</a:t>
            </a:r>
            <a:endParaRPr lang="pt-BR" sz="4000" b="1" i="0" u="none" strike="noStrike" baseline="0" dirty="0">
              <a:latin typeface="CIDFont+F4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pt-BR" sz="3600" b="0" i="0" u="none" strike="noStrike" baseline="0" dirty="0">
              <a:latin typeface="CIDFont+F4"/>
            </a:endParaRP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pt-BR" sz="3600" b="0" i="0" u="none" strike="noStrike" baseline="0" dirty="0">
                <a:latin typeface="CIDFont+F2"/>
              </a:rPr>
              <a:t>Ou usando o valor de uma variável</a:t>
            </a:r>
          </a:p>
          <a:p>
            <a:pPr marL="984250" algn="l"/>
            <a:r>
              <a:rPr lang="pt-BR" sz="4000" b="1" dirty="0">
                <a:latin typeface="CIDFont+F2"/>
              </a:rPr>
              <a:t>t  =  calcula_tempo (v,  d)</a:t>
            </a: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3021357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299CAADF-2FB6-225D-40B7-7DB8A6E7069B}"/>
              </a:ext>
            </a:extLst>
          </p:cNvPr>
          <p:cNvSpPr/>
          <p:nvPr/>
        </p:nvSpPr>
        <p:spPr>
          <a:xfrm>
            <a:off x="1096363" y="1353344"/>
            <a:ext cx="9380483" cy="158803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A3490B-D47A-8534-00B8-A5C36392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42C5BC-7430-7804-DDDE-FD207CAB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DDC44C-1626-29B0-8EA3-5B69C4E3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2AFA86A-589C-3374-4D3D-24FD3E199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Passagem de Parâmetros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A5A269-5899-A5C0-BF0F-37ED425DB1D9}"/>
              </a:ext>
            </a:extLst>
          </p:cNvPr>
          <p:cNvSpPr txBox="1"/>
          <p:nvPr/>
        </p:nvSpPr>
        <p:spPr>
          <a:xfrm>
            <a:off x="1256640" y="1491595"/>
            <a:ext cx="74199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-361950" algn="just"/>
            <a:r>
              <a:rPr lang="pt-BR" sz="2400" b="1" dirty="0" err="1"/>
              <a:t>def</a:t>
            </a:r>
            <a:r>
              <a:rPr lang="pt-BR" sz="2400" b="1" dirty="0"/>
              <a:t>  </a:t>
            </a:r>
            <a:r>
              <a:rPr lang="pt-BR" sz="2400" dirty="0" err="1"/>
              <a:t>calcula_tempo</a:t>
            </a:r>
            <a:r>
              <a:rPr lang="pt-BR" sz="2400" dirty="0"/>
              <a:t>(velocidade, distancia):</a:t>
            </a:r>
          </a:p>
          <a:p>
            <a:pPr marL="361950" indent="-361950" algn="just"/>
            <a:r>
              <a:rPr lang="pt-BR" sz="2400" dirty="0"/>
              <a:t>           tempo = distancia /  velocidade</a:t>
            </a:r>
          </a:p>
          <a:p>
            <a:pPr marL="361950" indent="-361950" algn="just"/>
            <a:r>
              <a:rPr lang="pt-BR" sz="2400" dirty="0"/>
              <a:t>           </a:t>
            </a:r>
            <a:r>
              <a:rPr lang="pt-BR" sz="2400" b="1" dirty="0" err="1"/>
              <a:t>return</a:t>
            </a:r>
            <a:r>
              <a:rPr lang="pt-BR" sz="2400" dirty="0"/>
              <a:t> tempo</a:t>
            </a:r>
          </a:p>
          <a:p>
            <a:pPr marL="361950" indent="-361950" algn="just"/>
            <a:endParaRPr lang="pt-BR" sz="2400" dirty="0"/>
          </a:p>
          <a:p>
            <a:pPr marL="361950" indent="-361950" algn="just"/>
            <a:endParaRPr lang="pt-BR" sz="2400" b="1" dirty="0"/>
          </a:p>
          <a:p>
            <a:pPr marL="361950" indent="-361950" algn="just"/>
            <a:r>
              <a:rPr lang="pt-BR" sz="2400" b="1" dirty="0" err="1"/>
              <a:t>def</a:t>
            </a:r>
            <a:r>
              <a:rPr lang="pt-BR" sz="2400" dirty="0"/>
              <a:t> </a:t>
            </a:r>
            <a:r>
              <a:rPr lang="pt-BR" sz="2400" dirty="0" err="1"/>
              <a:t>calcula_distancia</a:t>
            </a:r>
            <a:r>
              <a:rPr lang="pt-BR" sz="2400" dirty="0"/>
              <a:t>(velocidade, tempo):</a:t>
            </a:r>
          </a:p>
          <a:p>
            <a:pPr marL="361950" indent="-361950" algn="just"/>
            <a:r>
              <a:rPr lang="pt-BR" sz="2400" dirty="0"/>
              <a:t>         distancia  =  velocidade  *  tempo</a:t>
            </a:r>
          </a:p>
          <a:p>
            <a:pPr marL="361950" indent="-361950" algn="just"/>
            <a:r>
              <a:rPr lang="pt-BR" sz="2400" dirty="0"/>
              <a:t>         </a:t>
            </a:r>
            <a:r>
              <a:rPr lang="pt-BR" sz="2400" b="1" dirty="0" err="1"/>
              <a:t>return</a:t>
            </a:r>
            <a:r>
              <a:rPr lang="pt-BR" sz="2400" dirty="0"/>
              <a:t> distancia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66293E-8D8E-05C5-E982-A9D06DCA6C86}"/>
              </a:ext>
            </a:extLst>
          </p:cNvPr>
          <p:cNvSpPr txBox="1"/>
          <p:nvPr/>
        </p:nvSpPr>
        <p:spPr>
          <a:xfrm>
            <a:off x="1256640" y="4607890"/>
            <a:ext cx="37623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v  =  10</a:t>
            </a:r>
          </a:p>
          <a:p>
            <a:r>
              <a:rPr lang="pt-BR" sz="2000" dirty="0"/>
              <a:t>t  = </a:t>
            </a:r>
            <a:r>
              <a:rPr lang="pt-BR" sz="2000" dirty="0" err="1"/>
              <a:t>calcula_tempo</a:t>
            </a:r>
            <a:r>
              <a:rPr lang="pt-BR" sz="2000" dirty="0"/>
              <a:t>(v, 5)</a:t>
            </a:r>
          </a:p>
          <a:p>
            <a:r>
              <a:rPr lang="pt-BR" sz="2000" dirty="0"/>
              <a:t>print(t)</a:t>
            </a:r>
          </a:p>
          <a:p>
            <a:r>
              <a:rPr lang="pt-BR" sz="2000" dirty="0"/>
              <a:t>d  =  </a:t>
            </a:r>
            <a:r>
              <a:rPr lang="pt-BR" sz="2000" dirty="0" err="1"/>
              <a:t>calcula_distancia</a:t>
            </a:r>
            <a:r>
              <a:rPr lang="pt-BR" sz="2000" dirty="0"/>
              <a:t>(v,  t)</a:t>
            </a:r>
          </a:p>
          <a:p>
            <a:r>
              <a:rPr lang="pt-BR" sz="2000" dirty="0"/>
              <a:t>print(d)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EA0EF08-2B91-5EFF-2BE1-4780A9E8C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474610"/>
              </p:ext>
            </p:extLst>
          </p:nvPr>
        </p:nvGraphicFramePr>
        <p:xfrm>
          <a:off x="7452257" y="5625077"/>
          <a:ext cx="254952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841">
                  <a:extLst>
                    <a:ext uri="{9D8B030D-6E8A-4147-A177-3AD203B41FA5}">
                      <a16:colId xmlns:a16="http://schemas.microsoft.com/office/drawing/2014/main" val="2454009155"/>
                    </a:ext>
                  </a:extLst>
                </a:gridCol>
                <a:gridCol w="849841">
                  <a:extLst>
                    <a:ext uri="{9D8B030D-6E8A-4147-A177-3AD203B41FA5}">
                      <a16:colId xmlns:a16="http://schemas.microsoft.com/office/drawing/2014/main" val="2385992306"/>
                    </a:ext>
                  </a:extLst>
                </a:gridCol>
                <a:gridCol w="849841">
                  <a:extLst>
                    <a:ext uri="{9D8B030D-6E8A-4147-A177-3AD203B41FA5}">
                      <a16:colId xmlns:a16="http://schemas.microsoft.com/office/drawing/2014/main" val="977134870"/>
                    </a:ext>
                  </a:extLst>
                </a:gridCol>
              </a:tblGrid>
              <a:tr h="506166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v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696027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A87F3B21-86FD-65BF-1140-CA9ECF29C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540837"/>
              </p:ext>
            </p:extLst>
          </p:nvPr>
        </p:nvGraphicFramePr>
        <p:xfrm>
          <a:off x="7452256" y="5053189"/>
          <a:ext cx="254952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841">
                  <a:extLst>
                    <a:ext uri="{9D8B030D-6E8A-4147-A177-3AD203B41FA5}">
                      <a16:colId xmlns:a16="http://schemas.microsoft.com/office/drawing/2014/main" val="2454009155"/>
                    </a:ext>
                  </a:extLst>
                </a:gridCol>
                <a:gridCol w="849841">
                  <a:extLst>
                    <a:ext uri="{9D8B030D-6E8A-4147-A177-3AD203B41FA5}">
                      <a16:colId xmlns:a16="http://schemas.microsoft.com/office/drawing/2014/main" val="2385992306"/>
                    </a:ext>
                  </a:extLst>
                </a:gridCol>
                <a:gridCol w="849841">
                  <a:extLst>
                    <a:ext uri="{9D8B030D-6E8A-4147-A177-3AD203B41FA5}">
                      <a16:colId xmlns:a16="http://schemas.microsoft.com/office/drawing/2014/main" val="977134870"/>
                    </a:ext>
                  </a:extLst>
                </a:gridCol>
              </a:tblGrid>
              <a:tr h="506166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69602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56E0E3C-BBFA-8190-D42F-69FE14EC3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030645"/>
              </p:ext>
            </p:extLst>
          </p:nvPr>
        </p:nvGraphicFramePr>
        <p:xfrm>
          <a:off x="7358513" y="2214677"/>
          <a:ext cx="2746857" cy="506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3">
                  <a:extLst>
                    <a:ext uri="{9D8B030D-6E8A-4147-A177-3AD203B41FA5}">
                      <a16:colId xmlns:a16="http://schemas.microsoft.com/office/drawing/2014/main" val="2454009155"/>
                    </a:ext>
                  </a:extLst>
                </a:gridCol>
                <a:gridCol w="884435">
                  <a:extLst>
                    <a:ext uri="{9D8B030D-6E8A-4147-A177-3AD203B41FA5}">
                      <a16:colId xmlns:a16="http://schemas.microsoft.com/office/drawing/2014/main" val="2385992306"/>
                    </a:ext>
                  </a:extLst>
                </a:gridCol>
                <a:gridCol w="915619">
                  <a:extLst>
                    <a:ext uri="{9D8B030D-6E8A-4147-A177-3AD203B41FA5}">
                      <a16:colId xmlns:a16="http://schemas.microsoft.com/office/drawing/2014/main" val="977134870"/>
                    </a:ext>
                  </a:extLst>
                </a:gridCol>
              </a:tblGrid>
              <a:tr h="506166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velocidade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distancia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tempo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69602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B18BC2DC-FF1D-3512-0C31-21C40248B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838477"/>
              </p:ext>
            </p:extLst>
          </p:nvPr>
        </p:nvGraphicFramePr>
        <p:xfrm>
          <a:off x="7401859" y="1642789"/>
          <a:ext cx="254952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841">
                  <a:extLst>
                    <a:ext uri="{9D8B030D-6E8A-4147-A177-3AD203B41FA5}">
                      <a16:colId xmlns:a16="http://schemas.microsoft.com/office/drawing/2014/main" val="2454009155"/>
                    </a:ext>
                  </a:extLst>
                </a:gridCol>
                <a:gridCol w="849841">
                  <a:extLst>
                    <a:ext uri="{9D8B030D-6E8A-4147-A177-3AD203B41FA5}">
                      <a16:colId xmlns:a16="http://schemas.microsoft.com/office/drawing/2014/main" val="2385992306"/>
                    </a:ext>
                  </a:extLst>
                </a:gridCol>
                <a:gridCol w="849841">
                  <a:extLst>
                    <a:ext uri="{9D8B030D-6E8A-4147-A177-3AD203B41FA5}">
                      <a16:colId xmlns:a16="http://schemas.microsoft.com/office/drawing/2014/main" val="977134870"/>
                    </a:ext>
                  </a:extLst>
                </a:gridCol>
              </a:tblGrid>
              <a:tr h="506166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696027"/>
                  </a:ext>
                </a:extLst>
              </a:tr>
            </a:tbl>
          </a:graphicData>
        </a:graphic>
      </p:graphicFrame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7ACA824C-5EE3-72D7-AFBD-8F14A255F5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359247" y="2897826"/>
            <a:ext cx="3187538" cy="914527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Curvo 17">
            <a:extLst>
              <a:ext uri="{FF2B5EF4-FFF2-40B4-BE49-F238E27FC236}">
                <a16:creationId xmlns:a16="http://schemas.microsoft.com/office/drawing/2014/main" id="{BB1626D6-4537-4F3B-2590-B537ADBCEFE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93880" y="2098275"/>
            <a:ext cx="3046987" cy="2654178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Curvo 20">
            <a:extLst>
              <a:ext uri="{FF2B5EF4-FFF2-40B4-BE49-F238E27FC236}">
                <a16:creationId xmlns:a16="http://schemas.microsoft.com/office/drawing/2014/main" id="{05E6429D-0321-B224-F4CE-BE9502E8DAD1}"/>
              </a:ext>
            </a:extLst>
          </p:cNvPr>
          <p:cNvCxnSpPr/>
          <p:nvPr/>
        </p:nvCxnSpPr>
        <p:spPr>
          <a:xfrm rot="5400000">
            <a:off x="957723" y="2766677"/>
            <a:ext cx="2608348" cy="2010514"/>
          </a:xfrm>
          <a:prstGeom prst="curvedConnector3">
            <a:avLst>
              <a:gd name="adj1" fmla="val 1966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90CF27E-DC1B-6DF5-F16F-091F8FBE5891}"/>
              </a:ext>
            </a:extLst>
          </p:cNvPr>
          <p:cNvSpPr txBox="1"/>
          <p:nvPr/>
        </p:nvSpPr>
        <p:spPr>
          <a:xfrm>
            <a:off x="9237980" y="1633505"/>
            <a:ext cx="713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</a:rPr>
              <a:t>0,5</a:t>
            </a:r>
          </a:p>
        </p:txBody>
      </p:sp>
      <p:cxnSp>
        <p:nvCxnSpPr>
          <p:cNvPr id="25" name="Conector: Curvo 24">
            <a:extLst>
              <a:ext uri="{FF2B5EF4-FFF2-40B4-BE49-F238E27FC236}">
                <a16:creationId xmlns:a16="http://schemas.microsoft.com/office/drawing/2014/main" id="{B622FCD1-6BAA-C20B-48EC-FF6B80271C0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60412" y="4687579"/>
            <a:ext cx="1588036" cy="261562"/>
          </a:xfrm>
          <a:prstGeom prst="curvedConnector3">
            <a:avLst>
              <a:gd name="adj1" fmla="val 50000"/>
            </a:avLst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Curvo 26">
            <a:extLst>
              <a:ext uri="{FF2B5EF4-FFF2-40B4-BE49-F238E27FC236}">
                <a16:creationId xmlns:a16="http://schemas.microsoft.com/office/drawing/2014/main" id="{3A67A2A8-B308-7338-55E2-EDE18749826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59422" y="4117165"/>
            <a:ext cx="1480314" cy="1294668"/>
          </a:xfrm>
          <a:prstGeom prst="curvedConnector3">
            <a:avLst>
              <a:gd name="adj1" fmla="val 50000"/>
            </a:avLst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E550528-90A0-2154-AF0A-9E0633E59D4F}"/>
              </a:ext>
            </a:extLst>
          </p:cNvPr>
          <p:cNvSpPr txBox="1"/>
          <p:nvPr/>
        </p:nvSpPr>
        <p:spPr>
          <a:xfrm>
            <a:off x="8370315" y="5013071"/>
            <a:ext cx="713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0,5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5565B8A-C586-9A4A-C688-C522883284E0}"/>
              </a:ext>
            </a:extLst>
          </p:cNvPr>
          <p:cNvSpPr/>
          <p:nvPr/>
        </p:nvSpPr>
        <p:spPr>
          <a:xfrm>
            <a:off x="1096362" y="3109603"/>
            <a:ext cx="9380483" cy="1493522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5" name="Tabela 44">
            <a:extLst>
              <a:ext uri="{FF2B5EF4-FFF2-40B4-BE49-F238E27FC236}">
                <a16:creationId xmlns:a16="http://schemas.microsoft.com/office/drawing/2014/main" id="{5E173088-104C-B065-F131-A51895F63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955982"/>
              </p:ext>
            </p:extLst>
          </p:nvPr>
        </p:nvGraphicFramePr>
        <p:xfrm>
          <a:off x="7343273" y="3921557"/>
          <a:ext cx="2746857" cy="506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3">
                  <a:extLst>
                    <a:ext uri="{9D8B030D-6E8A-4147-A177-3AD203B41FA5}">
                      <a16:colId xmlns:a16="http://schemas.microsoft.com/office/drawing/2014/main" val="2454009155"/>
                    </a:ext>
                  </a:extLst>
                </a:gridCol>
                <a:gridCol w="884435">
                  <a:extLst>
                    <a:ext uri="{9D8B030D-6E8A-4147-A177-3AD203B41FA5}">
                      <a16:colId xmlns:a16="http://schemas.microsoft.com/office/drawing/2014/main" val="2385992306"/>
                    </a:ext>
                  </a:extLst>
                </a:gridCol>
                <a:gridCol w="915619">
                  <a:extLst>
                    <a:ext uri="{9D8B030D-6E8A-4147-A177-3AD203B41FA5}">
                      <a16:colId xmlns:a16="http://schemas.microsoft.com/office/drawing/2014/main" val="977134870"/>
                    </a:ext>
                  </a:extLst>
                </a:gridCol>
              </a:tblGrid>
              <a:tr h="506166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velocidade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tempo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distancia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696027"/>
                  </a:ext>
                </a:extLst>
              </a:tr>
            </a:tbl>
          </a:graphicData>
        </a:graphic>
      </p:graphicFrame>
      <p:graphicFrame>
        <p:nvGraphicFramePr>
          <p:cNvPr id="46" name="Tabela 45">
            <a:extLst>
              <a:ext uri="{FF2B5EF4-FFF2-40B4-BE49-F238E27FC236}">
                <a16:creationId xmlns:a16="http://schemas.microsoft.com/office/drawing/2014/main" id="{E32A25DA-8D6B-E310-BA45-5C6035C2A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762460"/>
              </p:ext>
            </p:extLst>
          </p:nvPr>
        </p:nvGraphicFramePr>
        <p:xfrm>
          <a:off x="7386619" y="3349669"/>
          <a:ext cx="254952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841">
                  <a:extLst>
                    <a:ext uri="{9D8B030D-6E8A-4147-A177-3AD203B41FA5}">
                      <a16:colId xmlns:a16="http://schemas.microsoft.com/office/drawing/2014/main" val="2454009155"/>
                    </a:ext>
                  </a:extLst>
                </a:gridCol>
                <a:gridCol w="849841">
                  <a:extLst>
                    <a:ext uri="{9D8B030D-6E8A-4147-A177-3AD203B41FA5}">
                      <a16:colId xmlns:a16="http://schemas.microsoft.com/office/drawing/2014/main" val="2385992306"/>
                    </a:ext>
                  </a:extLst>
                </a:gridCol>
                <a:gridCol w="849841">
                  <a:extLst>
                    <a:ext uri="{9D8B030D-6E8A-4147-A177-3AD203B41FA5}">
                      <a16:colId xmlns:a16="http://schemas.microsoft.com/office/drawing/2014/main" val="977134870"/>
                    </a:ext>
                  </a:extLst>
                </a:gridCol>
              </a:tblGrid>
              <a:tr h="506166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696027"/>
                  </a:ext>
                </a:extLst>
              </a:tr>
            </a:tbl>
          </a:graphicData>
        </a:graphic>
      </p:graphicFrame>
      <p:sp>
        <p:nvSpPr>
          <p:cNvPr id="47" name="CaixaDeTexto 46">
            <a:extLst>
              <a:ext uri="{FF2B5EF4-FFF2-40B4-BE49-F238E27FC236}">
                <a16:creationId xmlns:a16="http://schemas.microsoft.com/office/drawing/2014/main" id="{334668E6-49DE-423F-56A5-F5F9C6BE0A95}"/>
              </a:ext>
            </a:extLst>
          </p:cNvPr>
          <p:cNvSpPr txBox="1"/>
          <p:nvPr/>
        </p:nvSpPr>
        <p:spPr>
          <a:xfrm>
            <a:off x="9222740" y="3340385"/>
            <a:ext cx="713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</a:rPr>
              <a:t>  5</a:t>
            </a:r>
          </a:p>
        </p:txBody>
      </p:sp>
      <p:cxnSp>
        <p:nvCxnSpPr>
          <p:cNvPr id="49" name="Conector: Curvo 48">
            <a:extLst>
              <a:ext uri="{FF2B5EF4-FFF2-40B4-BE49-F238E27FC236}">
                <a16:creationId xmlns:a16="http://schemas.microsoft.com/office/drawing/2014/main" id="{4F73234F-BB17-BFC6-BE1F-05BF510B8D8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56640" y="4427721"/>
            <a:ext cx="1798326" cy="1197356"/>
          </a:xfrm>
          <a:prstGeom prst="curvedConnector3">
            <a:avLst>
              <a:gd name="adj1" fmla="val 136049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E18D0934-A6EA-C43B-02E1-2B9E6E601039}"/>
              </a:ext>
            </a:extLst>
          </p:cNvPr>
          <p:cNvSpPr txBox="1"/>
          <p:nvPr/>
        </p:nvSpPr>
        <p:spPr>
          <a:xfrm>
            <a:off x="9245417" y="5035953"/>
            <a:ext cx="713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</a:rPr>
              <a:t>  </a:t>
            </a:r>
            <a:r>
              <a:rPr lang="pt-BR" sz="28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1850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/>
      <p:bldP spid="28" grpId="0"/>
      <p:bldP spid="44" grpId="0" animBg="1"/>
      <p:bldP spid="47" grpId="0"/>
      <p:bldP spid="47" grpId="1"/>
      <p:bldP spid="5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9EE39E-7B14-A431-C8C8-97B27313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D8CBA76-DC94-7A7F-7B0C-9F31AE68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F56370-3698-FF12-6E68-5E592EE28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D129BF0-0FB8-3615-81A5-A7A60F2B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3"/>
              </a:rPr>
              <a:t>Tipos de Passagens de Parâmetros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9DCA43C-21DC-D395-6654-9D8A8A8A5C07}"/>
              </a:ext>
            </a:extLst>
          </p:cNvPr>
          <p:cNvSpPr txBox="1"/>
          <p:nvPr/>
        </p:nvSpPr>
        <p:spPr>
          <a:xfrm>
            <a:off x="716280" y="1674674"/>
            <a:ext cx="107137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22525" indent="-2422525" algn="just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3"/>
              </a:rPr>
              <a:t>Por valor</a:t>
            </a:r>
            <a:r>
              <a:rPr lang="pt-BR" sz="3600" b="0" i="0" u="none" strike="noStrike" baseline="0" dirty="0">
                <a:latin typeface="CIDFont+F2"/>
              </a:rPr>
              <a:t>: O valor da variável na chamada é copiado para a variável da função</a:t>
            </a:r>
          </a:p>
          <a:p>
            <a:pPr marL="365125" algn="l"/>
            <a:r>
              <a:rPr lang="pt-BR" sz="3600" b="0" i="0" u="none" strike="noStrike" baseline="0" dirty="0">
                <a:latin typeface="CIDFont+F4"/>
              </a:rPr>
              <a:t>– </a:t>
            </a:r>
            <a:r>
              <a:rPr lang="pt-BR" sz="3600" b="0" i="0" u="none" strike="noStrike" baseline="0" dirty="0">
                <a:latin typeface="CIDFont+F2"/>
              </a:rPr>
              <a:t>Alterações não são refletidas na variável original</a:t>
            </a:r>
          </a:p>
          <a:p>
            <a:pPr algn="l"/>
            <a:endParaRPr lang="pt-BR" sz="3600" b="0" i="0" u="none" strike="noStrike" baseline="0" dirty="0">
              <a:latin typeface="CIDFont+F2"/>
            </a:endParaRPr>
          </a:p>
          <a:p>
            <a:pPr marL="3230563" indent="-3230563" algn="just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3"/>
              </a:rPr>
              <a:t>Por referência</a:t>
            </a:r>
            <a:r>
              <a:rPr lang="pt-BR" sz="3600" b="0" i="0" u="none" strike="noStrike" baseline="0" dirty="0">
                <a:latin typeface="CIDFont+F2"/>
              </a:rPr>
              <a:t>: O endereço de memória é copiado para a variável da função</a:t>
            </a:r>
          </a:p>
          <a:p>
            <a:pPr marL="274638" algn="l"/>
            <a:r>
              <a:rPr lang="pt-BR" sz="3600" b="0" i="0" u="none" strike="noStrike" baseline="0" dirty="0">
                <a:latin typeface="CIDFont+F4"/>
              </a:rPr>
              <a:t>– </a:t>
            </a:r>
            <a:r>
              <a:rPr lang="pt-BR" sz="3600" b="0" i="0" u="none" strike="noStrike" baseline="0" dirty="0">
                <a:latin typeface="CIDFont+F2"/>
              </a:rPr>
              <a:t>Alterações são refletidas na variável original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115549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A83331-1358-6403-2C73-A0BB0ECE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5B14101-8E76-CD87-107B-D8EBBA585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D84E24-8EA5-7FD9-B44D-ECDB4B29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86D8AFA-DE58-0D0F-7684-D5055EC02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Passagem de Parâmetro por Valor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9DD1C9-8448-2DF1-DC77-2F14D5C617F1}"/>
              </a:ext>
            </a:extLst>
          </p:cNvPr>
          <p:cNvSpPr txBox="1"/>
          <p:nvPr/>
        </p:nvSpPr>
        <p:spPr>
          <a:xfrm>
            <a:off x="621023" y="1533942"/>
            <a:ext cx="112804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CIDFont+F4"/>
              </a:rPr>
              <a:t>•</a:t>
            </a:r>
            <a:r>
              <a:rPr lang="pt-BR" sz="2800" b="0" i="0" u="none" strike="noStrike" baseline="0" dirty="0">
                <a:solidFill>
                  <a:srgbClr val="4472C5"/>
                </a:solidFill>
                <a:latin typeface="CIDFont+F4"/>
              </a:rPr>
              <a:t> </a:t>
            </a:r>
            <a:r>
              <a:rPr lang="pt-BR" sz="2800" b="1" i="0" u="none" strike="noStrike" baseline="0" dirty="0">
                <a:solidFill>
                  <a:srgbClr val="4472C5"/>
                </a:solidFill>
                <a:latin typeface="CIDFont+F2"/>
              </a:rPr>
              <a:t>Python</a:t>
            </a:r>
            <a:r>
              <a:rPr lang="pt-BR" sz="2800" b="0" i="0" u="none" strike="noStrike" baseline="0" dirty="0">
                <a:solidFill>
                  <a:srgbClr val="4472C5"/>
                </a:solidFill>
                <a:latin typeface="CIDFont+F2"/>
              </a:rPr>
              <a:t>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usa </a:t>
            </a:r>
            <a:r>
              <a:rPr lang="pt-BR" sz="2800" b="1" i="0" u="none" strike="noStrike" baseline="0" dirty="0">
                <a:solidFill>
                  <a:srgbClr val="4472C5"/>
                </a:solidFill>
                <a:latin typeface="CIDFont+F3"/>
              </a:rPr>
              <a:t>passagem de parâmetro por valor</a:t>
            </a:r>
          </a:p>
          <a:p>
            <a:pPr marL="274638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–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Faz 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CIDFont+F3"/>
              </a:rPr>
              <a:t>cópia do valor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da variável original para o parâmetro da função</a:t>
            </a:r>
          </a:p>
          <a:p>
            <a:pPr marL="274638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– 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CIDFont+F3"/>
              </a:rPr>
              <a:t>Variável original fica preservada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das alterações feitas dentro da função</a:t>
            </a:r>
          </a:p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4"/>
            </a:endParaRPr>
          </a:p>
          <a:p>
            <a:pPr marL="365125" indent="-365125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Como as variáveis do tipo </a:t>
            </a:r>
            <a:r>
              <a:rPr lang="pt-BR" sz="2800" b="1" i="0" u="none" strike="noStrike" baseline="0" dirty="0">
                <a:solidFill>
                  <a:srgbClr val="FF0000"/>
                </a:solidFill>
                <a:latin typeface="CIDFont+F3"/>
              </a:rPr>
              <a:t>lista</a:t>
            </a:r>
            <a:r>
              <a:rPr lang="pt-BR" sz="2800" b="0" i="0" u="none" strike="noStrike" baseline="0" dirty="0">
                <a:solidFill>
                  <a:srgbClr val="FF0000"/>
                </a:solidFill>
                <a:latin typeface="CIDFont+F3"/>
              </a:rPr>
              <a:t>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guardam na verdade um endereço de memória, o efeito é diferente</a:t>
            </a:r>
          </a:p>
          <a:p>
            <a:pPr marL="533400" indent="-258763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–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Se atribuir uma nova lista à variável, a 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CIDFont+F3"/>
              </a:rPr>
              <a:t>atribuição não será notada fora da função</a:t>
            </a:r>
          </a:p>
          <a:p>
            <a:pPr marL="274638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–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Se alterar elementos da lista, as 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CIDFont+F3"/>
              </a:rPr>
              <a:t>alterações serão notadas fora da função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2244021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0226416-3A96-EDC6-C197-EE3B206F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6C502EC-B70D-1645-3C3B-459DD2C0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78FA2C-3FE6-91D0-5A76-CAF2C8DC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30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AAC3549-6424-39FA-98ED-396F6E66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Exemplo: Variável Primitiva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5E58AE-72BF-49F7-CE18-EB6527C8C1C6}"/>
              </a:ext>
            </a:extLst>
          </p:cNvPr>
          <p:cNvSpPr txBox="1"/>
          <p:nvPr/>
        </p:nvSpPr>
        <p:spPr>
          <a:xfrm>
            <a:off x="1571845" y="1889454"/>
            <a:ext cx="28411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/>
              <a:t>def</a:t>
            </a:r>
            <a:r>
              <a:rPr lang="pt-BR" sz="3200" dirty="0"/>
              <a:t> zera (x):</a:t>
            </a:r>
          </a:p>
          <a:p>
            <a:r>
              <a:rPr lang="pt-BR" sz="3200" dirty="0"/>
              <a:t>     x  =  0</a:t>
            </a:r>
          </a:p>
          <a:p>
            <a:endParaRPr lang="pt-BR" sz="3200" dirty="0"/>
          </a:p>
          <a:p>
            <a:r>
              <a:rPr lang="pt-BR" sz="3200" dirty="0"/>
              <a:t>a  =  1</a:t>
            </a:r>
          </a:p>
          <a:p>
            <a:r>
              <a:rPr lang="pt-BR" sz="3200" dirty="0"/>
              <a:t>zera(a)</a:t>
            </a:r>
          </a:p>
          <a:p>
            <a:r>
              <a:rPr lang="pt-BR" sz="3200" dirty="0"/>
              <a:t>print(a)   </a:t>
            </a:r>
            <a:r>
              <a:rPr lang="pt-BR" sz="3200" b="1" dirty="0"/>
              <a:t>=&gt; 1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11A096A-EED6-EDCC-1E62-B38FB02A3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610562"/>
              </p:ext>
            </p:extLst>
          </p:nvPr>
        </p:nvGraphicFramePr>
        <p:xfrm>
          <a:off x="8214360" y="2224306"/>
          <a:ext cx="1351280" cy="1781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280">
                  <a:extLst>
                    <a:ext uri="{9D8B030D-6E8A-4147-A177-3AD203B41FA5}">
                      <a16:colId xmlns:a16="http://schemas.microsoft.com/office/drawing/2014/main" val="2840685001"/>
                    </a:ext>
                  </a:extLst>
                </a:gridCol>
              </a:tblGrid>
              <a:tr h="433494">
                <a:tc>
                  <a:txBody>
                    <a:bodyPr/>
                    <a:lstStyle/>
                    <a:p>
                      <a:endParaRPr lang="pt-BR" dirty="0">
                        <a:highlight>
                          <a:srgbClr val="FE4D2A"/>
                        </a:highlight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895159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highlight>
                            <a:srgbClr val="FE4D2A"/>
                          </a:highlight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06828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highlight>
                            <a:srgbClr val="FE4D2A"/>
                          </a:highlight>
                        </a:rPr>
                        <a:t>1  =&gt; 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01072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endParaRPr lang="pt-BR" dirty="0">
                        <a:highlight>
                          <a:srgbClr val="FE4D2A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99437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9363D14D-0166-17E0-3B76-F1FC8CAAA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119285"/>
              </p:ext>
            </p:extLst>
          </p:nvPr>
        </p:nvGraphicFramePr>
        <p:xfrm>
          <a:off x="7857724" y="2657800"/>
          <a:ext cx="3566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36">
                  <a:extLst>
                    <a:ext uri="{9D8B030D-6E8A-4147-A177-3AD203B41FA5}">
                      <a16:colId xmlns:a16="http://schemas.microsoft.com/office/drawing/2014/main" val="2217604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79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 b="1" dirty="0"/>
                        <a:t>x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2780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370D21A5-9AA2-A71C-14E5-C4C192F6785C}"/>
              </a:ext>
            </a:extLst>
          </p:cNvPr>
          <p:cNvSpPr txBox="1"/>
          <p:nvPr/>
        </p:nvSpPr>
        <p:spPr>
          <a:xfrm>
            <a:off x="7147249" y="1660849"/>
            <a:ext cx="261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Na Memória</a:t>
            </a:r>
          </a:p>
        </p:txBody>
      </p:sp>
    </p:spTree>
    <p:extLst>
      <p:ext uri="{BB962C8B-B14F-4D97-AF65-F5344CB8AC3E}">
        <p14:creationId xmlns:p14="http://schemas.microsoft.com/office/powerpoint/2010/main" val="2641489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0226416-3A96-EDC6-C197-EE3B206F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6C502EC-B70D-1645-3C3B-459DD2C0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Cap08-Exem07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78FA2C-3FE6-91D0-5A76-CAF2C8DC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AAC3549-6424-39FA-98ED-396F6E66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Exemplo: Alteração na Lista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5E58AE-72BF-49F7-CE18-EB6527C8C1C6}"/>
              </a:ext>
            </a:extLst>
          </p:cNvPr>
          <p:cNvSpPr txBox="1"/>
          <p:nvPr/>
        </p:nvSpPr>
        <p:spPr>
          <a:xfrm>
            <a:off x="1178406" y="1905506"/>
            <a:ext cx="42956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/>
              <a:t>def</a:t>
            </a:r>
            <a:r>
              <a:rPr lang="pt-BR" sz="3200" dirty="0"/>
              <a:t> zera (x):</a:t>
            </a:r>
          </a:p>
          <a:p>
            <a:r>
              <a:rPr lang="pt-BR" sz="3200" dirty="0"/>
              <a:t>     for i in range(len(x)):</a:t>
            </a:r>
          </a:p>
          <a:p>
            <a:r>
              <a:rPr lang="pt-BR" sz="3200" dirty="0"/>
              <a:t>           x[i] = 0 </a:t>
            </a:r>
          </a:p>
          <a:p>
            <a:endParaRPr lang="pt-BR" sz="3200" dirty="0"/>
          </a:p>
          <a:p>
            <a:r>
              <a:rPr lang="pt-BR" sz="3200" dirty="0"/>
              <a:t>a  =  [1,  2,  3]</a:t>
            </a:r>
          </a:p>
          <a:p>
            <a:r>
              <a:rPr lang="pt-BR" sz="3200" dirty="0"/>
              <a:t>zera(a)</a:t>
            </a:r>
          </a:p>
          <a:p>
            <a:r>
              <a:rPr lang="pt-BR" sz="3200" dirty="0"/>
              <a:t>print(a)   # </a:t>
            </a:r>
            <a:r>
              <a:rPr lang="pt-BR" sz="3200" b="1" dirty="0"/>
              <a:t>=&gt; [0,  0,  0]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11A096A-EED6-EDCC-1E62-B38FB02A3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12630"/>
              </p:ext>
            </p:extLst>
          </p:nvPr>
        </p:nvGraphicFramePr>
        <p:xfrm>
          <a:off x="8214360" y="2224306"/>
          <a:ext cx="1351280" cy="3975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280">
                  <a:extLst>
                    <a:ext uri="{9D8B030D-6E8A-4147-A177-3AD203B41FA5}">
                      <a16:colId xmlns:a16="http://schemas.microsoft.com/office/drawing/2014/main" val="2840685001"/>
                    </a:ext>
                  </a:extLst>
                </a:gridCol>
              </a:tblGrid>
              <a:tr h="433494"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highlight>
                          <a:srgbClr val="FE4D2A"/>
                        </a:highlight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895159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solidFill>
                            <a:srgbClr val="FFFF00"/>
                          </a:solidFill>
                          <a:highlight>
                            <a:srgbClr val="FE4D2A"/>
                          </a:highlight>
                        </a:rPr>
                        <a:t>1</a:t>
                      </a:r>
                      <a:r>
                        <a:rPr lang="pt-BR" sz="2800" dirty="0">
                          <a:highlight>
                            <a:srgbClr val="FE4D2A"/>
                          </a:highlight>
                        </a:rPr>
                        <a:t> -&gt;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06828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solidFill>
                            <a:srgbClr val="FFFF00"/>
                          </a:solidFill>
                          <a:highlight>
                            <a:srgbClr val="FE4D2A"/>
                          </a:highlight>
                        </a:rPr>
                        <a:t>2</a:t>
                      </a:r>
                      <a:r>
                        <a:rPr lang="pt-BR" sz="2800" dirty="0">
                          <a:highlight>
                            <a:srgbClr val="FE4D2A"/>
                          </a:highlight>
                        </a:rPr>
                        <a:t> =&gt; 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01072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solidFill>
                            <a:srgbClr val="FFFF00"/>
                          </a:solidFill>
                          <a:highlight>
                            <a:srgbClr val="FE4D2A"/>
                          </a:highlight>
                        </a:rPr>
                        <a:t>3</a:t>
                      </a:r>
                      <a:r>
                        <a:rPr lang="pt-BR" sz="2800" dirty="0">
                          <a:highlight>
                            <a:srgbClr val="FE4D2A"/>
                          </a:highlight>
                        </a:rPr>
                        <a:t> -&gt;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99437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solidFill>
                            <a:srgbClr val="00B0F0"/>
                          </a:solidFill>
                          <a:highlight>
                            <a:srgbClr val="FE4D2A"/>
                          </a:highlight>
                        </a:rPr>
                        <a:t>&amp;837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163117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solidFill>
                            <a:srgbClr val="00B0F0"/>
                          </a:solidFill>
                          <a:highlight>
                            <a:srgbClr val="FE4D2A"/>
                          </a:highlight>
                        </a:rPr>
                        <a:t>&amp;837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80854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endParaRPr lang="pt-BR" dirty="0">
                        <a:highlight>
                          <a:srgbClr val="FE4D2A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958413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endParaRPr lang="pt-BR" dirty="0">
                        <a:highlight>
                          <a:srgbClr val="FE4D2A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039237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9363D14D-0166-17E0-3B76-F1FC8CAAA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483947"/>
              </p:ext>
            </p:extLst>
          </p:nvPr>
        </p:nvGraphicFramePr>
        <p:xfrm>
          <a:off x="7648832" y="2999854"/>
          <a:ext cx="56552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528">
                  <a:extLst>
                    <a:ext uri="{9D8B030D-6E8A-4147-A177-3AD203B41FA5}">
                      <a16:colId xmlns:a16="http://schemas.microsoft.com/office/drawing/2014/main" val="2217604351"/>
                    </a:ext>
                  </a:extLst>
                </a:gridCol>
              </a:tblGrid>
              <a:tr h="327813"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79917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r>
                        <a:rPr lang="pt-BR" sz="2400" b="1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27800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r>
                        <a:rPr lang="pt-BR" sz="2400" b="1" dirty="0"/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342288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r>
                        <a:rPr lang="pt-BR" sz="2400" b="1" dirty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448526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r>
                        <a:rPr lang="pt-BR" sz="2400" b="1" dirty="0"/>
                        <a:t>x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640383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endParaRPr lang="pt-BR" sz="2400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90360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endParaRPr lang="pt-BR" sz="2400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511092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370D21A5-9AA2-A71C-14E5-C4C192F6785C}"/>
              </a:ext>
            </a:extLst>
          </p:cNvPr>
          <p:cNvSpPr txBox="1"/>
          <p:nvPr/>
        </p:nvSpPr>
        <p:spPr>
          <a:xfrm>
            <a:off x="7147249" y="1660849"/>
            <a:ext cx="261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Na Memória</a:t>
            </a:r>
          </a:p>
        </p:txBody>
      </p:sp>
      <p:sp>
        <p:nvSpPr>
          <p:cNvPr id="10" name="Chave Direita 9">
            <a:extLst>
              <a:ext uri="{FF2B5EF4-FFF2-40B4-BE49-F238E27FC236}">
                <a16:creationId xmlns:a16="http://schemas.microsoft.com/office/drawing/2014/main" id="{8277813B-F081-D700-4ED2-87A3C6FCB4FE}"/>
              </a:ext>
            </a:extLst>
          </p:cNvPr>
          <p:cNvSpPr/>
          <p:nvPr/>
        </p:nvSpPr>
        <p:spPr>
          <a:xfrm>
            <a:off x="9565640" y="2780270"/>
            <a:ext cx="690468" cy="1433384"/>
          </a:xfrm>
          <a:prstGeom prst="rightBrac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8E67E6B-1539-F37C-63B6-A4C55022E81E}"/>
              </a:ext>
            </a:extLst>
          </p:cNvPr>
          <p:cNvSpPr txBox="1"/>
          <p:nvPr/>
        </p:nvSpPr>
        <p:spPr>
          <a:xfrm>
            <a:off x="10256108" y="3289791"/>
            <a:ext cx="1014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B0F0"/>
                </a:solidFill>
              </a:rPr>
              <a:t>&amp;837</a:t>
            </a:r>
          </a:p>
        </p:txBody>
      </p:sp>
    </p:spTree>
    <p:extLst>
      <p:ext uri="{BB962C8B-B14F-4D97-AF65-F5344CB8AC3E}">
        <p14:creationId xmlns:p14="http://schemas.microsoft.com/office/powerpoint/2010/main" val="1637645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0226416-3A96-EDC6-C197-EE3B206F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6C502EC-B70D-1645-3C3B-459DD2C0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Cap08-Exem08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78FA2C-3FE6-91D0-5A76-CAF2C8DC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AAC3549-6424-39FA-98ED-396F6E66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Exemplo: Atribuição na Lista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5E58AE-72BF-49F7-CE18-EB6527C8C1C6}"/>
              </a:ext>
            </a:extLst>
          </p:cNvPr>
          <p:cNvSpPr txBox="1"/>
          <p:nvPr/>
        </p:nvSpPr>
        <p:spPr>
          <a:xfrm>
            <a:off x="1036895" y="1592689"/>
            <a:ext cx="420915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def</a:t>
            </a:r>
            <a:r>
              <a:rPr lang="pt-BR" sz="2800" dirty="0"/>
              <a:t> zera (x):</a:t>
            </a:r>
          </a:p>
          <a:p>
            <a:r>
              <a:rPr lang="pt-BR" sz="2800" b="1" dirty="0"/>
              <a:t>     print(id(x))</a:t>
            </a:r>
            <a:endParaRPr lang="pt-BR" sz="2800" dirty="0"/>
          </a:p>
          <a:p>
            <a:r>
              <a:rPr lang="pt-BR" sz="2800" dirty="0"/>
              <a:t>     for i in range(len(x)):</a:t>
            </a:r>
          </a:p>
          <a:p>
            <a:r>
              <a:rPr lang="pt-BR" sz="2800" dirty="0"/>
              <a:t>          x  =  [0] * len(x) </a:t>
            </a:r>
          </a:p>
          <a:p>
            <a:r>
              <a:rPr lang="pt-BR" sz="2800" dirty="0"/>
              <a:t>     print(id(x))</a:t>
            </a:r>
          </a:p>
          <a:p>
            <a:endParaRPr lang="pt-BR" sz="2800" dirty="0"/>
          </a:p>
          <a:p>
            <a:r>
              <a:rPr lang="pt-BR" sz="2800" dirty="0"/>
              <a:t>a  =  [1,  2,  3]</a:t>
            </a:r>
          </a:p>
          <a:p>
            <a:r>
              <a:rPr lang="pt-BR" sz="2800" b="1" dirty="0"/>
              <a:t>print(id(a))</a:t>
            </a:r>
            <a:endParaRPr lang="pt-BR" sz="2800" dirty="0"/>
          </a:p>
          <a:p>
            <a:r>
              <a:rPr lang="pt-BR" sz="2800" dirty="0"/>
              <a:t>zera(a)</a:t>
            </a:r>
          </a:p>
          <a:p>
            <a:r>
              <a:rPr lang="pt-BR" sz="2800" dirty="0"/>
              <a:t>print(a)   # </a:t>
            </a:r>
            <a:r>
              <a:rPr lang="pt-BR" sz="2800" b="1" dirty="0"/>
              <a:t>=&gt; [1,  2,  3]</a:t>
            </a:r>
          </a:p>
          <a:p>
            <a:r>
              <a:rPr lang="pt-BR" sz="2800" b="1" dirty="0"/>
              <a:t>print(id(a))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11A096A-EED6-EDCC-1E62-B38FB02A3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528570"/>
              </p:ext>
            </p:extLst>
          </p:nvPr>
        </p:nvGraphicFramePr>
        <p:xfrm>
          <a:off x="7293503" y="1849010"/>
          <a:ext cx="2227587" cy="4609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587">
                  <a:extLst>
                    <a:ext uri="{9D8B030D-6E8A-4147-A177-3AD203B41FA5}">
                      <a16:colId xmlns:a16="http://schemas.microsoft.com/office/drawing/2014/main" val="2840685001"/>
                    </a:ext>
                  </a:extLst>
                </a:gridCol>
              </a:tblGrid>
              <a:tr h="433494"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highlight>
                          <a:srgbClr val="FE4D2A"/>
                        </a:highlight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895159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pt-BR" sz="2400" dirty="0">
                          <a:highlight>
                            <a:srgbClr val="FE4D2A"/>
                          </a:highlight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06828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0070C0"/>
                          </a:solidFill>
                        </a:rPr>
                        <a:t>2</a:t>
                      </a:r>
                      <a:r>
                        <a:rPr lang="pt-BR" sz="2400" dirty="0">
                          <a:highlight>
                            <a:srgbClr val="FE4D2A"/>
                          </a:highlight>
                        </a:rPr>
                        <a:t>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01072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0070C0"/>
                          </a:solidFill>
                        </a:rPr>
                        <a:t>3</a:t>
                      </a:r>
                      <a:r>
                        <a:rPr lang="pt-BR" sz="2400" dirty="0">
                          <a:highlight>
                            <a:srgbClr val="FE4D2A"/>
                          </a:highlight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99437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0070C0"/>
                          </a:solidFill>
                        </a:rPr>
                        <a:t>&amp;837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163117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FC4810"/>
                          </a:solidFill>
                        </a:rPr>
                        <a:t>&amp;837   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=&gt;</a:t>
                      </a:r>
                      <a:r>
                        <a:rPr lang="pt-BR" sz="2400" dirty="0">
                          <a:solidFill>
                            <a:srgbClr val="00B0F0"/>
                          </a:solidFill>
                        </a:rPr>
                        <a:t>  </a:t>
                      </a:r>
                      <a:r>
                        <a:rPr lang="pt-BR" sz="2400" dirty="0">
                          <a:solidFill>
                            <a:srgbClr val="0079B6"/>
                          </a:solidFill>
                        </a:rPr>
                        <a:t>&amp;940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80854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958413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039237"/>
                  </a:ext>
                </a:extLst>
              </a:tr>
              <a:tr h="224032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187662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627279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9363D14D-0166-17E0-3B76-F1FC8CAAA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421023"/>
              </p:ext>
            </p:extLst>
          </p:nvPr>
        </p:nvGraphicFramePr>
        <p:xfrm>
          <a:off x="6804440" y="2347775"/>
          <a:ext cx="45857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573">
                  <a:extLst>
                    <a:ext uri="{9D8B030D-6E8A-4147-A177-3AD203B41FA5}">
                      <a16:colId xmlns:a16="http://schemas.microsoft.com/office/drawing/2014/main" val="2217604351"/>
                    </a:ext>
                  </a:extLst>
                </a:gridCol>
              </a:tblGrid>
              <a:tr h="327813"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79917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r>
                        <a:rPr lang="pt-BR" sz="2400" b="1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27800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r>
                        <a:rPr lang="pt-BR" sz="2400" b="1" dirty="0"/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342288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r>
                        <a:rPr lang="pt-BR" sz="2400" b="1" dirty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448526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r>
                        <a:rPr lang="pt-BR" sz="2400" b="1" dirty="0"/>
                        <a:t>x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640383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r>
                        <a:rPr lang="pt-BR" sz="2400" b="1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90360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r>
                        <a:rPr lang="pt-BR" sz="2400" b="1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511092"/>
                  </a:ext>
                </a:extLst>
              </a:tr>
              <a:tr h="327813">
                <a:tc>
                  <a:txBody>
                    <a:bodyPr/>
                    <a:lstStyle/>
                    <a:p>
                      <a:r>
                        <a:rPr lang="pt-BR" sz="2400" b="1" dirty="0"/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65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370D21A5-9AA2-A71C-14E5-C4C192F6785C}"/>
              </a:ext>
            </a:extLst>
          </p:cNvPr>
          <p:cNvSpPr txBox="1"/>
          <p:nvPr/>
        </p:nvSpPr>
        <p:spPr>
          <a:xfrm>
            <a:off x="7147249" y="1253068"/>
            <a:ext cx="261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Na Memória</a:t>
            </a:r>
          </a:p>
        </p:txBody>
      </p:sp>
      <p:sp>
        <p:nvSpPr>
          <p:cNvPr id="10" name="Chave Direita 9">
            <a:extLst>
              <a:ext uri="{FF2B5EF4-FFF2-40B4-BE49-F238E27FC236}">
                <a16:creationId xmlns:a16="http://schemas.microsoft.com/office/drawing/2014/main" id="{8277813B-F081-D700-4ED2-87A3C6FCB4FE}"/>
              </a:ext>
            </a:extLst>
          </p:cNvPr>
          <p:cNvSpPr/>
          <p:nvPr/>
        </p:nvSpPr>
        <p:spPr>
          <a:xfrm>
            <a:off x="9652139" y="2372489"/>
            <a:ext cx="690468" cy="1305915"/>
          </a:xfrm>
          <a:prstGeom prst="rightBrac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8E67E6B-1539-F37C-63B6-A4C55022E81E}"/>
              </a:ext>
            </a:extLst>
          </p:cNvPr>
          <p:cNvSpPr txBox="1"/>
          <p:nvPr/>
        </p:nvSpPr>
        <p:spPr>
          <a:xfrm>
            <a:off x="10342607" y="2795511"/>
            <a:ext cx="1014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B0F0"/>
                </a:solidFill>
              </a:rPr>
              <a:t>&amp;837</a:t>
            </a:r>
          </a:p>
        </p:txBody>
      </p:sp>
      <p:sp>
        <p:nvSpPr>
          <p:cNvPr id="12" name="Chave Direita 11">
            <a:extLst>
              <a:ext uri="{FF2B5EF4-FFF2-40B4-BE49-F238E27FC236}">
                <a16:creationId xmlns:a16="http://schemas.microsoft.com/office/drawing/2014/main" id="{E85B2553-05FD-07F1-9DCD-8DA78DE12351}"/>
              </a:ext>
            </a:extLst>
          </p:cNvPr>
          <p:cNvSpPr/>
          <p:nvPr/>
        </p:nvSpPr>
        <p:spPr>
          <a:xfrm>
            <a:off x="9668612" y="4627491"/>
            <a:ext cx="690468" cy="1377884"/>
          </a:xfrm>
          <a:prstGeom prst="rightBrac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647FE89-58AA-C988-8C88-44706A0A81D0}"/>
              </a:ext>
            </a:extLst>
          </p:cNvPr>
          <p:cNvSpPr txBox="1"/>
          <p:nvPr/>
        </p:nvSpPr>
        <p:spPr>
          <a:xfrm>
            <a:off x="10359080" y="5060940"/>
            <a:ext cx="1014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B0F0"/>
                </a:solidFill>
              </a:rPr>
              <a:t>&amp;940</a:t>
            </a:r>
          </a:p>
        </p:txBody>
      </p:sp>
    </p:spTree>
    <p:extLst>
      <p:ext uri="{BB962C8B-B14F-4D97-AF65-F5344CB8AC3E}">
        <p14:creationId xmlns:p14="http://schemas.microsoft.com/office/powerpoint/2010/main" val="14541749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09B3DBB-1D53-F717-A000-DBBF37CE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7FE8CC-942B-EBEB-FAF7-5FD0341BD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Cap08-Exem09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B58F6B-2692-6C09-B333-CE648191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1A0D0CD-ECA6-3CB2-C39B-9CFB83E8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Exemplo de função sem retorno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CC841B-29B3-455E-BB2C-F65159A3FCD6}"/>
              </a:ext>
            </a:extLst>
          </p:cNvPr>
          <p:cNvSpPr txBox="1"/>
          <p:nvPr/>
        </p:nvSpPr>
        <p:spPr>
          <a:xfrm>
            <a:off x="926757" y="1779373"/>
            <a:ext cx="1040000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/>
              <a:t>def</a:t>
            </a:r>
            <a:r>
              <a:rPr lang="pt-BR" sz="2800" b="1" dirty="0"/>
              <a:t> </a:t>
            </a:r>
            <a:r>
              <a:rPr lang="pt-BR" sz="2800" b="1" dirty="0" err="1"/>
              <a:t>imprime_linha</a:t>
            </a:r>
            <a:r>
              <a:rPr lang="pt-BR" sz="2800" b="1" dirty="0"/>
              <a:t>(tamanho):</a:t>
            </a:r>
          </a:p>
          <a:p>
            <a:r>
              <a:rPr lang="pt-BR" sz="2800" b="1" dirty="0"/>
              <a:t>    print('-'  * tamanho)</a:t>
            </a:r>
          </a:p>
          <a:p>
            <a:endParaRPr lang="pt-BR" sz="2800" b="1" dirty="0"/>
          </a:p>
          <a:p>
            <a:r>
              <a:rPr lang="pt-BR" sz="2800" dirty="0"/>
              <a:t>texto  =  'PROGRAMAR É LEGAL'</a:t>
            </a:r>
          </a:p>
          <a:p>
            <a:r>
              <a:rPr lang="pt-BR" sz="2800" dirty="0" err="1"/>
              <a:t>imprime_linha</a:t>
            </a:r>
            <a:r>
              <a:rPr lang="pt-BR" sz="2800" dirty="0"/>
              <a:t>(len(texto))                             </a:t>
            </a:r>
            <a:r>
              <a:rPr lang="pt-BR" sz="2800" dirty="0">
                <a:latin typeface="CIDFont+F2"/>
              </a:rPr>
              <a:t>------------------------------</a:t>
            </a:r>
            <a:endParaRPr lang="pt-BR" sz="2800" dirty="0"/>
          </a:p>
          <a:p>
            <a:r>
              <a:rPr lang="pt-BR" sz="2800" dirty="0"/>
              <a:t>print(texto)                                                           </a:t>
            </a:r>
            <a:r>
              <a:rPr lang="pt-BR" sz="2800" b="1" dirty="0">
                <a:latin typeface="CIDFont+F2"/>
              </a:rPr>
              <a:t>PROGRAMAR É LEGAL</a:t>
            </a:r>
            <a:endParaRPr lang="pt-BR" sz="2800" dirty="0"/>
          </a:p>
          <a:p>
            <a:r>
              <a:rPr lang="pt-BR" sz="2800" dirty="0" err="1"/>
              <a:t>imprime_linha</a:t>
            </a:r>
            <a:r>
              <a:rPr lang="pt-BR" sz="2800" dirty="0"/>
              <a:t>(len(texto))                             </a:t>
            </a:r>
            <a:r>
              <a:rPr lang="pt-BR" sz="2800" dirty="0">
                <a:latin typeface="CIDFont+F2"/>
              </a:rPr>
              <a:t>------------------------------</a:t>
            </a:r>
            <a:endParaRPr lang="pt-BR" sz="2800" dirty="0"/>
          </a:p>
          <a:p>
            <a:r>
              <a:rPr lang="pt-BR" sz="2800" dirty="0"/>
              <a:t> 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A7E53664-A69F-BCFD-3404-1C49891A0EEE}"/>
              </a:ext>
            </a:extLst>
          </p:cNvPr>
          <p:cNvCxnSpPr>
            <a:cxnSpLocks/>
          </p:cNvCxnSpPr>
          <p:nvPr/>
        </p:nvCxnSpPr>
        <p:spPr>
          <a:xfrm flipV="1">
            <a:off x="5088194" y="3746089"/>
            <a:ext cx="1651819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AEEA499-22EF-4F44-8450-A9B67E0445F6}"/>
              </a:ext>
            </a:extLst>
          </p:cNvPr>
          <p:cNvCxnSpPr>
            <a:cxnSpLocks/>
          </p:cNvCxnSpPr>
          <p:nvPr/>
        </p:nvCxnSpPr>
        <p:spPr>
          <a:xfrm>
            <a:off x="2846439" y="4203290"/>
            <a:ext cx="389357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D7F060D-A283-B9A4-D5CE-D4D7B2DB6A6C}"/>
              </a:ext>
            </a:extLst>
          </p:cNvPr>
          <p:cNvCxnSpPr>
            <a:cxnSpLocks/>
          </p:cNvCxnSpPr>
          <p:nvPr/>
        </p:nvCxnSpPr>
        <p:spPr>
          <a:xfrm>
            <a:off x="4925961" y="4675239"/>
            <a:ext cx="181405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70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F014353-A1F6-B6BC-6CF7-E51EC42DA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188FE9B-2664-28C7-CBD4-6564F8AB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53331F-815C-D91E-A1AE-531EEFB9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7FA8E6F-CA17-E81B-3BA9-1D725DFA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400" b="1" u="none" strike="noStrike" baseline="0" dirty="0">
                <a:latin typeface="CIDFont+F1"/>
              </a:rPr>
              <a:t>Chamada de função</a:t>
            </a:r>
            <a:endParaRPr lang="pt-BR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E0B629-6C98-A363-629E-3F10F66BF26A}"/>
              </a:ext>
            </a:extLst>
          </p:cNvPr>
          <p:cNvSpPr txBox="1"/>
          <p:nvPr/>
        </p:nvSpPr>
        <p:spPr>
          <a:xfrm>
            <a:off x="837950" y="1595802"/>
            <a:ext cx="105223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indent="-357188" algn="just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Se a função retorna um valor, pode-se </a:t>
            </a:r>
            <a:r>
              <a:rPr lang="pt-BR" sz="3600" b="1" i="0" u="none" strike="noStrike" baseline="0" dirty="0">
                <a:latin typeface="CIDFont+F2"/>
              </a:rPr>
              <a:t>atribuir</a:t>
            </a:r>
            <a:r>
              <a:rPr lang="pt-BR" sz="3600" b="0" i="0" u="none" strike="noStrike" baseline="0" dirty="0">
                <a:latin typeface="CIDFont+F2"/>
              </a:rPr>
              <a:t> seu resultado a uma variável </a:t>
            </a:r>
          </a:p>
          <a:p>
            <a:pPr marL="357188" indent="-357188" algn="ctr"/>
            <a:r>
              <a:rPr lang="pt-BR" sz="3600" b="1" i="0" u="none" strike="noStrike" baseline="0" dirty="0">
                <a:latin typeface="CIDFont+F2"/>
              </a:rPr>
              <a:t>m = maior(v)</a:t>
            </a:r>
          </a:p>
          <a:p>
            <a:pPr algn="l"/>
            <a:endParaRPr lang="pt-BR" sz="3600" b="0" i="0" u="none" strike="noStrike" baseline="0" dirty="0">
              <a:latin typeface="CIDFont+F2"/>
            </a:endParaRPr>
          </a:p>
          <a:p>
            <a:pPr marL="357188" indent="-357188" algn="just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Se a função não retorna um valor (não tem </a:t>
            </a:r>
            <a:r>
              <a:rPr lang="pt-BR" sz="3600" b="1" i="0" u="none" strike="noStrike" baseline="0" dirty="0" err="1">
                <a:latin typeface="CIDFont+F3"/>
              </a:rPr>
              <a:t>return</a:t>
            </a:r>
            <a:r>
              <a:rPr lang="pt-BR" sz="3600" b="0" i="0" u="none" strike="noStrike" baseline="0" dirty="0">
                <a:latin typeface="CIDFont+F2"/>
              </a:rPr>
              <a:t>), não se deve atribuir seu resultado a uma variável (se for feito, a variável ficará com valor </a:t>
            </a:r>
            <a:r>
              <a:rPr lang="pt-BR" sz="3600" b="1" i="0" u="none" strike="noStrike" baseline="0" dirty="0">
                <a:latin typeface="CIDFont+F3"/>
              </a:rPr>
              <a:t>None</a:t>
            </a:r>
            <a:r>
              <a:rPr lang="pt-BR" sz="3600" b="0" i="0" u="none" strike="noStrike" baseline="0" dirty="0">
                <a:latin typeface="CIDFont+F2"/>
              </a:rPr>
              <a:t>)</a:t>
            </a:r>
          </a:p>
          <a:p>
            <a:pPr algn="ctr"/>
            <a:r>
              <a:rPr lang="pt-BR" sz="3600" b="1" i="0" u="none" strike="noStrike" baseline="0" dirty="0" err="1">
                <a:latin typeface="CIDFont+F2"/>
              </a:rPr>
              <a:t>imprime_asterisco</a:t>
            </a:r>
            <a:r>
              <a:rPr lang="pt-BR" sz="3600" b="1" i="0" u="none" strike="noStrike" baseline="0" dirty="0">
                <a:latin typeface="CIDFont+F2"/>
              </a:rPr>
              <a:t>(3)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1504756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A674719-3387-3ADA-BC83-9FBD46BA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D97F2A-3EFE-1DE2-2C8E-CE16A369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AE1320-244C-C186-B5FE-C6304AC8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76823D5-1D76-E8D0-7259-DC556787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Função sem Parâmetros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1BCE073-2B6F-1D72-B813-A7B24F1FAFA4}"/>
              </a:ext>
            </a:extLst>
          </p:cNvPr>
          <p:cNvSpPr txBox="1"/>
          <p:nvPr/>
        </p:nvSpPr>
        <p:spPr>
          <a:xfrm>
            <a:off x="920180" y="1921790"/>
            <a:ext cx="107361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Nem toda função precisa ter parâmetro</a:t>
            </a:r>
          </a:p>
          <a:p>
            <a:pPr algn="l"/>
            <a:endParaRPr lang="pt-BR" sz="3600" b="0" i="0" u="none" strike="noStrike" baseline="0" dirty="0">
              <a:latin typeface="CIDFont+F2"/>
            </a:endParaRPr>
          </a:p>
          <a:p>
            <a:pPr marL="357188" indent="-357188" algn="just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Nesse caso, ao definir a função, deve-se abrir e fechar parênteses, sem informar nenhum parâmetro</a:t>
            </a:r>
          </a:p>
          <a:p>
            <a:pPr algn="l"/>
            <a:endParaRPr lang="pt-BR" sz="3600" b="0" i="0" u="none" strike="noStrike" baseline="0" dirty="0">
              <a:latin typeface="CIDFont+F2"/>
            </a:endParaRPr>
          </a:p>
          <a:p>
            <a:pPr algn="l"/>
            <a:r>
              <a:rPr lang="pt-BR" sz="3600" b="0" i="0" u="none" strike="noStrike" baseline="0" dirty="0">
                <a:latin typeface="CIDFont+F4"/>
              </a:rPr>
              <a:t>• </a:t>
            </a:r>
            <a:r>
              <a:rPr lang="pt-BR" sz="3600" b="0" i="0" u="none" strike="noStrike" baseline="0" dirty="0">
                <a:latin typeface="CIDFont+F2"/>
              </a:rPr>
              <a:t>O mesmo deve acontecer na chamada da função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6373669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5715CE-EDD8-EE95-6A50-B7CA60D25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D12BA5C-B497-29A2-3517-31ABF8D2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Cap08-Exem10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A97C92-C798-9A22-7EA1-FE5126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879ECD3-1BA1-86E2-8E1A-09742077C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400" b="1" i="0" u="none" strike="noStrike" baseline="0" dirty="0">
                <a:latin typeface="CIDFont+F1"/>
              </a:rPr>
              <a:t>Exemplo:</a:t>
            </a:r>
            <a:endParaRPr lang="pt-BR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9C32CF5-7E14-4790-2ECD-8511277021B7}"/>
              </a:ext>
            </a:extLst>
          </p:cNvPr>
          <p:cNvSpPr txBox="1"/>
          <p:nvPr/>
        </p:nvSpPr>
        <p:spPr>
          <a:xfrm>
            <a:off x="960895" y="1844304"/>
            <a:ext cx="89890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def</a:t>
            </a:r>
            <a:r>
              <a:rPr lang="pt-BR" sz="2400" dirty="0"/>
              <a:t> </a:t>
            </a:r>
            <a:r>
              <a:rPr lang="pt-BR" sz="2400" b="1" dirty="0"/>
              <a:t>menu()</a:t>
            </a:r>
            <a:r>
              <a:rPr lang="pt-BR" sz="2400" dirty="0"/>
              <a:t>:</a:t>
            </a:r>
          </a:p>
          <a:p>
            <a:r>
              <a:rPr lang="pt-BR" sz="2400" dirty="0"/>
              <a:t>              print(‘**********************************************’)</a:t>
            </a:r>
          </a:p>
          <a:p>
            <a:r>
              <a:rPr lang="pt-BR" sz="2400" dirty="0"/>
              <a:t>              print(‘1   -   Somar’)</a:t>
            </a:r>
          </a:p>
          <a:p>
            <a:r>
              <a:rPr lang="pt-BR" sz="2400" dirty="0"/>
              <a:t>              print(‘2   -   Subtrair’)</a:t>
            </a:r>
          </a:p>
          <a:p>
            <a:r>
              <a:rPr lang="pt-BR" sz="2400" dirty="0"/>
              <a:t>              print(‘3   -   Multiplicar’)</a:t>
            </a:r>
          </a:p>
          <a:p>
            <a:r>
              <a:rPr lang="pt-BR" sz="2400" dirty="0"/>
              <a:t>              print(‘4   -   Dividir’)</a:t>
            </a:r>
          </a:p>
          <a:p>
            <a:r>
              <a:rPr lang="pt-BR" sz="2400" dirty="0"/>
              <a:t>              print(‘**********************************************’)</a:t>
            </a:r>
          </a:p>
          <a:p>
            <a:endParaRPr lang="pt-BR" sz="2400" dirty="0"/>
          </a:p>
          <a:p>
            <a:r>
              <a:rPr lang="pt-BR" sz="2400" b="1" dirty="0"/>
              <a:t>menu()</a:t>
            </a:r>
          </a:p>
          <a:p>
            <a:r>
              <a:rPr lang="pt-BR" sz="2400" dirty="0"/>
              <a:t>opc  =  </a:t>
            </a:r>
            <a:r>
              <a:rPr lang="pt-BR" sz="2400" dirty="0" err="1"/>
              <a:t>int</a:t>
            </a:r>
            <a:r>
              <a:rPr lang="pt-BR" sz="2400" dirty="0"/>
              <a:t>(input(“Digite a opção desejada :  “))</a:t>
            </a:r>
          </a:p>
        </p:txBody>
      </p:sp>
    </p:spTree>
    <p:extLst>
      <p:ext uri="{BB962C8B-B14F-4D97-AF65-F5344CB8AC3E}">
        <p14:creationId xmlns:p14="http://schemas.microsoft.com/office/powerpoint/2010/main" val="12700113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A72604C-B8AB-2D84-46F2-FFD28F47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9771665-F623-C31E-0766-CDED225E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9B9B3A-361D-87D3-3888-1904137A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1E025CE-3E19-CA8B-C3A4-023B46812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3"/>
              </a:rPr>
              <a:t>Parâmetros </a:t>
            </a:r>
            <a:r>
              <a:rPr lang="pt-BR" b="1" i="0" u="none" strike="noStrike" baseline="0" dirty="0">
                <a:latin typeface="CIDFont+F5"/>
              </a:rPr>
              <a:t>default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9694FC8-230E-4678-9656-19CB7BD791E2}"/>
              </a:ext>
            </a:extLst>
          </p:cNvPr>
          <p:cNvSpPr txBox="1"/>
          <p:nvPr/>
        </p:nvSpPr>
        <p:spPr>
          <a:xfrm>
            <a:off x="834325" y="1693069"/>
            <a:ext cx="105233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 algn="just"/>
            <a:r>
              <a:rPr lang="pt-BR" sz="3200" b="0" i="0" u="none" strike="noStrike" baseline="0" dirty="0">
                <a:latin typeface="CIDFont+F4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Em alguns casos, pode-se definir um valor padrão (</a:t>
            </a:r>
            <a:r>
              <a:rPr lang="pt-BR" sz="3200" b="0" i="0" u="none" strike="noStrike" baseline="0" dirty="0">
                <a:latin typeface="CIDFont+F6"/>
              </a:rPr>
              <a:t>default</a:t>
            </a:r>
            <a:r>
              <a:rPr lang="pt-BR" sz="3200" b="0" i="0" u="none" strike="noStrike" baseline="0" dirty="0">
                <a:latin typeface="CIDFont+F2"/>
              </a:rPr>
              <a:t>) para um parâmetro. Caso ele não seja passado na chamada, o valor </a:t>
            </a:r>
            <a:r>
              <a:rPr lang="pt-BR" sz="3200" b="0" i="0" u="none" strike="noStrike" baseline="0" dirty="0">
                <a:latin typeface="CIDFont+F6"/>
              </a:rPr>
              <a:t>default </a:t>
            </a:r>
            <a:r>
              <a:rPr lang="pt-BR" sz="3200" b="0" i="0" u="none" strike="noStrike" baseline="0" dirty="0">
                <a:latin typeface="CIDFont+F2"/>
              </a:rPr>
              <a:t>será assumido.</a:t>
            </a:r>
          </a:p>
          <a:p>
            <a:pPr algn="l"/>
            <a:endParaRPr lang="pt-BR" sz="3200" b="0" i="0" u="none" strike="noStrike" baseline="0" dirty="0">
              <a:latin typeface="CIDFont+F2"/>
            </a:endParaRPr>
          </a:p>
          <a:p>
            <a:pPr marL="357188" indent="-357188" algn="just"/>
            <a:r>
              <a:rPr lang="pt-BR" sz="3200" b="0" i="0" u="none" strike="noStrike" baseline="0" dirty="0">
                <a:latin typeface="CIDFont+F4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Exemplo: uma função para calcular a gorjeta de uma conta tem como parâmetros o valor da conta e o percentual da gorjeta. No entanto, na grande maioria dos restaurantes, a gorjeta é sempre 10%. Podemos então colocar 10% como valor default para o parâmetro “percentual”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940929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F72351D-6192-2765-47F0-0C288245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8B05A2-E072-C1E1-B7CB-C9A9C008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Cap08-Exem11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551BBD-4393-0A92-2E6F-A20A252C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6C22B6B-41E0-BE65-6157-B2B1DE8A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Exemplo da Gorjeta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3A6D252-0972-920B-742B-5FEA22F4A885}"/>
              </a:ext>
            </a:extLst>
          </p:cNvPr>
          <p:cNvSpPr txBox="1"/>
          <p:nvPr/>
        </p:nvSpPr>
        <p:spPr>
          <a:xfrm>
            <a:off x="239151" y="1748087"/>
            <a:ext cx="1171671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def</a:t>
            </a:r>
            <a:r>
              <a:rPr lang="pt-BR" sz="2800" dirty="0"/>
              <a:t> </a:t>
            </a:r>
            <a:r>
              <a:rPr lang="pt-BR" sz="2800" dirty="0" err="1"/>
              <a:t>calcular_gorjeta</a:t>
            </a:r>
            <a:r>
              <a:rPr lang="pt-BR" sz="2800" dirty="0"/>
              <a:t>(valor,  percentual=10):</a:t>
            </a:r>
          </a:p>
          <a:p>
            <a:r>
              <a:rPr lang="pt-BR" sz="2800" dirty="0"/>
              <a:t>          </a:t>
            </a:r>
            <a:r>
              <a:rPr lang="pt-BR" sz="2800" dirty="0" err="1"/>
              <a:t>return</a:t>
            </a:r>
            <a:r>
              <a:rPr lang="pt-BR" sz="2800" dirty="0"/>
              <a:t> valor  *  percentual   /  100</a:t>
            </a:r>
          </a:p>
          <a:p>
            <a:endParaRPr lang="pt-BR" sz="2800" dirty="0"/>
          </a:p>
          <a:p>
            <a:r>
              <a:rPr lang="pt-BR" sz="2800" dirty="0"/>
              <a:t>gorjeta  = </a:t>
            </a:r>
            <a:r>
              <a:rPr lang="pt-BR" sz="2800" dirty="0" err="1"/>
              <a:t>calcular_gorjeta</a:t>
            </a:r>
            <a:r>
              <a:rPr lang="pt-BR" sz="2800" dirty="0"/>
              <a:t>(400)</a:t>
            </a:r>
          </a:p>
          <a:p>
            <a:endParaRPr lang="pt-BR" sz="2800" dirty="0"/>
          </a:p>
          <a:p>
            <a:r>
              <a:rPr lang="pt-BR" sz="2800" dirty="0"/>
              <a:t>print('\n\</a:t>
            </a:r>
            <a:r>
              <a:rPr lang="pt-BR" sz="2800" dirty="0" err="1"/>
              <a:t>nO</a:t>
            </a:r>
            <a:r>
              <a:rPr lang="pt-BR" sz="2800" dirty="0"/>
              <a:t> valor da gorjeta de 10% de uma conta de R$ 400,00 é : ',gorjeta) </a:t>
            </a:r>
          </a:p>
          <a:p>
            <a:endParaRPr lang="pt-BR" sz="2800" dirty="0"/>
          </a:p>
          <a:p>
            <a:r>
              <a:rPr lang="pt-BR" sz="2800" dirty="0"/>
              <a:t>gorjeta = </a:t>
            </a:r>
            <a:r>
              <a:rPr lang="pt-BR" sz="2800" dirty="0" err="1"/>
              <a:t>calcular_gorjeta</a:t>
            </a:r>
            <a:r>
              <a:rPr lang="pt-BR" sz="2800" dirty="0"/>
              <a:t>(400,  5)</a:t>
            </a:r>
          </a:p>
          <a:p>
            <a:endParaRPr lang="pt-BR" sz="2800" dirty="0"/>
          </a:p>
          <a:p>
            <a:r>
              <a:rPr lang="pt-BR" sz="2800" dirty="0"/>
              <a:t>print('\</a:t>
            </a:r>
            <a:r>
              <a:rPr lang="pt-BR" sz="2800" dirty="0" err="1"/>
              <a:t>nO</a:t>
            </a:r>
            <a:r>
              <a:rPr lang="pt-BR" sz="2800" dirty="0"/>
              <a:t> valor da gorjeta de  5% de uma conta de R$400,00  é : ' , gorjeta ) 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3A10FCA-EFC4-60EE-2BE0-17973C657543}"/>
              </a:ext>
            </a:extLst>
          </p:cNvPr>
          <p:cNvSpPr/>
          <p:nvPr/>
        </p:nvSpPr>
        <p:spPr>
          <a:xfrm>
            <a:off x="8105615" y="1907513"/>
            <a:ext cx="3533613" cy="17668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Quando a gorjeta não é informada na chamada da função, o valor do parâmetro gorjeta fica sendo 10</a:t>
            </a:r>
          </a:p>
        </p:txBody>
      </p:sp>
    </p:spTree>
    <p:extLst>
      <p:ext uri="{BB962C8B-B14F-4D97-AF65-F5344CB8AC3E}">
        <p14:creationId xmlns:p14="http://schemas.microsoft.com/office/powerpoint/2010/main" val="34908869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E648137-5A86-DEC9-5461-677283E0F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E759F4-8B2E-2E29-636C-8E692BFF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Cap08-Exem12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12DE28-57AA-FBB3-13D6-E23F4BDB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4188EA2-12F6-15D1-A745-96FCDF401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Passando Argumentos com nomes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E0EA894-DD44-6825-4941-D0026A8CB09F}"/>
              </a:ext>
            </a:extLst>
          </p:cNvPr>
          <p:cNvSpPr txBox="1"/>
          <p:nvPr/>
        </p:nvSpPr>
        <p:spPr>
          <a:xfrm>
            <a:off x="604433" y="1411456"/>
            <a:ext cx="1100379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indent="-357188" algn="just"/>
            <a:r>
              <a:rPr lang="pt-BR" sz="2800" b="0" i="0" u="none" strike="noStrike" baseline="0" dirty="0">
                <a:latin typeface="CIDFont+F4"/>
              </a:rPr>
              <a:t>• </a:t>
            </a:r>
            <a:r>
              <a:rPr lang="pt-BR" sz="2800" b="0" i="0" u="none" strike="noStrike" baseline="0" dirty="0">
                <a:latin typeface="CIDFont+F2"/>
              </a:rPr>
              <a:t>É possível passar os argumentos sem empregar a ordem de definição desde que se nomeie cada valor passado com o nome do argumento correspondente</a:t>
            </a:r>
          </a:p>
          <a:p>
            <a:pPr marL="357188" indent="-357188" algn="just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4"/>
              </a:rPr>
              <a:t>• </a:t>
            </a:r>
            <a:r>
              <a:rPr lang="pt-BR" sz="2800" b="0" i="0" u="none" strike="noStrike" baseline="0" dirty="0">
                <a:latin typeface="CIDFont+F2"/>
              </a:rPr>
              <a:t>Ex.: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400" b="0" i="0" u="none" strike="noStrike" baseline="0" dirty="0" err="1">
                <a:latin typeface="CIDFont+F2"/>
              </a:rPr>
              <a:t>def</a:t>
            </a:r>
            <a:r>
              <a:rPr lang="pt-BR" sz="2400" b="0" i="0" u="none" strike="noStrike" baseline="0" dirty="0">
                <a:latin typeface="CIDFont+F2"/>
              </a:rPr>
              <a:t> </a:t>
            </a:r>
            <a:r>
              <a:rPr lang="pt-BR" sz="2400" b="0" i="0" u="none" strike="noStrike" baseline="0" dirty="0" err="1">
                <a:latin typeface="CIDFont+F2"/>
              </a:rPr>
              <a:t>seila</a:t>
            </a:r>
            <a:r>
              <a:rPr lang="pt-BR" sz="2400" b="0" i="0" u="none" strike="noStrike" baseline="0" dirty="0">
                <a:latin typeface="CIDFont+F2"/>
              </a:rPr>
              <a:t>(nome, </a:t>
            </a:r>
            <a:r>
              <a:rPr lang="pt-BR" sz="2400" b="0" i="0" u="none" strike="noStrike" baseline="0" dirty="0" err="1">
                <a:latin typeface="CIDFont+F2"/>
              </a:rPr>
              <a:t>saudacao</a:t>
            </a:r>
            <a:r>
              <a:rPr lang="pt-BR" sz="2400" b="0" i="0" u="none" strike="noStrike" baseline="0" dirty="0">
                <a:latin typeface="CIDFont+F2"/>
              </a:rPr>
              <a:t> = 'Oi', pontuação = '!!’):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       </a:t>
            </a:r>
            <a:r>
              <a:rPr lang="pt-BR" sz="2400" b="0" i="0" u="none" strike="noStrike" baseline="0" dirty="0" err="1">
                <a:latin typeface="CIDFont+F2"/>
              </a:rPr>
              <a:t>return</a:t>
            </a:r>
            <a:r>
              <a:rPr lang="pt-BR" sz="2400" b="0" i="0" u="none" strike="noStrike" baseline="0" dirty="0">
                <a:latin typeface="CIDFont+F2"/>
              </a:rPr>
              <a:t> </a:t>
            </a:r>
            <a:r>
              <a:rPr lang="pt-BR" sz="2400" b="0" i="0" u="none" strike="noStrike" baseline="0" dirty="0" err="1">
                <a:latin typeface="CIDFont+F2"/>
              </a:rPr>
              <a:t>saudacao</a:t>
            </a:r>
            <a:r>
              <a:rPr lang="pt-BR" sz="2400" b="0" i="0" u="none" strike="noStrike" baseline="0" dirty="0">
                <a:latin typeface="CIDFont+F2"/>
              </a:rPr>
              <a:t> + ‘,  ' + nome + pontuação</a:t>
            </a:r>
          </a:p>
          <a:p>
            <a:pPr algn="l"/>
            <a:endParaRPr lang="pt-BR" sz="2400" b="0" i="0" u="none" strike="noStrike" baseline="0" dirty="0"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print(</a:t>
            </a:r>
            <a:r>
              <a:rPr lang="pt-BR" sz="2400" dirty="0" err="1">
                <a:latin typeface="CIDFont+F2"/>
              </a:rPr>
              <a:t>seila</a:t>
            </a:r>
            <a:r>
              <a:rPr lang="pt-BR" sz="2400" b="0" i="0" u="none" strike="noStrike" baseline="0" dirty="0">
                <a:latin typeface="CIDFont+F2"/>
              </a:rPr>
              <a:t>('João’) )</a:t>
            </a:r>
          </a:p>
          <a:p>
            <a:pPr algn="l"/>
            <a:endParaRPr lang="pt-BR" sz="2400" b="0" i="0" u="none" strike="noStrike" baseline="0" dirty="0"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print( </a:t>
            </a:r>
            <a:r>
              <a:rPr lang="pt-BR" sz="2400" b="0" i="0" u="none" strike="noStrike" baseline="0" dirty="0" err="1">
                <a:latin typeface="CIDFont+F2"/>
              </a:rPr>
              <a:t>seila</a:t>
            </a:r>
            <a:r>
              <a:rPr lang="pt-BR" sz="2400" b="0" i="0" u="none" strike="noStrike" baseline="0" dirty="0">
                <a:latin typeface="CIDFont+F2"/>
              </a:rPr>
              <a:t>(</a:t>
            </a:r>
            <a:r>
              <a:rPr lang="pt-BR" sz="2400" b="0" i="0" u="none" strike="noStrike" baseline="0" dirty="0" err="1">
                <a:latin typeface="CIDFont+F2"/>
              </a:rPr>
              <a:t>saudacao</a:t>
            </a:r>
            <a:r>
              <a:rPr lang="pt-BR" sz="2400" b="0" i="0" u="none" strike="noStrike" baseline="0" dirty="0">
                <a:latin typeface="CIDFont+F2"/>
              </a:rPr>
              <a:t> = 'Valeu', nome = 'João') )</a:t>
            </a:r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5DDEAB7-9566-E000-CA5C-0D68B7A0C462}"/>
              </a:ext>
            </a:extLst>
          </p:cNvPr>
          <p:cNvSpPr txBox="1"/>
          <p:nvPr/>
        </p:nvSpPr>
        <p:spPr>
          <a:xfrm>
            <a:off x="9066510" y="4671621"/>
            <a:ext cx="1627322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Oi, João !!</a:t>
            </a:r>
          </a:p>
          <a:p>
            <a:r>
              <a:rPr lang="pt-BR" dirty="0"/>
              <a:t>Valeu, João!!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292B7F6C-9BA9-F6BC-48E3-7947D5CF9D1E}"/>
              </a:ext>
            </a:extLst>
          </p:cNvPr>
          <p:cNvCxnSpPr/>
          <p:nvPr/>
        </p:nvCxnSpPr>
        <p:spPr>
          <a:xfrm flipV="1">
            <a:off x="2650210" y="4671621"/>
            <a:ext cx="6416300" cy="619932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D640E836-5857-C78A-8D2F-C92289B9B7B5}"/>
              </a:ext>
            </a:extLst>
          </p:cNvPr>
          <p:cNvCxnSpPr/>
          <p:nvPr/>
        </p:nvCxnSpPr>
        <p:spPr>
          <a:xfrm flipV="1">
            <a:off x="6096000" y="4999752"/>
            <a:ext cx="2970510" cy="101777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8690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15A968F-0A83-2833-9258-25743143A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09248BB-24DA-7AF6-3971-5DE081C4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D67D0A-BF5F-BBA0-77D2-3B5477EE4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A867ABB-72E0-F4D2-53EA-8D1360E3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u="none" strike="noStrike" baseline="0" dirty="0">
                <a:latin typeface="CIDFont+F1"/>
              </a:rPr>
              <a:t>Colocar Funções em Arquivos Separados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FFC01C-5AF0-9D1E-5DB2-C70348DC00E7}"/>
              </a:ext>
            </a:extLst>
          </p:cNvPr>
          <p:cNvSpPr txBox="1"/>
          <p:nvPr/>
        </p:nvSpPr>
        <p:spPr>
          <a:xfrm>
            <a:off x="541605" y="1353344"/>
            <a:ext cx="1132592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indent="-357188" algn="l"/>
            <a:r>
              <a:rPr lang="pt-BR" sz="3200" b="0" i="0" u="none" strike="noStrike" baseline="0" dirty="0">
                <a:latin typeface="CIDFont+F4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Em alguns casos, pode ser necessário colocar todas as funções em um módulo separado (</a:t>
            </a:r>
            <a:r>
              <a:rPr lang="pt-BR" sz="3200" b="0" i="0" u="none" strike="noStrike" baseline="0" dirty="0" err="1">
                <a:latin typeface="CIDFont+F2"/>
              </a:rPr>
              <a:t>ex</a:t>
            </a:r>
            <a:r>
              <a:rPr lang="pt-BR" sz="3200" b="0" i="0" u="none" strike="noStrike" baseline="0" dirty="0">
                <a:latin typeface="CIDFont+F2"/>
              </a:rPr>
              <a:t>: </a:t>
            </a:r>
            <a:r>
              <a:rPr lang="pt-BR" sz="3200" b="0" i="0" u="none" strike="noStrike" baseline="0" dirty="0" err="1">
                <a:latin typeface="CIDFont+F2"/>
              </a:rPr>
              <a:t>funcoes</a:t>
            </a:r>
            <a:r>
              <a:rPr lang="pt-BR" sz="3200" b="0" i="0" u="none" strike="noStrike" baseline="0" dirty="0">
                <a:latin typeface="CIDFont+F2"/>
              </a:rPr>
              <a:t>)</a:t>
            </a:r>
          </a:p>
          <a:p>
            <a:pPr algn="l"/>
            <a:endParaRPr lang="pt-BR" sz="3200" b="0" i="0" u="none" strike="noStrike" baseline="0" dirty="0">
              <a:latin typeface="CIDFont+F2"/>
            </a:endParaRPr>
          </a:p>
          <a:p>
            <a:pPr marL="263525" indent="-263525" algn="l"/>
            <a:r>
              <a:rPr lang="pt-BR" sz="3200" b="0" i="0" u="none" strike="noStrike" baseline="0" dirty="0">
                <a:latin typeface="CIDFont+F4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Nesse caso, basta definir todas as funções num arquivo .</a:t>
            </a:r>
            <a:r>
              <a:rPr lang="pt-BR" sz="3200" b="0" i="0" u="none" strike="noStrike" baseline="0" dirty="0" err="1">
                <a:latin typeface="CIDFont+F2"/>
              </a:rPr>
              <a:t>py</a:t>
            </a:r>
            <a:r>
              <a:rPr lang="pt-BR" sz="3200" b="0" i="0" u="none" strike="noStrike" baseline="0" dirty="0">
                <a:latin typeface="CIDFont+F2"/>
              </a:rPr>
              <a:t> (ex.: funcoes.py).</a:t>
            </a:r>
          </a:p>
          <a:p>
            <a:pPr algn="l"/>
            <a:endParaRPr lang="pt-BR" sz="3200" b="0" i="0" u="none" strike="noStrike" baseline="0" dirty="0">
              <a:latin typeface="CIDFont+F2"/>
            </a:endParaRPr>
          </a:p>
          <a:p>
            <a:pPr marL="357188" indent="-357188" algn="l"/>
            <a:r>
              <a:rPr lang="pt-BR" sz="3200" b="0" i="0" u="none" strike="noStrike" baseline="0" dirty="0">
                <a:latin typeface="CIDFont+F4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Quando precisar usar as funções em um determinado programa, basta fazer </a:t>
            </a:r>
            <a:r>
              <a:rPr lang="pt-BR" sz="3200" b="1" i="0" u="none" strike="noStrike" baseline="0" dirty="0" err="1">
                <a:latin typeface="CIDFont+F3"/>
              </a:rPr>
              <a:t>import</a:t>
            </a:r>
            <a:r>
              <a:rPr lang="pt-BR" sz="3200" b="1" i="0" u="none" strike="noStrike" baseline="0" dirty="0">
                <a:latin typeface="CIDFont+F3"/>
              </a:rPr>
              <a:t> &lt;nome do módulo que contém as funções&gt;</a:t>
            </a:r>
          </a:p>
          <a:p>
            <a:pPr algn="l"/>
            <a:endParaRPr lang="pt-BR" sz="3200" b="0" i="0" u="none" strike="noStrike" baseline="0" dirty="0">
              <a:latin typeface="CIDFont+F3"/>
            </a:endParaRPr>
          </a:p>
          <a:p>
            <a:pPr algn="l"/>
            <a:r>
              <a:rPr lang="pt-BR" sz="3200" b="0" i="0" u="none" strike="noStrike" baseline="0" dirty="0">
                <a:latin typeface="CIDFont+F4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Ao chamar a função, colocar o nome do módulo na frente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920981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F4CA765-A7B5-9030-8BDC-878FCDEF3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E2C1810-5AD4-D657-33E1-445FBA39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Cap08-Util  -  Cap08-Teste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E1DC56-50D6-1D5E-8425-B31A56C0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5D181-B576-A0F6-A58E-B03B3E03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Exemplo – Criar Funções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49545CD-BDC5-67B5-E27B-6A85F0181086}"/>
              </a:ext>
            </a:extLst>
          </p:cNvPr>
          <p:cNvSpPr txBox="1"/>
          <p:nvPr/>
        </p:nvSpPr>
        <p:spPr>
          <a:xfrm>
            <a:off x="844061" y="1298592"/>
            <a:ext cx="379695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Arquivo util.py</a:t>
            </a:r>
          </a:p>
          <a:p>
            <a:endParaRPr lang="pt-BR" dirty="0"/>
          </a:p>
          <a:p>
            <a:r>
              <a:rPr lang="pt-BR" sz="2400" dirty="0" err="1"/>
              <a:t>def</a:t>
            </a:r>
            <a:r>
              <a:rPr lang="pt-BR" sz="2400" dirty="0"/>
              <a:t> soma(v):</a:t>
            </a:r>
          </a:p>
          <a:p>
            <a:r>
              <a:rPr lang="pt-BR" sz="2400" dirty="0"/>
              <a:t>    soma  =  0</a:t>
            </a:r>
          </a:p>
          <a:p>
            <a:r>
              <a:rPr lang="pt-BR" sz="2400" dirty="0"/>
              <a:t>    for i  in  v:</a:t>
            </a:r>
          </a:p>
          <a:p>
            <a:r>
              <a:rPr lang="pt-BR" sz="2400" dirty="0"/>
              <a:t>        soma   +=  i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return</a:t>
            </a:r>
            <a:r>
              <a:rPr lang="pt-BR" sz="2400" dirty="0"/>
              <a:t> soma</a:t>
            </a:r>
          </a:p>
          <a:p>
            <a:endParaRPr lang="pt-BR" sz="2400" dirty="0"/>
          </a:p>
          <a:p>
            <a:r>
              <a:rPr lang="pt-BR" sz="2400" dirty="0" err="1"/>
              <a:t>def</a:t>
            </a:r>
            <a:r>
              <a:rPr lang="pt-BR" sz="2400" dirty="0"/>
              <a:t> media(v):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return</a:t>
            </a:r>
            <a:r>
              <a:rPr lang="pt-BR" sz="2400" dirty="0"/>
              <a:t> soma(v)  /  len(v)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9F853-DA1E-6BB9-5A2D-F0353AA207FE}"/>
              </a:ext>
            </a:extLst>
          </p:cNvPr>
          <p:cNvSpPr txBox="1"/>
          <p:nvPr/>
        </p:nvSpPr>
        <p:spPr>
          <a:xfrm>
            <a:off x="5672379" y="1298592"/>
            <a:ext cx="48736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Arquivo teste.py</a:t>
            </a:r>
          </a:p>
          <a:p>
            <a:endParaRPr lang="pt-BR" sz="2400" dirty="0"/>
          </a:p>
          <a:p>
            <a:r>
              <a:rPr lang="pt-BR" sz="2400" dirty="0" err="1"/>
              <a:t>import</a:t>
            </a:r>
            <a:r>
              <a:rPr lang="pt-BR" sz="2400" dirty="0"/>
              <a:t>  </a:t>
            </a:r>
            <a:r>
              <a:rPr lang="pt-BR" sz="2400" dirty="0" err="1"/>
              <a:t>util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v  =  [1,  3,  5,  7,  9]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util.soma</a:t>
            </a:r>
            <a:r>
              <a:rPr lang="pt-BR" sz="2400" dirty="0"/>
              <a:t>(v))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util.media</a:t>
            </a:r>
            <a:r>
              <a:rPr lang="pt-BR" sz="2400" dirty="0"/>
              <a:t>(v))</a:t>
            </a:r>
          </a:p>
          <a:p>
            <a:r>
              <a:rPr lang="pt-BR" sz="2400" dirty="0"/>
              <a:t>                </a:t>
            </a:r>
          </a:p>
          <a:p>
            <a:r>
              <a:rPr lang="pt-BR" sz="2400" dirty="0"/>
              <a:t>from </a:t>
            </a:r>
            <a:r>
              <a:rPr lang="pt-BR" sz="2400" dirty="0" err="1"/>
              <a:t>util</a:t>
            </a:r>
            <a:r>
              <a:rPr lang="pt-BR" sz="2400" dirty="0"/>
              <a:t> </a:t>
            </a:r>
            <a:r>
              <a:rPr lang="pt-BR" sz="2400" dirty="0" err="1"/>
              <a:t>import</a:t>
            </a:r>
            <a:r>
              <a:rPr lang="pt-BR" sz="2400" dirty="0"/>
              <a:t> soma, media</a:t>
            </a:r>
          </a:p>
          <a:p>
            <a:endParaRPr lang="pt-BR" sz="2400" dirty="0"/>
          </a:p>
          <a:p>
            <a:r>
              <a:rPr lang="pt-BR" sz="2400" dirty="0"/>
              <a:t>v  =  [1,  3,  5,  7,  9]</a:t>
            </a:r>
          </a:p>
          <a:p>
            <a:r>
              <a:rPr lang="pt-BR" sz="2400" dirty="0"/>
              <a:t>print(soma(v))</a:t>
            </a:r>
          </a:p>
          <a:p>
            <a:r>
              <a:rPr lang="pt-BR" sz="2400" dirty="0"/>
              <a:t>print(media(v))</a:t>
            </a:r>
          </a:p>
        </p:txBody>
      </p:sp>
    </p:spTree>
    <p:extLst>
      <p:ext uri="{BB962C8B-B14F-4D97-AF65-F5344CB8AC3E}">
        <p14:creationId xmlns:p14="http://schemas.microsoft.com/office/powerpoint/2010/main" val="2758544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AA93A63-8663-9488-90EC-34F8331A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2788A6-422D-3CA8-127B-FAE8E22D3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Cap08-Prog01 – Cap08-Prog02 – Cap08-Prog03 – Cap08-Prog04 – Cap08-Prog05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8575DA-20C5-BCF7-23C2-2913EB0A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23C9BC0-2495-771E-0CD2-ED352257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0E6E9F-2F73-C32C-6213-E8F709A6D14D}"/>
              </a:ext>
            </a:extLst>
          </p:cNvPr>
          <p:cNvSpPr txBox="1"/>
          <p:nvPr/>
        </p:nvSpPr>
        <p:spPr>
          <a:xfrm>
            <a:off x="988017" y="1582340"/>
            <a:ext cx="107441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eriod"/>
            </a:pPr>
            <a:r>
              <a:rPr lang="pt-BR" sz="2400" b="0" i="0" u="none" strike="noStrike" baseline="0" dirty="0">
                <a:latin typeface="CIDFont+F2"/>
              </a:rPr>
              <a:t>Faça uma função que retorne o valor absoluto de um número </a:t>
            </a:r>
          </a:p>
          <a:p>
            <a:pPr marL="342900" indent="-342900" algn="l">
              <a:buAutoNum type="arabicPeriod"/>
            </a:pPr>
            <a:endParaRPr lang="pt-BR" sz="2400" b="0" i="0" u="none" strike="noStrike" baseline="0" dirty="0">
              <a:latin typeface="CIDFont+F2"/>
            </a:endParaRPr>
          </a:p>
          <a:p>
            <a:pPr marL="342900" indent="-342900" algn="l">
              <a:buAutoNum type="arabicPeriod"/>
            </a:pPr>
            <a:r>
              <a:rPr lang="pt-BR" sz="2400" b="0" i="0" u="none" strike="noStrike" baseline="0" dirty="0">
                <a:latin typeface="CIDFont+F2"/>
              </a:rPr>
              <a:t>Faça uma função que receba um número inteiro e retorne True se o número for par e False se o número for ímpar</a:t>
            </a:r>
          </a:p>
          <a:p>
            <a:pPr marL="342900" indent="-342900" algn="l">
              <a:buAutoNum type="arabicPeriod"/>
            </a:pPr>
            <a:endParaRPr lang="pt-BR" sz="2400" b="0" i="0" u="none" strike="noStrike" baseline="0" dirty="0">
              <a:latin typeface="CIDFont+F2"/>
            </a:endParaRPr>
          </a:p>
          <a:p>
            <a:pPr marL="342900" indent="-342900" algn="l">
              <a:buAutoNum type="arabicPeriod" startAt="3"/>
            </a:pPr>
            <a:r>
              <a:rPr lang="pt-BR" sz="2400" b="0" i="0" u="none" strike="noStrike" baseline="0" dirty="0">
                <a:latin typeface="CIDFont+F2"/>
              </a:rPr>
              <a:t>Faça uma função que receba dois valores e retorne a média aritmética</a:t>
            </a:r>
          </a:p>
          <a:p>
            <a:pPr marL="342900" indent="-342900" algn="l">
              <a:buAutoNum type="arabicPeriod" startAt="3"/>
            </a:pPr>
            <a:endParaRPr lang="pt-BR" sz="2400" b="0" i="0" u="none" strike="noStrike" baseline="0" dirty="0">
              <a:latin typeface="CIDFont+F2"/>
            </a:endParaRPr>
          </a:p>
          <a:p>
            <a:pPr marL="342900" indent="-342900" algn="l">
              <a:buAutoNum type="arabicPeriod" startAt="4"/>
            </a:pPr>
            <a:r>
              <a:rPr lang="pt-BR" sz="2400" b="0" i="0" u="none" strike="noStrike" baseline="0" dirty="0">
                <a:latin typeface="CIDFont+F2"/>
              </a:rPr>
              <a:t>Faça uma função que receba um caractere e retorne True se for vogal e False caso contrário</a:t>
            </a:r>
          </a:p>
          <a:p>
            <a:pPr marL="342900" indent="-342900" algn="l">
              <a:buAutoNum type="arabicPeriod" startAt="4"/>
            </a:pPr>
            <a:endParaRPr lang="pt-BR" sz="2400" b="0" i="0" u="none" strike="noStrike" baseline="0" dirty="0">
              <a:latin typeface="CIDFont+F2"/>
            </a:endParaRPr>
          </a:p>
          <a:p>
            <a:pPr marL="357188" indent="-357188" algn="l"/>
            <a:r>
              <a:rPr lang="pt-BR" sz="2400" b="0" i="0" u="none" strike="noStrike" baseline="0" dirty="0">
                <a:latin typeface="CIDFont+F2"/>
              </a:rPr>
              <a:t>5.  Faça uma função que receba um caractere e retorne True se for consoante e False caso contrário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38663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958A1C6-BF72-8609-AA7F-BD11B54D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BA1A9CC-DFB7-5FA6-9407-27EFF26A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Cap08-Prog06  -  Cap08-Prog07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12A619-1E09-D83F-AB61-9F60D93DE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DDDAB77-1870-1D3F-0BD3-B0AC557F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E86398A-8A18-447D-F090-AEFB0E4D1371}"/>
              </a:ext>
            </a:extLst>
          </p:cNvPr>
          <p:cNvSpPr txBox="1"/>
          <p:nvPr/>
        </p:nvSpPr>
        <p:spPr>
          <a:xfrm>
            <a:off x="1007390" y="1586215"/>
            <a:ext cx="10860144" cy="4154984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357188" indent="-357188" algn="just"/>
            <a:r>
              <a:rPr lang="pt-BR" sz="2400" b="0" i="0" u="none" strike="noStrike" baseline="0" dirty="0">
                <a:latin typeface="CIDFont+F2"/>
              </a:rPr>
              <a:t>6. O professor deseja dividir uma turma com N alunos em dois grupos: um com M alunos e outro com (N-M) alunos. Faça o programa que leia o valor de N e M e informe o número de combinações possíveis</a:t>
            </a:r>
          </a:p>
          <a:p>
            <a:pPr marL="357188" algn="l"/>
            <a:r>
              <a:rPr lang="pt-BR" sz="2400" b="0" i="0" u="none" strike="noStrike" baseline="0" dirty="0">
                <a:latin typeface="CIDFont+F4"/>
              </a:rPr>
              <a:t>– </a:t>
            </a:r>
            <a:r>
              <a:rPr lang="pt-BR" sz="2400" b="0" i="0" u="none" strike="noStrike" baseline="0" dirty="0">
                <a:latin typeface="CIDFont+F2"/>
              </a:rPr>
              <a:t>Número de combinações é igual a N!/(M! * (N-M)!)</a:t>
            </a:r>
          </a:p>
          <a:p>
            <a:pPr marL="357188" algn="l"/>
            <a:r>
              <a:rPr lang="pt-BR" sz="2400" b="0" i="0" u="none" strike="noStrike" baseline="0" dirty="0">
                <a:latin typeface="CIDFont+F4"/>
              </a:rPr>
              <a:t>– </a:t>
            </a:r>
            <a:r>
              <a:rPr lang="pt-BR" sz="2400" b="0" i="0" u="none" strike="noStrike" baseline="0" dirty="0">
                <a:latin typeface="CIDFont+F2"/>
              </a:rPr>
              <a:t>Use funções para evitar repetição de código</a:t>
            </a:r>
          </a:p>
          <a:p>
            <a:pPr marL="263525" algn="l"/>
            <a:endParaRPr lang="pt-BR" sz="2400" b="0" i="0" u="none" strike="noStrike" baseline="0" dirty="0">
              <a:latin typeface="CIDFont+F2"/>
            </a:endParaRPr>
          </a:p>
          <a:p>
            <a:pPr marL="263525" indent="-263525" algn="just"/>
            <a:r>
              <a:rPr lang="pt-BR" sz="2400" b="0" i="0" u="none" strike="noStrike" baseline="0" dirty="0">
                <a:latin typeface="CIDFont+F2"/>
              </a:rPr>
              <a:t>7. Faça uma função que informe o status do aluno a partir da sua média de acordo com a tabela a seguir:</a:t>
            </a:r>
          </a:p>
          <a:p>
            <a:pPr marL="263525" algn="l"/>
            <a:r>
              <a:rPr lang="pt-BR" sz="2400" b="0" i="0" u="none" strike="noStrike" baseline="0" dirty="0">
                <a:latin typeface="CIDFont+F4"/>
              </a:rPr>
              <a:t>– </a:t>
            </a:r>
            <a:r>
              <a:rPr lang="pt-BR" sz="2400" b="0" i="0" u="none" strike="noStrike" baseline="0" dirty="0">
                <a:latin typeface="CIDFont+F2"/>
              </a:rPr>
              <a:t>Nota acima de 6           “Aprovado”</a:t>
            </a:r>
          </a:p>
          <a:p>
            <a:pPr marL="263525" algn="l"/>
            <a:r>
              <a:rPr lang="pt-BR" sz="2400" b="0" i="0" u="none" strike="noStrike" baseline="0" dirty="0">
                <a:latin typeface="CIDFont+F4"/>
              </a:rPr>
              <a:t>– </a:t>
            </a:r>
            <a:r>
              <a:rPr lang="pt-BR" sz="2400" b="0" i="0" u="none" strike="noStrike" baseline="0" dirty="0">
                <a:latin typeface="CIDFont+F2"/>
              </a:rPr>
              <a:t>Nota entre 4 e 6           “Verificação Suplementar”</a:t>
            </a:r>
          </a:p>
          <a:p>
            <a:pPr marL="263525" algn="l"/>
            <a:r>
              <a:rPr lang="pt-BR" sz="2400" b="0" i="0" u="none" strike="noStrike" baseline="0" dirty="0">
                <a:latin typeface="CIDFont+F4"/>
              </a:rPr>
              <a:t>– </a:t>
            </a:r>
            <a:r>
              <a:rPr lang="pt-BR" sz="2400" b="0" i="0" u="none" strike="noStrike" baseline="0" dirty="0">
                <a:latin typeface="CIDFont+F2"/>
              </a:rPr>
              <a:t>Nota abaixo de 4          “Reprovado”</a:t>
            </a:r>
            <a:endParaRPr lang="pt-BR" sz="2400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A5604F5F-55E4-C7FE-EC20-59F2211F6E5C}"/>
              </a:ext>
            </a:extLst>
          </p:cNvPr>
          <p:cNvCxnSpPr>
            <a:cxnSpLocks/>
          </p:cNvCxnSpPr>
          <p:nvPr/>
        </p:nvCxnSpPr>
        <p:spPr>
          <a:xfrm>
            <a:off x="3688596" y="4752980"/>
            <a:ext cx="57343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5D0CEA8E-9FBF-6783-D319-1AC8920052CD}"/>
              </a:ext>
            </a:extLst>
          </p:cNvPr>
          <p:cNvCxnSpPr>
            <a:cxnSpLocks/>
          </p:cNvCxnSpPr>
          <p:nvPr/>
        </p:nvCxnSpPr>
        <p:spPr>
          <a:xfrm>
            <a:off x="3688596" y="5122357"/>
            <a:ext cx="57343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0E4AA479-8E00-3E81-3D94-E6B430FBF09A}"/>
              </a:ext>
            </a:extLst>
          </p:cNvPr>
          <p:cNvCxnSpPr>
            <a:cxnSpLocks/>
          </p:cNvCxnSpPr>
          <p:nvPr/>
        </p:nvCxnSpPr>
        <p:spPr>
          <a:xfrm>
            <a:off x="3688596" y="5491733"/>
            <a:ext cx="57343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7031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E018960-7236-1DDE-E23A-CBB203BFB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0DDA7C0-989E-4B60-2239-FFEDFF86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418342"/>
            <a:ext cx="9284676" cy="365125"/>
          </a:xfrm>
        </p:spPr>
        <p:txBody>
          <a:bodyPr/>
          <a:lstStyle/>
          <a:p>
            <a:r>
              <a:rPr lang="pt-BR" sz="1800" b="1" i="0" u="none" strike="noStrike" baseline="0" dirty="0">
                <a:latin typeface="CIDFont+F2"/>
              </a:rPr>
              <a:t>Cap08-Prog08</a:t>
            </a:r>
            <a:endParaRPr lang="pt-BR" sz="1800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15AA88-1FC9-F157-B85A-DCA07D01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F2A2F5F-46B7-37E6-817F-9CBE07BC2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3D2041-C1B3-0624-BDB1-0758E646FEC3}"/>
              </a:ext>
            </a:extLst>
          </p:cNvPr>
          <p:cNvSpPr txBox="1"/>
          <p:nvPr/>
        </p:nvSpPr>
        <p:spPr>
          <a:xfrm>
            <a:off x="619932" y="1275854"/>
            <a:ext cx="1124760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indent="-357188" algn="just"/>
            <a:r>
              <a:rPr lang="pt-BR" sz="2400" b="0" i="0" u="none" strike="noStrike" baseline="0" dirty="0">
                <a:latin typeface="CIDFont+F2"/>
              </a:rPr>
              <a:t>8- Faça uma calculadora que forneça as seguintes opções para o usuário, usando funções sempre que necessário. Cada opção deve usar como operando um número lido do teclado e o valor atual da memória. Por exemplo, se o estado atual da memória é 5, e o usuário escolhe somar, ele deve informar um novo número (por exemplo, 3). Após a conclusão da soma, o novo estado da memória passa a ser 8.</a:t>
            </a:r>
          </a:p>
          <a:p>
            <a:pPr marL="357188" algn="l"/>
            <a:r>
              <a:rPr lang="pt-BR" sz="2400" b="0" i="0" u="none" strike="noStrike" baseline="0" dirty="0">
                <a:latin typeface="CIDFont+F2"/>
              </a:rPr>
              <a:t>Estado da memória: 0</a:t>
            </a:r>
          </a:p>
          <a:p>
            <a:pPr marL="357188" algn="l"/>
            <a:r>
              <a:rPr lang="pt-BR" sz="2400" b="0" i="0" u="none" strike="noStrike" baseline="0" dirty="0">
                <a:latin typeface="CIDFont+F2"/>
              </a:rPr>
              <a:t>Opções:</a:t>
            </a:r>
          </a:p>
          <a:p>
            <a:pPr marL="357188" algn="l"/>
            <a:r>
              <a:rPr lang="pt-BR" sz="2400" b="0" i="0" u="none" strike="noStrike" baseline="0" dirty="0">
                <a:latin typeface="CIDFont+F2"/>
              </a:rPr>
              <a:t>(1) Somar</a:t>
            </a:r>
          </a:p>
          <a:p>
            <a:pPr marL="357188" algn="l"/>
            <a:r>
              <a:rPr lang="pt-BR" sz="2400" b="0" i="0" u="none" strike="noStrike" baseline="0" dirty="0">
                <a:latin typeface="CIDFont+F2"/>
              </a:rPr>
              <a:t>(2) Subtrair</a:t>
            </a:r>
          </a:p>
          <a:p>
            <a:pPr marL="357188" algn="l"/>
            <a:r>
              <a:rPr lang="pt-BR" sz="2400" b="0" i="0" u="none" strike="noStrike" baseline="0" dirty="0">
                <a:latin typeface="CIDFont+F2"/>
              </a:rPr>
              <a:t>(3) Multiplicar</a:t>
            </a:r>
          </a:p>
          <a:p>
            <a:pPr marL="357188" algn="l"/>
            <a:r>
              <a:rPr lang="pt-BR" sz="2400" b="0" i="0" u="none" strike="noStrike" baseline="0" dirty="0">
                <a:latin typeface="CIDFont+F2"/>
              </a:rPr>
              <a:t>(4) Dividir</a:t>
            </a:r>
          </a:p>
          <a:p>
            <a:pPr marL="357188" algn="l"/>
            <a:r>
              <a:rPr lang="pt-BR" sz="2400" b="0" i="0" u="none" strike="noStrike" baseline="0" dirty="0">
                <a:latin typeface="CIDFont+F2"/>
              </a:rPr>
              <a:t>(5) Limpar memória</a:t>
            </a:r>
          </a:p>
          <a:p>
            <a:pPr marL="357188" algn="l"/>
            <a:r>
              <a:rPr lang="pt-BR" sz="2400" b="0" i="0" u="none" strike="noStrike" baseline="0" dirty="0">
                <a:latin typeface="CIDFont+F2"/>
              </a:rPr>
              <a:t>(6) Sair do programa</a:t>
            </a:r>
          </a:p>
          <a:p>
            <a:pPr marL="357188" algn="l"/>
            <a:r>
              <a:rPr lang="pt-BR" sz="2400" b="0" i="0" u="none" strike="noStrike" baseline="0" dirty="0">
                <a:latin typeface="CIDFont+F2"/>
              </a:rPr>
              <a:t>Qual opção você deseja ?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001182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DDB24D4-1489-7591-6EAE-9712345A0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9C6F8F-8DF8-CF02-F86C-D644D642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87346"/>
            <a:ext cx="9284676" cy="365125"/>
          </a:xfrm>
        </p:spPr>
        <p:txBody>
          <a:bodyPr/>
          <a:lstStyle/>
          <a:p>
            <a:r>
              <a:rPr lang="pt-BR" sz="1600" b="1" dirty="0"/>
              <a:t>Cap08-Prog09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66A2E0-C844-F127-2629-C6034C45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FC68AB1-CBDE-B601-BA85-754FFA00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FCA9FA6-0BDA-16F2-A5E1-ABB988BDF41D}"/>
              </a:ext>
            </a:extLst>
          </p:cNvPr>
          <p:cNvSpPr txBox="1"/>
          <p:nvPr/>
        </p:nvSpPr>
        <p:spPr>
          <a:xfrm>
            <a:off x="642680" y="1353743"/>
            <a:ext cx="11224854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0" i="0" u="none" strike="noStrike" baseline="0" dirty="0">
                <a:latin typeface="CIDFont+F2"/>
              </a:rPr>
              <a:t>9. Faça um programa que, dado uma figura geométrica que pode ser uma circunferência, triângulo ou retângulo, calcule a área e o perímetro da figura</a:t>
            </a:r>
          </a:p>
          <a:p>
            <a:pPr algn="l"/>
            <a:endParaRPr lang="pt-BR" sz="2200" b="0" i="0" u="none" strike="noStrike" baseline="0" dirty="0"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latin typeface="CIDFont+F4"/>
              </a:rPr>
              <a:t>• </a:t>
            </a:r>
            <a:r>
              <a:rPr lang="pt-BR" sz="2400" b="0" i="0" u="none" strike="noStrike" baseline="0" dirty="0">
                <a:latin typeface="CIDFont+F2"/>
              </a:rPr>
              <a:t>O programa deve primeiro perguntar qual o tipo da figura:</a:t>
            </a:r>
          </a:p>
          <a:p>
            <a:pPr marL="185738" algn="l"/>
            <a:r>
              <a:rPr lang="pt-BR" sz="2400" b="0" i="0" u="none" strike="noStrike" baseline="0" dirty="0">
                <a:latin typeface="CIDFont+F4"/>
              </a:rPr>
              <a:t>– </a:t>
            </a:r>
            <a:r>
              <a:rPr lang="pt-BR" sz="2400" b="0" i="0" u="none" strike="noStrike" baseline="0" dirty="0">
                <a:latin typeface="CIDFont+F2"/>
              </a:rPr>
              <a:t>(1) circunferência</a:t>
            </a:r>
          </a:p>
          <a:p>
            <a:pPr marL="185738" algn="l"/>
            <a:r>
              <a:rPr lang="pt-BR" sz="2400" b="0" i="0" u="none" strike="noStrike" baseline="0" dirty="0">
                <a:latin typeface="CIDFont+F4"/>
              </a:rPr>
              <a:t>– </a:t>
            </a:r>
            <a:r>
              <a:rPr lang="pt-BR" sz="2400" b="0" i="0" u="none" strike="noStrike" baseline="0" dirty="0">
                <a:latin typeface="CIDFont+F2"/>
              </a:rPr>
              <a:t>(2) triângulo</a:t>
            </a:r>
          </a:p>
          <a:p>
            <a:pPr marL="185738" algn="l"/>
            <a:r>
              <a:rPr lang="pt-BR" sz="2400" b="0" i="0" u="none" strike="noStrike" baseline="0" dirty="0">
                <a:latin typeface="CIDFont+F4"/>
              </a:rPr>
              <a:t>– </a:t>
            </a:r>
            <a:r>
              <a:rPr lang="pt-BR" sz="2400" b="0" i="0" u="none" strike="noStrike" baseline="0" dirty="0">
                <a:latin typeface="CIDFont+F2"/>
              </a:rPr>
              <a:t>(3) retângulo</a:t>
            </a:r>
          </a:p>
          <a:p>
            <a:pPr marL="185738" algn="l"/>
            <a:endParaRPr lang="pt-BR" sz="2200" b="0" i="0" u="none" strike="noStrike" baseline="0" dirty="0"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latin typeface="CIDFont+F4"/>
              </a:rPr>
              <a:t>• </a:t>
            </a:r>
            <a:r>
              <a:rPr lang="pt-BR" sz="2400" b="0" i="0" u="none" strike="noStrike" baseline="0" dirty="0">
                <a:latin typeface="CIDFont+F2"/>
              </a:rPr>
              <a:t>Dependendo do tipo de figura, ler o </a:t>
            </a:r>
          </a:p>
          <a:p>
            <a:pPr marL="342900" indent="-157163" algn="l">
              <a:buAutoNum type="arabicParenBoth"/>
            </a:pPr>
            <a:r>
              <a:rPr lang="pt-BR" sz="2400" b="0" i="0" u="none" strike="noStrike" baseline="0" dirty="0">
                <a:latin typeface="CIDFont+F2"/>
              </a:rPr>
              <a:t> tamanho do raio da circunferência; </a:t>
            </a:r>
          </a:p>
          <a:p>
            <a:pPr marL="342900" indent="-157163" algn="l">
              <a:buAutoNum type="arabicParenBoth"/>
            </a:pPr>
            <a:r>
              <a:rPr lang="pt-BR" sz="2400" b="0" i="0" u="none" strike="noStrike" baseline="0" dirty="0">
                <a:latin typeface="CIDFont+F2"/>
              </a:rPr>
              <a:t> tamanho de cada um dos lados do triângulo; </a:t>
            </a:r>
          </a:p>
          <a:p>
            <a:pPr marL="342900" indent="-157163" algn="l">
              <a:buAutoNum type="arabicParenBoth"/>
            </a:pPr>
            <a:r>
              <a:rPr lang="pt-BR" sz="2400" b="0" i="0" u="none" strike="noStrike" baseline="0" dirty="0">
                <a:latin typeface="CIDFont+F2"/>
              </a:rPr>
              <a:t> tamanho dos dois lados retângulo</a:t>
            </a:r>
          </a:p>
          <a:p>
            <a:pPr marL="342900" indent="-157163" algn="l">
              <a:buAutoNum type="arabicParenBoth"/>
            </a:pPr>
            <a:endParaRPr lang="pt-BR" sz="2200" b="0" i="0" u="none" strike="noStrike" baseline="0" dirty="0"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latin typeface="CIDFont+F4"/>
              </a:rPr>
              <a:t>• </a:t>
            </a:r>
            <a:r>
              <a:rPr lang="pt-BR" sz="2400" b="0" i="0" u="none" strike="noStrike" baseline="0" dirty="0">
                <a:latin typeface="CIDFont+F2"/>
              </a:rPr>
              <a:t>Usar funções sempre que possível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837178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0170DDA-27EF-0DA2-DCFE-86ACF737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DE18ED-2413-0555-6B9A-B85B475D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Cap09-Prog10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AF33E1-16D6-3FEE-B591-BF7B5875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D3927DA-90D2-59AF-497D-24A01B2E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Exercícios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4AF710B-6137-519D-C4DB-57BF9BC6C742}"/>
              </a:ext>
            </a:extLst>
          </p:cNvPr>
          <p:cNvSpPr txBox="1"/>
          <p:nvPr/>
        </p:nvSpPr>
        <p:spPr>
          <a:xfrm>
            <a:off x="689749" y="1608611"/>
            <a:ext cx="108409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9263" indent="-449263" algn="just"/>
            <a:r>
              <a:rPr lang="pt-BR" sz="2400" b="0" i="0" u="none" strike="noStrike" baseline="0" dirty="0">
                <a:latin typeface="CIDFont+F2"/>
              </a:rPr>
              <a:t>10. Faça um programa que leia um conjunto de linhas, contendo, cada uma, o número de um empregado, a hora de início (hora, minuto e segundo) e a hora do término (hora, minuto e segundo) de uma determinada tarefa. A última linha conterá o número do empregado igual a zero. Calcule para cada empregado, a duração da tarefa que ele executou. Escreva para cada empregado, o seu número e a duração da sua tarefa em horas, minutos e segundos.</a:t>
            </a:r>
          </a:p>
          <a:p>
            <a:pPr algn="l"/>
            <a:endParaRPr lang="pt-BR" sz="2400" b="0" i="0" u="none" strike="noStrike" baseline="0" dirty="0">
              <a:latin typeface="CIDFont+F2"/>
            </a:endParaRPr>
          </a:p>
          <a:p>
            <a:pPr marL="1162050" indent="-712788" algn="just"/>
            <a:r>
              <a:rPr lang="pt-BR" sz="2400" b="0" i="0" u="none" strike="noStrike" baseline="0" dirty="0">
                <a:latin typeface="CIDFont+F2"/>
              </a:rPr>
              <a:t>Obs.: Usar uma função que receba como parâmetros horas, minutos e</a:t>
            </a:r>
            <a:r>
              <a:rPr lang="pt-BR" sz="2400" dirty="0">
                <a:latin typeface="CIDFont+F2"/>
              </a:rPr>
              <a:t> </a:t>
            </a:r>
            <a:r>
              <a:rPr lang="pt-BR" sz="2400" b="0" i="0" u="none" strike="noStrike" baseline="0" dirty="0">
                <a:latin typeface="CIDFont+F2"/>
              </a:rPr>
              <a:t>segundos e retorne o total de segundos. Usar uma função que receba como parâmetro o total de segundos e retorne em horas, minutos e segundos.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831205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9FECD5-AFD2-B95E-0EB5-207D0D1B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8C2FCC3-3875-B685-8D17-61D6882E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BF90F6-4550-7698-4ABD-F62AB4E91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pPr/>
              <a:t>47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A98F205-3236-2C51-74AF-F0F212C8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80696DD-5212-D6A6-1B1E-744C64C1C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5916"/>
            <a:ext cx="12192000" cy="368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1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a7b03c-4792-4e17-9dab-b93b92a33270">
      <Terms xmlns="http://schemas.microsoft.com/office/infopath/2007/PartnerControls"/>
    </lcf76f155ced4ddcb4097134ff3c332f>
    <TaxCatchAll xmlns="5c7a6bef-5354-4968-b627-13d8ea6c420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A3A580C3F0644BAE65217E90A3571B" ma:contentTypeVersion="10" ma:contentTypeDescription="Crie um novo documento." ma:contentTypeScope="" ma:versionID="17db1123b059ccd9b7a0137fb695dfba">
  <xsd:schema xmlns:xsd="http://www.w3.org/2001/XMLSchema" xmlns:xs="http://www.w3.org/2001/XMLSchema" xmlns:p="http://schemas.microsoft.com/office/2006/metadata/properties" xmlns:ns2="30a7b03c-4792-4e17-9dab-b93b92a33270" xmlns:ns3="5c7a6bef-5354-4968-b627-13d8ea6c420d" targetNamespace="http://schemas.microsoft.com/office/2006/metadata/properties" ma:root="true" ma:fieldsID="8a52f4d396bca3b056e9e32e12d83d9c" ns2:_="" ns3:_="">
    <xsd:import namespace="30a7b03c-4792-4e17-9dab-b93b92a33270"/>
    <xsd:import namespace="5c7a6bef-5354-4968-b627-13d8ea6c42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b03c-4792-4e17-9dab-b93b92a332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666036a-182f-4ecd-b44e-d420e52619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6bef-5354-4968-b627-13d8ea6c420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3475c2-86e0-40c6-a7f9-d735a9095961}" ma:internalName="TaxCatchAll" ma:showField="CatchAllData" ma:web="5c7a6bef-5354-4968-b627-13d8ea6c42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B64594-069D-4B34-B861-48B9F28FAE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B331D4-2974-4078-9083-C6B3D02EDBC4}">
  <ds:schemaRefs>
    <ds:schemaRef ds:uri="http://schemas.microsoft.com/office/2006/metadata/properties"/>
    <ds:schemaRef ds:uri="http://schemas.microsoft.com/office/infopath/2007/PartnerControls"/>
    <ds:schemaRef ds:uri="30a7b03c-4792-4e17-9dab-b93b92a33270"/>
    <ds:schemaRef ds:uri="5c7a6bef-5354-4968-b627-13d8ea6c420d"/>
  </ds:schemaRefs>
</ds:datastoreItem>
</file>

<file path=customXml/itemProps3.xml><?xml version="1.0" encoding="utf-8"?>
<ds:datastoreItem xmlns:ds="http://schemas.openxmlformats.org/officeDocument/2006/customXml" ds:itemID="{BB0479A1-1ED5-44A9-B0AE-97E8A40035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b03c-4792-4e17-9dab-b93b92a33270"/>
    <ds:schemaRef ds:uri="5c7a6bef-5354-4968-b627-13d8ea6c42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16318</TotalTime>
  <Words>3436</Words>
  <Application>Microsoft Office PowerPoint</Application>
  <PresentationFormat>Widescreen</PresentationFormat>
  <Paragraphs>671</Paragraphs>
  <Slides>47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48" baseType="lpstr">
      <vt:lpstr>Tema do Office</vt:lpstr>
      <vt:lpstr>              Centro Federal de Educação Tecnológica Celso Suckow da Fonseca Escola de Informática e Computação Ciência da Computação</vt:lpstr>
      <vt:lpstr>Função em Python</vt:lpstr>
      <vt:lpstr>Minha  1ª Função no Python - definição</vt:lpstr>
      <vt:lpstr>Declaração de Funções</vt:lpstr>
      <vt:lpstr>Função</vt:lpstr>
      <vt:lpstr>Exemplo Função</vt:lpstr>
      <vt:lpstr>Problemas desta “repetição”</vt:lpstr>
      <vt:lpstr>Solução: subprogramação</vt:lpstr>
      <vt:lpstr>Voltando ao Exemplo1:</vt:lpstr>
      <vt:lpstr>Vantagens</vt:lpstr>
      <vt:lpstr>Fluxo de execução</vt:lpstr>
      <vt:lpstr>Fluxo de Execução</vt:lpstr>
      <vt:lpstr>Declaração de Função em Python</vt:lpstr>
      <vt:lpstr>Função</vt:lpstr>
      <vt:lpstr>Importante Lembrar</vt:lpstr>
      <vt:lpstr>Escopo de Variáveis</vt:lpstr>
      <vt:lpstr>Exemplo: Variáveis Locais</vt:lpstr>
      <vt:lpstr>Exemplo: Parâmetros também se comportam como Variáveis Locais</vt:lpstr>
      <vt:lpstr>Exemplo: Variáveis Globais</vt:lpstr>
      <vt:lpstr>Uso de Variáveis Locais x Variáveis Globais</vt:lpstr>
      <vt:lpstr>Uso de Variável Global</vt:lpstr>
      <vt:lpstr>Exemplo: Variáveis globais acessadas na função</vt:lpstr>
      <vt:lpstr>Exemplo: Variável global modificada na função</vt:lpstr>
      <vt:lpstr>Sem uso de variáveis globais: muito mais elegante !</vt:lpstr>
      <vt:lpstr>Sem uso de variáveis globais: muito mais elegante !</vt:lpstr>
      <vt:lpstr>Passagem de Parâmetros</vt:lpstr>
      <vt:lpstr>Passagem de Parâmetros</vt:lpstr>
      <vt:lpstr>Tipos de Passagens de Parâmetros</vt:lpstr>
      <vt:lpstr>Passagem de Parâmetro por Valor</vt:lpstr>
      <vt:lpstr>Exemplo: Variável Primitiva</vt:lpstr>
      <vt:lpstr>Exemplo: Alteração na Lista</vt:lpstr>
      <vt:lpstr>Exemplo: Atribuição na Lista</vt:lpstr>
      <vt:lpstr>Exemplo de função sem retorno</vt:lpstr>
      <vt:lpstr>Chamada de função</vt:lpstr>
      <vt:lpstr>Função sem Parâmetros</vt:lpstr>
      <vt:lpstr>Exemplo:</vt:lpstr>
      <vt:lpstr>Parâmetros default</vt:lpstr>
      <vt:lpstr>Exemplo da Gorjeta</vt:lpstr>
      <vt:lpstr>Passando Argumentos com nomes</vt:lpstr>
      <vt:lpstr>Colocar Funções em Arquivos Separados</vt:lpstr>
      <vt:lpstr>Exemplo – Criar Funções </vt:lpstr>
      <vt:lpstr>Exercícios</vt:lpstr>
      <vt:lpstr>Exercícios</vt:lpstr>
      <vt:lpstr>Exercícios</vt:lpstr>
      <vt:lpstr>Exercícios</vt:lpstr>
      <vt:lpstr>Exercícios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ALMIR SILVA DA SILVEIRA</dc:creator>
  <cp:lastModifiedBy>ALMIR SILVA DA SILVEIRA</cp:lastModifiedBy>
  <cp:revision>297</cp:revision>
  <dcterms:created xsi:type="dcterms:W3CDTF">2024-07-25T18:00:53Z</dcterms:created>
  <dcterms:modified xsi:type="dcterms:W3CDTF">2026-06-22T01:17:01Z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0x01010024A3A580C3F0644BAE65217E90A3571B</vt:lpwstr>
  </property>
  <property fmtid="{D5CDD505-2E9C-101B-9397-08002B2CF9AE}" pid="3" name="MediaServiceImageTags">
    <vt:lpwstr/>
  </property>
</Properties>
</file>