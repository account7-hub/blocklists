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8" r:id="rId5"/>
    <p:sldId id="313" r:id="rId6"/>
    <p:sldId id="314" r:id="rId7"/>
    <p:sldId id="259" r:id="rId8"/>
    <p:sldId id="281" r:id="rId9"/>
    <p:sldId id="302" r:id="rId10"/>
    <p:sldId id="308" r:id="rId11"/>
    <p:sldId id="315" r:id="rId12"/>
    <p:sldId id="260" r:id="rId13"/>
    <p:sldId id="303" r:id="rId14"/>
    <p:sldId id="261" r:id="rId15"/>
    <p:sldId id="309" r:id="rId16"/>
    <p:sldId id="310" r:id="rId17"/>
    <p:sldId id="311" r:id="rId18"/>
    <p:sldId id="304" r:id="rId19"/>
    <p:sldId id="316" r:id="rId20"/>
    <p:sldId id="305" r:id="rId21"/>
    <p:sldId id="307" r:id="rId22"/>
    <p:sldId id="306" r:id="rId23"/>
    <p:sldId id="312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C4810"/>
    <a:srgbClr val="0079B6"/>
    <a:srgbClr val="FE4D2A"/>
    <a:srgbClr val="2D100B"/>
    <a:srgbClr val="2C110C"/>
    <a:srgbClr val="FFCC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269D01E-BC32-4049-B463-5C60D7B0CCD2}" styleName="Estilo com Tema 2 - Ênfase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250" autoAdjust="0"/>
    <p:restoredTop sz="95095" autoAdjust="0"/>
  </p:normalViewPr>
  <p:slideViewPr>
    <p:cSldViewPr snapToGrid="0">
      <p:cViewPr varScale="1">
        <p:scale>
          <a:sx n="67" d="100"/>
          <a:sy n="67" d="100"/>
        </p:scale>
        <p:origin x="522" y="78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234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D7F6E95-DF0A-DDE8-9E53-D9371CC825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044EA07-597F-F819-7229-532D66BD13E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BDEF1-98DE-47F3-AB9B-696578D75E17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D97D246-3E04-820B-A4C8-7E38ADED39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F651051-B63C-CCEF-B43D-06863876E8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A3027-C7E8-477B-B942-A004D5627C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74030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E62CF-6E2E-4950-A4C6-2F0629CEB57A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54D19-40F4-4FB2-BB02-0ACB3B3819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155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F06BDC-F7DD-220C-CACB-623D63919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61EF9C-808A-F892-ED25-C59BF2633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2C2D21-355A-B4C6-D7BF-FC594A577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F13E9C-3250-5D7A-CE51-894FCACB6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CD16C1-6D70-DEDF-955E-96C301AA6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112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8FA50B-B228-B2CB-4BBD-59790D4424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9151" y="6356350"/>
            <a:ext cx="1209821" cy="365125"/>
          </a:xfrm>
        </p:spPr>
        <p:txBody>
          <a:bodyPr/>
          <a:lstStyle>
            <a:lvl1pPr>
              <a:defRPr b="1"/>
            </a:lvl1pPr>
          </a:lstStyle>
          <a:p>
            <a:r>
              <a:rPr lang="pt-BR" dirty="0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A33E03-04D3-3C99-D4CC-393AD4377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1" y="6356350"/>
            <a:ext cx="928467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6D6B47-DA56-AC52-B164-35891B6B9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9480" y="6356350"/>
            <a:ext cx="873369" cy="365125"/>
          </a:xfrm>
        </p:spPr>
        <p:txBody>
          <a:bodyPr/>
          <a:lstStyle>
            <a:lvl1pPr algn="l">
              <a:defRPr/>
            </a:lvl1pPr>
          </a:lstStyle>
          <a:p>
            <a:fld id="{250292FE-8D56-4E3A-9427-CB428FF60A53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8107C4F4-2068-EDC6-F8E0-984352F65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532" y="365125"/>
            <a:ext cx="9862002" cy="988219"/>
          </a:xfrm>
        </p:spPr>
        <p:txBody>
          <a:bodyPr>
            <a:normAutofit/>
          </a:bodyPr>
          <a:lstStyle/>
          <a:p>
            <a:pPr algn="ctr"/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              Centro Federal de Educação Tecnológica Celso Suckow da Fonseca</a:t>
            </a:r>
            <a:br>
              <a:rPr lang="pt-BR" sz="18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Escola de Informática e Computação</a:t>
            </a:r>
            <a:br>
              <a:rPr lang="pt-BR" sz="18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Ciência da Computação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F5CB7DE-4FD2-82C8-8085-8522769A26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4466" y="349522"/>
            <a:ext cx="1681066" cy="98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46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30012B-5FFB-503A-93D2-2F43E17DD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AC1D0C-2F68-C972-9E1F-BA1FD83CB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07B6F4-628B-9CD7-8F7F-2A5640844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D11514-16C5-4418-818A-FDECA5475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883EA9-82C8-DD6A-6F7E-A10529385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676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078F2E-F87A-28D2-5177-D8AF0FC54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AD59D1-A894-70DE-B49C-7E1C42153B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FA1CB66-D4B3-0C42-5406-A39721499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5A9045-E299-D1BC-548E-DA60065BE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F861DB-B126-C096-C0C8-75EA29D0F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493C2C-87A8-7ADD-E4C9-5C96068C6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906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73ED7-1686-5F8A-10A9-F50F6603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7DAE2A-0C8E-84B7-FF7F-0075E7B6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B3C14A8-D0E9-8760-78FF-07B539BD8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FE7A9A5-E119-FD4F-CCDF-BB396DFF6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05E3807-E3CF-D08F-555A-BAE67FCDC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4F527B8-39F7-34AC-744A-DB3EAF11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B187CDB-4CAD-C47F-7F68-4B977C131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B03A58A-4C31-DEDB-994F-3A7473463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7016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4EEE29-8BDC-371F-1F50-09661999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3665B26-3B57-E9CD-FEE1-8F12BEB5C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6300C64-73E3-2FDB-857F-DD1BF800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C810EA3-9932-5C64-9D4A-2CF0AEFC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6029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45D1DE8-C2E7-563C-BC88-550A37CDA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57F044E-5BF1-1E08-B412-3A8E378DF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22ECD8-BC8E-75AF-3253-F35E2EC8E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9410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A9D38-2472-977E-F0B5-2A8A7C3D5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CAD1A9-6513-146C-8A98-E6EB5DC7B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800B00-B279-50DA-DBD9-6C613A9D8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9C20CA-FD74-F909-C6A2-CAFF4EC7C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1E8670-D013-EC8F-D118-AB063F68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43CD7B-732D-B650-F141-5F79FB197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4705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9DBC3-3401-A3D2-B219-259F44F82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829A8F6-B5A7-41C2-5EDB-B3AC72B59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2B7809-70B0-CFDE-77FE-019E49D81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D4786D-E5B0-5995-B806-7759C6B7D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1C364B-4223-A58F-49EE-FDCB6E1B7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DB41AD-07A8-879B-D075-7E057EE04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4317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12E53-480A-BCC2-AF43-0C32667B6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87777D6-06A6-D2A5-0BEA-E9A8A19A0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EFBCF5-1061-4ADF-5028-EB2D4615D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3448D7-E146-7AC9-3404-C4353F51E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4F478F-8BE1-E167-FE88-5357CBEB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709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180F69-9B91-0B85-B18D-29C478C3E6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5CEE54A-78BE-B888-5435-1F4BB92E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309EE3-9541-F7F1-FC4A-5B0F5836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7835FE-3B42-0F74-F3A7-1EC2DE7D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765329-397C-FC63-6BE6-8BC5E6B02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5440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392734-EB08-7F99-9C05-CEFB6E104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22EE65-2666-D63F-D25E-DE0E33AF8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CF20C4-E182-7218-6B83-DB95542FC6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B4A0E7-B671-9258-1B0E-12AFF67F15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940868-9CE7-5A9C-049A-DF55CBD7E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170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A5C6A1B-B42D-97AA-6E2D-CC2DD52BE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5" y="365125"/>
            <a:ext cx="11543069" cy="988219"/>
          </a:xfrm>
        </p:spPr>
        <p:txBody>
          <a:bodyPr>
            <a:normAutofit fontScale="90000"/>
          </a:bodyPr>
          <a:lstStyle/>
          <a:p>
            <a:pPr algn="ctr"/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              </a:t>
            </a: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Centro Federal de Educação Tecnológica Celso Suckow da Fonseca</a:t>
            </a:r>
            <a:br>
              <a:rPr lang="pt-BR" sz="24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Escola de Informática e Computação</a:t>
            </a:r>
            <a:br>
              <a:rPr lang="pt-BR" sz="24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Ciência da Computação</a:t>
            </a:r>
            <a:endParaRPr lang="pt-BR" sz="240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E83F93AE-CC61-84FA-B813-FE5A675C9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BC5ABB53-4A29-DA28-55A7-C099606FE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7948" y="6356349"/>
            <a:ext cx="928467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0C0536A0-9280-5193-6FB9-ED255F9D4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1600" y="6356350"/>
            <a:ext cx="421249" cy="365125"/>
          </a:xfrm>
        </p:spPr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1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6FACD24-BD62-72C2-991F-8DBA2BDB6F87}"/>
              </a:ext>
            </a:extLst>
          </p:cNvPr>
          <p:cNvSpPr txBox="1"/>
          <p:nvPr/>
        </p:nvSpPr>
        <p:spPr>
          <a:xfrm>
            <a:off x="667265" y="2028616"/>
            <a:ext cx="1086433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Algoritmos Computacionais e</a:t>
            </a:r>
          </a:p>
          <a:p>
            <a:pPr algn="ctr"/>
            <a:r>
              <a:rPr lang="pt-BR" sz="40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Estrutura de Dados em Python</a:t>
            </a:r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pt-BR" sz="4800" b="1" dirty="0">
                <a:latin typeface="Arial" panose="020B0604020202020204" pitchFamily="34" charset="0"/>
                <a:cs typeface="Arial" panose="020B0604020202020204" pitchFamily="34" charset="0"/>
              </a:rPr>
              <a:t>– Cap-09 –</a:t>
            </a:r>
          </a:p>
          <a:p>
            <a:pPr algn="ctr"/>
            <a:r>
              <a:rPr lang="pt-BR" sz="4400" b="1" dirty="0">
                <a:latin typeface="Arial" panose="020B0604020202020204" pitchFamily="34" charset="0"/>
                <a:cs typeface="Arial" panose="020B0604020202020204" pitchFamily="34" charset="0"/>
              </a:rPr>
              <a:t>Tupla</a:t>
            </a:r>
          </a:p>
          <a:p>
            <a:pPr algn="ctr"/>
            <a:endParaRPr lang="pt-BR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092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753B690-F7A4-FC34-E571-31D396CA9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989E568-89AB-AF25-D7D5-C956F46E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F56273-A234-7AC4-B4CA-B90D845B8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2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5C91EF1-8C08-4C13-FAF0-8DEB3F300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Tuplas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7044305-B389-08F2-0CEA-F89D9553352D}"/>
              </a:ext>
            </a:extLst>
          </p:cNvPr>
          <p:cNvSpPr txBox="1"/>
          <p:nvPr/>
        </p:nvSpPr>
        <p:spPr>
          <a:xfrm>
            <a:off x="357188" y="1697065"/>
            <a:ext cx="11595661" cy="4430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Tupla é uma coleção </a:t>
            </a:r>
            <a:r>
              <a:rPr lang="pt-BR" sz="28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ordenada e imutável </a:t>
            </a:r>
            <a:r>
              <a:rPr lang="pt-BR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 itens, que são acessados por índices numéricos (começando em 0) e podem conter diferentes tipos de dados. 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Diferente das listas (que são mutáveis), tuplas não podem ter seus elementos alterados após a criação, o que as torna ideais para armazenar dados que não devem ser modificados, como coordenadas geográficas ou múltiplas chaves de dicionário. 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Tuplas são definidas usando parênteses () e os itens são separados por vírgulas. </a:t>
            </a:r>
          </a:p>
        </p:txBody>
      </p:sp>
    </p:spTree>
    <p:extLst>
      <p:ext uri="{BB962C8B-B14F-4D97-AF65-F5344CB8AC3E}">
        <p14:creationId xmlns:p14="http://schemas.microsoft.com/office/powerpoint/2010/main" val="2873207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FA75497-080D-18C7-5848-EA4CBF088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6273A92-BEC5-36DA-0F24-5FDD55D9D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4590B17-812B-958B-B1DE-B4A06C53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3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5E75D24-4DE3-85AC-1D0E-0BE294701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Características principais: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B79E343-CB1A-78A3-6E79-BA156D1E9F91}"/>
              </a:ext>
            </a:extLst>
          </p:cNvPr>
          <p:cNvSpPr txBox="1"/>
          <p:nvPr/>
        </p:nvSpPr>
        <p:spPr>
          <a:xfrm>
            <a:off x="324466" y="1439845"/>
            <a:ext cx="11628383" cy="4902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28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Imutabilidade:</a:t>
            </a:r>
            <a:r>
              <a:rPr lang="pt-BR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pt-BR" sz="2800" dirty="0">
                <a:solidFill>
                  <a:srgbClr val="000000"/>
                </a:solidFill>
                <a:latin typeface="CIDFont+F2"/>
              </a:rPr>
              <a:t>Uma vez que uma tupla é criada, seus elementos não podem ser adicionados, removidos ou modificados.</a:t>
            </a:r>
            <a:endParaRPr lang="pt-BR" sz="2000" dirty="0">
              <a:solidFill>
                <a:srgbClr val="000000"/>
              </a:solidFill>
              <a:latin typeface="CIDFont+F2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2000" dirty="0">
                <a:solidFill>
                  <a:srgbClr val="000000"/>
                </a:solidFill>
                <a:latin typeface="CIDFont+F2"/>
              </a:rPr>
              <a:t> 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28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Ordem:</a:t>
            </a:r>
            <a:r>
              <a:rPr lang="pt-BR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pt-BR" sz="2800" dirty="0">
                <a:solidFill>
                  <a:srgbClr val="000000"/>
                </a:solidFill>
                <a:latin typeface="CIDFont+F2"/>
              </a:rPr>
              <a:t>Os elementos em uma tupla são armazenados em uma ordem específica, que é mantida mesmo após a criação da tupla. </a:t>
            </a:r>
            <a:endParaRPr lang="pt-BR" sz="2000" dirty="0">
              <a:solidFill>
                <a:srgbClr val="000000"/>
              </a:solidFill>
              <a:latin typeface="CIDFont+F2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pt-BR" sz="2000" dirty="0">
              <a:solidFill>
                <a:srgbClr val="000000"/>
              </a:solidFill>
              <a:latin typeface="CIDFont+F2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2800" b="1" kern="100" dirty="0">
                <a:solidFill>
                  <a:srgbClr val="0070C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Permite duplicatas: </a:t>
            </a:r>
            <a:r>
              <a:rPr lang="pt-BR" sz="2800" dirty="0">
                <a:solidFill>
                  <a:srgbClr val="000000"/>
                </a:solidFill>
                <a:latin typeface="CIDFont+F2"/>
              </a:rPr>
              <a:t>Uma tupla pode conter o mesmo valor mais de uma vez. 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pt-BR" sz="2000" dirty="0">
              <a:solidFill>
                <a:srgbClr val="000000"/>
              </a:solidFill>
              <a:latin typeface="CIDFont+F2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2800" b="1" kern="100" dirty="0">
                <a:solidFill>
                  <a:srgbClr val="0070C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Variedade d</a:t>
            </a:r>
            <a:r>
              <a:rPr lang="pt-BR" sz="28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 tipos de dados:</a:t>
            </a:r>
            <a:r>
              <a:rPr lang="pt-BR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pt-BR" sz="2800" dirty="0">
                <a:solidFill>
                  <a:srgbClr val="000000"/>
                </a:solidFill>
                <a:latin typeface="CIDFont+F2"/>
              </a:rPr>
              <a:t>Tuplas podem armazenar diferentes tipos de dados, como inteiros, strings, booleanos e até mesmo outras tuplas ou listas. </a:t>
            </a:r>
          </a:p>
        </p:txBody>
      </p:sp>
    </p:spTree>
    <p:extLst>
      <p:ext uri="{BB962C8B-B14F-4D97-AF65-F5344CB8AC3E}">
        <p14:creationId xmlns:p14="http://schemas.microsoft.com/office/powerpoint/2010/main" val="880677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08B4042-4B7D-847F-883F-141C385B5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EB00BA0-9E8F-BC0F-B89E-5A61ED027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E35B0AE-55E9-0CE1-41AB-EDECA738E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4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35E6337-AA41-584A-0117-A5ACC483A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0" u="none" strike="noStrike" baseline="0" dirty="0">
                <a:latin typeface="CIDFont+F1"/>
              </a:rPr>
              <a:t>Tuplas</a:t>
            </a:r>
            <a:endParaRPr lang="pt-BR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026D96F-5082-9C53-FDB3-9D3A5ED49F8F}"/>
              </a:ext>
            </a:extLst>
          </p:cNvPr>
          <p:cNvSpPr txBox="1"/>
          <p:nvPr/>
        </p:nvSpPr>
        <p:spPr>
          <a:xfrm>
            <a:off x="793630" y="1690777"/>
            <a:ext cx="1062774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Tuplas são sequências de valores, da mesma forma que listas</a:t>
            </a:r>
          </a:p>
          <a:p>
            <a:pPr algn="l"/>
            <a:endParaRPr lang="pt-BR" sz="28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Mas, existem diferenças...</a:t>
            </a:r>
          </a:p>
          <a:p>
            <a:pPr algn="l"/>
            <a:endParaRPr lang="pt-BR" sz="28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marL="276225" indent="-276225" algn="l"/>
            <a:r>
              <a:rPr lang="pt-BR" sz="2800" b="0" i="0" u="none" strike="noStrike" baseline="0" dirty="0">
                <a:solidFill>
                  <a:srgbClr val="464653"/>
                </a:solidFill>
                <a:latin typeface="CIDFont+F3"/>
              </a:rPr>
              <a:t>• </a:t>
            </a:r>
            <a:r>
              <a:rPr lang="pt-BR" sz="2800" b="0" i="0" u="none" strike="noStrike" baseline="0" dirty="0">
                <a:solidFill>
                  <a:srgbClr val="464653"/>
                </a:solidFill>
                <a:latin typeface="CIDFont+F2"/>
              </a:rPr>
              <a:t>Os valores de uma tupla, ao contrário de uma lista, são </a:t>
            </a:r>
            <a:r>
              <a:rPr lang="pt-BR" sz="2800" b="0" i="0" u="none" strike="noStrike" baseline="0" dirty="0">
                <a:solidFill>
                  <a:srgbClr val="0070C2"/>
                </a:solidFill>
                <a:latin typeface="CIDFont+F4"/>
              </a:rPr>
              <a:t>Imutáveis</a:t>
            </a:r>
          </a:p>
          <a:p>
            <a:pPr algn="l"/>
            <a:endParaRPr lang="pt-BR" sz="2800" b="0" i="0" u="none" strike="noStrike" baseline="0" dirty="0">
              <a:solidFill>
                <a:srgbClr val="0070C2"/>
              </a:solidFill>
              <a:latin typeface="CIDFont+F4"/>
            </a:endParaRPr>
          </a:p>
          <a:p>
            <a:pPr algn="l"/>
            <a:r>
              <a:rPr lang="pt-BR" sz="2800" b="0" i="0" u="none" strike="noStrike" baseline="0" dirty="0">
                <a:solidFill>
                  <a:srgbClr val="464653"/>
                </a:solidFill>
                <a:latin typeface="CIDFont+F3"/>
              </a:rPr>
              <a:t>• </a:t>
            </a:r>
            <a:r>
              <a:rPr lang="pt-BR" sz="2800" b="0" i="0" u="none" strike="noStrike" baseline="0" dirty="0">
                <a:solidFill>
                  <a:srgbClr val="464653"/>
                </a:solidFill>
                <a:latin typeface="CIDFont+F2"/>
              </a:rPr>
              <a:t>Tuplas usam </a:t>
            </a:r>
            <a:r>
              <a:rPr lang="pt-BR" sz="2800" b="0" i="0" u="none" strike="noStrike" baseline="0" dirty="0">
                <a:solidFill>
                  <a:srgbClr val="FF0000"/>
                </a:solidFill>
                <a:latin typeface="CIDFont+F2"/>
              </a:rPr>
              <a:t>(parênteses)</a:t>
            </a:r>
            <a:r>
              <a:rPr lang="pt-BR" sz="2800" b="0" i="0" u="none" strike="noStrike" baseline="0" dirty="0">
                <a:solidFill>
                  <a:srgbClr val="464653"/>
                </a:solidFill>
                <a:latin typeface="CIDFont+F2"/>
              </a:rPr>
              <a:t> enquanto listas usam colchetes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ABE9E77-F55D-1D70-8007-7545E18E5BA0}"/>
              </a:ext>
            </a:extLst>
          </p:cNvPr>
          <p:cNvSpPr txBox="1"/>
          <p:nvPr/>
        </p:nvSpPr>
        <p:spPr>
          <a:xfrm>
            <a:off x="1198605" y="4799320"/>
            <a:ext cx="47449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Lista = [1,  2,  3,  4]</a:t>
            </a:r>
          </a:p>
          <a:p>
            <a:endParaRPr lang="pt-BR" sz="2800" dirty="0"/>
          </a:p>
          <a:p>
            <a:r>
              <a:rPr lang="pt-BR" sz="2800" dirty="0"/>
              <a:t>Tupla = (1,  2,  3,  4)</a:t>
            </a:r>
          </a:p>
        </p:txBody>
      </p:sp>
    </p:spTree>
    <p:extLst>
      <p:ext uri="{BB962C8B-B14F-4D97-AF65-F5344CB8AC3E}">
        <p14:creationId xmlns:p14="http://schemas.microsoft.com/office/powerpoint/2010/main" val="264261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E4E4D12-BC9F-E31B-CF72-09F329AD1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F9B00D4-3CE8-B418-E9B9-7F5C4B554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E9C253C-C1F9-D086-A6A3-F0A18877F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5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2E4FB29-8C35-081A-86F9-28D17C3EB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Tuplas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7EA0127-7E71-3573-BC33-F23753B8B3AE}"/>
              </a:ext>
            </a:extLst>
          </p:cNvPr>
          <p:cNvSpPr txBox="1"/>
          <p:nvPr/>
        </p:nvSpPr>
        <p:spPr>
          <a:xfrm>
            <a:off x="568411" y="1581658"/>
            <a:ext cx="10511069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Tuplas Vazia</a:t>
            </a:r>
          </a:p>
          <a:p>
            <a:r>
              <a:rPr lang="pt-BR" sz="2800" dirty="0"/>
              <a:t>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 </a:t>
            </a:r>
            <a:r>
              <a:rPr lang="pt-BR" sz="3600" dirty="0"/>
              <a:t>tupla  = ()</a:t>
            </a:r>
          </a:p>
          <a:p>
            <a:pPr marL="630238" indent="-285750">
              <a:buFont typeface="Arial" panose="020B0604020202020204" pitchFamily="34" charset="0"/>
              <a:buChar char="•"/>
            </a:pPr>
            <a:r>
              <a:rPr lang="pt-BR" sz="2400" dirty="0"/>
              <a:t>Também podemos declarar uma tupla de maneira explícita utilizando a função </a:t>
            </a:r>
            <a:r>
              <a:rPr lang="pt-BR" sz="2400" dirty="0" err="1"/>
              <a:t>tuple</a:t>
            </a:r>
            <a:r>
              <a:rPr lang="pt-BR" sz="2400" dirty="0"/>
              <a:t>. </a:t>
            </a:r>
          </a:p>
          <a:p>
            <a:pPr marL="630238" indent="-285750">
              <a:buFont typeface="Arial" panose="020B0604020202020204" pitchFamily="34" charset="0"/>
              <a:buChar char="•"/>
            </a:pPr>
            <a:r>
              <a:rPr lang="pt-BR" sz="2400" dirty="0" err="1"/>
              <a:t>variavel</a:t>
            </a:r>
            <a:r>
              <a:rPr lang="pt-BR" sz="2400" dirty="0"/>
              <a:t> = </a:t>
            </a:r>
            <a:r>
              <a:rPr lang="pt-BR" sz="2400" b="1" dirty="0" err="1">
                <a:solidFill>
                  <a:srgbClr val="0070C0"/>
                </a:solidFill>
              </a:rPr>
              <a:t>tuple</a:t>
            </a:r>
            <a:r>
              <a:rPr lang="pt-BR" sz="2400" dirty="0"/>
              <a:t>([elemento_1 , elemento_2 , ..., </a:t>
            </a:r>
            <a:r>
              <a:rPr lang="pt-BR" sz="2400" dirty="0" err="1"/>
              <a:t>elemento_n</a:t>
            </a:r>
            <a:r>
              <a:rPr lang="pt-BR" sz="2400" dirty="0"/>
              <a:t>])</a:t>
            </a:r>
          </a:p>
          <a:p>
            <a:endParaRPr lang="pt-BR" sz="2800" dirty="0"/>
          </a:p>
          <a:p>
            <a:pPr algn="just"/>
            <a:r>
              <a:rPr lang="pt-BR" sz="2800" dirty="0"/>
              <a:t>Tupla com um único elemento (note a necessidade da vírgula, mesmo sendo um único elemento)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tupla  = (1,)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8227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8C5DCF-D9F6-F244-D9FE-608CA335D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2BA6E82-94BF-C54E-CBF3-745E8F25D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63C633-FB9E-2D00-57A9-C8F332161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6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ED70E18-F50F-241C-329E-D08E1F1D4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Acesso aos elementos de uma Tupla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553CC78-4349-983D-2482-07C014F9A212}"/>
              </a:ext>
            </a:extLst>
          </p:cNvPr>
          <p:cNvSpPr txBox="1"/>
          <p:nvPr/>
        </p:nvSpPr>
        <p:spPr>
          <a:xfrm>
            <a:off x="445679" y="1476381"/>
            <a:ext cx="1130064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200" dirty="0"/>
              <a:t>Acesso é feito pela posição, da mesma forma que nas listas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3200" dirty="0"/>
          </a:p>
          <a:p>
            <a:r>
              <a:rPr lang="pt-BR" sz="3200" dirty="0"/>
              <a:t>tupla  =  (´Maria’,  ‘João’,  ‘José’)</a:t>
            </a:r>
          </a:p>
          <a:p>
            <a:r>
              <a:rPr lang="pt-BR" sz="3200" dirty="0"/>
              <a:t>print(tupla[0])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90878C4-AB6E-AFCE-D53E-2BE021C0B185}"/>
              </a:ext>
            </a:extLst>
          </p:cNvPr>
          <p:cNvSpPr txBox="1"/>
          <p:nvPr/>
        </p:nvSpPr>
        <p:spPr>
          <a:xfrm>
            <a:off x="6096001" y="4685807"/>
            <a:ext cx="1169772" cy="52322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800" b="1" dirty="0"/>
              <a:t>Maria</a:t>
            </a:r>
          </a:p>
        </p:txBody>
      </p:sp>
    </p:spTree>
    <p:extLst>
      <p:ext uri="{BB962C8B-B14F-4D97-AF65-F5344CB8AC3E}">
        <p14:creationId xmlns:p14="http://schemas.microsoft.com/office/powerpoint/2010/main" val="2767523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4067AC8-3B09-C088-27F1-5A4887F33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0A05243-3D6C-E58D-DC32-A13E729F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4E6B486-BDD9-74A4-BC02-6CAAF0396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7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A0F8A32-2224-1034-D46E-02A903F3E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Tuplas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7647AAC-B442-B28C-E6CB-7D21FDD0160B}"/>
              </a:ext>
            </a:extLst>
          </p:cNvPr>
          <p:cNvSpPr txBox="1"/>
          <p:nvPr/>
        </p:nvSpPr>
        <p:spPr>
          <a:xfrm>
            <a:off x="641874" y="1374335"/>
            <a:ext cx="10058400" cy="2054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39115" algn="just">
              <a:lnSpc>
                <a:spcPct val="107000"/>
              </a:lnSpc>
              <a:spcAft>
                <a:spcPts val="800"/>
              </a:spcAft>
            </a:pPr>
            <a:r>
              <a:rPr lang="pt-B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Uma tupla é uma coleção ordenada e imutável de elementos. Em Python, as tuplas são definidas utilizando parênteses () e podem conter uma combinação de diferentes tipos de dados, incluindo números, strings e até mesmo outras tuplas. Aqui está um exemplo de como criar e acessar uma tupla:</a:t>
            </a:r>
          </a:p>
        </p:txBody>
      </p:sp>
      <p:pic>
        <p:nvPicPr>
          <p:cNvPr id="8" name="Imagem 7" descr="Código que cria uma tupla">
            <a:extLst>
              <a:ext uri="{FF2B5EF4-FFF2-40B4-BE49-F238E27FC236}">
                <a16:creationId xmlns:a16="http://schemas.microsoft.com/office/drawing/2014/main" id="{1F4DC07B-3624-C178-3972-CBC7C6261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934" y="3730078"/>
            <a:ext cx="10882230" cy="18818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7361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609109B-904D-8708-8407-33C1A554F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17FDB3-DA56-B50C-BD4D-0A8BD2B6E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67ACF4E-3F6A-EFC6-6B81-04321ED87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8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38BE067-ECEF-7DD3-EB36-C31F033B8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Mas é Imutável, mesmo ?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0AC6A3B-16A3-E45E-D518-D7BB32365FA8}"/>
              </a:ext>
            </a:extLst>
          </p:cNvPr>
          <p:cNvSpPr txBox="1"/>
          <p:nvPr/>
        </p:nvSpPr>
        <p:spPr>
          <a:xfrm>
            <a:off x="74999" y="1443161"/>
            <a:ext cx="5940043" cy="152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257175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Um ponto importante e que pode gerar confusão a respeito dessa imutabilidade é que </a:t>
            </a:r>
            <a:r>
              <a:rPr lang="pt-BR" sz="22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tuplas podem conter objetos mutáveis</a:t>
            </a:r>
            <a:r>
              <a:rPr lang="pt-BR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como listas:</a:t>
            </a:r>
          </a:p>
        </p:txBody>
      </p:sp>
      <p:pic>
        <p:nvPicPr>
          <p:cNvPr id="8" name="Imagem 7" descr="Tuplas podem conter objetos mutáveis">
            <a:extLst>
              <a:ext uri="{FF2B5EF4-FFF2-40B4-BE49-F238E27FC236}">
                <a16:creationId xmlns:a16="http://schemas.microsoft.com/office/drawing/2014/main" id="{2F81F66B-3D22-E6F3-A625-0B4D7A107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749" y="2904733"/>
            <a:ext cx="5722179" cy="345542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DED49B93-64F2-F28A-E65F-39CBFAD5AED7}"/>
              </a:ext>
            </a:extLst>
          </p:cNvPr>
          <p:cNvSpPr txBox="1"/>
          <p:nvPr/>
        </p:nvSpPr>
        <p:spPr>
          <a:xfrm>
            <a:off x="6037047" y="1443161"/>
            <a:ext cx="6008514" cy="499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157163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2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"Ué, mas nós alteramos um valor de nossa tupla sem mudar de objeto! Isso significa que ela não é imutável?"</a:t>
            </a:r>
            <a:endParaRPr lang="pt-BR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157163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Não, porque na verdade não alteramos nada na tupla, já que as referências que ela guarda são as mesmas! Modificamos a lista dentro dela, de novo, </a:t>
            </a:r>
            <a:r>
              <a:rPr lang="pt-BR" sz="22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sem mudar o identificador</a:t>
            </a:r>
            <a:r>
              <a:rPr lang="pt-BR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e assim isso foi permitido.</a:t>
            </a:r>
          </a:p>
          <a:p>
            <a:pPr marL="342900" indent="-157163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Além disso, qual a diferença entre as tuplas e as listas? Para muitos desenvolvedores, aparentemente acaba aí, como se tuplas fossem </a:t>
            </a:r>
            <a:r>
              <a:rPr lang="pt-BR" sz="22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apenas</a:t>
            </a:r>
            <a:r>
              <a:rPr lang="pt-BR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listas constantes, imutáveis. Isso, entretanto, não é bem verdade.</a:t>
            </a:r>
          </a:p>
        </p:txBody>
      </p:sp>
    </p:spTree>
    <p:extLst>
      <p:ext uri="{BB962C8B-B14F-4D97-AF65-F5344CB8AC3E}">
        <p14:creationId xmlns:p14="http://schemas.microsoft.com/office/powerpoint/2010/main" val="2068550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BF05A2F-4FFF-CFA5-CB94-2250CB455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4A7241A-9868-96B0-3F2F-26ED7E5C6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D22C76-EF0B-E8FB-6B28-A9E95945E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9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47619EC4-8AED-F957-CE9F-40F42AF9B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Atualização de Tuplas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405C71A-D1ED-8A30-28C2-07836B8A041A}"/>
              </a:ext>
            </a:extLst>
          </p:cNvPr>
          <p:cNvSpPr txBox="1"/>
          <p:nvPr/>
        </p:nvSpPr>
        <p:spPr>
          <a:xfrm>
            <a:off x="844060" y="1531733"/>
            <a:ext cx="105038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>
                <a:latin typeface="CIDFont+F1"/>
              </a:rPr>
              <a:t>C</a:t>
            </a:r>
            <a:r>
              <a:rPr lang="pt-BR" sz="3600" b="0" i="0" u="none" strike="noStrike" baseline="0" dirty="0">
                <a:latin typeface="CIDFont+F1"/>
              </a:rPr>
              <a:t>omo são imutáveis, </a:t>
            </a:r>
            <a:r>
              <a:rPr lang="pt-BR" sz="3600" b="0" i="0" u="none" strike="noStrike" baseline="0" dirty="0">
                <a:solidFill>
                  <a:srgbClr val="0070C0"/>
                </a:solidFill>
                <a:latin typeface="CIDFont+F1"/>
              </a:rPr>
              <a:t>não é permitido</a:t>
            </a:r>
            <a:r>
              <a:rPr lang="pt-BR" sz="3600" b="0" i="0" u="none" strike="noStrike" dirty="0">
                <a:solidFill>
                  <a:srgbClr val="0070C0"/>
                </a:solidFill>
                <a:latin typeface="CIDFont+F1"/>
              </a:rPr>
              <a:t> atualizar os valores</a:t>
            </a:r>
            <a:r>
              <a:rPr lang="pt-BR" sz="3600" b="0" i="0" u="none" strike="noStrike" dirty="0">
                <a:latin typeface="CIDFont+F1"/>
              </a:rPr>
              <a:t> dentro de uma tupla :</a:t>
            </a:r>
            <a:endParaRPr lang="pt-BR" sz="3600" dirty="0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1E663AA0-147C-8DF7-CA29-2201EAD4AABB}"/>
              </a:ext>
            </a:extLst>
          </p:cNvPr>
          <p:cNvSpPr/>
          <p:nvPr/>
        </p:nvSpPr>
        <p:spPr>
          <a:xfrm>
            <a:off x="7443160" y="4059032"/>
            <a:ext cx="3329352" cy="165795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‘</a:t>
            </a:r>
            <a:r>
              <a:rPr lang="pt-BR" sz="2400" b="1" dirty="0" err="1"/>
              <a:t>tuple</a:t>
            </a:r>
            <a:r>
              <a:rPr lang="pt-BR" sz="2400" b="1" dirty="0"/>
              <a:t>’ </a:t>
            </a:r>
            <a:r>
              <a:rPr lang="pt-BR" sz="2400" b="1" dirty="0" err="1"/>
              <a:t>object</a:t>
            </a:r>
            <a:r>
              <a:rPr lang="pt-BR" sz="2400" b="1" dirty="0"/>
              <a:t> does  not </a:t>
            </a:r>
            <a:r>
              <a:rPr lang="pt-BR" sz="2400" b="1" dirty="0" err="1"/>
              <a:t>suppport</a:t>
            </a:r>
            <a:r>
              <a:rPr lang="pt-BR" sz="2400" b="1" dirty="0"/>
              <a:t> item </a:t>
            </a:r>
            <a:r>
              <a:rPr lang="pt-BR" sz="2400" b="1" dirty="0" err="1"/>
              <a:t>assighment</a:t>
            </a:r>
            <a:endParaRPr lang="pt-BR" sz="2400" b="1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8415FFE-AC4D-8A45-8D3C-25025CDFB36E}"/>
              </a:ext>
            </a:extLst>
          </p:cNvPr>
          <p:cNvSpPr txBox="1"/>
          <p:nvPr/>
        </p:nvSpPr>
        <p:spPr>
          <a:xfrm>
            <a:off x="1125415" y="3165231"/>
            <a:ext cx="60725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Tupla = ( ‘Maria’,  ‘João’ ,  ‘José’)</a:t>
            </a:r>
          </a:p>
          <a:p>
            <a:r>
              <a:rPr lang="pt-BR" sz="2400" dirty="0"/>
              <a:t>Tupla[0]  = ‘Pedro’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303056E6-602A-A730-21A9-CC2FD564BEA4}"/>
              </a:ext>
            </a:extLst>
          </p:cNvPr>
          <p:cNvSpPr txBox="1"/>
          <p:nvPr/>
        </p:nvSpPr>
        <p:spPr>
          <a:xfrm>
            <a:off x="1036183" y="4331301"/>
            <a:ext cx="46973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Um erro é gerado informando que o tipo tupla não permite modificações.</a:t>
            </a:r>
          </a:p>
        </p:txBody>
      </p: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A4E61BEE-3CE5-64E2-A5DB-EFCF17C5DED8}"/>
              </a:ext>
            </a:extLst>
          </p:cNvPr>
          <p:cNvCxnSpPr>
            <a:cxnSpLocks/>
          </p:cNvCxnSpPr>
          <p:nvPr/>
        </p:nvCxnSpPr>
        <p:spPr>
          <a:xfrm>
            <a:off x="5881816" y="4931465"/>
            <a:ext cx="131615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017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ED0A1FA-955C-6289-AB72-6FE76B0D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D5305F8-E585-F500-A1D6-CCC3C72B3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64D38D-3DA7-DEE2-34FA-E242F5645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10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399DF365-1B6F-C33F-D073-8DD45E0E4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Tuplas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4CB4354-B338-FC2A-DFBA-2C4F798162C6}"/>
              </a:ext>
            </a:extLst>
          </p:cNvPr>
          <p:cNvSpPr txBox="1"/>
          <p:nvPr/>
        </p:nvSpPr>
        <p:spPr>
          <a:xfrm>
            <a:off x="642551" y="1445741"/>
            <a:ext cx="1122498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1463" indent="-271463"/>
            <a:r>
              <a:rPr lang="pt-BR" sz="2400" dirty="0"/>
              <a:t>• Vimos que é possível adicionar, remover ou alterar elementos de uma lista.</a:t>
            </a:r>
          </a:p>
          <a:p>
            <a:pPr marL="271463" indent="-271463"/>
            <a:r>
              <a:rPr lang="pt-BR" sz="2400" dirty="0"/>
              <a:t> </a:t>
            </a:r>
          </a:p>
          <a:p>
            <a:r>
              <a:rPr lang="pt-BR" sz="2400" dirty="0"/>
              <a:t>• Já tuplas, uma vez criadas, não permitem modificações. </a:t>
            </a:r>
          </a:p>
          <a:p>
            <a:endParaRPr lang="pt-BR" sz="2400" dirty="0"/>
          </a:p>
          <a:p>
            <a:r>
              <a:rPr lang="pt-BR" sz="2400" dirty="0"/>
              <a:t>• Ou seja, tuplas são listas imutáveis. </a:t>
            </a:r>
          </a:p>
          <a:p>
            <a:endParaRPr lang="pt-BR" sz="2400" dirty="0"/>
          </a:p>
          <a:p>
            <a:r>
              <a:rPr lang="pt-BR" sz="2400" dirty="0"/>
              <a:t>• Listas e tuplas podem armazenar: </a:t>
            </a:r>
          </a:p>
          <a:p>
            <a:pPr marL="542925" indent="-185738"/>
            <a:r>
              <a:rPr lang="pt-BR" sz="2400" dirty="0"/>
              <a:t>• Dados homogêneos (Exemplos: listas/tuplas de </a:t>
            </a:r>
            <a:r>
              <a:rPr lang="pt-BR" sz="2400" dirty="0" err="1"/>
              <a:t>emails</a:t>
            </a:r>
            <a:r>
              <a:rPr lang="pt-BR" sz="2400" dirty="0"/>
              <a:t>, salários ou notas). </a:t>
            </a:r>
          </a:p>
          <a:p>
            <a:pPr marL="542925" indent="-185738"/>
            <a:endParaRPr lang="pt-BR" sz="2400" dirty="0"/>
          </a:p>
          <a:p>
            <a:pPr marL="542925" indent="-185738"/>
            <a:r>
              <a:rPr lang="pt-BR" sz="2400" dirty="0"/>
              <a:t>• Dados heterogêneos (Exemplo: cadastro de uma pessoa em uma academia com as informações de nome, idade e peso). </a:t>
            </a:r>
          </a:p>
        </p:txBody>
      </p:sp>
    </p:spTree>
    <p:extLst>
      <p:ext uri="{BB962C8B-B14F-4D97-AF65-F5344CB8AC3E}">
        <p14:creationId xmlns:p14="http://schemas.microsoft.com/office/powerpoint/2010/main" val="1540901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7920601-7328-6972-FDCC-3B29C9509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BA9185D-858F-0554-3BBA-70C5F25A7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6CC35C4-90D7-5209-0FF1-18B1950F8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11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3979BF11-8053-F02C-E6B7-8D929B260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dirty="0"/>
              <a:t>Operadores Básicos sobre Tuplas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A19B9862-2F15-59EF-44A0-BBA5BD1B6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702481"/>
              </p:ext>
            </p:extLst>
          </p:nvPr>
        </p:nvGraphicFramePr>
        <p:xfrm>
          <a:off x="1645921" y="2032651"/>
          <a:ext cx="9284676" cy="3354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892">
                  <a:extLst>
                    <a:ext uri="{9D8B030D-6E8A-4147-A177-3AD203B41FA5}">
                      <a16:colId xmlns:a16="http://schemas.microsoft.com/office/drawing/2014/main" val="483647558"/>
                    </a:ext>
                  </a:extLst>
                </a:gridCol>
                <a:gridCol w="3094892">
                  <a:extLst>
                    <a:ext uri="{9D8B030D-6E8A-4147-A177-3AD203B41FA5}">
                      <a16:colId xmlns:a16="http://schemas.microsoft.com/office/drawing/2014/main" val="1061463331"/>
                    </a:ext>
                  </a:extLst>
                </a:gridCol>
                <a:gridCol w="3094892">
                  <a:extLst>
                    <a:ext uri="{9D8B030D-6E8A-4147-A177-3AD203B41FA5}">
                      <a16:colId xmlns:a16="http://schemas.microsoft.com/office/drawing/2014/main" val="2200958682"/>
                    </a:ext>
                  </a:extLst>
                </a:gridCol>
              </a:tblGrid>
              <a:tr h="409478">
                <a:tc>
                  <a:txBody>
                    <a:bodyPr/>
                    <a:lstStyle/>
                    <a:p>
                      <a:r>
                        <a:rPr lang="pt-BR"/>
                        <a:t>Expressão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Resultado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480919"/>
                  </a:ext>
                </a:extLst>
              </a:tr>
              <a:tr h="706771">
                <a:tc>
                  <a:txBody>
                    <a:bodyPr/>
                    <a:lstStyle/>
                    <a:p>
                      <a:r>
                        <a:rPr lang="pt-BR" dirty="0"/>
                        <a:t>Item(1, 2,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Número </a:t>
                      </a:r>
                      <a:r>
                        <a:rPr lang="pt-BR" dirty="0"/>
                        <a:t>de elementos que a tupla contém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024521"/>
                  </a:ext>
                </a:extLst>
              </a:tr>
              <a:tr h="409478">
                <a:tc>
                  <a:txBody>
                    <a:bodyPr/>
                    <a:lstStyle/>
                    <a:p>
                      <a:r>
                        <a:rPr lang="pt-BR" dirty="0"/>
                        <a:t>(1,  2,  3)  +  (4,  5,  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(1,  2,  3,  4,  5,  6)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Concatenação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279130"/>
                  </a:ext>
                </a:extLst>
              </a:tr>
              <a:tr h="409478">
                <a:tc>
                  <a:txBody>
                    <a:bodyPr/>
                    <a:lstStyle/>
                    <a:p>
                      <a:r>
                        <a:rPr lang="pt-BR" dirty="0"/>
                        <a:t>(1,)  *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(1,  1,  1,  1)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Repetição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857418"/>
                  </a:ext>
                </a:extLst>
              </a:tr>
              <a:tr h="409478">
                <a:tc>
                  <a:txBody>
                    <a:bodyPr/>
                    <a:lstStyle/>
                    <a:p>
                      <a:r>
                        <a:rPr lang="pt-BR" dirty="0"/>
                        <a:t>3  In (1,  2, 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Pertencimento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556960"/>
                  </a:ext>
                </a:extLst>
              </a:tr>
              <a:tr h="1009673">
                <a:tc>
                  <a:txBody>
                    <a:bodyPr/>
                    <a:lstStyle/>
                    <a:p>
                      <a:r>
                        <a:rPr lang="pt-BR" dirty="0"/>
                        <a:t>for x in (1,  2, 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  <a:p>
                      <a:r>
                        <a:rPr lang="pt-BR" dirty="0"/>
                        <a:t>2 </a:t>
                      </a:r>
                    </a:p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Iteração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810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7134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CE990B6-94DC-0147-2C85-10933E337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DC99EDB-CED2-B671-775A-0A8C2C9F4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51144B-4272-4E2A-3AD9-2022D5CD3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12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124C666-28A4-0D9E-57E7-254A9FADF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Conjuntos em Python</a:t>
            </a:r>
            <a:endParaRPr lang="pt-BR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7A4A459-09C5-0DE9-7EB5-E40B9CA50D02}"/>
              </a:ext>
            </a:extLst>
          </p:cNvPr>
          <p:cNvSpPr txBox="1"/>
          <p:nvPr/>
        </p:nvSpPr>
        <p:spPr>
          <a:xfrm>
            <a:off x="844061" y="1637933"/>
            <a:ext cx="10774198" cy="2054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39115" algn="just">
              <a:lnSpc>
                <a:spcPct val="107000"/>
              </a:lnSpc>
              <a:spcAft>
                <a:spcPts val="800"/>
              </a:spcAft>
            </a:pPr>
            <a:r>
              <a:rPr lang="pt-B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Um conjunto é uma coleção não ordenada e sem elementos duplicados. Em Python, os conjuntos são definidos utilizando chaves {} ou a função set(). Eles podem conter uma variedade de tipos de dados, como números, strings e até mesmo outras coleções. Aqui está um exemplo de como criar e manipular um conjunto em Python:</a:t>
            </a:r>
          </a:p>
        </p:txBody>
      </p:sp>
      <p:pic>
        <p:nvPicPr>
          <p:cNvPr id="8" name="Imagem 7" descr="Código para criação de conjuntos">
            <a:extLst>
              <a:ext uri="{FF2B5EF4-FFF2-40B4-BE49-F238E27FC236}">
                <a16:creationId xmlns:a16="http://schemas.microsoft.com/office/drawing/2014/main" id="{19167DB7-47CC-C221-65D0-EF8CF4183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239" y="3977186"/>
            <a:ext cx="9632358" cy="18190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9047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3AB2B94-62A5-4ED3-56DE-7CD68D22C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2ACF043-A42A-E09A-A0BB-6C924141D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6E7411-D2E9-2536-F51D-DEB5BB44D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13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E55C844-86B0-563B-5F2A-8D13B8AC9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Lista para Conjunto ou Tupla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BA11584-0AF2-E622-37D2-AA3950E74E60}"/>
              </a:ext>
            </a:extLst>
          </p:cNvPr>
          <p:cNvSpPr txBox="1"/>
          <p:nvPr/>
        </p:nvSpPr>
        <p:spPr>
          <a:xfrm>
            <a:off x="844061" y="1549342"/>
            <a:ext cx="10451468" cy="1655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39115" algn="just">
              <a:lnSpc>
                <a:spcPct val="107000"/>
              </a:lnSpc>
              <a:spcAft>
                <a:spcPts val="800"/>
              </a:spcAft>
            </a:pPr>
            <a:r>
              <a:rPr lang="pt-BR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Para converter uma lista em um conjunto ou tupla, podemos usar as </a:t>
            </a:r>
            <a:r>
              <a:rPr lang="pt-BR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funções set() e </a:t>
            </a:r>
            <a:r>
              <a:rPr lang="pt-BR" sz="3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tuple</a:t>
            </a:r>
            <a:r>
              <a:rPr lang="pt-BR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(), </a:t>
            </a:r>
            <a:r>
              <a:rPr lang="pt-BR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respectivamente. Aqui estão os exemplos:</a:t>
            </a:r>
          </a:p>
        </p:txBody>
      </p:sp>
      <p:pic>
        <p:nvPicPr>
          <p:cNvPr id="8" name="Imagem 7" descr="Conversão entre coleções">
            <a:extLst>
              <a:ext uri="{FF2B5EF4-FFF2-40B4-BE49-F238E27FC236}">
                <a16:creationId xmlns:a16="http://schemas.microsoft.com/office/drawing/2014/main" id="{817E1001-88E1-484C-73DA-8F4FBE9C4F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076" y="3204475"/>
            <a:ext cx="9762410" cy="3151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3735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B10B6DD-F726-AFE4-22CB-ED133C230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1B08B44-EC75-71E0-AF96-06168F50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F9C7AF-C02B-019B-49CF-373C8CBA7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14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78E96B9-AADE-C968-4044-98E6C3E99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Quadro comparativo:  tuplas, conjuntos e das listas em Python</a:t>
            </a:r>
            <a:endParaRPr lang="pt-BR" b="1"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34BECB7-4CFE-4023-79EB-2AA4A0CE7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391342"/>
              </p:ext>
            </p:extLst>
          </p:nvPr>
        </p:nvGraphicFramePr>
        <p:xfrm>
          <a:off x="596348" y="1426559"/>
          <a:ext cx="10833652" cy="50051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42591">
                  <a:extLst>
                    <a:ext uri="{9D8B030D-6E8A-4147-A177-3AD203B41FA5}">
                      <a16:colId xmlns:a16="http://schemas.microsoft.com/office/drawing/2014/main" val="22025148"/>
                    </a:ext>
                  </a:extLst>
                </a:gridCol>
                <a:gridCol w="3081131">
                  <a:extLst>
                    <a:ext uri="{9D8B030D-6E8A-4147-A177-3AD203B41FA5}">
                      <a16:colId xmlns:a16="http://schemas.microsoft.com/office/drawing/2014/main" val="2761968768"/>
                    </a:ext>
                  </a:extLst>
                </a:gridCol>
                <a:gridCol w="2703443">
                  <a:extLst>
                    <a:ext uri="{9D8B030D-6E8A-4147-A177-3AD203B41FA5}">
                      <a16:colId xmlns:a16="http://schemas.microsoft.com/office/drawing/2014/main" val="3233522316"/>
                    </a:ext>
                  </a:extLst>
                </a:gridCol>
                <a:gridCol w="2206487">
                  <a:extLst>
                    <a:ext uri="{9D8B030D-6E8A-4147-A177-3AD203B41FA5}">
                      <a16:colId xmlns:a16="http://schemas.microsoft.com/office/drawing/2014/main" val="44309465"/>
                    </a:ext>
                  </a:extLst>
                </a:gridCol>
              </a:tblGrid>
              <a:tr h="458002">
                <a:tc>
                  <a:txBody>
                    <a:bodyPr/>
                    <a:lstStyle/>
                    <a:p>
                      <a:pPr marR="53911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>
                          <a:effectLst/>
                        </a:rPr>
                        <a:t>Característica</a:t>
                      </a:r>
                      <a:endParaRPr lang="pt-B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tc>
                  <a:txBody>
                    <a:bodyPr/>
                    <a:lstStyle/>
                    <a:p>
                      <a:pPr marR="53911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>
                          <a:effectLst/>
                        </a:rPr>
                        <a:t>Tuplas</a:t>
                      </a:r>
                      <a:endParaRPr lang="pt-B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tc>
                  <a:txBody>
                    <a:bodyPr/>
                    <a:lstStyle/>
                    <a:p>
                      <a:pPr marR="53911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>
                          <a:effectLst/>
                        </a:rPr>
                        <a:t>Conjuntos</a:t>
                      </a:r>
                      <a:endParaRPr lang="pt-B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tc>
                  <a:txBody>
                    <a:bodyPr/>
                    <a:lstStyle/>
                    <a:p>
                      <a:pPr marR="53911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>
                          <a:effectLst/>
                        </a:rPr>
                        <a:t>Listas</a:t>
                      </a:r>
                      <a:endParaRPr lang="pt-B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extLst>
                  <a:ext uri="{0D108BD9-81ED-4DB2-BD59-A6C34878D82A}">
                    <a16:rowId xmlns:a16="http://schemas.microsoft.com/office/drawing/2014/main" val="2989370763"/>
                  </a:ext>
                </a:extLst>
              </a:tr>
              <a:tr h="274220">
                <a:tc>
                  <a:txBody>
                    <a:bodyPr/>
                    <a:lstStyle/>
                    <a:p>
                      <a:pPr marR="53911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>
                          <a:effectLst/>
                        </a:rPr>
                        <a:t>Mutabilidade</a:t>
                      </a:r>
                      <a:endParaRPr lang="pt-B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tc>
                  <a:txBody>
                    <a:bodyPr/>
                    <a:lstStyle/>
                    <a:p>
                      <a:pPr marR="53911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>
                          <a:effectLst/>
                        </a:rPr>
                        <a:t>Imutáveis</a:t>
                      </a:r>
                      <a:endParaRPr lang="pt-B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tc>
                  <a:txBody>
                    <a:bodyPr/>
                    <a:lstStyle/>
                    <a:p>
                      <a:pPr marR="53911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>
                          <a:effectLst/>
                        </a:rPr>
                        <a:t>Mutáveis</a:t>
                      </a:r>
                      <a:endParaRPr lang="pt-B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tc>
                  <a:txBody>
                    <a:bodyPr/>
                    <a:lstStyle/>
                    <a:p>
                      <a:pPr marR="53911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>
                          <a:effectLst/>
                        </a:rPr>
                        <a:t>Mutáveis</a:t>
                      </a:r>
                      <a:endParaRPr lang="pt-B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extLst>
                  <a:ext uri="{0D108BD9-81ED-4DB2-BD59-A6C34878D82A}">
                    <a16:rowId xmlns:a16="http://schemas.microsoft.com/office/drawing/2014/main" val="2389145054"/>
                  </a:ext>
                </a:extLst>
              </a:tr>
              <a:tr h="274220">
                <a:tc>
                  <a:txBody>
                    <a:bodyPr/>
                    <a:lstStyle/>
                    <a:p>
                      <a:pPr marR="53911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>
                          <a:effectLst/>
                        </a:rPr>
                        <a:t>Ordenação</a:t>
                      </a:r>
                      <a:endParaRPr lang="pt-B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tc>
                  <a:txBody>
                    <a:bodyPr/>
                    <a:lstStyle/>
                    <a:p>
                      <a:pPr marR="53911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>
                          <a:effectLst/>
                        </a:rPr>
                        <a:t>Ordenadas</a:t>
                      </a:r>
                      <a:endParaRPr lang="pt-B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tc>
                  <a:txBody>
                    <a:bodyPr/>
                    <a:lstStyle/>
                    <a:p>
                      <a:pPr marR="53911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>
                          <a:effectLst/>
                        </a:rPr>
                        <a:t>Não ordenadas</a:t>
                      </a:r>
                      <a:endParaRPr lang="pt-B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tc>
                  <a:txBody>
                    <a:bodyPr/>
                    <a:lstStyle/>
                    <a:p>
                      <a:pPr marR="53911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>
                          <a:effectLst/>
                        </a:rPr>
                        <a:t>Ordenadas</a:t>
                      </a:r>
                      <a:endParaRPr lang="pt-B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extLst>
                  <a:ext uri="{0D108BD9-81ED-4DB2-BD59-A6C34878D82A}">
                    <a16:rowId xmlns:a16="http://schemas.microsoft.com/office/drawing/2014/main" val="102784449"/>
                  </a:ext>
                </a:extLst>
              </a:tr>
              <a:tr h="688363">
                <a:tc>
                  <a:txBody>
                    <a:bodyPr/>
                    <a:lstStyle/>
                    <a:p>
                      <a:pPr marR="53911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>
                          <a:effectLst/>
                        </a:rPr>
                        <a:t>Duplicatas</a:t>
                      </a:r>
                      <a:endParaRPr lang="pt-B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tc>
                  <a:txBody>
                    <a:bodyPr/>
                    <a:lstStyle/>
                    <a:p>
                      <a:pPr marR="53911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>
                          <a:effectLst/>
                        </a:rPr>
                        <a:t>Podem conter elementos duplicados</a:t>
                      </a:r>
                      <a:endParaRPr lang="pt-B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tc>
                  <a:txBody>
                    <a:bodyPr/>
                    <a:lstStyle/>
                    <a:p>
                      <a:pPr marR="53911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>
                          <a:effectLst/>
                        </a:rPr>
                        <a:t>Não podem conter elementos duplicados</a:t>
                      </a:r>
                      <a:endParaRPr lang="pt-B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tc>
                  <a:txBody>
                    <a:bodyPr/>
                    <a:lstStyle/>
                    <a:p>
                      <a:pPr marR="53911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>
                          <a:effectLst/>
                        </a:rPr>
                        <a:t>Podem conter elementos duplicados</a:t>
                      </a:r>
                      <a:endParaRPr lang="pt-B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extLst>
                  <a:ext uri="{0D108BD9-81ED-4DB2-BD59-A6C34878D82A}">
                    <a16:rowId xmlns:a16="http://schemas.microsoft.com/office/drawing/2014/main" val="3677452443"/>
                  </a:ext>
                </a:extLst>
              </a:tr>
              <a:tr h="749798">
                <a:tc>
                  <a:txBody>
                    <a:bodyPr/>
                    <a:lstStyle/>
                    <a:p>
                      <a:pPr marR="53911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>
                          <a:effectLst/>
                        </a:rPr>
                        <a:t>Sintaxe</a:t>
                      </a:r>
                      <a:endParaRPr lang="pt-B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tc>
                  <a:txBody>
                    <a:bodyPr/>
                    <a:lstStyle/>
                    <a:p>
                      <a:pPr marR="53911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 dirty="0">
                          <a:effectLst/>
                        </a:rPr>
                        <a:t>Definidas com parênteses ()</a:t>
                      </a:r>
                      <a:endParaRPr lang="pt-BR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tc>
                  <a:txBody>
                    <a:bodyPr/>
                    <a:lstStyle/>
                    <a:p>
                      <a:pPr marR="53911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 dirty="0">
                          <a:effectLst/>
                        </a:rPr>
                        <a:t>Definidos com chaves {} ou a função set()</a:t>
                      </a:r>
                      <a:endParaRPr lang="pt-BR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tc>
                  <a:txBody>
                    <a:bodyPr/>
                    <a:lstStyle/>
                    <a:p>
                      <a:pPr marR="53911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 dirty="0">
                          <a:effectLst/>
                        </a:rPr>
                        <a:t>Definidas com colchetes []</a:t>
                      </a:r>
                      <a:endParaRPr lang="pt-BR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extLst>
                  <a:ext uri="{0D108BD9-81ED-4DB2-BD59-A6C34878D82A}">
                    <a16:rowId xmlns:a16="http://schemas.microsoft.com/office/drawing/2014/main" val="1341058794"/>
                  </a:ext>
                </a:extLst>
              </a:tr>
              <a:tr h="491325">
                <a:tc>
                  <a:txBody>
                    <a:bodyPr/>
                    <a:lstStyle/>
                    <a:p>
                      <a:pPr marR="53911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>
                          <a:effectLst/>
                        </a:rPr>
                        <a:t>Acesso a Elementos</a:t>
                      </a:r>
                      <a:endParaRPr lang="pt-B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tc>
                  <a:txBody>
                    <a:bodyPr/>
                    <a:lstStyle/>
                    <a:p>
                      <a:pPr marR="53911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 dirty="0">
                          <a:effectLst/>
                        </a:rPr>
                        <a:t>Acesso por índice</a:t>
                      </a:r>
                      <a:endParaRPr lang="pt-BR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tc>
                  <a:txBody>
                    <a:bodyPr/>
                    <a:lstStyle/>
                    <a:p>
                      <a:pPr marR="53911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 dirty="0">
                          <a:effectLst/>
                        </a:rPr>
                        <a:t>Não há acesso por índice</a:t>
                      </a:r>
                      <a:endParaRPr lang="pt-BR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tc>
                  <a:txBody>
                    <a:bodyPr/>
                    <a:lstStyle/>
                    <a:p>
                      <a:pPr marR="53911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 dirty="0">
                          <a:effectLst/>
                        </a:rPr>
                        <a:t>Acesso por índice</a:t>
                      </a:r>
                      <a:endParaRPr lang="pt-BR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extLst>
                  <a:ext uri="{0D108BD9-81ED-4DB2-BD59-A6C34878D82A}">
                    <a16:rowId xmlns:a16="http://schemas.microsoft.com/office/drawing/2014/main" val="3330931133"/>
                  </a:ext>
                </a:extLst>
              </a:tr>
              <a:tr h="1026847">
                <a:tc>
                  <a:txBody>
                    <a:bodyPr/>
                    <a:lstStyle/>
                    <a:p>
                      <a:pPr marR="53911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>
                          <a:effectLst/>
                        </a:rPr>
                        <a:t>Adição e Remoção de Elementos</a:t>
                      </a:r>
                      <a:endParaRPr lang="pt-B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tc>
                  <a:txBody>
                    <a:bodyPr/>
                    <a:lstStyle/>
                    <a:p>
                      <a:pPr marR="53911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>
                          <a:effectLst/>
                        </a:rPr>
                        <a:t>Não é possível adicionar ou remover elementos após a criação</a:t>
                      </a:r>
                      <a:endParaRPr lang="pt-B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tc>
                  <a:txBody>
                    <a:bodyPr/>
                    <a:lstStyle/>
                    <a:p>
                      <a:pPr marR="53911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 dirty="0">
                          <a:effectLst/>
                        </a:rPr>
                        <a:t>Adição e remoção de elementos são suportadas</a:t>
                      </a:r>
                      <a:endParaRPr lang="pt-BR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tc>
                  <a:txBody>
                    <a:bodyPr/>
                    <a:lstStyle/>
                    <a:p>
                      <a:pPr marR="53911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>
                          <a:effectLst/>
                        </a:rPr>
                        <a:t>Adição e remoção de elementos são suportadas</a:t>
                      </a:r>
                      <a:endParaRPr lang="pt-B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extLst>
                  <a:ext uri="{0D108BD9-81ED-4DB2-BD59-A6C34878D82A}">
                    <a16:rowId xmlns:a16="http://schemas.microsoft.com/office/drawing/2014/main" val="2618877736"/>
                  </a:ext>
                </a:extLst>
              </a:tr>
              <a:tr h="708431">
                <a:tc>
                  <a:txBody>
                    <a:bodyPr/>
                    <a:lstStyle/>
                    <a:p>
                      <a:pPr marR="53911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>
                          <a:effectLst/>
                        </a:rPr>
                        <a:t>Eficiência em Operações de Conjunto</a:t>
                      </a:r>
                      <a:endParaRPr lang="pt-B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tc>
                  <a:txBody>
                    <a:bodyPr/>
                    <a:lstStyle/>
                    <a:p>
                      <a:pPr marR="53911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>
                          <a:effectLst/>
                        </a:rPr>
                        <a:t>Não aplicável</a:t>
                      </a:r>
                      <a:endParaRPr lang="pt-B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tc>
                  <a:txBody>
                    <a:bodyPr/>
                    <a:lstStyle/>
                    <a:p>
                      <a:pPr marR="53911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>
                          <a:effectLst/>
                        </a:rPr>
                        <a:t>Eficiente</a:t>
                      </a:r>
                      <a:endParaRPr lang="pt-B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tc>
                  <a:txBody>
                    <a:bodyPr/>
                    <a:lstStyle/>
                    <a:p>
                      <a:pPr marR="53911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600" kern="100" dirty="0">
                          <a:effectLst/>
                        </a:rPr>
                        <a:t>Não aplicável</a:t>
                      </a:r>
                      <a:endParaRPr lang="pt-BR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01" marR="33901" marT="33901" marB="33901" anchor="ctr"/>
                </a:tc>
                <a:extLst>
                  <a:ext uri="{0D108BD9-81ED-4DB2-BD59-A6C34878D82A}">
                    <a16:rowId xmlns:a16="http://schemas.microsoft.com/office/drawing/2014/main" val="104212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2393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DD1C28-EEAF-A6D0-21A5-EF3775E84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E9ACCF1-7C8F-59F2-5CB4-D7926E4AB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200" b="1" dirty="0"/>
              <a:t>Cap09-Prog01  -  Cap09-Prog02 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570230A-9CE8-A693-F00F-80D907AD6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15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B3F8A5A-5D91-23BA-1B0C-2454A5AC6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Exercícios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762016A-9415-0C93-D001-DA75078D8090}"/>
              </a:ext>
            </a:extLst>
          </p:cNvPr>
          <p:cNvSpPr txBox="1"/>
          <p:nvPr/>
        </p:nvSpPr>
        <p:spPr>
          <a:xfrm>
            <a:off x="239151" y="1592689"/>
            <a:ext cx="11429388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AutoNum type="arabicParenR"/>
            </a:pPr>
            <a:r>
              <a:rPr lang="pt-BR" sz="2200" dirty="0"/>
              <a:t>Escreva um programa que, dado um vetor de números inteiros e um número inteiro x, construa um vetor com os índices de todas as posições de x no vetor original. </a:t>
            </a:r>
          </a:p>
          <a:p>
            <a:pPr marL="342900" indent="-342900">
              <a:buAutoNum type="arabicParenR"/>
            </a:pPr>
            <a:endParaRPr lang="pt-BR" sz="2200" dirty="0"/>
          </a:p>
          <a:p>
            <a:pPr marL="342900" indent="-342900" algn="just">
              <a:buAutoNum type="arabicParenR"/>
            </a:pPr>
            <a:r>
              <a:rPr lang="pt-BR" sz="2200" dirty="0"/>
              <a:t>Escreva um programa que, dado um vetor de números inteiros, calcule a média dos elementos do vetor. Pesquise </a:t>
            </a:r>
            <a:r>
              <a:rPr lang="pt-BR" sz="2200" b="1" dirty="0" err="1"/>
              <a:t>try</a:t>
            </a:r>
            <a:r>
              <a:rPr lang="pt-BR" sz="2200" b="1" dirty="0"/>
              <a:t>,  </a:t>
            </a:r>
            <a:r>
              <a:rPr lang="pt-BR" sz="2200" b="1" dirty="0" err="1"/>
              <a:t>raise</a:t>
            </a:r>
            <a:r>
              <a:rPr lang="pt-BR" sz="2200" b="1" dirty="0"/>
              <a:t> e </a:t>
            </a:r>
            <a:r>
              <a:rPr lang="pt-BR" sz="2200" b="1" dirty="0" err="1"/>
              <a:t>except</a:t>
            </a:r>
            <a:r>
              <a:rPr lang="pt-BR" sz="2200" b="1" dirty="0"/>
              <a:t> </a:t>
            </a:r>
            <a:r>
              <a:rPr lang="pt-BR" sz="2200" dirty="0"/>
              <a:t>para aplicar no programa</a:t>
            </a:r>
          </a:p>
          <a:p>
            <a:pPr marL="357188"/>
            <a:r>
              <a:rPr lang="pt-BR" sz="2200" dirty="0"/>
              <a:t>Por exemplo:</a:t>
            </a:r>
          </a:p>
          <a:p>
            <a:pPr marL="357188"/>
            <a:endParaRPr lang="pt-BR" sz="2200" dirty="0"/>
          </a:p>
          <a:p>
            <a:pPr marL="457200"/>
            <a:r>
              <a:rPr lang="pt-BR" sz="2200" b="1" dirty="0" err="1"/>
              <a:t>try</a:t>
            </a:r>
            <a:r>
              <a:rPr lang="pt-BR" sz="2200" b="1" dirty="0"/>
              <a:t>:                                     </a:t>
            </a:r>
            <a:r>
              <a:rPr lang="pt-BR" sz="2200" dirty="0"/>
              <a:t># Código que pode causar um erro    </a:t>
            </a:r>
          </a:p>
          <a:p>
            <a:pPr marL="457200"/>
            <a:r>
              <a:rPr lang="pt-BR" sz="2200" dirty="0"/>
              <a:t>         </a:t>
            </a:r>
            <a:r>
              <a:rPr lang="pt-BR" sz="2200" b="1" dirty="0"/>
              <a:t>x = </a:t>
            </a:r>
            <a:r>
              <a:rPr lang="pt-BR" sz="2200" b="1" dirty="0" err="1"/>
              <a:t>int</a:t>
            </a:r>
            <a:r>
              <a:rPr lang="pt-BR" sz="2200" b="1" dirty="0"/>
              <a:t>(input("Digite um número: "))</a:t>
            </a:r>
          </a:p>
          <a:p>
            <a:pPr marL="3319463" indent="-2862263"/>
            <a:r>
              <a:rPr lang="pt-BR" sz="2200" b="1" dirty="0"/>
              <a:t>except ValueError</a:t>
            </a:r>
            <a:r>
              <a:rPr lang="pt-BR" sz="2200" dirty="0"/>
              <a:t>:    # Código que executa se ocorrer um erro    </a:t>
            </a:r>
          </a:p>
          <a:p>
            <a:pPr marL="3319463" indent="-2862263"/>
            <a:r>
              <a:rPr lang="pt-BR" sz="2200" dirty="0"/>
              <a:t>         </a:t>
            </a:r>
            <a:r>
              <a:rPr lang="pt-BR" sz="2200" b="1" dirty="0"/>
              <a:t>print("Valor inválido! )</a:t>
            </a:r>
          </a:p>
          <a:p>
            <a:pPr marL="457200"/>
            <a:r>
              <a:rPr lang="pt-BR" sz="2200" dirty="0"/>
              <a:t>                                             # Por favor, digite um número.")</a:t>
            </a:r>
          </a:p>
          <a:p>
            <a:pPr marL="457200"/>
            <a:r>
              <a:rPr lang="pt-BR" sz="2200" dirty="0"/>
              <a:t>    </a:t>
            </a:r>
          </a:p>
          <a:p>
            <a:pPr marL="358775" indent="-358775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89119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0C8F37D-7FF6-2490-4735-8FFB58D26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57D8603-907F-982B-E31E-6D52FBE83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b="1" dirty="0"/>
              <a:t>Cap09-Prog03A - Cap09-Prog03B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5BFC39-38A1-22B7-38FA-8BC0C9D5A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16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4CEAE457-4485-0845-369E-FFF93F891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Exercícios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27B80D1-DE5F-5973-9752-9057362B0242}"/>
              </a:ext>
            </a:extLst>
          </p:cNvPr>
          <p:cNvSpPr txBox="1"/>
          <p:nvPr/>
        </p:nvSpPr>
        <p:spPr>
          <a:xfrm>
            <a:off x="239152" y="1292225"/>
            <a:ext cx="6990323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O </a:t>
            </a:r>
            <a:r>
              <a:rPr lang="pt-BR" sz="2000" b="1" dirty="0" err="1">
                <a:solidFill>
                  <a:srgbClr val="0070C0"/>
                </a:solidFill>
              </a:rPr>
              <a:t>raise</a:t>
            </a:r>
            <a:r>
              <a:rPr lang="pt-BR" sz="2000" b="1" dirty="0"/>
              <a:t> </a:t>
            </a:r>
            <a:r>
              <a:rPr lang="pt-BR" sz="2000" dirty="0"/>
              <a:t>é usado para </a:t>
            </a:r>
            <a:r>
              <a:rPr lang="pt-BR" sz="2000" b="1" dirty="0"/>
              <a:t>lançar (forçar) uma exceção</a:t>
            </a:r>
            <a:r>
              <a:rPr lang="pt-BR" sz="2000" dirty="0"/>
              <a:t>. Serve quando você quer </a:t>
            </a:r>
            <a:r>
              <a:rPr lang="pt-BR" sz="2000" b="1" dirty="0"/>
              <a:t>interromper o fluxo</a:t>
            </a:r>
            <a:r>
              <a:rPr lang="pt-BR" sz="2000" dirty="0"/>
              <a:t> ou </a:t>
            </a:r>
            <a:r>
              <a:rPr lang="pt-BR" sz="2000" b="1" dirty="0"/>
              <a:t>criar seus próprios erros</a:t>
            </a:r>
            <a:r>
              <a:rPr lang="pt-BR" sz="2000" dirty="0"/>
              <a:t>.</a:t>
            </a:r>
          </a:p>
          <a:p>
            <a:pPr marL="358775" indent="-358775"/>
            <a:endParaRPr lang="pt-BR" sz="1000" dirty="0">
              <a:latin typeface="system-ui"/>
            </a:endParaRPr>
          </a:p>
          <a:p>
            <a:pPr marL="358775" indent="-358775"/>
            <a:r>
              <a:rPr lang="pt-BR" sz="2000" dirty="0" err="1">
                <a:latin typeface="system-ui"/>
              </a:rPr>
              <a:t>def</a:t>
            </a:r>
            <a:r>
              <a:rPr lang="pt-BR" sz="2000" dirty="0">
                <a:latin typeface="system-ui"/>
              </a:rPr>
              <a:t> dividir(a, b):</a:t>
            </a:r>
          </a:p>
          <a:p>
            <a:pPr marL="358775" indent="-358775"/>
            <a:r>
              <a:rPr lang="pt-BR" sz="2000" dirty="0">
                <a:latin typeface="system-ui"/>
              </a:rPr>
              <a:t>    </a:t>
            </a:r>
            <a:r>
              <a:rPr lang="pt-BR" sz="2000" dirty="0" err="1">
                <a:latin typeface="system-ui"/>
              </a:rPr>
              <a:t>if</a:t>
            </a:r>
            <a:r>
              <a:rPr lang="pt-BR" sz="2000" dirty="0">
                <a:latin typeface="system-ui"/>
              </a:rPr>
              <a:t> b == 0:</a:t>
            </a:r>
          </a:p>
          <a:p>
            <a:pPr marL="358775" indent="-358775"/>
            <a:r>
              <a:rPr lang="pt-BR" sz="2000" dirty="0">
                <a:latin typeface="system-ui"/>
              </a:rPr>
              <a:t>        </a:t>
            </a:r>
            <a:r>
              <a:rPr lang="pt-BR" sz="2000" dirty="0" err="1">
                <a:latin typeface="system-ui"/>
              </a:rPr>
              <a:t>raise</a:t>
            </a:r>
            <a:r>
              <a:rPr lang="pt-BR" sz="2000" dirty="0">
                <a:latin typeface="system-ui"/>
              </a:rPr>
              <a:t> </a:t>
            </a:r>
            <a:r>
              <a:rPr lang="pt-BR" sz="2000" dirty="0" err="1">
                <a:latin typeface="system-ui"/>
              </a:rPr>
              <a:t>ZeroDivisionError</a:t>
            </a:r>
            <a:r>
              <a:rPr lang="pt-BR" sz="2000" dirty="0">
                <a:latin typeface="system-ui"/>
              </a:rPr>
              <a:t>("Divisão por zero não é permitida!")</a:t>
            </a:r>
          </a:p>
          <a:p>
            <a:pPr marL="358775" indent="-358775"/>
            <a:r>
              <a:rPr lang="pt-BR" sz="2000" dirty="0">
                <a:latin typeface="system-ui"/>
              </a:rPr>
              <a:t>    </a:t>
            </a:r>
            <a:r>
              <a:rPr lang="pt-BR" sz="2000" dirty="0" err="1">
                <a:latin typeface="system-ui"/>
              </a:rPr>
              <a:t>return</a:t>
            </a:r>
            <a:r>
              <a:rPr lang="pt-BR" sz="2000" dirty="0">
                <a:latin typeface="system-ui"/>
              </a:rPr>
              <a:t> a / b</a:t>
            </a:r>
          </a:p>
          <a:p>
            <a:pPr marL="358775" indent="-358775"/>
            <a:endParaRPr lang="pt-BR" sz="2000" dirty="0">
              <a:latin typeface="system-ui"/>
            </a:endParaRPr>
          </a:p>
          <a:p>
            <a:pPr marL="358775" indent="-358775"/>
            <a:r>
              <a:rPr lang="pt-BR" sz="2000" dirty="0" err="1">
                <a:latin typeface="system-ui"/>
              </a:rPr>
              <a:t>while</a:t>
            </a:r>
            <a:r>
              <a:rPr lang="pt-BR" sz="2000" dirty="0">
                <a:latin typeface="system-ui"/>
              </a:rPr>
              <a:t> True:</a:t>
            </a:r>
          </a:p>
          <a:p>
            <a:pPr marL="358775" indent="-358775"/>
            <a:r>
              <a:rPr lang="pt-BR" sz="2000" dirty="0">
                <a:latin typeface="system-ui"/>
              </a:rPr>
              <a:t>   try:</a:t>
            </a:r>
          </a:p>
          <a:p>
            <a:pPr marL="358775" indent="-358775"/>
            <a:r>
              <a:rPr lang="pt-BR" sz="2000" dirty="0">
                <a:latin typeface="system-ui"/>
              </a:rPr>
              <a:t>   .    a = </a:t>
            </a:r>
            <a:r>
              <a:rPr lang="pt-BR" sz="2000" dirty="0" err="1">
                <a:latin typeface="system-ui"/>
              </a:rPr>
              <a:t>int</a:t>
            </a:r>
            <a:r>
              <a:rPr lang="pt-BR" sz="2000" dirty="0">
                <a:latin typeface="system-ui"/>
              </a:rPr>
              <a:t>(input("\</a:t>
            </a:r>
            <a:r>
              <a:rPr lang="pt-BR" sz="2000" dirty="0" err="1">
                <a:latin typeface="system-ui"/>
              </a:rPr>
              <a:t>nDigite</a:t>
            </a:r>
            <a:r>
              <a:rPr lang="pt-BR" sz="2000" dirty="0">
                <a:latin typeface="system-ui"/>
              </a:rPr>
              <a:t> um valor 1 : "))</a:t>
            </a:r>
          </a:p>
          <a:p>
            <a:pPr marL="358775" indent="-358775"/>
            <a:r>
              <a:rPr lang="pt-BR" sz="2000" dirty="0">
                <a:latin typeface="system-ui"/>
              </a:rPr>
              <a:t>   .    b = </a:t>
            </a:r>
            <a:r>
              <a:rPr lang="pt-BR" sz="2000" dirty="0" err="1">
                <a:latin typeface="system-ui"/>
              </a:rPr>
              <a:t>int</a:t>
            </a:r>
            <a:r>
              <a:rPr lang="pt-BR" sz="2000" dirty="0">
                <a:latin typeface="system-ui"/>
              </a:rPr>
              <a:t>(input("Digite um valor 2 : "))</a:t>
            </a:r>
          </a:p>
          <a:p>
            <a:pPr marL="358775" indent="-358775"/>
            <a:r>
              <a:rPr lang="pt-BR" sz="2000" dirty="0">
                <a:latin typeface="system-ui"/>
              </a:rPr>
              <a:t>   .    print(dividir(</a:t>
            </a:r>
            <a:r>
              <a:rPr lang="pt-BR" sz="2000" dirty="0" err="1">
                <a:latin typeface="system-ui"/>
              </a:rPr>
              <a:t>a,b</a:t>
            </a:r>
            <a:r>
              <a:rPr lang="pt-BR" sz="2000" dirty="0">
                <a:latin typeface="system-ui"/>
              </a:rPr>
              <a:t>))</a:t>
            </a:r>
          </a:p>
          <a:p>
            <a:pPr marL="358775" indent="-358775"/>
            <a:r>
              <a:rPr lang="pt-BR" sz="2000" dirty="0">
                <a:latin typeface="system-ui"/>
              </a:rPr>
              <a:t>   .    break</a:t>
            </a:r>
          </a:p>
          <a:p>
            <a:pPr marL="358775" indent="-358775"/>
            <a:r>
              <a:rPr lang="pt-BR" sz="2000" dirty="0">
                <a:latin typeface="system-ui"/>
              </a:rPr>
              <a:t>   except ZeroDivisionError as e:</a:t>
            </a:r>
          </a:p>
          <a:p>
            <a:pPr marL="358775" indent="-358775"/>
            <a:r>
              <a:rPr lang="pt-BR" sz="2000" dirty="0">
                <a:latin typeface="system-ui"/>
              </a:rPr>
              <a:t>   .    print("\</a:t>
            </a:r>
            <a:r>
              <a:rPr lang="pt-BR" sz="2000" dirty="0" err="1">
                <a:latin typeface="system-ui"/>
              </a:rPr>
              <a:t>nErro</a:t>
            </a:r>
            <a:r>
              <a:rPr lang="pt-BR" sz="2000" dirty="0">
                <a:latin typeface="system-ui"/>
              </a:rPr>
              <a:t> capturado:", e)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35FFC36-7048-268D-ADB9-51A3D7C9E8CB}"/>
              </a:ext>
            </a:extLst>
          </p:cNvPr>
          <p:cNvSpPr txBox="1"/>
          <p:nvPr/>
        </p:nvSpPr>
        <p:spPr>
          <a:xfrm>
            <a:off x="7229475" y="1292225"/>
            <a:ext cx="4857750" cy="5155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/>
            <a:r>
              <a:rPr lang="pt-BR" sz="2000" dirty="0">
                <a:latin typeface="system-ui"/>
              </a:rPr>
              <a:t>  .     # Trata erro de entrada inválida (</a:t>
            </a:r>
            <a:r>
              <a:rPr lang="pt-BR" sz="2000" dirty="0" err="1">
                <a:latin typeface="system-ui"/>
              </a:rPr>
              <a:t>ex</a:t>
            </a:r>
            <a:r>
              <a:rPr lang="pt-BR" sz="2000" dirty="0">
                <a:latin typeface="system-ui"/>
              </a:rPr>
              <a:t>: .          .         digitar 'abc' ao invés de número)</a:t>
            </a:r>
          </a:p>
          <a:p>
            <a:pPr marL="85725" indent="-85725"/>
            <a:r>
              <a:rPr lang="pt-BR" sz="2000" dirty="0" err="1">
                <a:latin typeface="system-ui"/>
              </a:rPr>
              <a:t>while</a:t>
            </a:r>
            <a:r>
              <a:rPr lang="pt-BR" sz="2000" dirty="0">
                <a:latin typeface="system-ui"/>
              </a:rPr>
              <a:t> </a:t>
            </a:r>
            <a:r>
              <a:rPr lang="pt-BR" sz="2000" dirty="0" err="1">
                <a:latin typeface="system-ui"/>
              </a:rPr>
              <a:t>True</a:t>
            </a:r>
            <a:r>
              <a:rPr lang="pt-BR" sz="2000" dirty="0">
                <a:latin typeface="system-ui"/>
              </a:rPr>
              <a:t>:</a:t>
            </a:r>
          </a:p>
          <a:p>
            <a:pPr marL="358775" indent="-358775"/>
            <a:r>
              <a:rPr lang="pt-BR" sz="2000" dirty="0">
                <a:latin typeface="system-ui"/>
              </a:rPr>
              <a:t>   </a:t>
            </a:r>
            <a:r>
              <a:rPr lang="pt-BR" sz="2000" dirty="0" err="1">
                <a:latin typeface="system-ui"/>
              </a:rPr>
              <a:t>try</a:t>
            </a:r>
            <a:r>
              <a:rPr lang="pt-BR" sz="2000" dirty="0">
                <a:latin typeface="system-ui"/>
              </a:rPr>
              <a:t>:</a:t>
            </a:r>
          </a:p>
          <a:p>
            <a:pPr marL="358775" indent="-358775"/>
            <a:r>
              <a:rPr lang="pt-BR" sz="2000" dirty="0">
                <a:latin typeface="system-ui"/>
              </a:rPr>
              <a:t>       a = </a:t>
            </a:r>
            <a:r>
              <a:rPr lang="pt-BR" sz="2000" dirty="0" err="1">
                <a:latin typeface="system-ui"/>
              </a:rPr>
              <a:t>int</a:t>
            </a:r>
            <a:r>
              <a:rPr lang="pt-BR" sz="2000" dirty="0">
                <a:latin typeface="system-ui"/>
              </a:rPr>
              <a:t>(input("\</a:t>
            </a:r>
            <a:r>
              <a:rPr lang="pt-BR" sz="2000" dirty="0" err="1">
                <a:latin typeface="system-ui"/>
              </a:rPr>
              <a:t>nDigite</a:t>
            </a:r>
            <a:r>
              <a:rPr lang="pt-BR" sz="2000" dirty="0">
                <a:latin typeface="system-ui"/>
              </a:rPr>
              <a:t> um valor 1 : "))</a:t>
            </a:r>
          </a:p>
          <a:p>
            <a:pPr marL="358775" indent="-358775"/>
            <a:r>
              <a:rPr lang="pt-BR" sz="2000" dirty="0">
                <a:latin typeface="system-ui"/>
              </a:rPr>
              <a:t>       </a:t>
            </a:r>
            <a:r>
              <a:rPr lang="pt-BR" sz="2000" dirty="0" err="1">
                <a:latin typeface="system-ui"/>
              </a:rPr>
              <a:t>if</a:t>
            </a:r>
            <a:r>
              <a:rPr lang="pt-BR" sz="2000" dirty="0">
                <a:latin typeface="system-ui"/>
              </a:rPr>
              <a:t> (a &gt; 0):</a:t>
            </a:r>
          </a:p>
          <a:p>
            <a:pPr marL="358775" indent="-358775"/>
            <a:r>
              <a:rPr lang="pt-BR" sz="2000" dirty="0">
                <a:latin typeface="system-ui"/>
              </a:rPr>
              <a:t>          break</a:t>
            </a:r>
          </a:p>
          <a:p>
            <a:pPr marL="358775" indent="-358775"/>
            <a:r>
              <a:rPr lang="pt-BR" sz="2000" dirty="0">
                <a:latin typeface="system-ui"/>
              </a:rPr>
              <a:t>   </a:t>
            </a:r>
            <a:r>
              <a:rPr lang="pt-BR" sz="2000" dirty="0" err="1">
                <a:latin typeface="system-ui"/>
              </a:rPr>
              <a:t>except</a:t>
            </a:r>
            <a:r>
              <a:rPr lang="pt-BR" sz="2000" dirty="0">
                <a:latin typeface="system-ui"/>
              </a:rPr>
              <a:t> </a:t>
            </a:r>
            <a:r>
              <a:rPr lang="pt-BR" sz="2000" dirty="0" err="1">
                <a:latin typeface="system-ui"/>
              </a:rPr>
              <a:t>ValueError</a:t>
            </a:r>
            <a:r>
              <a:rPr lang="pt-BR" sz="2000" dirty="0">
                <a:latin typeface="system-ui"/>
              </a:rPr>
              <a:t>:</a:t>
            </a:r>
          </a:p>
          <a:p>
            <a:pPr marL="358775" indent="-358775"/>
            <a:r>
              <a:rPr lang="pt-BR" sz="2000" dirty="0">
                <a:latin typeface="system-ui"/>
              </a:rPr>
              <a:t>          print("\</a:t>
            </a:r>
            <a:r>
              <a:rPr lang="pt-BR" sz="2000" dirty="0" err="1">
                <a:latin typeface="system-ui"/>
              </a:rPr>
              <a:t>nErro</a:t>
            </a:r>
            <a:r>
              <a:rPr lang="pt-BR" sz="2000" dirty="0">
                <a:latin typeface="system-ui"/>
              </a:rPr>
              <a:t>: você deve digitar apenas  números inteiros.")</a:t>
            </a:r>
          </a:p>
          <a:p>
            <a:pPr marL="358775" indent="-358775"/>
            <a:r>
              <a:rPr lang="pt-BR" sz="2000" dirty="0">
                <a:latin typeface="system-ui"/>
              </a:rPr>
              <a:t>       # Caso aconteça outro erro inesperado</a:t>
            </a:r>
          </a:p>
          <a:p>
            <a:pPr marL="358775" indent="-358775"/>
            <a:r>
              <a:rPr lang="pt-BR" sz="2000" dirty="0">
                <a:latin typeface="system-ui"/>
              </a:rPr>
              <a:t>   </a:t>
            </a:r>
            <a:r>
              <a:rPr lang="pt-BR" sz="2000" dirty="0" err="1">
                <a:latin typeface="system-ui"/>
              </a:rPr>
              <a:t>except</a:t>
            </a:r>
            <a:r>
              <a:rPr lang="pt-BR" sz="2000" dirty="0">
                <a:latin typeface="system-ui"/>
              </a:rPr>
              <a:t> </a:t>
            </a:r>
            <a:r>
              <a:rPr lang="pt-BR" sz="2000" dirty="0" err="1">
                <a:latin typeface="system-ui"/>
              </a:rPr>
              <a:t>Exception</a:t>
            </a:r>
            <a:r>
              <a:rPr lang="pt-BR" sz="2000" dirty="0">
                <a:latin typeface="system-ui"/>
              </a:rPr>
              <a:t> as erro:</a:t>
            </a:r>
          </a:p>
          <a:p>
            <a:pPr marL="358775" indent="-358775"/>
            <a:r>
              <a:rPr lang="pt-BR" sz="2000" dirty="0">
                <a:latin typeface="system-ui"/>
              </a:rPr>
              <a:t>        print("\</a:t>
            </a:r>
            <a:r>
              <a:rPr lang="pt-BR" sz="2000" dirty="0" err="1">
                <a:latin typeface="system-ui"/>
              </a:rPr>
              <a:t>nErro</a:t>
            </a:r>
            <a:r>
              <a:rPr lang="pt-BR" sz="2000" dirty="0">
                <a:latin typeface="system-ui"/>
              </a:rPr>
              <a:t> inesperado:", erro)</a:t>
            </a:r>
          </a:p>
          <a:p>
            <a:pPr marL="358775" indent="-358775"/>
            <a:endParaRPr lang="pt-BR" sz="900" dirty="0">
              <a:latin typeface="system-ui"/>
            </a:endParaRPr>
          </a:p>
          <a:p>
            <a:pPr marL="358775" indent="-358775" algn="just"/>
            <a:r>
              <a:rPr lang="pt-BR" sz="2000" dirty="0">
                <a:latin typeface="system-ui"/>
              </a:rPr>
              <a:t>3) Escreva um programa que, dado um vetor de números inteiros, calcule a mediana dos elementos do vetor. </a:t>
            </a:r>
          </a:p>
        </p:txBody>
      </p:sp>
    </p:spTree>
    <p:extLst>
      <p:ext uri="{BB962C8B-B14F-4D97-AF65-F5344CB8AC3E}">
        <p14:creationId xmlns:p14="http://schemas.microsoft.com/office/powerpoint/2010/main" val="2207178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CDE68D4-CFFD-0ED7-96E7-5EEACAAF1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BF093F5-8E7A-28D2-599F-48759278E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200" b="1" dirty="0"/>
              <a:t>Cap09-Prog04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D711B6-AC8A-A3B7-F667-659CA673E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17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8FEA00B-CBAB-3045-78FF-10230D001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Exercícios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71AD23A-993A-C9DF-0739-8695B5EEF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412" y="1244592"/>
            <a:ext cx="11385176" cy="522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238050" rIns="317400" bIns="238050" numCol="1" anchor="ctr" anchorCtr="0" compatLnSpc="1">
            <a:prstTxWarp prst="textNoShape">
              <a:avLst/>
            </a:prstTxWarp>
            <a:spAutoFit/>
          </a:bodyPr>
          <a:lstStyle/>
          <a:p>
            <a:pPr marL="268288" marR="0" lvl="0" indent="-268288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4) Uma grande emissora de televisão quer fazer uma enquete entre os seus telespectadores para saber qual o melhor jogador após cada jogo. Para isto, faz-se necessário o desenvolvimento de um programa, que será utilizado pelas telefonistas, para a computação dos votos. Sua equipe foi contratada para desenvolver este programa, utilizando a linguagem de programação Python. Para computar cada voto, a telefonista digitará um número, entre 1 e 23, correspondente ao número da camisa do jogador. Um número de jogador igual zero, indica que a votação foi encerrada. Se um número inválido for digitado, o programa deve ignorá-lo, mostrando uma breve mensagem de aviso, e voltando a pedir outro número. Após o final da votação, o programa deverá exibir:</a:t>
            </a: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(--jp-code-font-family)"/>
            </a:endParaRPr>
          </a:p>
          <a:p>
            <a:pPr marL="715963" marR="0" lvl="0" indent="-3571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eriod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O total de votos computados;</a:t>
            </a:r>
          </a:p>
          <a:p>
            <a:pPr marL="715963" marR="0" lvl="0" indent="-3571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eriod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Os números e respectivos votos de todos os jogadores que receberam votos;</a:t>
            </a:r>
          </a:p>
          <a:p>
            <a:pPr marL="715963" marR="0" lvl="0" indent="-3571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eriod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O percentual de votos de cada um destes jogadores; </a:t>
            </a:r>
          </a:p>
          <a:p>
            <a:pPr marL="715963" marR="0" lvl="0" indent="-3571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eriod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O número do jogador escolhido como o melhor jogador da partida, juntamente com o número de votos e o percentual de votos dados a ele. (</a:t>
            </a:r>
            <a:r>
              <a:rPr kumimoji="0" lang="pt-BR" altLang="pt-BR" sz="2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continua... </a:t>
            </a:r>
            <a:r>
              <a:rPr kumimoji="0" lang="pt-BR" altLang="pt-BR" sz="22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Prox. </a:t>
            </a:r>
            <a:r>
              <a:rPr kumimoji="0" lang="pt-BR" altLang="pt-BR" sz="2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página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69247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4AEB8E6-18C8-1B3E-9E44-EEB451992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508A872-D866-9836-820B-147669564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B53544-3638-D64A-D69C-8233D7416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18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A0118B3-73AF-BB01-D8B7-4DA46E66E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Exercícios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CB3C81A-8814-59ED-6BD9-526B7931A3ED}"/>
              </a:ext>
            </a:extLst>
          </p:cNvPr>
          <p:cNvSpPr txBox="1"/>
          <p:nvPr/>
        </p:nvSpPr>
        <p:spPr>
          <a:xfrm>
            <a:off x="519953" y="1586823"/>
            <a:ext cx="1117002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 algn="just"/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e. Observe que os votos inválidos e o zero final não devem ser computados como votos. O resultado aparece ordenado pelo número do jogador. O programa deve fazer uso de vetores. O programa deverá executar o cálculo do percentual de cada jogador através de uma função. Esta função receberá dois parâmetros: o número de votos de um jogador e o total de votos. A função calculará o percentual e retornará o valor calculado. Abaixo segue uma tela de exemplo. O disposição das informações deve ser o mais próxima possível ao exemplo. Os dados são fictícios e podem mudar a cada execução do programa. Ao final, o programa deve ainda gravar os dados referentes ao resultado da votação em um arquivo texto no disco, obedecendo a mesma disposição apresentada na tela.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984055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DCCB25F-8EC2-8E50-BB5D-5DCB7C73D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FDB4E0B-DE88-B5AB-6B89-69C225DBC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CB21B7-5E08-E718-FD8C-726791835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19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FA96294-D975-9EF0-3770-90AA47F42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Exercícios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70CC9C9-0450-01BA-AFCB-EFD655142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002" y="1121483"/>
            <a:ext cx="10177849" cy="5466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238050" rIns="317400" bIns="2380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Exemplo: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(--jp-code-font-family)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Enquete: -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Quem foi o melhor jogador?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Número do jogador (0=fim): 9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Número do jogador (0=fim): 10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Número do jogador (0=fim): 9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Número do jogador (0=fim): 10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Número do jogador (0=fim): 11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Número do jogador (0=fim): 10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Número do jogador (0=fim): 50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Informe um valor entre 1 e 23 ou 0 para sair!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Número do jogador (0=fim): 9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Número do jogador (0=fim): 9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Número do jogador (0=fim): 0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pt-BR" altLang="pt-BR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(--jp-code-font-family)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Resultado da votação: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Foram computados 8 votos. </a:t>
            </a:r>
            <a:endParaRPr kumimoji="0" lang="pt-BR" altLang="pt-BR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AEC0D0ED-E318-E2B0-6C6C-425AC8A770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8524"/>
              </p:ext>
            </p:extLst>
          </p:nvPr>
        </p:nvGraphicFramePr>
        <p:xfrm>
          <a:off x="6288259" y="1773131"/>
          <a:ext cx="4642338" cy="1828800"/>
        </p:xfrm>
        <a:graphic>
          <a:graphicData uri="http://schemas.openxmlformats.org/drawingml/2006/table">
            <a:tbl>
              <a:tblPr/>
              <a:tblGrid>
                <a:gridCol w="1876141">
                  <a:extLst>
                    <a:ext uri="{9D8B030D-6E8A-4147-A177-3AD203B41FA5}">
                      <a16:colId xmlns:a16="http://schemas.microsoft.com/office/drawing/2014/main" val="594552717"/>
                    </a:ext>
                  </a:extLst>
                </a:gridCol>
                <a:gridCol w="1357287">
                  <a:extLst>
                    <a:ext uri="{9D8B030D-6E8A-4147-A177-3AD203B41FA5}">
                      <a16:colId xmlns:a16="http://schemas.microsoft.com/office/drawing/2014/main" val="893445383"/>
                    </a:ext>
                  </a:extLst>
                </a:gridCol>
                <a:gridCol w="1408910">
                  <a:extLst>
                    <a:ext uri="{9D8B030D-6E8A-4147-A177-3AD203B41FA5}">
                      <a16:colId xmlns:a16="http://schemas.microsoft.com/office/drawing/2014/main" val="19806283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pt-BR" sz="2400" b="1" dirty="0">
                          <a:effectLst/>
                        </a:rPr>
                        <a:t>Jogador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2400" b="1">
                          <a:effectLst/>
                        </a:rPr>
                        <a:t>Votos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2400" b="1" dirty="0">
                          <a:effectLst/>
                        </a:rPr>
                        <a:t>    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294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pt-BR" sz="2400">
                          <a:effectLst/>
                        </a:rPr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2400">
                          <a:effectLst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2400">
                          <a:effectLst/>
                        </a:rPr>
                        <a:t>50,0%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018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pt-BR" sz="2400">
                          <a:effectLst/>
                        </a:rPr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2400">
                          <a:effectLst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2400">
                          <a:effectLst/>
                        </a:rPr>
                        <a:t>37,5%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781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pt-BR" sz="2400">
                          <a:effectLst/>
                        </a:rPr>
                        <a:t>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2400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2400" dirty="0">
                          <a:effectLst/>
                        </a:rPr>
                        <a:t>12,5%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556380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7B888FC2-0337-9065-21CC-25391AF186BA}"/>
              </a:ext>
            </a:extLst>
          </p:cNvPr>
          <p:cNvSpPr txBox="1"/>
          <p:nvPr/>
        </p:nvSpPr>
        <p:spPr>
          <a:xfrm>
            <a:off x="6398869" y="3861771"/>
            <a:ext cx="44630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effectLst/>
                <a:highlight>
                  <a:srgbClr val="FFFFFF"/>
                </a:highlight>
                <a:latin typeface="system-ui"/>
              </a:rPr>
              <a:t>O melhor jogador foi o número 9, com 4 votos, correspondendo a 50% do total de votos.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585003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E77F38B-18FC-A4ED-9389-D3808FCB0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D3F6542-899D-8EF1-37F8-82E5F223F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DDF6F08-99C3-0FAB-E362-4E11F8170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20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D58A33F-4A3F-DE4D-743A-DEB6ECF11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Exercícios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2F85550-C7AB-7844-6CD1-54FC8BA6C5EE}"/>
              </a:ext>
            </a:extLst>
          </p:cNvPr>
          <p:cNvSpPr txBox="1"/>
          <p:nvPr/>
        </p:nvSpPr>
        <p:spPr>
          <a:xfrm>
            <a:off x="239150" y="1547702"/>
            <a:ext cx="11713699" cy="4673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7188" marR="539115" indent="-357188" algn="just">
              <a:lnSpc>
                <a:spcPct val="107000"/>
              </a:lnSpc>
              <a:spcAft>
                <a:spcPts val="800"/>
              </a:spcAft>
            </a:pPr>
            <a:r>
              <a:rPr lang="pt-BR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5) Estruturas de dados definem a organização; métodos de acesso; e, opções de processamento para a informação manipulada pelo programa. Considerando os tipos de estruturas de dados do Python,  relacione adequadamente as colunas a seguir.</a:t>
            </a:r>
          </a:p>
          <a:p>
            <a:pPr marL="457200" marR="540385"/>
            <a:r>
              <a:rPr lang="pt-BR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1. Lista.			(  ) numeros = set([1, 2, 2, 3, 3, 3])</a:t>
            </a:r>
          </a:p>
          <a:p>
            <a:pPr marL="457200" marR="540385"/>
            <a:r>
              <a:rPr lang="pt-BR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2. Tuplas.		             (  ) frutas = [‘Laranja, ‘Goiaba’, ‘Pera’, ‘Banana’]</a:t>
            </a:r>
          </a:p>
          <a:p>
            <a:pPr marL="457200" marR="540385"/>
            <a:r>
              <a:rPr lang="pt-BR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3. Conjuntos.		(  ) pessoa = {‘nome’: ‘Torvalds’, ‘altura’: 1.65, ‘idade’: 21}</a:t>
            </a:r>
          </a:p>
          <a:p>
            <a:pPr marL="457200" marR="540385"/>
            <a:r>
              <a:rPr lang="pt-BR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4. Dicionários.		(  ) numeros = (10, 20, 30)</a:t>
            </a:r>
          </a:p>
          <a:p>
            <a:pPr marL="457200" marR="540385">
              <a:lnSpc>
                <a:spcPct val="107000"/>
              </a:lnSpc>
              <a:spcAft>
                <a:spcPts val="800"/>
              </a:spcAft>
            </a:pPr>
            <a:r>
              <a:rPr lang="pt-BR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A sequência está correta em Alternativas</a:t>
            </a:r>
          </a:p>
          <a:p>
            <a:pPr marL="357188" marR="540385">
              <a:lnSpc>
                <a:spcPct val="107000"/>
              </a:lnSpc>
              <a:spcAft>
                <a:spcPts val="800"/>
              </a:spcAft>
            </a:pPr>
            <a:r>
              <a:rPr lang="pt-BR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A) 1, 2, 4, 3.  B) 1, 3, 2, 4.   C) 2, 4, 3, 1.   D) 3, 1, 4, 2.   E) 4, 3, 2, 1. </a:t>
            </a:r>
          </a:p>
          <a:p>
            <a:pPr marR="539115">
              <a:lnSpc>
                <a:spcPct val="107000"/>
              </a:lnSpc>
              <a:spcAft>
                <a:spcPts val="800"/>
              </a:spcAft>
            </a:pPr>
            <a:r>
              <a:rPr lang="pt-BR" sz="2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Comentário:</a:t>
            </a:r>
            <a:endParaRPr lang="pt-BR" sz="20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R="539115" algn="just">
              <a:lnSpc>
                <a:spcPct val="107000"/>
              </a:lnSpc>
              <a:spcAft>
                <a:spcPts val="800"/>
              </a:spcAft>
            </a:pPr>
            <a:r>
              <a:rPr lang="pt-BR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Para resolver essa questão basta conhecer sobre Conjuntos ou Tuplas em Python. O método set() converte uma coleção qualquer em um conjunto, já as tuplas são definidas por valores entre parênteses, separados por vírgula. </a:t>
            </a:r>
            <a:r>
              <a:rPr lang="pt-BR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524229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a7b03c-4792-4e17-9dab-b93b92a33270">
      <Terms xmlns="http://schemas.microsoft.com/office/infopath/2007/PartnerControls"/>
    </lcf76f155ced4ddcb4097134ff3c332f>
    <TaxCatchAll xmlns="5c7a6bef-5354-4968-b627-13d8ea6c420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4A3A580C3F0644BAE65217E90A3571B" ma:contentTypeVersion="10" ma:contentTypeDescription="Crie um novo documento." ma:contentTypeScope="" ma:versionID="17db1123b059ccd9b7a0137fb695dfba">
  <xsd:schema xmlns:xsd="http://www.w3.org/2001/XMLSchema" xmlns:xs="http://www.w3.org/2001/XMLSchema" xmlns:p="http://schemas.microsoft.com/office/2006/metadata/properties" xmlns:ns2="30a7b03c-4792-4e17-9dab-b93b92a33270" xmlns:ns3="5c7a6bef-5354-4968-b627-13d8ea6c420d" targetNamespace="http://schemas.microsoft.com/office/2006/metadata/properties" ma:root="true" ma:fieldsID="8a52f4d396bca3b056e9e32e12d83d9c" ns2:_="" ns3:_="">
    <xsd:import namespace="30a7b03c-4792-4e17-9dab-b93b92a33270"/>
    <xsd:import namespace="5c7a6bef-5354-4968-b627-13d8ea6c42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a7b03c-4792-4e17-9dab-b93b92a332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c666036a-182f-4ecd-b44e-d420e52619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7a6bef-5354-4968-b627-13d8ea6c420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53475c2-86e0-40c6-a7f9-d735a9095961}" ma:internalName="TaxCatchAll" ma:showField="CatchAllData" ma:web="5c7a6bef-5354-4968-b627-13d8ea6c42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758BCE-A795-427B-9F81-E63C78CFEC1D}">
  <ds:schemaRefs>
    <ds:schemaRef ds:uri="http://schemas.microsoft.com/office/2006/metadata/properties"/>
    <ds:schemaRef ds:uri="http://schemas.microsoft.com/office/infopath/2007/PartnerControls"/>
    <ds:schemaRef ds:uri="30a7b03c-4792-4e17-9dab-b93b92a33270"/>
    <ds:schemaRef ds:uri="5c7a6bef-5354-4968-b627-13d8ea6c420d"/>
  </ds:schemaRefs>
</ds:datastoreItem>
</file>

<file path=customXml/itemProps2.xml><?xml version="1.0" encoding="utf-8"?>
<ds:datastoreItem xmlns:ds="http://schemas.openxmlformats.org/officeDocument/2006/customXml" ds:itemID="{23BBD1EE-1304-4F8B-AFC3-57074C77E7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a7b03c-4792-4e17-9dab-b93b92a33270"/>
    <ds:schemaRef ds:uri="5c7a6bef-5354-4968-b627-13d8ea6c42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C863165-220A-4EC7-93AA-0CDDA01511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16662</TotalTime>
  <Words>2135</Words>
  <Application>Microsoft Office PowerPoint</Application>
  <PresentationFormat>Widescreen</PresentationFormat>
  <Paragraphs>259</Paragraphs>
  <Slides>20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1" baseType="lpstr">
      <vt:lpstr>Tema do Office</vt:lpstr>
      <vt:lpstr>              Centro Federal de Educação Tecnológica Celso Suckow da Fonseca Escola de Informática e Computação Ciência da Computação</vt:lpstr>
      <vt:lpstr>Tuplas</vt:lpstr>
      <vt:lpstr>Características principais:</vt:lpstr>
      <vt:lpstr>Tuplas</vt:lpstr>
      <vt:lpstr>Tuplas</vt:lpstr>
      <vt:lpstr>Acesso aos elementos de uma Tupla</vt:lpstr>
      <vt:lpstr>Tuplas</vt:lpstr>
      <vt:lpstr>Mas é Imutável, mesmo ?</vt:lpstr>
      <vt:lpstr>Atualização de Tuplas</vt:lpstr>
      <vt:lpstr>Tuplas</vt:lpstr>
      <vt:lpstr>Operadores Básicos sobre Tuplas</vt:lpstr>
      <vt:lpstr>Conjuntos em Python</vt:lpstr>
      <vt:lpstr> De Lista para Conjunto ou Tupla</vt:lpstr>
      <vt:lpstr>Quadro comparativo:  tuplas, conjuntos e das listas em Python</vt:lpstr>
      <vt:lpstr>Exercícios</vt:lpstr>
      <vt:lpstr>Exercícios</vt:lpstr>
      <vt:lpstr>Exercícios</vt:lpstr>
      <vt:lpstr>Exercícios</vt:lpstr>
      <vt:lpstr>Exercícios</vt:lpstr>
      <vt:lpstr>Exercícios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ALMIR SILVA DA SILVEIRA</dc:creator>
  <cp:lastModifiedBy>ALMIR SILVA DA SILVEIRA</cp:lastModifiedBy>
  <cp:revision>268</cp:revision>
  <dcterms:created xsi:type="dcterms:W3CDTF">2024-07-25T18:00:53Z</dcterms:created>
  <dcterms:modified xsi:type="dcterms:W3CDTF">2026-06-22T01:47:05Z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0x01010024A3A580C3F0644BAE65217E90A3571B</vt:lpwstr>
  </property>
  <property fmtid="{D5CDD505-2E9C-101B-9397-08002B2CF9AE}" pid="3" name="MediaServiceImageTags">
    <vt:lpwstr/>
  </property>
</Properties>
</file>