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8" r:id="rId5"/>
    <p:sldId id="259" r:id="rId6"/>
    <p:sldId id="308" r:id="rId7"/>
    <p:sldId id="309" r:id="rId8"/>
    <p:sldId id="301" r:id="rId9"/>
    <p:sldId id="310" r:id="rId10"/>
    <p:sldId id="311" r:id="rId11"/>
    <p:sldId id="302" r:id="rId12"/>
    <p:sldId id="303" r:id="rId13"/>
    <p:sldId id="304" r:id="rId14"/>
    <p:sldId id="305" r:id="rId15"/>
    <p:sldId id="306" r:id="rId16"/>
    <p:sldId id="281" r:id="rId17"/>
    <p:sldId id="282" r:id="rId18"/>
    <p:sldId id="283" r:id="rId19"/>
    <p:sldId id="284" r:id="rId20"/>
    <p:sldId id="285" r:id="rId21"/>
    <p:sldId id="287" r:id="rId22"/>
    <p:sldId id="286" r:id="rId23"/>
    <p:sldId id="288" r:id="rId24"/>
    <p:sldId id="289" r:id="rId25"/>
    <p:sldId id="290" r:id="rId26"/>
    <p:sldId id="293" r:id="rId27"/>
    <p:sldId id="294" r:id="rId28"/>
    <p:sldId id="307" r:id="rId29"/>
    <p:sldId id="291" r:id="rId30"/>
    <p:sldId id="295" r:id="rId31"/>
    <p:sldId id="296" r:id="rId32"/>
    <p:sldId id="297" r:id="rId33"/>
    <p:sldId id="298" r:id="rId34"/>
    <p:sldId id="313" r:id="rId35"/>
    <p:sldId id="314" r:id="rId36"/>
    <p:sldId id="299" r:id="rId37"/>
    <p:sldId id="300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FFFF"/>
    <a:srgbClr val="FF0000"/>
    <a:srgbClr val="0079B6"/>
    <a:srgbClr val="FE4D2A"/>
    <a:srgbClr val="FC4810"/>
    <a:srgbClr val="2D100B"/>
    <a:srgbClr val="2C11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B599E-5ED1-629A-5EE6-8E2723840703}" v="1" dt="2026-06-22T02:12:17.9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0" autoAdjust="0"/>
    <p:restoredTop sz="95095" autoAdjust="0"/>
  </p:normalViewPr>
  <p:slideViewPr>
    <p:cSldViewPr snapToGrid="0">
      <p:cViewPr varScale="1">
        <p:scale>
          <a:sx n="63" d="100"/>
          <a:sy n="63" d="100"/>
        </p:scale>
        <p:origin x="684" y="7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A TROTTA SILVEIRA" userId="S::18200369790@cefet-rj.br::5e18e8ca-67e6-4902-b3a3-5059fd113c90" providerId="AD" clId="Web-{88839730-68FE-6FC7-D40B-5DFFF08BB8CE}"/>
    <pc:docChg chg="addSld delSld modSld">
      <pc:chgData name="MARIANNA TROTTA SILVEIRA" userId="S::18200369790@cefet-rj.br::5e18e8ca-67e6-4902-b3a3-5059fd113c90" providerId="AD" clId="Web-{88839730-68FE-6FC7-D40B-5DFFF08BB8CE}" dt="2026-05-31T02:44:25.344" v="7" actId="1076"/>
      <pc:docMkLst>
        <pc:docMk/>
      </pc:docMkLst>
      <pc:sldChg chg="modSp">
        <pc:chgData name="MARIANNA TROTTA SILVEIRA" userId="S::18200369790@cefet-rj.br::5e18e8ca-67e6-4902-b3a3-5059fd113c90" providerId="AD" clId="Web-{88839730-68FE-6FC7-D40B-5DFFF08BB8CE}" dt="2026-05-31T01:15:06.841" v="0" actId="1076"/>
        <pc:sldMkLst>
          <pc:docMk/>
          <pc:sldMk cId="3666405020" sldId="287"/>
        </pc:sldMkLst>
        <pc:cxnChg chg="mod">
          <ac:chgData name="MARIANNA TROTTA SILVEIRA" userId="S::18200369790@cefet-rj.br::5e18e8ca-67e6-4902-b3a3-5059fd113c90" providerId="AD" clId="Web-{88839730-68FE-6FC7-D40B-5DFFF08BB8CE}" dt="2026-05-31T01:15:06.841" v="0" actId="1076"/>
          <ac:cxnSpMkLst>
            <pc:docMk/>
            <pc:sldMk cId="3666405020" sldId="287"/>
            <ac:cxnSpMk id="11" creationId="{869EF04A-217F-F232-EDD2-00B44E78931C}"/>
          </ac:cxnSpMkLst>
        </pc:cxnChg>
      </pc:sldChg>
      <pc:sldChg chg="modSp">
        <pc:chgData name="MARIANNA TROTTA SILVEIRA" userId="S::18200369790@cefet-rj.br::5e18e8ca-67e6-4902-b3a3-5059fd113c90" providerId="AD" clId="Web-{88839730-68FE-6FC7-D40B-5DFFF08BB8CE}" dt="2026-05-31T02:29:44.106" v="3" actId="14100"/>
        <pc:sldMkLst>
          <pc:docMk/>
          <pc:sldMk cId="844055474" sldId="291"/>
        </pc:sldMkLst>
        <pc:spChg chg="mod">
          <ac:chgData name="MARIANNA TROTTA SILVEIRA" userId="S::18200369790@cefet-rj.br::5e18e8ca-67e6-4902-b3a3-5059fd113c90" providerId="AD" clId="Web-{88839730-68FE-6FC7-D40B-5DFFF08BB8CE}" dt="2026-05-31T02:29:44.106" v="3" actId="14100"/>
          <ac:spMkLst>
            <pc:docMk/>
            <pc:sldMk cId="844055474" sldId="291"/>
            <ac:spMk id="11" creationId="{B0FA1D38-5D76-B47C-4085-411AB48E293B}"/>
          </ac:spMkLst>
        </pc:spChg>
      </pc:sldChg>
      <pc:sldChg chg="modSp">
        <pc:chgData name="MARIANNA TROTTA SILVEIRA" userId="S::18200369790@cefet-rj.br::5e18e8ca-67e6-4902-b3a3-5059fd113c90" providerId="AD" clId="Web-{88839730-68FE-6FC7-D40B-5DFFF08BB8CE}" dt="2026-05-31T02:37:08.702" v="5" actId="14100"/>
        <pc:sldMkLst>
          <pc:docMk/>
          <pc:sldMk cId="2095870758" sldId="296"/>
        </pc:sldMkLst>
        <pc:spChg chg="mod">
          <ac:chgData name="MARIANNA TROTTA SILVEIRA" userId="S::18200369790@cefet-rj.br::5e18e8ca-67e6-4902-b3a3-5059fd113c90" providerId="AD" clId="Web-{88839730-68FE-6FC7-D40B-5DFFF08BB8CE}" dt="2026-05-31T02:36:48.295" v="4" actId="14100"/>
          <ac:spMkLst>
            <pc:docMk/>
            <pc:sldMk cId="2095870758" sldId="296"/>
            <ac:spMk id="10" creationId="{F1FD0F50-1EBB-B88B-FDD3-9071902E585A}"/>
          </ac:spMkLst>
        </pc:spChg>
        <pc:spChg chg="mod">
          <ac:chgData name="MARIANNA TROTTA SILVEIRA" userId="S::18200369790@cefet-rj.br::5e18e8ca-67e6-4902-b3a3-5059fd113c90" providerId="AD" clId="Web-{88839730-68FE-6FC7-D40B-5DFFF08BB8CE}" dt="2026-05-31T02:37:08.702" v="5" actId="14100"/>
          <ac:spMkLst>
            <pc:docMk/>
            <pc:sldMk cId="2095870758" sldId="296"/>
            <ac:spMk id="17" creationId="{DE135123-30A5-3240-FA1B-3F77F4A74A24}"/>
          </ac:spMkLst>
        </pc:spChg>
      </pc:sldChg>
      <pc:sldChg chg="modSp">
        <pc:chgData name="MARIANNA TROTTA SILVEIRA" userId="S::18200369790@cefet-rj.br::5e18e8ca-67e6-4902-b3a3-5059fd113c90" providerId="AD" clId="Web-{88839730-68FE-6FC7-D40B-5DFFF08BB8CE}" dt="2026-05-31T02:44:25.344" v="7" actId="1076"/>
        <pc:sldMkLst>
          <pc:docMk/>
          <pc:sldMk cId="305956152" sldId="297"/>
        </pc:sldMkLst>
        <pc:spChg chg="mod">
          <ac:chgData name="MARIANNA TROTTA SILVEIRA" userId="S::18200369790@cefet-rj.br::5e18e8ca-67e6-4902-b3a3-5059fd113c90" providerId="AD" clId="Web-{88839730-68FE-6FC7-D40B-5DFFF08BB8CE}" dt="2026-05-31T02:44:25.344" v="7" actId="1076"/>
          <ac:spMkLst>
            <pc:docMk/>
            <pc:sldMk cId="305956152" sldId="297"/>
            <ac:spMk id="36" creationId="{EC6A6DB6-BF85-6047-8125-DC1DB6B6D98C}"/>
          </ac:spMkLst>
        </pc:spChg>
      </pc:sldChg>
    </pc:docChg>
  </pc:docChgLst>
  <pc:docChgLst>
    <pc:chgData name="JOAQUIM MONTEIRO LEOTE" userId="S::20061015792@cefet-rj.br::adab3c55-dd51-4144-945e-2d2e42f46045" providerId="AD" clId="Web-{13DB599E-5ED1-629A-5EE6-8E2723840703}"/>
    <pc:docChg chg="modSld">
      <pc:chgData name="JOAQUIM MONTEIRO LEOTE" userId="S::20061015792@cefet-rj.br::adab3c55-dd51-4144-945e-2d2e42f46045" providerId="AD" clId="Web-{13DB599E-5ED1-629A-5EE6-8E2723840703}" dt="2026-06-22T02:12:17.993" v="0" actId="1076"/>
      <pc:docMkLst>
        <pc:docMk/>
      </pc:docMkLst>
      <pc:sldChg chg="modSp">
        <pc:chgData name="JOAQUIM MONTEIRO LEOTE" userId="S::20061015792@cefet-rj.br::adab3c55-dd51-4144-945e-2d2e42f46045" providerId="AD" clId="Web-{13DB599E-5ED1-629A-5EE6-8E2723840703}" dt="2026-06-22T02:12:17.993" v="0" actId="1076"/>
        <pc:sldMkLst>
          <pc:docMk/>
          <pc:sldMk cId="134715876" sldId="309"/>
        </pc:sldMkLst>
        <pc:spChg chg="mod">
          <ac:chgData name="JOAQUIM MONTEIRO LEOTE" userId="S::20061015792@cefet-rj.br::adab3c55-dd51-4144-945e-2d2e42f46045" providerId="AD" clId="Web-{13DB599E-5ED1-629A-5EE6-8E2723840703}" dt="2026-06-22T02:12:17.993" v="0" actId="1076"/>
          <ac:spMkLst>
            <pc:docMk/>
            <pc:sldMk cId="134715876" sldId="309"/>
            <ac:spMk id="8" creationId="{CCCDD3B2-FC20-38F0-BB41-6EE669EEF8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62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475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18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fld id="{250292FE-8D56-4E3A-9427-CB428FF60A53}" type="slidenum">
              <a:rPr lang="pt-BR" smtClean="0"/>
              <a:pPr/>
              <a:t>1</a:t>
            </a:fld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814192" y="2028616"/>
            <a:ext cx="103184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Cap-10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Dicionário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08B4042-4B7D-847F-883F-141C385B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B00BA0-9E8F-BC0F-B89E-5A61ED02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35B0AE-55E9-0CE1-41AB-EDECA738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35E6337-AA41-584A-0117-A5ACC483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Dicionário</a:t>
            </a:r>
            <a:endParaRPr lang="pt-BR" b="1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26D96F-5082-9C53-FDB3-9D3A5ED49F8F}"/>
              </a:ext>
            </a:extLst>
          </p:cNvPr>
          <p:cNvSpPr txBox="1"/>
          <p:nvPr/>
        </p:nvSpPr>
        <p:spPr>
          <a:xfrm>
            <a:off x="793630" y="1690777"/>
            <a:ext cx="106277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600" b="0" i="0" u="none" strike="noStrike" baseline="0" dirty="0">
                <a:solidFill>
                  <a:srgbClr val="000000"/>
                </a:solidFill>
                <a:latin typeface="CIDFont+F2"/>
              </a:rPr>
              <a:t>Conceito</a:t>
            </a:r>
          </a:p>
          <a:p>
            <a:pPr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r>
              <a:rPr lang="pt-BR" sz="3600" b="0" i="0" u="none" strike="noStrike" baseline="0" dirty="0">
                <a:solidFill>
                  <a:srgbClr val="000000"/>
                </a:solidFill>
                <a:latin typeface="CIDFont+F3"/>
              </a:rPr>
              <a:t>• Operações</a:t>
            </a:r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algn="l"/>
            <a:endParaRPr lang="pt-BR" sz="36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276225" indent="-276225" algn="l"/>
            <a:r>
              <a:rPr lang="pt-BR" sz="3600" b="0" i="0" u="none" strike="noStrike" baseline="0" dirty="0">
                <a:solidFill>
                  <a:srgbClr val="464653"/>
                </a:solidFill>
                <a:latin typeface="CIDFont+F3"/>
              </a:rPr>
              <a:t>• Métodos</a:t>
            </a:r>
            <a:endParaRPr lang="pt-BR" sz="3600" b="0" i="0" u="none" strike="noStrike" baseline="0" dirty="0">
              <a:solidFill>
                <a:srgbClr val="0070C2"/>
              </a:solidFill>
              <a:latin typeface="CIDFont+F4"/>
            </a:endParaRPr>
          </a:p>
          <a:p>
            <a:pPr algn="l"/>
            <a:endParaRPr lang="pt-BR" sz="3600" b="0" i="0" u="none" strike="noStrike" baseline="0" dirty="0">
              <a:solidFill>
                <a:srgbClr val="0070C2"/>
              </a:solidFill>
              <a:latin typeface="CIDFont+F4"/>
            </a:endParaRPr>
          </a:p>
          <a:p>
            <a:pPr algn="l"/>
            <a:r>
              <a:rPr lang="pt-BR" sz="3600" b="0" i="0" u="none" strike="noStrike" baseline="0" dirty="0">
                <a:solidFill>
                  <a:srgbClr val="464653"/>
                </a:solidFill>
                <a:latin typeface="CIDFont+F3"/>
              </a:rPr>
              <a:t>• Exercícios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64261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7CADAC-DB45-BB93-C68F-DCA249B6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BD5865-97F3-6A54-B009-C5F55C33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A42815-9645-C61D-7A28-F207EC56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AEB0398-8684-0804-BB39-9C7D64E7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Dicionário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1CC361-E996-A09A-0A69-5EBDAED1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490504"/>
            <a:ext cx="7404988" cy="477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BBD4A1-40D7-F9D9-F101-00E1416DB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E8555D-1C94-7A86-57FC-17328B07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4B0B58-8B9C-ECF4-276D-01B03FC3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4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36FC625-394D-1653-DDCE-BA2610E6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Como funcionam os dicionários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09401A-8936-D4BC-DB9E-96B165AADAD9}"/>
              </a:ext>
            </a:extLst>
          </p:cNvPr>
          <p:cNvSpPr txBox="1"/>
          <p:nvPr/>
        </p:nvSpPr>
        <p:spPr>
          <a:xfrm>
            <a:off x="35950" y="1324134"/>
            <a:ext cx="12156049" cy="46884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200" b="1" i="0" dirty="0">
                <a:solidFill>
                  <a:srgbClr val="001D35"/>
                </a:solidFill>
                <a:effectLst/>
                <a:latin typeface="Google Sans"/>
              </a:rPr>
              <a:t> Pares Chave-Valor</a:t>
            </a:r>
            <a:r>
              <a:rPr lang="pt-BR" sz="2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marL="182563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 São compostos por um par de elementos: uma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chave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 e um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valor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 associado a ela. 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200" b="1" i="0" dirty="0">
                <a:solidFill>
                  <a:srgbClr val="001D35"/>
                </a:solidFill>
                <a:effectLst/>
                <a:latin typeface="Google Sans"/>
              </a:rPr>
              <a:t> Acesso por Chave</a:t>
            </a:r>
            <a:r>
              <a:rPr lang="pt-BR" sz="2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marL="274638" indent="-92075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 A informação é acessada usando a chave, não a sua posição. Por exemplo, para encontrar </a:t>
            </a:r>
            <a:r>
              <a:rPr lang="pt-BR" sz="2000" dirty="0">
                <a:solidFill>
                  <a:srgbClr val="001D35"/>
                </a:solidFill>
                <a:latin typeface="Google Sans"/>
              </a:rPr>
              <a:t>p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or "Alice", usa-se a chave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'name'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dicionario['name']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lang="pt-BR" sz="2200" b="1" i="0" dirty="0">
                <a:solidFill>
                  <a:srgbClr val="001D35"/>
                </a:solidFill>
                <a:effectLst/>
                <a:latin typeface="Google Sans"/>
              </a:rPr>
              <a:t>Unicidade das Chaves</a:t>
            </a:r>
            <a:r>
              <a:rPr lang="pt-BR" sz="2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marL="355600" indent="-173038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Cada chave dentro de um dicionário deve ser única, garantindo que um valor seja claramente identificado. 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200" b="1" i="0" dirty="0">
                <a:solidFill>
                  <a:srgbClr val="001D35"/>
                </a:solidFill>
                <a:effectLst/>
                <a:latin typeface="Google Sans"/>
              </a:rPr>
              <a:t> Tipos de Dados</a:t>
            </a:r>
            <a:r>
              <a:rPr lang="pt-BR" sz="2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marL="365125" indent="-182563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As chaves devem ser de um tipo imutável (como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strings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,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números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, ou 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tuplas</a:t>
            </a:r>
            <a:r>
              <a:rPr lang="pt-BR" sz="2000" b="0" i="0" dirty="0">
                <a:solidFill>
                  <a:srgbClr val="001D35"/>
                </a:solidFill>
                <a:effectLst/>
                <a:latin typeface="Google Sans"/>
              </a:rPr>
              <a:t>), mas os valores podem ser de qualquer tipo de dado, incluindo listas, outros dicionários ou funções.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rgbClr val="001D35"/>
                </a:solidFill>
                <a:latin typeface="Google Sans"/>
              </a:rPr>
              <a:t> Criação e Sintaxe</a:t>
            </a:r>
            <a:r>
              <a:rPr lang="pt-BR" sz="2200" dirty="0">
                <a:solidFill>
                  <a:srgbClr val="001D35"/>
                </a:solidFill>
                <a:latin typeface="Google Sans"/>
              </a:rPr>
              <a:t>: </a:t>
            </a:r>
            <a:endParaRPr lang="pt-BR" sz="2000" dirty="0">
              <a:solidFill>
                <a:srgbClr val="001D35"/>
              </a:solidFill>
              <a:latin typeface="Google Sans"/>
            </a:endParaRPr>
          </a:p>
          <a:p>
            <a:pPr marL="274638" indent="-92075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1D35"/>
                </a:solidFill>
                <a:latin typeface="Google Sans"/>
              </a:rPr>
              <a:t> Um dicionário é criado entre chaves {} , com os pares chave-valor separados por vírgulas, e cada chave é seguida por dois pontos : antes do seu valor.  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CDD3B2-FC20-38F0-BB41-6EE669EEF8FD}"/>
              </a:ext>
            </a:extLst>
          </p:cNvPr>
          <p:cNvSpPr/>
          <p:nvPr/>
        </p:nvSpPr>
        <p:spPr>
          <a:xfrm>
            <a:off x="4441338" y="6098047"/>
            <a:ext cx="7749746" cy="517525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FF0000"/>
                </a:solidFill>
              </a:rPr>
              <a:t>pessoa =      { 'nome': 'Alice’,  'idade': 25,  'cidade': ‘Recife’ }</a:t>
            </a:r>
          </a:p>
        </p:txBody>
      </p:sp>
    </p:spTree>
    <p:extLst>
      <p:ext uri="{BB962C8B-B14F-4D97-AF65-F5344CB8AC3E}">
        <p14:creationId xmlns:p14="http://schemas.microsoft.com/office/powerpoint/2010/main" val="13471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8201D8-3284-1BAD-3D8C-4EC02DA1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D458A4-3222-C331-6560-3A084CB28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5BFD97-FA76-566B-7BD2-4022BE38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5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28ECCDF-A1DB-51DF-858A-EF43E85D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>
                <a:latin typeface="CIDFont+F1"/>
              </a:rPr>
              <a:t>Dicionário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462F3D-29F1-2870-8535-3518677A78B1}"/>
              </a:ext>
            </a:extLst>
          </p:cNvPr>
          <p:cNvSpPr txBox="1"/>
          <p:nvPr/>
        </p:nvSpPr>
        <p:spPr>
          <a:xfrm>
            <a:off x="10551" y="1325880"/>
            <a:ext cx="1171369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800" dirty="0"/>
              <a:t>Imagine a situação em que queremos representar uma agenda de contatos do Instagram. Considerando que você já estudou a estrutura de dados lista (e sabe como manipulá-la).</a:t>
            </a:r>
          </a:p>
          <a:p>
            <a:pPr marL="274638"/>
            <a:endParaRPr lang="pt-BR" sz="2000" dirty="0"/>
          </a:p>
          <a:p>
            <a:pPr marL="274638"/>
            <a:r>
              <a:rPr lang="pt-BR" sz="2000" dirty="0"/>
              <a:t>nomes = ["Camila Queiroz", "Paolla de Oliveira"]</a:t>
            </a:r>
          </a:p>
          <a:p>
            <a:pPr marL="274638"/>
            <a:r>
              <a:rPr lang="pt-BR" sz="2000" dirty="0" err="1"/>
              <a:t>instagram</a:t>
            </a:r>
            <a:r>
              <a:rPr lang="pt-BR" sz="2000" dirty="0"/>
              <a:t> = ["@</a:t>
            </a:r>
            <a:r>
              <a:rPr lang="pt-BR" sz="2000" dirty="0" err="1"/>
              <a:t>camilaqueiroz</a:t>
            </a:r>
            <a:r>
              <a:rPr lang="pt-BR" sz="2000" dirty="0"/>
              <a:t>", "@</a:t>
            </a:r>
            <a:r>
              <a:rPr lang="pt-BR" sz="2000" dirty="0" err="1"/>
              <a:t>paollaoliveirareal</a:t>
            </a:r>
            <a:r>
              <a:rPr lang="pt-BR" sz="2000" dirty="0"/>
              <a:t>"]</a:t>
            </a:r>
          </a:p>
          <a:p>
            <a:pPr marL="274638"/>
            <a:r>
              <a:rPr lang="pt-BR" sz="2000" dirty="0" err="1"/>
              <a:t>ind</a:t>
            </a:r>
            <a:r>
              <a:rPr lang="pt-BR" sz="2000" dirty="0"/>
              <a:t> = </a:t>
            </a:r>
            <a:r>
              <a:rPr lang="pt-BR" sz="2000" dirty="0" err="1"/>
              <a:t>nomes.index</a:t>
            </a:r>
            <a:r>
              <a:rPr lang="pt-BR" sz="2000" dirty="0"/>
              <a:t>("Paolla de Oliveira")</a:t>
            </a:r>
          </a:p>
          <a:p>
            <a:pPr marL="274638"/>
            <a:r>
              <a:rPr lang="pt-BR" sz="2000" dirty="0"/>
              <a:t>print(</a:t>
            </a:r>
            <a:r>
              <a:rPr lang="pt-BR" sz="2000" dirty="0" err="1"/>
              <a:t>instagram</a:t>
            </a:r>
            <a:r>
              <a:rPr lang="pt-BR" sz="2000" dirty="0"/>
              <a:t>[</a:t>
            </a:r>
            <a:r>
              <a:rPr lang="pt-BR" sz="2000" dirty="0" err="1"/>
              <a:t>ind</a:t>
            </a:r>
            <a:r>
              <a:rPr lang="pt-BR" sz="2000" dirty="0"/>
              <a:t>]  ) </a:t>
            </a:r>
            <a:r>
              <a:rPr lang="pt-BR" sz="2400" b="1" dirty="0">
                <a:solidFill>
                  <a:srgbClr val="FF0000"/>
                </a:solidFill>
              </a:rPr>
              <a:t># @paollaoliveirareal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936B0E-7D2E-2285-D114-104D2561A778}"/>
              </a:ext>
            </a:extLst>
          </p:cNvPr>
          <p:cNvSpPr txBox="1"/>
          <p:nvPr/>
        </p:nvSpPr>
        <p:spPr>
          <a:xfrm>
            <a:off x="7951763" y="2374850"/>
            <a:ext cx="37481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Exemplo de listas para exemplificar as vantagens de utilizar dicionários. </a:t>
            </a:r>
            <a:r>
              <a:rPr lang="pt-BR" sz="2000"/>
              <a:t>Veja </a:t>
            </a:r>
            <a:r>
              <a:rPr lang="pt-BR" sz="2000" dirty="0"/>
              <a:t>como ficaria a implementação</a:t>
            </a:r>
          </a:p>
          <a:p>
            <a:pPr algn="just"/>
            <a:r>
              <a:rPr lang="pt-BR" sz="2000" dirty="0"/>
              <a:t>do mesmo exemplo utilizando dicionários: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D36171-FD22-5346-97EC-27FC715F0463}"/>
              </a:ext>
            </a:extLst>
          </p:cNvPr>
          <p:cNvSpPr txBox="1"/>
          <p:nvPr/>
        </p:nvSpPr>
        <p:spPr>
          <a:xfrm>
            <a:off x="304800" y="4419600"/>
            <a:ext cx="11826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contato = {"@</a:t>
            </a:r>
            <a:r>
              <a:rPr lang="pt-BR" sz="2000" b="1" dirty="0" err="1"/>
              <a:t>camilaqueiroz</a:t>
            </a:r>
            <a:r>
              <a:rPr lang="pt-BR" sz="2000" b="1" dirty="0"/>
              <a:t>": "Camila Queiroz", "@</a:t>
            </a:r>
            <a:r>
              <a:rPr lang="pt-BR" sz="2000" b="1" dirty="0" err="1"/>
              <a:t>paollaoliveirareal</a:t>
            </a:r>
            <a:r>
              <a:rPr lang="pt-BR" sz="2000" b="1" dirty="0"/>
              <a:t>": "Paolla de Oliveira"}</a:t>
            </a:r>
          </a:p>
          <a:p>
            <a:r>
              <a:rPr lang="pt-BR" sz="2000" b="1" dirty="0"/>
              <a:t>print(contato["@</a:t>
            </a:r>
            <a:r>
              <a:rPr lang="pt-BR" sz="2000" b="1" dirty="0" err="1"/>
              <a:t>paollaoliveirareal</a:t>
            </a:r>
            <a:r>
              <a:rPr lang="pt-BR" sz="2000" b="1" dirty="0"/>
              <a:t> "]) </a:t>
            </a:r>
            <a:r>
              <a:rPr lang="pt-BR" b="1" dirty="0"/>
              <a:t>                                               </a:t>
            </a:r>
            <a:r>
              <a:rPr lang="pt-BR" b="1" dirty="0">
                <a:solidFill>
                  <a:srgbClr val="FF0000"/>
                </a:solidFill>
              </a:rPr>
              <a:t># </a:t>
            </a:r>
            <a:r>
              <a:rPr lang="pt-BR" b="1" dirty="0">
                <a:solidFill>
                  <a:srgbClr val="0070C0"/>
                </a:solidFill>
              </a:rPr>
              <a:t>Paolla de Oliveira</a:t>
            </a:r>
          </a:p>
          <a:p>
            <a:r>
              <a:rPr lang="sv-SE" sz="2000" b="1" dirty="0"/>
              <a:t>contato.update({"@sandrabullock": "Sandra Bullock"})    </a:t>
            </a:r>
            <a:r>
              <a:rPr lang="sv-SE" b="1" dirty="0">
                <a:solidFill>
                  <a:srgbClr val="FF0000"/>
                </a:solidFill>
              </a:rPr>
              <a:t># atualizei o dicionário com mais um dado </a:t>
            </a:r>
          </a:p>
          <a:p>
            <a:r>
              <a:rPr lang="sv-SE" sz="2000" b="1" dirty="0">
                <a:solidFill>
                  <a:srgbClr val="FF0000"/>
                </a:solidFill>
              </a:rPr>
              <a:t>                                                                                                                            </a:t>
            </a:r>
            <a:r>
              <a:rPr lang="sv-SE" b="1" dirty="0">
                <a:solidFill>
                  <a:srgbClr val="FF0000"/>
                </a:solidFill>
              </a:rPr>
              <a:t>#  introduzi a chave </a:t>
            </a:r>
            <a:r>
              <a:rPr lang="sv-SE" b="1" dirty="0">
                <a:solidFill>
                  <a:srgbClr val="0070C0"/>
                </a:solidFill>
              </a:rPr>
              <a:t>:  @sandrabullock </a:t>
            </a:r>
          </a:p>
          <a:p>
            <a:pPr marL="10499725" indent="-10499725"/>
            <a:r>
              <a:rPr lang="sv-SE" sz="2000" b="1" dirty="0"/>
              <a:t>print(contato.get("@sandrabullock"))</a:t>
            </a:r>
            <a:r>
              <a:rPr lang="sv-SE" sz="2000" b="1" dirty="0">
                <a:solidFill>
                  <a:srgbClr val="FF0000"/>
                </a:solidFill>
              </a:rPr>
              <a:t>       </a:t>
            </a:r>
            <a:r>
              <a:rPr lang="sv-SE" b="1" dirty="0">
                <a:solidFill>
                  <a:srgbClr val="FF0000"/>
                </a:solidFill>
              </a:rPr>
              <a:t>#  imprime a informação da chave </a:t>
            </a:r>
            <a:r>
              <a:rPr lang="sv-SE" b="1" dirty="0">
                <a:solidFill>
                  <a:srgbClr val="0070C0"/>
                </a:solidFill>
              </a:rPr>
              <a:t>@sandrabullock: Sandra Bullock</a:t>
            </a:r>
          </a:p>
          <a:p>
            <a:r>
              <a:rPr lang="pt-BR" sz="2000" b="1" dirty="0"/>
              <a:t>print(len(contato))                                                </a:t>
            </a:r>
            <a:r>
              <a:rPr lang="pt-BR" b="1" dirty="0">
                <a:solidFill>
                  <a:srgbClr val="FF0000"/>
                </a:solidFill>
              </a:rPr>
              <a:t># imprime quantos elementos existe no dicionário:   </a:t>
            </a:r>
            <a:r>
              <a:rPr lang="pt-BR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" name="Chave Direita 9">
            <a:extLst>
              <a:ext uri="{FF2B5EF4-FFF2-40B4-BE49-F238E27FC236}">
                <a16:creationId xmlns:a16="http://schemas.microsoft.com/office/drawing/2014/main" id="{CB24C1B2-6D6C-9ED2-7BBD-E1212B38173B}"/>
              </a:ext>
            </a:extLst>
          </p:cNvPr>
          <p:cNvSpPr/>
          <p:nvPr/>
        </p:nvSpPr>
        <p:spPr>
          <a:xfrm>
            <a:off x="5968219" y="2932252"/>
            <a:ext cx="579120" cy="1393705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87EAE81-BDC0-8986-FC62-EDF70390F2D3}"/>
              </a:ext>
            </a:extLst>
          </p:cNvPr>
          <p:cNvCxnSpPr>
            <a:cxnSpLocks/>
            <a:stCxn id="10" idx="1"/>
            <a:endCxn id="8" idx="1"/>
          </p:cNvCxnSpPr>
          <p:nvPr/>
        </p:nvCxnSpPr>
        <p:spPr>
          <a:xfrm flipV="1">
            <a:off x="6547339" y="3344346"/>
            <a:ext cx="1404424" cy="28475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ta: para a Esquerda e para Cima 10">
            <a:extLst>
              <a:ext uri="{FF2B5EF4-FFF2-40B4-BE49-F238E27FC236}">
                <a16:creationId xmlns:a16="http://schemas.microsoft.com/office/drawing/2014/main" id="{88F4660E-4A87-8C5C-9C7A-BE2D2956AF8B}"/>
              </a:ext>
            </a:extLst>
          </p:cNvPr>
          <p:cNvSpPr/>
          <p:nvPr/>
        </p:nvSpPr>
        <p:spPr>
          <a:xfrm>
            <a:off x="10911840" y="3962400"/>
            <a:ext cx="381000" cy="79248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66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DC85F5-D74F-8ACB-7CC9-E2874759E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59A36D-9B4A-4DA1-A2F2-064C1818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0CD5FF-9A01-EFF6-46C4-C53D117E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0E7374E-CD46-8578-1959-96864425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>
                <a:latin typeface="CIDFont+F1"/>
              </a:rPr>
              <a:t>Dicionário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D5FF93-3F1D-FB92-F007-9704C3E37CD1}"/>
              </a:ext>
            </a:extLst>
          </p:cNvPr>
          <p:cNvSpPr txBox="1"/>
          <p:nvPr/>
        </p:nvSpPr>
        <p:spPr>
          <a:xfrm>
            <a:off x="372534" y="1649209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pessoa = {"nome": "Paulo", "idade": 29, "filhos": ["João", "Maria"]}</a:t>
            </a:r>
            <a:endParaRPr lang="pt-BR" sz="2800" b="1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CD210C-CF39-3EDE-55CC-301B7FD4D613}"/>
              </a:ext>
            </a:extLst>
          </p:cNvPr>
          <p:cNvSpPr txBox="1"/>
          <p:nvPr/>
        </p:nvSpPr>
        <p:spPr>
          <a:xfrm>
            <a:off x="372534" y="2377248"/>
            <a:ext cx="11495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738" indent="-185738" algn="just"/>
            <a:r>
              <a:rPr lang="pt-BR" sz="2400" b="0" i="0" dirty="0">
                <a:effectLst/>
                <a:latin typeface="Roboto" panose="02000000000000000000" pitchFamily="2" charset="0"/>
              </a:rPr>
              <a:t>- Com frequência, utilizamos dicionários em Python para </a:t>
            </a:r>
            <a:r>
              <a:rPr lang="pt-BR" sz="2400" b="1" i="0" dirty="0">
                <a:effectLst/>
                <a:latin typeface="Roboto" panose="02000000000000000000" pitchFamily="2" charset="0"/>
              </a:rPr>
              <a:t>representar estruturas e relações que existem na vida real</a:t>
            </a:r>
            <a:r>
              <a:rPr lang="pt-BR" sz="2400" b="0" i="0" dirty="0">
                <a:effectLst/>
                <a:latin typeface="Roboto" panose="02000000000000000000" pitchFamily="2" charset="0"/>
              </a:rPr>
              <a:t>. É quase como se um dicionário definisse os atributos (chaves) e valores de uma entidade qualquer da vida real. No exemplo de código acima, podemos interpretar o dicionário como sendo os atributos de uma pessoa: nesse caso, a pessoa possui o 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" panose="02000000000000000000" pitchFamily="2" charset="0"/>
              </a:rPr>
              <a:t>nome 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 Mono" panose="00000009000000000000" pitchFamily="49" charset="0"/>
              </a:rPr>
              <a:t>"Paulo"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pt-BR" sz="2400" b="0" i="0" dirty="0">
                <a:effectLst/>
                <a:latin typeface="Roboto" panose="02000000000000000000" pitchFamily="2" charset="0"/>
              </a:rPr>
              <a:t>a 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" panose="02000000000000000000" pitchFamily="2" charset="0"/>
              </a:rPr>
              <a:t>idade 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 Mono" panose="00000009000000000000" pitchFamily="49" charset="0"/>
              </a:rPr>
              <a:t>29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pt-BR" sz="2400" b="0" i="0" dirty="0">
                <a:effectLst/>
                <a:latin typeface="Roboto" panose="02000000000000000000" pitchFamily="2" charset="0"/>
              </a:rPr>
              <a:t>e uma lista de 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" panose="02000000000000000000" pitchFamily="2" charset="0"/>
              </a:rPr>
              <a:t>filhos </a:t>
            </a:r>
            <a:r>
              <a:rPr lang="pt-BR" sz="2400" b="1" i="0" dirty="0">
                <a:solidFill>
                  <a:srgbClr val="002060"/>
                </a:solidFill>
                <a:effectLst/>
                <a:latin typeface="Roboto Mono" panose="00000009000000000000" pitchFamily="49" charset="0"/>
              </a:rPr>
              <a:t>["João", "Maria"]</a:t>
            </a:r>
            <a:r>
              <a:rPr lang="pt-BR" sz="2400" b="0" i="0" dirty="0">
                <a:effectLst/>
                <a:latin typeface="Roboto" panose="02000000000000000000" pitchFamily="2" charset="0"/>
              </a:rPr>
              <a:t>.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989267-FE8D-0614-6368-C570C73E0065}"/>
              </a:ext>
            </a:extLst>
          </p:cNvPr>
          <p:cNvSpPr txBox="1"/>
          <p:nvPr/>
        </p:nvSpPr>
        <p:spPr>
          <a:xfrm>
            <a:off x="372534" y="4890391"/>
            <a:ext cx="118194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5463" indent="-1795463"/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produtos = [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{'id': '2810', 'tipo': 'forno', 'ano': 2020},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{'id': '9812', 'tipo': 'celular', 'ano': 2019},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{'id': '7756', 'tipo': 'geladeira', 'ano': 2022}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]</a:t>
            </a:r>
            <a:endParaRPr lang="pt-BR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76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BC4FBE2-8C45-D38D-9042-48D58FE5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454195-B1DF-AEDB-9C33-600AEB64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Cap10-Exem00B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76E9BE-D60E-2BE7-A852-392E1A88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>
                <a:solidFill>
                  <a:schemeClr val="tx1"/>
                </a:solidFill>
              </a:rPr>
              <a:pPr algn="r"/>
              <a:t>7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793AD48-D843-AA27-7A87-DA5758F9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>
                <a:latin typeface="CIDFont+F1"/>
              </a:rPr>
              <a:t>Dicionário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314A73A-419F-96E4-9CDA-99A2A105C3BC}"/>
              </a:ext>
            </a:extLst>
          </p:cNvPr>
          <p:cNvSpPr txBox="1"/>
          <p:nvPr/>
        </p:nvSpPr>
        <p:spPr>
          <a:xfrm>
            <a:off x="59266" y="2397071"/>
            <a:ext cx="122682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8138" indent="-1608138"/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pessoa = {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"nome": "Paulo",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"idade": 29,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"filhos": [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{"nome": "João", "idade": 6}, {"nome": "Maria", "idade": 9}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]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Code-Pro-JetBrains-Mono"/>
              </a:rPr>
              <a:t> </a:t>
            </a:r>
            <a:r>
              <a:rPr lang="pt-BR" sz="2800" b="1" i="0" dirty="0">
                <a:solidFill>
                  <a:srgbClr val="002060"/>
                </a:solidFill>
                <a:effectLst/>
                <a:latin typeface="inherit"/>
              </a:rPr>
              <a:t>}</a:t>
            </a:r>
            <a:endParaRPr lang="pt-BR" sz="2800" b="1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D98C94-C9C4-FDE8-B001-FEAD30482036}"/>
              </a:ext>
            </a:extLst>
          </p:cNvPr>
          <p:cNvSpPr txBox="1"/>
          <p:nvPr/>
        </p:nvSpPr>
        <p:spPr>
          <a:xfrm>
            <a:off x="239152" y="1439201"/>
            <a:ext cx="116283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0" i="0" dirty="0">
                <a:effectLst/>
                <a:latin typeface="Roboto" panose="02000000000000000000" pitchFamily="2" charset="0"/>
              </a:rPr>
              <a:t>Veja o exemplo abaixo, onde adaptamos o dicionário </a:t>
            </a:r>
            <a:r>
              <a:rPr lang="pt-BR" sz="2800" b="0" i="0" dirty="0">
                <a:effectLst/>
                <a:latin typeface="Roboto Mono" panose="00000009000000000000" pitchFamily="49" charset="0"/>
              </a:rPr>
              <a:t>pessoa</a:t>
            </a:r>
            <a:r>
              <a:rPr lang="pt-BR" sz="2800" b="0" i="0" dirty="0">
                <a:effectLst/>
                <a:latin typeface="Roboto" panose="02000000000000000000" pitchFamily="2" charset="0"/>
              </a:rPr>
              <a:t> para que os filhos sejam também representados por dicionários: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67C703-415B-7C1C-4B41-FC2207259E35}"/>
              </a:ext>
            </a:extLst>
          </p:cNvPr>
          <p:cNvSpPr txBox="1"/>
          <p:nvPr/>
        </p:nvSpPr>
        <p:spPr>
          <a:xfrm>
            <a:off x="239151" y="3380512"/>
            <a:ext cx="117136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dirty="0">
                <a:effectLst/>
                <a:latin typeface="inherit"/>
              </a:rPr>
              <a:t># Criando dicionário vazio com construtor</a:t>
            </a:r>
            <a:r>
              <a:rPr lang="pt-BR" sz="2800" b="0" i="0" dirty="0">
                <a:effectLst/>
                <a:latin typeface="Code-Pro-JetBrains-Mono"/>
              </a:rPr>
              <a:t> </a:t>
            </a:r>
            <a:r>
              <a:rPr lang="pt-BR" sz="2800" b="1" i="0" dirty="0" err="1">
                <a:solidFill>
                  <a:srgbClr val="0070C0"/>
                </a:solidFill>
                <a:effectLst/>
                <a:latin typeface="inherit"/>
              </a:rPr>
              <a:t>dict_vazio</a:t>
            </a:r>
            <a:r>
              <a:rPr lang="pt-BR" sz="2800" b="1" i="0" dirty="0">
                <a:solidFill>
                  <a:srgbClr val="0070C0"/>
                </a:solidFill>
                <a:effectLst/>
                <a:latin typeface="inherit"/>
              </a:rPr>
              <a:t> = {}</a:t>
            </a:r>
            <a:r>
              <a:rPr lang="pt-BR" sz="2800" b="1" i="0" dirty="0">
                <a:solidFill>
                  <a:srgbClr val="0070C0"/>
                </a:solidFill>
                <a:effectLst/>
                <a:latin typeface="Code-Pro-JetBrains-Mono"/>
              </a:rPr>
              <a:t> </a:t>
            </a:r>
          </a:p>
          <a:p>
            <a:r>
              <a:rPr lang="pt-BR" sz="2800" b="0" i="0" dirty="0">
                <a:effectLst/>
                <a:latin typeface="inherit"/>
              </a:rPr>
              <a:t># Criando dicionário vazio com a função dict()</a:t>
            </a:r>
            <a:r>
              <a:rPr lang="pt-BR" sz="2800" b="0" i="0" dirty="0">
                <a:effectLst/>
                <a:latin typeface="Code-Pro-JetBrains-Mono"/>
              </a:rPr>
              <a:t> </a:t>
            </a:r>
            <a:r>
              <a:rPr lang="pt-BR" sz="2800" b="1" i="0" dirty="0" err="1">
                <a:solidFill>
                  <a:srgbClr val="0070C0"/>
                </a:solidFill>
                <a:effectLst/>
                <a:latin typeface="inherit"/>
              </a:rPr>
              <a:t>dict_vazio</a:t>
            </a:r>
            <a:r>
              <a:rPr lang="pt-BR" sz="2800" b="1" i="0" dirty="0">
                <a:solidFill>
                  <a:srgbClr val="0070C0"/>
                </a:solidFill>
                <a:effectLst/>
                <a:latin typeface="inherit"/>
              </a:rPr>
              <a:t> = </a:t>
            </a:r>
            <a:r>
              <a:rPr lang="pt-BR" sz="2800" b="1" i="1" dirty="0">
                <a:solidFill>
                  <a:srgbClr val="0070C0"/>
                </a:solidFill>
                <a:effectLst/>
                <a:latin typeface="inherit"/>
              </a:rPr>
              <a:t>dict</a:t>
            </a:r>
            <a:r>
              <a:rPr lang="pt-BR" sz="2800" b="1" i="0" dirty="0">
                <a:solidFill>
                  <a:srgbClr val="0070C0"/>
                </a:solidFill>
                <a:effectLst/>
                <a:latin typeface="inherit"/>
              </a:rPr>
              <a:t>()</a:t>
            </a:r>
            <a:endParaRPr lang="pt-BR" sz="2800" b="1" dirty="0">
              <a:solidFill>
                <a:srgbClr val="0070C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7DBF6FC-65AA-AE31-3518-D1E7E26F546A}"/>
              </a:ext>
            </a:extLst>
          </p:cNvPr>
          <p:cNvSpPr txBox="1"/>
          <p:nvPr/>
        </p:nvSpPr>
        <p:spPr>
          <a:xfrm>
            <a:off x="239151" y="4494579"/>
            <a:ext cx="1171369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inherit"/>
              </a:rPr>
              <a:t>capitais = {"Brasil": "Brasília", "Alemanha": "Berlim", "Japão": "Tóquio"} </a:t>
            </a:r>
          </a:p>
          <a:p>
            <a:r>
              <a:rPr lang="pt-BR" sz="2800" dirty="0" err="1">
                <a:latin typeface="inherit"/>
              </a:rPr>
              <a:t>capital_brasil</a:t>
            </a:r>
            <a:r>
              <a:rPr lang="pt-BR" sz="2800" dirty="0">
                <a:latin typeface="inherit"/>
              </a:rPr>
              <a:t> = capitais["Brasil"] </a:t>
            </a:r>
          </a:p>
          <a:p>
            <a:r>
              <a:rPr lang="pt-BR" sz="2800" dirty="0">
                <a:latin typeface="inherit"/>
              </a:rPr>
              <a:t>print(capitais)</a:t>
            </a:r>
          </a:p>
          <a:p>
            <a:r>
              <a:rPr lang="pt-BR" sz="2800" dirty="0">
                <a:latin typeface="inherit"/>
              </a:rPr>
              <a:t>print(</a:t>
            </a:r>
            <a:r>
              <a:rPr lang="pt-BR" sz="2800" dirty="0" err="1">
                <a:latin typeface="inherit"/>
              </a:rPr>
              <a:t>capital_brasil</a:t>
            </a:r>
            <a:r>
              <a:rPr lang="pt-BR" sz="2800" dirty="0">
                <a:latin typeface="inherit"/>
              </a:rPr>
              <a:t>) # saída: Brasília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01037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60264D-1435-98AE-A6A7-03D2BFED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8FA147-D942-3A54-8666-5C30DC55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Cap10-Exem00C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1B8F41-B387-BFE0-1FBE-FAE1DF3D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8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E8DD80A-2856-6BB9-18F7-71A4DE83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852" y="412928"/>
            <a:ext cx="10053997" cy="988219"/>
          </a:xfrm>
        </p:spPr>
        <p:txBody>
          <a:bodyPr>
            <a:normAutofit fontScale="90000"/>
          </a:bodyPr>
          <a:lstStyle/>
          <a:p>
            <a:r>
              <a:rPr lang="pt-BR" b="1" i="1" dirty="0">
                <a:latin typeface="CIDFont+F1"/>
              </a:rPr>
              <a:t>Dicionário – 1-Inserindo, 2-atualizando, </a:t>
            </a:r>
            <a:br>
              <a:rPr lang="pt-BR" b="1" i="1" dirty="0">
                <a:latin typeface="CIDFont+F1"/>
              </a:rPr>
            </a:br>
            <a:r>
              <a:rPr lang="pt-BR" b="1" i="1" dirty="0">
                <a:latin typeface="CIDFont+F1"/>
              </a:rPr>
              <a:t>3-contando </a:t>
            </a:r>
            <a:r>
              <a:rPr lang="pt-BR" i="1" dirty="0">
                <a:latin typeface="CIDFont+F1"/>
              </a:rPr>
              <a:t>elementos</a:t>
            </a:r>
            <a:r>
              <a:rPr lang="pt-BR" b="1" i="1" dirty="0">
                <a:latin typeface="CIDFont+F1"/>
              </a:rPr>
              <a:t> pesquisando elementos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2C540E-F848-C299-0060-8675ACAE17B1}"/>
              </a:ext>
            </a:extLst>
          </p:cNvPr>
          <p:cNvSpPr txBox="1"/>
          <p:nvPr/>
        </p:nvSpPr>
        <p:spPr>
          <a:xfrm>
            <a:off x="239151" y="1524258"/>
            <a:ext cx="1152612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&lt;dicionario&gt;.get(&lt;chave&gt;)    </a:t>
            </a:r>
            <a:r>
              <a:rPr lang="pt-BR" sz="2800" b="1" dirty="0">
                <a:solidFill>
                  <a:srgbClr val="FF0000"/>
                </a:solidFill>
              </a:rPr>
              <a:t># 1</a:t>
            </a:r>
          </a:p>
          <a:p>
            <a:endParaRPr lang="pt-BR" sz="1000" dirty="0"/>
          </a:p>
          <a:p>
            <a:r>
              <a:rPr lang="pt-BR" sz="2800" dirty="0"/>
              <a:t>&lt;dicionario&gt;.update({&lt;chave&gt;: &lt;valor&gt;})   </a:t>
            </a:r>
            <a:r>
              <a:rPr lang="pt-BR" sz="2800" b="1" dirty="0">
                <a:solidFill>
                  <a:srgbClr val="FF0000"/>
                </a:solidFill>
              </a:rPr>
              <a:t># 2</a:t>
            </a:r>
          </a:p>
          <a:p>
            <a:endParaRPr lang="pt-BR" sz="1000" dirty="0"/>
          </a:p>
          <a:p>
            <a:r>
              <a:rPr lang="pt-BR" sz="2800" dirty="0"/>
              <a:t>len(&lt;dicionario&gt;)    </a:t>
            </a:r>
            <a:r>
              <a:rPr lang="pt-BR" sz="2800" b="1" dirty="0">
                <a:solidFill>
                  <a:srgbClr val="FF0000"/>
                </a:solidFill>
              </a:rPr>
              <a:t># 3</a:t>
            </a:r>
          </a:p>
          <a:p>
            <a:endParaRPr lang="pt-BR" sz="1000" dirty="0"/>
          </a:p>
          <a:p>
            <a:r>
              <a:rPr lang="pt-BR" sz="2800" dirty="0"/>
              <a:t>&lt;chave&gt; in &lt;dicionario&gt;:</a:t>
            </a:r>
          </a:p>
          <a:p>
            <a:r>
              <a:rPr lang="pt-BR" sz="2800" dirty="0"/>
              <a:t>      comandos</a:t>
            </a:r>
          </a:p>
          <a:p>
            <a:r>
              <a:rPr lang="pt-BR" sz="2800" b="1" dirty="0"/>
              <a:t>contato = {"@</a:t>
            </a:r>
            <a:r>
              <a:rPr lang="pt-BR" sz="2800" b="1" dirty="0" err="1"/>
              <a:t>camilaqueiroz</a:t>
            </a:r>
            <a:r>
              <a:rPr lang="pt-BR" sz="2800" b="1" dirty="0"/>
              <a:t>": "Camila Queiroz", "@</a:t>
            </a:r>
            <a:r>
              <a:rPr lang="pt-BR" sz="2800" b="1" dirty="0" err="1"/>
              <a:t>paollaoliveirareal</a:t>
            </a:r>
            <a:r>
              <a:rPr lang="pt-BR" sz="2800" b="1" dirty="0"/>
              <a:t>": "Paolla de Oliveira"}</a:t>
            </a:r>
          </a:p>
          <a:p>
            <a:endParaRPr lang="pt-BR" sz="1000" dirty="0"/>
          </a:p>
          <a:p>
            <a:r>
              <a:rPr lang="pt-BR" sz="2800" dirty="0" err="1"/>
              <a:t>if</a:t>
            </a:r>
            <a:r>
              <a:rPr lang="pt-BR" sz="2800" dirty="0"/>
              <a:t> "@</a:t>
            </a:r>
            <a:r>
              <a:rPr lang="pt-BR" sz="2800" dirty="0" err="1"/>
              <a:t>paollaoliveirareal</a:t>
            </a:r>
            <a:r>
              <a:rPr lang="pt-BR" sz="2800" dirty="0"/>
              <a:t>" in contato:</a:t>
            </a:r>
          </a:p>
          <a:p>
            <a:r>
              <a:rPr lang="pt-BR" sz="2800" dirty="0"/>
              <a:t>     print(f"{</a:t>
            </a:r>
            <a:r>
              <a:rPr lang="pt-BR" sz="2800" dirty="0" err="1"/>
              <a:t>contato.get</a:t>
            </a:r>
            <a:r>
              <a:rPr lang="pt-BR" sz="2800" dirty="0"/>
              <a:t>('@</a:t>
            </a:r>
            <a:r>
              <a:rPr lang="pt-BR" sz="2800" dirty="0" err="1"/>
              <a:t>paollaoliveirareal</a:t>
            </a:r>
            <a:r>
              <a:rPr lang="pt-BR" sz="2800" dirty="0"/>
              <a:t>')}")</a:t>
            </a:r>
          </a:p>
        </p:txBody>
      </p:sp>
    </p:spTree>
    <p:extLst>
      <p:ext uri="{BB962C8B-B14F-4D97-AF65-F5344CB8AC3E}">
        <p14:creationId xmlns:p14="http://schemas.microsoft.com/office/powerpoint/2010/main" val="377625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BBB815-2C70-8277-A41E-9A730462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2ECBCE-5090-9B3E-8D72-22A34C2E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Cap10-Exem00D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77D7F7-ADDF-C0EE-918F-D5D7F5B5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9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9E23C87-A118-E4DF-244D-B77C31E7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i="1" dirty="0">
                <a:solidFill>
                  <a:srgbClr val="4472C5"/>
                </a:solidFill>
                <a:latin typeface="CIDFont+F1"/>
              </a:rPr>
              <a:t>Método values()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7E236E-E8BC-0287-D410-60F9B9DD9819}"/>
              </a:ext>
            </a:extLst>
          </p:cNvPr>
          <p:cNvSpPr txBox="1"/>
          <p:nvPr/>
        </p:nvSpPr>
        <p:spPr>
          <a:xfrm>
            <a:off x="411480" y="1491794"/>
            <a:ext cx="114560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contato = {"@</a:t>
            </a:r>
            <a:r>
              <a:rPr lang="pt-BR" sz="2800" dirty="0" err="1"/>
              <a:t>camilaqueiroz</a:t>
            </a:r>
            <a:r>
              <a:rPr lang="pt-BR" sz="2800" dirty="0"/>
              <a:t>": "Camila Queiroz", "@</a:t>
            </a:r>
            <a:r>
              <a:rPr lang="pt-BR" sz="2800" dirty="0" err="1"/>
              <a:t>paollaoliveirareal</a:t>
            </a:r>
            <a:r>
              <a:rPr lang="pt-BR" sz="2800" dirty="0"/>
              <a:t>": "Paolla de Oliveira",  "@</a:t>
            </a:r>
            <a:r>
              <a:rPr lang="pt-BR" sz="2800" dirty="0" err="1"/>
              <a:t>sheronmenezzes</a:t>
            </a:r>
            <a:r>
              <a:rPr lang="pt-BR" sz="2800" dirty="0"/>
              <a:t>": "Sheron Menezes",  "@</a:t>
            </a:r>
            <a:r>
              <a:rPr lang="pt-BR" sz="2800" dirty="0" err="1"/>
              <a:t>bruna_iconica</a:t>
            </a:r>
            <a:r>
              <a:rPr lang="pt-BR" sz="2800" dirty="0"/>
              <a:t>": "Bruna Marquezine"}</a:t>
            </a:r>
          </a:p>
          <a:p>
            <a:r>
              <a:rPr lang="pt-BR" sz="2800" dirty="0"/>
              <a:t>for insta in </a:t>
            </a:r>
            <a:r>
              <a:rPr lang="pt-BR" sz="2800" dirty="0" err="1"/>
              <a:t>contato.keys</a:t>
            </a:r>
            <a:r>
              <a:rPr lang="pt-BR" sz="2800" dirty="0"/>
              <a:t>():</a:t>
            </a:r>
          </a:p>
          <a:p>
            <a:r>
              <a:rPr lang="pt-BR" sz="2800" dirty="0"/>
              <a:t>      print(insta)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EE0B9D-FC15-E9A9-CFE8-E7DB2DC0DFEB}"/>
              </a:ext>
            </a:extLst>
          </p:cNvPr>
          <p:cNvSpPr txBox="1"/>
          <p:nvPr/>
        </p:nvSpPr>
        <p:spPr>
          <a:xfrm>
            <a:off x="8675077" y="2423687"/>
            <a:ext cx="225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@camilaqueiroz</a:t>
            </a:r>
          </a:p>
          <a:p>
            <a:r>
              <a:rPr lang="pt-BR" b="1" dirty="0">
                <a:solidFill>
                  <a:srgbClr val="FF0000"/>
                </a:solidFill>
              </a:rPr>
              <a:t>@paollaoliveirareal</a:t>
            </a:r>
          </a:p>
          <a:p>
            <a:r>
              <a:rPr lang="pt-BR" b="1" dirty="0">
                <a:solidFill>
                  <a:srgbClr val="FF0000"/>
                </a:solidFill>
              </a:rPr>
              <a:t>@sheronmenezzes</a:t>
            </a:r>
          </a:p>
          <a:p>
            <a:r>
              <a:rPr lang="pt-BR" b="1" dirty="0">
                <a:solidFill>
                  <a:srgbClr val="FF0000"/>
                </a:solidFill>
              </a:rPr>
              <a:t>@bruna_iconica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7C2C67-70FC-7BF7-7BC7-F73C4AFAB4ED}"/>
              </a:ext>
            </a:extLst>
          </p:cNvPr>
          <p:cNvSpPr txBox="1"/>
          <p:nvPr/>
        </p:nvSpPr>
        <p:spPr>
          <a:xfrm>
            <a:off x="367973" y="4109581"/>
            <a:ext cx="114560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/>
              <a:t>Se desejar obter os valores de um dicionário, no formato de uma lista, utilize o método values(), cuja sintaxe básica é a seguinte:</a:t>
            </a:r>
          </a:p>
          <a:p>
            <a:r>
              <a:rPr lang="pt-BR" sz="2800" b="1" dirty="0">
                <a:solidFill>
                  <a:srgbClr val="0070C0"/>
                </a:solidFill>
              </a:rPr>
              <a:t>&lt;dicionario&gt;.values()</a:t>
            </a:r>
          </a:p>
          <a:p>
            <a:endParaRPr lang="pt-BR" sz="2800" b="1" dirty="0">
              <a:solidFill>
                <a:srgbClr val="0070C0"/>
              </a:solidFill>
            </a:endParaRPr>
          </a:p>
          <a:p>
            <a:r>
              <a:rPr lang="fr-FR" sz="2800" dirty="0"/>
              <a:t>print(f"\n{contato.values()}")</a:t>
            </a:r>
            <a:endParaRPr lang="pt-BR" sz="28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E62BA64-D368-D9CD-839E-40053539A9E2}"/>
              </a:ext>
            </a:extLst>
          </p:cNvPr>
          <p:cNvSpPr txBox="1"/>
          <p:nvPr/>
        </p:nvSpPr>
        <p:spPr>
          <a:xfrm>
            <a:off x="6400800" y="4925883"/>
            <a:ext cx="5552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FF0000"/>
                </a:solidFill>
              </a:rPr>
              <a:t>dict_values</a:t>
            </a:r>
            <a:r>
              <a:rPr lang="pt-BR" b="1" dirty="0">
                <a:solidFill>
                  <a:srgbClr val="FF0000"/>
                </a:solidFill>
              </a:rPr>
              <a:t>(['Camila Queiroz', 'Paolla de Oliveira', 'Sheron Menezes', 'Bruna Marquezine'])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426F09F-BEA8-122A-E2BE-32F1CFB33B55}"/>
              </a:ext>
            </a:extLst>
          </p:cNvPr>
          <p:cNvCxnSpPr/>
          <p:nvPr/>
        </p:nvCxnSpPr>
        <p:spPr>
          <a:xfrm flipH="1">
            <a:off x="2910840" y="3002280"/>
            <a:ext cx="5516880" cy="4267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E31BBB8C-34F3-987F-3D82-6591189FEF6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847771" y="5572214"/>
            <a:ext cx="4329054" cy="43205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54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7283BD-0D52-3F96-5A1D-C055C18E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0F659F-D9EB-D977-E90A-6C243BE7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201E0A-B41A-8662-6518-F0FACDE7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10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D8A4075-1BE6-DCAA-28D9-C32380DB4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10186468" cy="988219"/>
          </a:xfrm>
        </p:spPr>
        <p:txBody>
          <a:bodyPr>
            <a:normAutofit fontScale="90000"/>
          </a:bodyPr>
          <a:lstStyle/>
          <a:p>
            <a:r>
              <a:rPr lang="pt-BR" b="1" i="1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i="1" dirty="0">
                <a:solidFill>
                  <a:srgbClr val="4472C5"/>
                </a:solidFill>
                <a:latin typeface="CIDFont+F1"/>
              </a:rPr>
              <a:t>Método : </a:t>
            </a:r>
            <a:r>
              <a:rPr lang="pt-BR" b="1" i="1" dirty="0" err="1">
                <a:solidFill>
                  <a:srgbClr val="4472C5"/>
                </a:solidFill>
                <a:latin typeface="CIDFont+F1"/>
              </a:rPr>
              <a:t>items</a:t>
            </a:r>
            <a:r>
              <a:rPr lang="pt-BR" b="1" i="1" dirty="0">
                <a:solidFill>
                  <a:srgbClr val="4472C5"/>
                </a:solidFill>
                <a:latin typeface="CIDFont+F1"/>
              </a:rPr>
              <a:t>()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CE2865-9569-FB2B-D22B-0842C7582C6D}"/>
              </a:ext>
            </a:extLst>
          </p:cNvPr>
          <p:cNvSpPr txBox="1"/>
          <p:nvPr/>
        </p:nvSpPr>
        <p:spPr>
          <a:xfrm>
            <a:off x="350520" y="1414056"/>
            <a:ext cx="115170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dirty="0"/>
              <a:t>Caso você deseje obter o par &lt;chave&gt;:&lt;valor&gt; de um dicionário, no formato de uma tupla, utilize o método </a:t>
            </a:r>
            <a:r>
              <a:rPr lang="pt-BR" sz="2800" dirty="0" err="1"/>
              <a:t>items</a:t>
            </a:r>
            <a:r>
              <a:rPr lang="pt-BR" sz="2800" dirty="0"/>
              <a:t>(), cuja sintaxe básica é a seguinte: </a:t>
            </a:r>
            <a:r>
              <a:rPr lang="pt-BR" sz="2800" b="1" dirty="0"/>
              <a:t>&lt;dicionario&gt;.</a:t>
            </a:r>
            <a:r>
              <a:rPr lang="pt-BR" sz="2800" b="1" dirty="0" err="1"/>
              <a:t>items</a:t>
            </a:r>
            <a:r>
              <a:rPr lang="pt-BR" sz="2800" b="1" dirty="0"/>
              <a:t>()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4388BAB-9873-BE90-8335-7DC95C5D24D0}"/>
              </a:ext>
            </a:extLst>
          </p:cNvPr>
          <p:cNvSpPr txBox="1"/>
          <p:nvPr/>
        </p:nvSpPr>
        <p:spPr>
          <a:xfrm>
            <a:off x="350520" y="2808963"/>
            <a:ext cx="10388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89125" indent="-1889125"/>
            <a:r>
              <a:rPr lang="pt-BR" sz="2800" dirty="0"/>
              <a:t>contato = {"@</a:t>
            </a:r>
            <a:r>
              <a:rPr lang="pt-BR" sz="2800" dirty="0" err="1"/>
              <a:t>camilaqueiroz</a:t>
            </a:r>
            <a:r>
              <a:rPr lang="pt-BR" sz="2800" dirty="0"/>
              <a:t>": "Camila Queiroz", "@</a:t>
            </a:r>
            <a:r>
              <a:rPr lang="pt-BR" sz="2800" dirty="0" err="1"/>
              <a:t>paollaoliveirareal</a:t>
            </a:r>
            <a:r>
              <a:rPr lang="pt-BR" sz="2800" dirty="0"/>
              <a:t>": "Paolla de Oliveira", "@</a:t>
            </a:r>
            <a:r>
              <a:rPr lang="pt-BR" sz="2800" dirty="0" err="1"/>
              <a:t>sheronmenezzes</a:t>
            </a:r>
            <a:r>
              <a:rPr lang="pt-BR" sz="2800" dirty="0"/>
              <a:t>": "Sheron Menezes", "@</a:t>
            </a:r>
            <a:r>
              <a:rPr lang="pt-BR" sz="2800" dirty="0" err="1"/>
              <a:t>bruna_iconica</a:t>
            </a:r>
            <a:r>
              <a:rPr lang="pt-BR" sz="2800" dirty="0"/>
              <a:t>": "Bruna Marquezine"}</a:t>
            </a:r>
          </a:p>
          <a:p>
            <a:endParaRPr lang="pt-BR" sz="2800" dirty="0"/>
          </a:p>
          <a:p>
            <a:r>
              <a:rPr lang="pt-BR" sz="2800" dirty="0"/>
              <a:t>for insta, nome in </a:t>
            </a:r>
            <a:r>
              <a:rPr lang="pt-BR" sz="2800" dirty="0" err="1"/>
              <a:t>contato.items</a:t>
            </a:r>
            <a:r>
              <a:rPr lang="pt-BR" sz="2800" dirty="0"/>
              <a:t>():</a:t>
            </a:r>
          </a:p>
          <a:p>
            <a:r>
              <a:rPr lang="pt-BR" sz="2800" dirty="0"/>
              <a:t>    print(f"{insta} --&gt; {nome}")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7001FE-B6A5-223E-840E-0F5F0CB327B6}"/>
              </a:ext>
            </a:extLst>
          </p:cNvPr>
          <p:cNvSpPr txBox="1"/>
          <p:nvPr/>
        </p:nvSpPr>
        <p:spPr>
          <a:xfrm>
            <a:off x="6084473" y="4698639"/>
            <a:ext cx="5955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@camilaqueiroz --&gt; Camila Queiroz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@paollaoliveirareal --&gt; Paolla de Oliveira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@sheronmenezzes --&gt; Sheron Menezes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@bruna_iconica --&gt; Bruna Marquezine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E9609F5-25CA-696B-F1CB-C3333CA43EC6}"/>
              </a:ext>
            </a:extLst>
          </p:cNvPr>
          <p:cNvCxnSpPr>
            <a:cxnSpLocks/>
          </p:cNvCxnSpPr>
          <p:nvPr/>
        </p:nvCxnSpPr>
        <p:spPr>
          <a:xfrm flipH="1">
            <a:off x="4787900" y="5443944"/>
            <a:ext cx="1308100" cy="23295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49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58C04F0-B082-8BF0-F287-81F0D7DA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50BA98-0B94-C8B4-CDEF-86A547FF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Cap10-Exem00F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CF5123-3A47-47A2-8424-6B4FFE7E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11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03E5792-304A-F75C-F6A2-4E41C7F4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761" y="388799"/>
            <a:ext cx="10180319" cy="988219"/>
          </a:xfrm>
        </p:spPr>
        <p:txBody>
          <a:bodyPr>
            <a:normAutofit fontScale="90000"/>
          </a:bodyPr>
          <a:lstStyle/>
          <a:p>
            <a:r>
              <a:rPr lang="pt-BR" b="1" i="1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i="1" dirty="0">
                <a:solidFill>
                  <a:srgbClr val="4472C5"/>
                </a:solidFill>
                <a:latin typeface="CIDFont+F1"/>
              </a:rPr>
              <a:t>Método : sorted()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FCFD190-56CA-3556-D2AF-4C2C6444D0C3}"/>
              </a:ext>
            </a:extLst>
          </p:cNvPr>
          <p:cNvSpPr txBox="1"/>
          <p:nvPr/>
        </p:nvSpPr>
        <p:spPr>
          <a:xfrm>
            <a:off x="239150" y="1377018"/>
            <a:ext cx="116283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 err="1"/>
              <a:t>sorted</a:t>
            </a:r>
            <a:r>
              <a:rPr lang="pt-BR" sz="2800" b="1" dirty="0"/>
              <a:t>(&lt;dicionario&gt;, reverse = [</a:t>
            </a:r>
            <a:r>
              <a:rPr lang="pt-BR" sz="2800" b="1" dirty="0" err="1"/>
              <a:t>True|False</a:t>
            </a:r>
            <a:r>
              <a:rPr lang="pt-BR" sz="2800" b="1" dirty="0"/>
              <a:t>])</a:t>
            </a:r>
            <a:endParaRPr lang="pt-BR" sz="2800" dirty="0"/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Onde reverse indica se o ordenamento deve ser reverso. Quando </a:t>
            </a:r>
            <a:r>
              <a:rPr lang="pt-BR" sz="2800" b="1" dirty="0"/>
              <a:t>reverse = True</a:t>
            </a:r>
            <a:r>
              <a:rPr lang="pt-BR" sz="2800" dirty="0"/>
              <a:t>, o ordenamento é decrescente e quando </a:t>
            </a:r>
            <a:r>
              <a:rPr lang="pt-BR" sz="2800" b="1" dirty="0"/>
              <a:t>reverse = False </a:t>
            </a:r>
            <a:r>
              <a:rPr lang="pt-BR" sz="2800" dirty="0"/>
              <a:t>(que é o valor padrão e, por isso, não é necessário explicitá-lo), o ordenamento é crescente.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210B24-D97F-4959-B318-36C1A4BFDDD7}"/>
              </a:ext>
            </a:extLst>
          </p:cNvPr>
          <p:cNvSpPr txBox="1"/>
          <p:nvPr/>
        </p:nvSpPr>
        <p:spPr>
          <a:xfrm>
            <a:off x="233026" y="4054674"/>
            <a:ext cx="118675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contato = {"@</a:t>
            </a:r>
            <a:r>
              <a:rPr lang="pt-BR" sz="2800" dirty="0" err="1"/>
              <a:t>camilaqueiroz</a:t>
            </a:r>
            <a:r>
              <a:rPr lang="pt-BR" sz="2800" dirty="0"/>
              <a:t>": "Camila Queiroz", "@paollaoliveirareal": "Paolla de Oliveira", "@</a:t>
            </a:r>
            <a:r>
              <a:rPr lang="pt-BR" sz="2800" dirty="0" err="1"/>
              <a:t>sheronmenezzes</a:t>
            </a:r>
            <a:r>
              <a:rPr lang="pt-BR" sz="2800" dirty="0"/>
              <a:t>": "Sheron Menezes", "@</a:t>
            </a:r>
            <a:r>
              <a:rPr lang="pt-BR" sz="2800" dirty="0" err="1"/>
              <a:t>bruna_iconica</a:t>
            </a:r>
            <a:r>
              <a:rPr lang="pt-BR" sz="2800" dirty="0"/>
              <a:t>": "Bruna Marquezine"}</a:t>
            </a:r>
          </a:p>
          <a:p>
            <a:pPr algn="l"/>
            <a:r>
              <a:rPr lang="en-US" sz="2800" dirty="0"/>
              <a:t>for insta, </a:t>
            </a:r>
            <a:r>
              <a:rPr lang="en-US" sz="2800" dirty="0" err="1"/>
              <a:t>nome</a:t>
            </a:r>
            <a:r>
              <a:rPr lang="en-US" sz="2800" dirty="0"/>
              <a:t> in sorted(</a:t>
            </a:r>
            <a:r>
              <a:rPr lang="en-US" sz="2800" dirty="0" err="1"/>
              <a:t>contato.items</a:t>
            </a:r>
            <a:r>
              <a:rPr lang="en-US" sz="2800" dirty="0"/>
              <a:t>()):</a:t>
            </a:r>
          </a:p>
          <a:p>
            <a:pPr algn="l"/>
            <a:r>
              <a:rPr lang="pt-BR" sz="2800" dirty="0"/>
              <a:t>   print(f"{insta } --&gt; {nome}")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7B6DFC-0380-66A9-306D-34BFED7234BD}"/>
              </a:ext>
            </a:extLst>
          </p:cNvPr>
          <p:cNvSpPr txBox="1"/>
          <p:nvPr/>
        </p:nvSpPr>
        <p:spPr>
          <a:xfrm>
            <a:off x="7598608" y="5084013"/>
            <a:ext cx="4413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@bruna_iconica --&gt; Bruna Marquezine</a:t>
            </a:r>
          </a:p>
          <a:p>
            <a:r>
              <a:rPr lang="pt-BR" b="1" dirty="0">
                <a:solidFill>
                  <a:srgbClr val="FF0000"/>
                </a:solidFill>
              </a:rPr>
              <a:t>@camilaqueiroz --&gt; Camila Queiroz</a:t>
            </a:r>
          </a:p>
          <a:p>
            <a:r>
              <a:rPr lang="pt-BR" b="1" dirty="0">
                <a:solidFill>
                  <a:srgbClr val="FF0000"/>
                </a:solidFill>
              </a:rPr>
              <a:t>@paollaoliveirareal --&gt; Paolla de Oliveira</a:t>
            </a:r>
          </a:p>
          <a:p>
            <a:r>
              <a:rPr lang="pt-BR" b="1" dirty="0">
                <a:solidFill>
                  <a:srgbClr val="FF0000"/>
                </a:solidFill>
              </a:rPr>
              <a:t>@sheronmenezzes --&gt; Sheron Menezes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F98D759-5B19-EFBA-D813-5641F467A7D9}"/>
              </a:ext>
            </a:extLst>
          </p:cNvPr>
          <p:cNvCxnSpPr>
            <a:cxnSpLocks/>
          </p:cNvCxnSpPr>
          <p:nvPr/>
        </p:nvCxnSpPr>
        <p:spPr>
          <a:xfrm flipH="1">
            <a:off x="4659086" y="5684177"/>
            <a:ext cx="2851209" cy="3682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94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010F4C-8526-19D6-0237-680F69F3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D6FF59-6DC4-B02F-8E05-F33B0787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Cap10-Exem00G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F69AD2-E798-4448-2D1C-A4BDBDEF1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>
                <a:solidFill>
                  <a:schemeClr val="tx1"/>
                </a:solidFill>
              </a:rPr>
              <a:pPr algn="r"/>
              <a:t>12</a:t>
            </a:fld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E8E443E-4456-F3EC-7813-A55BA47F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859" y="258445"/>
            <a:ext cx="7528559" cy="988219"/>
          </a:xfrm>
        </p:spPr>
        <p:txBody>
          <a:bodyPr>
            <a:normAutofit fontScale="90000"/>
          </a:bodyPr>
          <a:lstStyle/>
          <a:p>
            <a:r>
              <a:rPr lang="pt-BR" b="1" i="1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i="1" dirty="0">
                <a:solidFill>
                  <a:srgbClr val="4472C5"/>
                </a:solidFill>
                <a:latin typeface="CIDFont+F1"/>
              </a:rPr>
              <a:t>Método : itemgetter()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6CFE6D-9A61-6345-DBE0-24157AB553E8}"/>
              </a:ext>
            </a:extLst>
          </p:cNvPr>
          <p:cNvSpPr txBox="1"/>
          <p:nvPr/>
        </p:nvSpPr>
        <p:spPr>
          <a:xfrm>
            <a:off x="254391" y="3301544"/>
            <a:ext cx="9880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from </a:t>
            </a:r>
            <a:r>
              <a:rPr lang="pt-BR" sz="2800" dirty="0" err="1"/>
              <a:t>operator</a:t>
            </a:r>
            <a:r>
              <a:rPr lang="pt-BR" sz="2800" dirty="0"/>
              <a:t> </a:t>
            </a:r>
            <a:r>
              <a:rPr lang="pt-BR" sz="2800" dirty="0" err="1"/>
              <a:t>import</a:t>
            </a:r>
            <a:r>
              <a:rPr lang="pt-BR" sz="2800" dirty="0"/>
              <a:t> </a:t>
            </a:r>
            <a:r>
              <a:rPr lang="pt-BR" sz="2800" dirty="0" err="1"/>
              <a:t>itemgetter</a:t>
            </a:r>
            <a:endParaRPr lang="pt-BR" sz="2800" dirty="0"/>
          </a:p>
          <a:p>
            <a:endParaRPr lang="pt-BR" sz="2800" dirty="0"/>
          </a:p>
          <a:p>
            <a:pPr marL="1616075" indent="-1616075"/>
            <a:r>
              <a:rPr lang="pt-BR" sz="2800" dirty="0"/>
              <a:t>contato = {"@</a:t>
            </a:r>
            <a:r>
              <a:rPr lang="pt-BR" sz="2800" dirty="0" err="1"/>
              <a:t>camilaqueiroz</a:t>
            </a:r>
            <a:r>
              <a:rPr lang="pt-BR" sz="2800" dirty="0"/>
              <a:t>": 1.77, "@</a:t>
            </a:r>
            <a:r>
              <a:rPr lang="pt-BR" sz="2800" dirty="0" err="1"/>
              <a:t>paollaoliveirareal</a:t>
            </a:r>
            <a:r>
              <a:rPr lang="pt-BR" sz="2800" dirty="0"/>
              <a:t>": 1.70,  "@</a:t>
            </a:r>
            <a:r>
              <a:rPr lang="pt-BR" sz="2800" dirty="0" err="1"/>
              <a:t>sheronmenezzes</a:t>
            </a:r>
            <a:r>
              <a:rPr lang="pt-BR" sz="2800" dirty="0"/>
              <a:t>": 1.67,  "@</a:t>
            </a:r>
            <a:r>
              <a:rPr lang="pt-BR" sz="2800" dirty="0" err="1"/>
              <a:t>bruna_iconica</a:t>
            </a:r>
            <a:r>
              <a:rPr lang="pt-BR" sz="2800" dirty="0"/>
              <a:t>": 1.70}</a:t>
            </a:r>
          </a:p>
          <a:p>
            <a:r>
              <a:rPr lang="pt-BR" sz="2800" dirty="0"/>
              <a:t>for insta, estatura in sorted(</a:t>
            </a:r>
            <a:r>
              <a:rPr lang="pt-BR" sz="2800" dirty="0" err="1"/>
              <a:t>contato.items</a:t>
            </a:r>
            <a:r>
              <a:rPr lang="pt-BR" sz="2800" dirty="0"/>
              <a:t>(), </a:t>
            </a:r>
            <a:r>
              <a:rPr lang="pt-BR" sz="2800" dirty="0" err="1"/>
              <a:t>key</a:t>
            </a:r>
            <a:r>
              <a:rPr lang="pt-BR" sz="2800" dirty="0"/>
              <a:t>=</a:t>
            </a:r>
            <a:r>
              <a:rPr lang="pt-BR" sz="2800" dirty="0" err="1"/>
              <a:t>itemgetter</a:t>
            </a:r>
            <a:r>
              <a:rPr lang="pt-BR" sz="2800" dirty="0"/>
              <a:t>(1)):</a:t>
            </a:r>
          </a:p>
          <a:p>
            <a:r>
              <a:rPr lang="pt-BR" sz="2800" dirty="0"/>
              <a:t>      print(f"{insta} --&gt; {estatura:.2f}m")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A45D6F-9DDF-3751-9078-88FADE641CEF}"/>
              </a:ext>
            </a:extLst>
          </p:cNvPr>
          <p:cNvSpPr txBox="1"/>
          <p:nvPr/>
        </p:nvSpPr>
        <p:spPr>
          <a:xfrm>
            <a:off x="239150" y="1366163"/>
            <a:ext cx="1184616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Se precisássemos que o ordenamento do dicionário fosse baseado nos seus valores e não em suas chaves, a função sorted(), em sua sintaxe básica, não atenderia a nossa necessidade. Para tal, precisaríamos utilizar uma outra função chamada </a:t>
            </a:r>
            <a:r>
              <a:rPr lang="pt-BR" sz="4000" b="1" i="1" dirty="0">
                <a:solidFill>
                  <a:srgbClr val="4472C5"/>
                </a:solidFill>
                <a:latin typeface="CIDFont+F1"/>
                <a:ea typeface="+mj-ea"/>
                <a:cs typeface="+mj-cs"/>
              </a:rPr>
              <a:t>itemgetter().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E2CAE48-353C-4FCA-FC81-A1E1FC062B5B}"/>
              </a:ext>
            </a:extLst>
          </p:cNvPr>
          <p:cNvSpPr txBox="1"/>
          <p:nvPr/>
        </p:nvSpPr>
        <p:spPr>
          <a:xfrm>
            <a:off x="8577943" y="2828835"/>
            <a:ext cx="35559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@sheronmenezzes --&gt; 1.67m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@paolaoliveirareal --&gt; 1.70m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@bruna_iconica --&gt; 1.70m</a:t>
            </a:r>
          </a:p>
          <a:p>
            <a:r>
              <a:rPr lang="pt-BR" sz="2000" b="1" dirty="0">
                <a:solidFill>
                  <a:srgbClr val="FF0000"/>
                </a:solidFill>
              </a:rPr>
              <a:t>@camilaqueiroz --&gt; 1.77m</a:t>
            </a: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BE349CC9-F5CA-683B-0F7B-3F821DB60608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7439627" y="2874884"/>
            <a:ext cx="1638926" cy="419370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65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4E4D12-BC9F-E31B-CF72-09F329AD1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9B00D4-3CE8-B418-E9B9-7F5C4B55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9C253C-C1F9-D086-A6A3-F0A18877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2E4FB29-8C35-081A-86F9-28D17C3E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Dicionários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EA0127-7E71-3573-BC33-F23753B8B3AE}"/>
              </a:ext>
            </a:extLst>
          </p:cNvPr>
          <p:cNvSpPr txBox="1"/>
          <p:nvPr/>
        </p:nvSpPr>
        <p:spPr>
          <a:xfrm>
            <a:off x="568411" y="1474978"/>
            <a:ext cx="105110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>
              <a:buFont typeface="Arial" panose="020B0604020202020204" pitchFamily="34" charset="0"/>
              <a:buChar char="•"/>
            </a:pPr>
            <a:r>
              <a:rPr lang="pt-BR" sz="2800" dirty="0"/>
              <a:t>São estruturas de dados que implementam </a:t>
            </a:r>
            <a:r>
              <a:rPr lang="pt-BR" sz="2800" b="1" dirty="0">
                <a:solidFill>
                  <a:srgbClr val="FF0000"/>
                </a:solidFill>
              </a:rPr>
              <a:t>mapeamentos</a:t>
            </a:r>
            <a:r>
              <a:rPr lang="pt-BR" sz="2800" dirty="0"/>
              <a:t>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 Um mapeamento é uma </a:t>
            </a:r>
            <a:r>
              <a:rPr lang="pt-BR" sz="2800" b="1" dirty="0">
                <a:solidFill>
                  <a:srgbClr val="0070C0"/>
                </a:solidFill>
              </a:rPr>
              <a:t>coleção</a:t>
            </a:r>
            <a:r>
              <a:rPr lang="pt-BR" sz="2800" dirty="0"/>
              <a:t> de associações entre </a:t>
            </a:r>
            <a:r>
              <a:rPr lang="pt-BR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pares </a:t>
            </a:r>
            <a:r>
              <a:rPr lang="pt-BR" sz="2800" dirty="0"/>
              <a:t>de valores</a:t>
            </a:r>
          </a:p>
          <a:p>
            <a:pPr marL="687388" indent="-342900">
              <a:buFont typeface="Wingdings" panose="05000000000000000000" pitchFamily="2" charset="2"/>
              <a:buChar char="Ø"/>
            </a:pPr>
            <a:r>
              <a:rPr lang="pt-BR" sz="2400" dirty="0"/>
              <a:t>O primeiro elemento do par é chamado de </a:t>
            </a:r>
            <a:r>
              <a:rPr lang="pt-BR" sz="2400" b="1" dirty="0">
                <a:solidFill>
                  <a:srgbClr val="FF0000"/>
                </a:solidFill>
              </a:rPr>
              <a:t>chave</a:t>
            </a:r>
            <a:r>
              <a:rPr lang="pt-BR" sz="2400" dirty="0"/>
              <a:t> e o outro de </a:t>
            </a:r>
            <a:r>
              <a:rPr lang="pt-BR" sz="2400" b="1" dirty="0">
                <a:solidFill>
                  <a:srgbClr val="FF0000"/>
                </a:solidFill>
              </a:rPr>
              <a:t>valor.</a:t>
            </a:r>
            <a:r>
              <a:rPr lang="pt-BR" sz="2400" dirty="0"/>
              <a:t> 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33EC417-D2D8-3363-EE6D-DDF1DC1AA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66963"/>
              </p:ext>
            </p:extLst>
          </p:nvPr>
        </p:nvGraphicFramePr>
        <p:xfrm>
          <a:off x="3611880" y="3564298"/>
          <a:ext cx="6141720" cy="230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860">
                  <a:extLst>
                    <a:ext uri="{9D8B030D-6E8A-4147-A177-3AD203B41FA5}">
                      <a16:colId xmlns:a16="http://schemas.microsoft.com/office/drawing/2014/main" val="1935190998"/>
                    </a:ext>
                  </a:extLst>
                </a:gridCol>
                <a:gridCol w="3070860">
                  <a:extLst>
                    <a:ext uri="{9D8B030D-6E8A-4147-A177-3AD203B41FA5}">
                      <a16:colId xmlns:a16="http://schemas.microsoft.com/office/drawing/2014/main" val="3590264511"/>
                    </a:ext>
                  </a:extLst>
                </a:gridCol>
              </a:tblGrid>
              <a:tr h="76770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chemeClr val="tx1"/>
                          </a:solidFill>
                        </a:rPr>
                        <a:t>chave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rgbClr val="FF0000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423498"/>
                  </a:ext>
                </a:extLst>
              </a:tr>
              <a:tr h="76770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chave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rgbClr val="FF0000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512607"/>
                  </a:ext>
                </a:extLst>
              </a:tr>
              <a:tr h="767700"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/>
                        <a:t>chave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1" dirty="0">
                          <a:solidFill>
                            <a:srgbClr val="FF0000"/>
                          </a:solidFill>
                        </a:rPr>
                        <a:t>valor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14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227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Dicionários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576470" y="1888435"/>
            <a:ext cx="110018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Um mapeamento é uma generalização da ideia de acessar dados por </a:t>
            </a:r>
            <a:r>
              <a:rPr lang="pt-BR" sz="3200" b="1" dirty="0">
                <a:solidFill>
                  <a:srgbClr val="0070C0"/>
                </a:solidFill>
              </a:rPr>
              <a:t>índices</a:t>
            </a:r>
            <a:r>
              <a:rPr lang="pt-BR" sz="3200" dirty="0"/>
              <a:t>, exceto que, num mapeamento, os índices, (ou chaves) podem ser de </a:t>
            </a:r>
            <a:r>
              <a:rPr lang="pt-BR" sz="3200" b="1" dirty="0">
                <a:solidFill>
                  <a:schemeClr val="accent3">
                    <a:lumMod val="75000"/>
                  </a:schemeClr>
                </a:solidFill>
              </a:rPr>
              <a:t>qualquer tipo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3200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pt-BR" sz="3200" b="1" dirty="0">
                <a:solidFill>
                  <a:srgbClr val="FF0000"/>
                </a:solidFill>
              </a:rPr>
              <a:t>- Geralmente strings e inteiros</a:t>
            </a:r>
          </a:p>
        </p:txBody>
      </p:sp>
    </p:spTree>
    <p:extLst>
      <p:ext uri="{BB962C8B-B14F-4D97-AF65-F5344CB8AC3E}">
        <p14:creationId xmlns:p14="http://schemas.microsoft.com/office/powerpoint/2010/main" val="3880467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Dicionários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1113183" y="1966614"/>
            <a:ext cx="95415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00B050"/>
                </a:solidFill>
              </a:rPr>
              <a:t>Listas (vetor)</a:t>
            </a:r>
            <a:r>
              <a:rPr lang="pt-BR" sz="3200" b="1" dirty="0">
                <a:solidFill>
                  <a:schemeClr val="accent3">
                    <a:lumMod val="75000"/>
                  </a:schemeClr>
                </a:solidFill>
              </a:rPr>
              <a:t>               </a:t>
            </a:r>
            <a:r>
              <a:rPr lang="pt-BR" sz="3200" b="1" dirty="0"/>
              <a:t>indexadas por inteiros</a:t>
            </a:r>
          </a:p>
          <a:p>
            <a:r>
              <a:rPr lang="pt-BR" sz="3200" b="1" dirty="0">
                <a:solidFill>
                  <a:srgbClr val="FF0000"/>
                </a:solidFill>
              </a:rPr>
              <a:t> </a:t>
            </a:r>
          </a:p>
          <a:p>
            <a:endParaRPr lang="pt-BR" sz="3200" b="1" dirty="0">
              <a:solidFill>
                <a:srgbClr val="FF0000"/>
              </a:solidFill>
            </a:endParaRPr>
          </a:p>
          <a:p>
            <a:pPr marL="271463" indent="-271463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00B050"/>
                </a:solidFill>
              </a:rPr>
              <a:t>Dicionários</a:t>
            </a:r>
            <a:r>
              <a:rPr lang="pt-BR" sz="3200" b="1" dirty="0">
                <a:solidFill>
                  <a:srgbClr val="FF0000"/>
                </a:solidFill>
              </a:rPr>
              <a:t>                  </a:t>
            </a:r>
            <a:r>
              <a:rPr lang="pt-BR" sz="3200" b="1" dirty="0"/>
              <a:t>indexados por </a:t>
            </a:r>
            <a:r>
              <a:rPr lang="pt-BR" sz="3200" b="1" dirty="0">
                <a:solidFill>
                  <a:srgbClr val="FF0000"/>
                </a:solidFill>
              </a:rPr>
              <a:t>chaves </a:t>
            </a:r>
            <a:r>
              <a:rPr lang="pt-BR" sz="3200" b="1" dirty="0"/>
              <a:t>(</a:t>
            </a:r>
            <a:r>
              <a:rPr lang="pt-BR" sz="3200" b="1" dirty="0" err="1"/>
              <a:t>keys</a:t>
            </a:r>
            <a:r>
              <a:rPr lang="pt-BR" sz="3200" b="1" dirty="0"/>
              <a:t>), que podem ser de qualquer tipo imutável (como strings e  inteiros). Geralmente strings e inteiros)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96E70F4-F14F-8AB6-15FC-8D3A63A80315}"/>
              </a:ext>
            </a:extLst>
          </p:cNvPr>
          <p:cNvCxnSpPr>
            <a:cxnSpLocks/>
          </p:cNvCxnSpPr>
          <p:nvPr/>
        </p:nvCxnSpPr>
        <p:spPr>
          <a:xfrm>
            <a:off x="3889157" y="2280629"/>
            <a:ext cx="111318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EE70010E-18C7-C08D-A8A1-CF6C5642E31D}"/>
              </a:ext>
            </a:extLst>
          </p:cNvPr>
          <p:cNvCxnSpPr>
            <a:cxnSpLocks/>
          </p:cNvCxnSpPr>
          <p:nvPr/>
        </p:nvCxnSpPr>
        <p:spPr>
          <a:xfrm>
            <a:off x="3889157" y="3744994"/>
            <a:ext cx="111318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66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Dicionários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1113183" y="1966614"/>
            <a:ext cx="954156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Têm </a:t>
            </a:r>
            <a:r>
              <a:rPr lang="pt-BR" sz="3200" b="1" dirty="0">
                <a:solidFill>
                  <a:srgbClr val="FF0000"/>
                </a:solidFill>
              </a:rPr>
              <a:t>comprimento variável</a:t>
            </a:r>
            <a:r>
              <a:rPr lang="pt-BR" sz="3200" dirty="0"/>
              <a:t>, são </a:t>
            </a:r>
            <a:r>
              <a:rPr lang="pt-BR" sz="3200" b="1" dirty="0">
                <a:solidFill>
                  <a:srgbClr val="0079B6"/>
                </a:solidFill>
              </a:rPr>
              <a:t>heterogêneos</a:t>
            </a:r>
            <a:r>
              <a:rPr lang="pt-BR" sz="3200" dirty="0"/>
              <a:t> e podem ser </a:t>
            </a:r>
            <a:r>
              <a:rPr lang="pt-BR" sz="3200" b="1" dirty="0">
                <a:solidFill>
                  <a:srgbClr val="0079B6"/>
                </a:solidFill>
              </a:rPr>
              <a:t>aninhados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32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chemeClr val="accent3">
                    <a:lumMod val="75000"/>
                  </a:schemeClr>
                </a:solidFill>
              </a:rPr>
              <a:t>São delimitados por </a:t>
            </a:r>
            <a:r>
              <a:rPr lang="pt-BR" sz="3200" b="1" dirty="0">
                <a:solidFill>
                  <a:srgbClr val="FF0000"/>
                </a:solidFill>
              </a:rPr>
              <a:t>{}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FF0000"/>
              </a:solidFill>
            </a:endParaRPr>
          </a:p>
          <a:p>
            <a:pPr marL="274638" indent="-274638">
              <a:buFont typeface="Arial" panose="020B0604020202020204" pitchFamily="34" charset="0"/>
              <a:buChar char="•"/>
              <a:tabLst>
                <a:tab pos="274638" algn="l"/>
              </a:tabLst>
            </a:pPr>
            <a:r>
              <a:rPr lang="pt-BR" sz="3200" dirty="0"/>
              <a:t>Listas de pares </a:t>
            </a:r>
            <a:r>
              <a:rPr lang="pt-BR" sz="3200" b="1" dirty="0">
                <a:solidFill>
                  <a:srgbClr val="00B050"/>
                </a:solidFill>
              </a:rPr>
              <a:t>chave / valor </a:t>
            </a:r>
            <a:r>
              <a:rPr lang="pt-BR" sz="3200" dirty="0"/>
              <a:t>separados por </a:t>
            </a:r>
            <a:r>
              <a:rPr lang="pt-BR" sz="3200" dirty="0" err="1"/>
              <a:t>vígulas</a:t>
            </a:r>
            <a:r>
              <a:rPr lang="pt-BR" sz="3200" dirty="0"/>
              <a:t> dentro dos </a:t>
            </a:r>
            <a:r>
              <a:rPr lang="pt-BR" sz="3200" dirty="0" err="1"/>
              <a:t>delimitradores</a:t>
            </a:r>
            <a:r>
              <a:rPr lang="pt-BR" sz="3200" dirty="0"/>
              <a:t> </a:t>
            </a:r>
            <a:r>
              <a:rPr lang="pt-BR" sz="3200" b="1" dirty="0">
                <a:solidFill>
                  <a:srgbClr val="FF0000"/>
                </a:solidFill>
              </a:rPr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1564667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Cap10-Exem01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Dicionários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108137" y="1353344"/>
            <a:ext cx="98620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Exemplo 1 – Criando um dicionário: </a:t>
            </a:r>
          </a:p>
          <a:p>
            <a:r>
              <a:rPr lang="pt-BR" sz="2400" dirty="0"/>
              <a:t>celular = {'Ana':999998888, 'Alan':877779090, 'Pedro':989885555}</a:t>
            </a:r>
          </a:p>
          <a:p>
            <a:r>
              <a:rPr lang="pt-BR" sz="2400" dirty="0"/>
              <a:t>print(celular)</a:t>
            </a:r>
          </a:p>
          <a:p>
            <a:endParaRPr lang="pt-BR" sz="2400" dirty="0"/>
          </a:p>
          <a:p>
            <a:r>
              <a:rPr lang="pt-BR" sz="2400" dirty="0"/>
              <a:t>celular['João'] = 977776666</a:t>
            </a:r>
          </a:p>
          <a:p>
            <a:r>
              <a:rPr lang="pt-BR" sz="2400" dirty="0"/>
              <a:t>print(celular)</a:t>
            </a:r>
          </a:p>
          <a:p>
            <a:endParaRPr lang="pt-BR" sz="2400" dirty="0"/>
          </a:p>
          <a:p>
            <a:r>
              <a:rPr lang="pt-BR" sz="2400" dirty="0"/>
              <a:t>celular['Arthur'] = 955770000</a:t>
            </a:r>
          </a:p>
          <a:p>
            <a:r>
              <a:rPr lang="pt-BR" sz="2400" dirty="0"/>
              <a:t>celular['Maria']  = 911118282</a:t>
            </a:r>
          </a:p>
          <a:p>
            <a:r>
              <a:rPr lang="pt-BR" sz="2400" dirty="0"/>
              <a:t>celular['Bruno'] = 922221111</a:t>
            </a:r>
          </a:p>
          <a:p>
            <a:r>
              <a:rPr lang="pt-BR" sz="2400" dirty="0"/>
              <a:t>celular['Cintia'] = 933334242</a:t>
            </a:r>
          </a:p>
          <a:p>
            <a:endParaRPr lang="pt-BR" sz="2400" dirty="0"/>
          </a:p>
          <a:p>
            <a:r>
              <a:rPr lang="pt-BR" sz="2400" dirty="0"/>
              <a:t>print(celular)</a:t>
            </a:r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D35CD1-2A8A-AFDB-AFBF-4F0DC8994DDA}"/>
              </a:ext>
            </a:extLst>
          </p:cNvPr>
          <p:cNvSpPr txBox="1"/>
          <p:nvPr/>
        </p:nvSpPr>
        <p:spPr>
          <a:xfrm>
            <a:off x="5728782" y="3214157"/>
            <a:ext cx="6355081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{‘Ana’: 999998888,’Alan’: 877779090, ‘Pedro’: 989885555}</a:t>
            </a:r>
          </a:p>
          <a:p>
            <a:endParaRPr lang="pt-BR" dirty="0"/>
          </a:p>
          <a:p>
            <a:r>
              <a:rPr lang="pt-BR" dirty="0"/>
              <a:t>{‘Ana’: 999998888,’Alan’: 877779090, ‘Pedro’: 989885555, ‘João’: 977776666}</a:t>
            </a:r>
          </a:p>
          <a:p>
            <a:endParaRPr lang="pt-BR" dirty="0"/>
          </a:p>
          <a:p>
            <a:pPr marL="92075" indent="-92075"/>
            <a:r>
              <a:rPr lang="pt-BR" dirty="0"/>
              <a:t>{‘Ana’: 999998888,’Alan’: 877779090, ‘Pedro’: 989885555, ‘João’: 977776666, ‘Arthur’: 955770000,’Maria’: 911118282, ‘Bruno’: 922221111, ’Cintia ‘: 933334242}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26057B2-9FA3-B15C-F9C3-E48176334C62}"/>
              </a:ext>
            </a:extLst>
          </p:cNvPr>
          <p:cNvCxnSpPr>
            <a:cxnSpLocks/>
          </p:cNvCxnSpPr>
          <p:nvPr/>
        </p:nvCxnSpPr>
        <p:spPr>
          <a:xfrm>
            <a:off x="2148840" y="2468880"/>
            <a:ext cx="3579942" cy="9601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F8BF6C1-B379-1E44-4EEB-3B43BBB12E2E}"/>
              </a:ext>
            </a:extLst>
          </p:cNvPr>
          <p:cNvCxnSpPr>
            <a:cxnSpLocks/>
          </p:cNvCxnSpPr>
          <p:nvPr/>
        </p:nvCxnSpPr>
        <p:spPr>
          <a:xfrm>
            <a:off x="2133600" y="3535680"/>
            <a:ext cx="3595182" cy="4681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CB2A5F7-7742-4CE9-D9B7-6102D00F5F1C}"/>
              </a:ext>
            </a:extLst>
          </p:cNvPr>
          <p:cNvCxnSpPr/>
          <p:nvPr/>
        </p:nvCxnSpPr>
        <p:spPr>
          <a:xfrm flipV="1">
            <a:off x="2005532" y="4815840"/>
            <a:ext cx="3723250" cy="135636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03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Cao10-Exem02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Operações com Dicionários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324466" y="1284912"/>
            <a:ext cx="98620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Exemplo 2 – Modificando elementos: </a:t>
            </a:r>
          </a:p>
          <a:p>
            <a:endParaRPr lang="pt-BR" sz="2400" dirty="0"/>
          </a:p>
          <a:p>
            <a:pPr marL="625475" indent="-260350">
              <a:tabLst>
                <a:tab pos="274638" algn="l"/>
              </a:tabLst>
            </a:pPr>
            <a:r>
              <a:rPr lang="pt-BR" sz="2800" dirty="0"/>
              <a:t>celular = {'Ana':999998888, 'Alan':877779090, 'Pedro':989885555}</a:t>
            </a:r>
          </a:p>
          <a:p>
            <a:pPr marL="365125"/>
            <a:endParaRPr lang="pt-BR" sz="2800" dirty="0"/>
          </a:p>
          <a:p>
            <a:pPr marL="365125"/>
            <a:r>
              <a:rPr lang="pt-BR" sz="2800" dirty="0"/>
              <a:t>print(celular)</a:t>
            </a:r>
          </a:p>
          <a:p>
            <a:endParaRPr lang="pt-BR" sz="2800" dirty="0"/>
          </a:p>
          <a:p>
            <a:pPr marL="365125"/>
            <a:r>
              <a:rPr lang="pt-BR" sz="2800" dirty="0"/>
              <a:t>celular['Pedro'] = 888888888</a:t>
            </a:r>
          </a:p>
          <a:p>
            <a:pPr marL="365125"/>
            <a:endParaRPr lang="pt-BR" sz="2800" dirty="0"/>
          </a:p>
          <a:p>
            <a:pPr marL="365125"/>
            <a:r>
              <a:rPr lang="pt-BR" sz="2800" dirty="0"/>
              <a:t>print(celular)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D35CD1-2A8A-AFDB-AFBF-4F0DC8994DDA}"/>
              </a:ext>
            </a:extLst>
          </p:cNvPr>
          <p:cNvSpPr txBox="1"/>
          <p:nvPr/>
        </p:nvSpPr>
        <p:spPr>
          <a:xfrm>
            <a:off x="6096000" y="4140304"/>
            <a:ext cx="6068942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{‘Ana’: 999998888,’Alan’: 877779090, </a:t>
            </a:r>
            <a:r>
              <a:rPr lang="pt-BR" b="1" dirty="0">
                <a:solidFill>
                  <a:srgbClr val="0070C0"/>
                </a:solidFill>
              </a:rPr>
              <a:t>‘Pedro’: 989885555</a:t>
            </a: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{‘Ana’: 999998888,’Alan’: 877779090, </a:t>
            </a:r>
            <a:r>
              <a:rPr lang="pt-BR" b="1" dirty="0">
                <a:solidFill>
                  <a:srgbClr val="0070C0"/>
                </a:solidFill>
              </a:rPr>
              <a:t>‘Pedro’: 888888888</a:t>
            </a:r>
            <a:r>
              <a:rPr lang="pt-BR" dirty="0"/>
              <a:t>}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60AFE87-9693-5C6F-B1CB-76FDB1C054FF}"/>
              </a:ext>
            </a:extLst>
          </p:cNvPr>
          <p:cNvCxnSpPr>
            <a:cxnSpLocks/>
          </p:cNvCxnSpPr>
          <p:nvPr/>
        </p:nvCxnSpPr>
        <p:spPr>
          <a:xfrm>
            <a:off x="2895600" y="3703320"/>
            <a:ext cx="3200400" cy="6715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69EF04A-217F-F232-EDD2-00B44E78931C}"/>
              </a:ext>
            </a:extLst>
          </p:cNvPr>
          <p:cNvCxnSpPr>
            <a:cxnSpLocks/>
          </p:cNvCxnSpPr>
          <p:nvPr/>
        </p:nvCxnSpPr>
        <p:spPr>
          <a:xfrm flipV="1">
            <a:off x="2886419" y="4856419"/>
            <a:ext cx="3200400" cy="42543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4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Operações com Dicionários - </a:t>
            </a:r>
            <a:r>
              <a:rPr lang="pt-BR" b="1" i="1" dirty="0" err="1">
                <a:solidFill>
                  <a:srgbClr val="0070C0"/>
                </a:solidFill>
              </a:rPr>
              <a:t>del</a:t>
            </a:r>
            <a:endParaRPr lang="pt-BR" b="1" i="1" dirty="0">
              <a:solidFill>
                <a:srgbClr val="0070C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336737" y="1715800"/>
            <a:ext cx="98620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Exemplo 3 – Removendo  -  </a:t>
            </a:r>
            <a:r>
              <a:rPr lang="pt-BR" sz="3200" dirty="0" err="1"/>
              <a:t>del</a:t>
            </a:r>
            <a:r>
              <a:rPr lang="pt-BR" sz="3200" dirty="0"/>
              <a:t> </a:t>
            </a:r>
          </a:p>
          <a:p>
            <a:r>
              <a:rPr lang="pt-BR" sz="3200" dirty="0"/>
              <a:t> </a:t>
            </a:r>
          </a:p>
          <a:p>
            <a:pPr marL="365125"/>
            <a:r>
              <a:rPr lang="pt-BR" sz="2800" dirty="0"/>
              <a:t>celular = {'Ana':999998888, 'Alan':877779090, 'Pedro':989885555}</a:t>
            </a:r>
          </a:p>
          <a:p>
            <a:pPr marL="365125"/>
            <a:endParaRPr lang="pt-BR" sz="2800" dirty="0"/>
          </a:p>
          <a:p>
            <a:pPr marL="365125"/>
            <a:r>
              <a:rPr lang="pt-BR" sz="2800" dirty="0"/>
              <a:t>print(celular)</a:t>
            </a:r>
          </a:p>
          <a:p>
            <a:pPr marL="365125"/>
            <a:endParaRPr lang="pt-BR" sz="2800" dirty="0"/>
          </a:p>
          <a:p>
            <a:pPr marL="365125"/>
            <a:r>
              <a:rPr lang="pt-BR" sz="2800" dirty="0" err="1"/>
              <a:t>del</a:t>
            </a:r>
            <a:r>
              <a:rPr lang="pt-BR" sz="2800" dirty="0"/>
              <a:t> celular['Alan’] </a:t>
            </a:r>
          </a:p>
          <a:p>
            <a:pPr marL="365125"/>
            <a:endParaRPr lang="pt-BR" sz="2800" dirty="0"/>
          </a:p>
          <a:p>
            <a:pPr marL="365125"/>
            <a:r>
              <a:rPr lang="pt-BR" sz="2800" dirty="0"/>
              <a:t>print(celular)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D35CD1-2A8A-AFDB-AFBF-4F0DC8994DDA}"/>
              </a:ext>
            </a:extLst>
          </p:cNvPr>
          <p:cNvSpPr txBox="1"/>
          <p:nvPr/>
        </p:nvSpPr>
        <p:spPr>
          <a:xfrm>
            <a:off x="5768112" y="3683615"/>
            <a:ext cx="6068942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{‘Ana’: 999998888, ’Alan’: 877779090, </a:t>
            </a:r>
            <a:r>
              <a:rPr lang="pt-BR" b="1" dirty="0">
                <a:solidFill>
                  <a:srgbClr val="0070C0"/>
                </a:solidFill>
              </a:rPr>
              <a:t>‘Pedro’: 989885555</a:t>
            </a:r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/>
              <a:t>{‘Ana’: 999998888, </a:t>
            </a:r>
            <a:r>
              <a:rPr lang="pt-BR" b="1" dirty="0">
                <a:solidFill>
                  <a:srgbClr val="0070C0"/>
                </a:solidFill>
              </a:rPr>
              <a:t>‘Pedro’: 888888888</a:t>
            </a:r>
            <a:r>
              <a:rPr lang="pt-BR" dirty="0"/>
              <a:t>}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B494AE1-0BF3-6F0C-ACBD-2718A28CDF19}"/>
              </a:ext>
            </a:extLst>
          </p:cNvPr>
          <p:cNvCxnSpPr>
            <a:cxnSpLocks/>
          </p:cNvCxnSpPr>
          <p:nvPr/>
        </p:nvCxnSpPr>
        <p:spPr>
          <a:xfrm flipV="1">
            <a:off x="2941320" y="3870960"/>
            <a:ext cx="2788920" cy="4267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45145FC2-4A2A-A53A-3129-DD192074FB1E}"/>
              </a:ext>
            </a:extLst>
          </p:cNvPr>
          <p:cNvCxnSpPr>
            <a:cxnSpLocks/>
          </p:cNvCxnSpPr>
          <p:nvPr/>
        </p:nvCxnSpPr>
        <p:spPr>
          <a:xfrm flipV="1">
            <a:off x="2941320" y="4480560"/>
            <a:ext cx="2819400" cy="14935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37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Cao10-Exem04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i="1" dirty="0"/>
              <a:t>Lista de Chaves (índices) e Lista de Valores</a:t>
            </a:r>
            <a:endParaRPr lang="pt-BR" b="1" i="1" dirty="0">
              <a:solidFill>
                <a:srgbClr val="0070C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168823" y="1782395"/>
            <a:ext cx="1153079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Exemplo 4  -  Métodos </a:t>
            </a:r>
            <a:r>
              <a:rPr lang="pt-BR" sz="3200" b="1" dirty="0" err="1">
                <a:solidFill>
                  <a:srgbClr val="0070C0"/>
                </a:solidFill>
              </a:rPr>
              <a:t>keys</a:t>
            </a:r>
            <a:r>
              <a:rPr lang="pt-BR" sz="3200" b="1" dirty="0">
                <a:solidFill>
                  <a:srgbClr val="0070C0"/>
                </a:solidFill>
              </a:rPr>
              <a:t>() e </a:t>
            </a:r>
            <a:r>
              <a:rPr lang="pt-BR" sz="3200" b="1" dirty="0" err="1">
                <a:solidFill>
                  <a:srgbClr val="0070C0"/>
                </a:solidFill>
              </a:rPr>
              <a:t>values</a:t>
            </a:r>
            <a:r>
              <a:rPr lang="pt-BR" sz="3200" b="1" dirty="0">
                <a:solidFill>
                  <a:srgbClr val="0070C0"/>
                </a:solidFill>
              </a:rPr>
              <a:t>() </a:t>
            </a:r>
            <a:r>
              <a:rPr lang="pt-BR" sz="3200" dirty="0"/>
              <a:t> : </a:t>
            </a:r>
          </a:p>
          <a:p>
            <a:r>
              <a:rPr lang="pt-BR" sz="3200" dirty="0"/>
              <a:t> </a:t>
            </a:r>
            <a:endParaRPr lang="pt-BR" sz="2400" dirty="0"/>
          </a:p>
          <a:p>
            <a:r>
              <a:rPr lang="pt-BR" sz="2800" dirty="0"/>
              <a:t>celular = {'Ana':999998888, 'Alan':877779090, 'Pedro':989885555}</a:t>
            </a:r>
          </a:p>
          <a:p>
            <a:endParaRPr lang="pt-BR" sz="2800" dirty="0"/>
          </a:p>
          <a:p>
            <a:r>
              <a:rPr lang="pt-BR" sz="2800" dirty="0"/>
              <a:t>print('Lista de chaves: ', </a:t>
            </a:r>
            <a:r>
              <a:rPr lang="pt-BR" sz="2800" dirty="0" err="1"/>
              <a:t>celular.keys</a:t>
            </a:r>
            <a:r>
              <a:rPr lang="pt-BR" sz="2800" dirty="0"/>
              <a:t>())</a:t>
            </a:r>
          </a:p>
          <a:p>
            <a:endParaRPr lang="pt-BR" sz="2800" dirty="0"/>
          </a:p>
          <a:p>
            <a:r>
              <a:rPr lang="pt-BR" sz="2800" dirty="0"/>
              <a:t>print('Lista de valores: ', </a:t>
            </a:r>
            <a:r>
              <a:rPr lang="pt-BR" sz="2800" dirty="0" err="1"/>
              <a:t>celular.values</a:t>
            </a:r>
            <a:r>
              <a:rPr lang="pt-BR" sz="2800" dirty="0"/>
              <a:t>())</a:t>
            </a:r>
          </a:p>
          <a:p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D35CD1-2A8A-AFDB-AFBF-4F0DC8994DDA}"/>
              </a:ext>
            </a:extLst>
          </p:cNvPr>
          <p:cNvSpPr txBox="1"/>
          <p:nvPr/>
        </p:nvSpPr>
        <p:spPr>
          <a:xfrm>
            <a:off x="6903720" y="3429000"/>
            <a:ext cx="5098356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3048000" indent="-3048000"/>
            <a:r>
              <a:rPr lang="pt-BR" sz="2000" dirty="0"/>
              <a:t>Lista de chaves: </a:t>
            </a:r>
            <a:r>
              <a:rPr lang="pt-BR" sz="2000" dirty="0" err="1"/>
              <a:t>dict_Keys</a:t>
            </a:r>
            <a:r>
              <a:rPr lang="pt-BR" sz="2000" dirty="0"/>
              <a:t>([‘Ana’,  ‘Alan’ ,  ‘Pedro’])</a:t>
            </a:r>
          </a:p>
          <a:p>
            <a:endParaRPr lang="pt-BR" sz="2000" dirty="0"/>
          </a:p>
          <a:p>
            <a:pPr marL="3413125" indent="-3413125"/>
            <a:r>
              <a:rPr lang="pt-BR" sz="2000" dirty="0"/>
              <a:t>Lista de valores:  </a:t>
            </a:r>
            <a:r>
              <a:rPr lang="pt-BR" sz="2000" dirty="0" err="1"/>
              <a:t>dict_valores</a:t>
            </a:r>
            <a:r>
              <a:rPr lang="pt-BR" sz="2000" dirty="0"/>
              <a:t>([999998888, 877779090,  989885555])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D514E366-25FA-8630-0961-0B8A60B75BA6}"/>
              </a:ext>
            </a:extLst>
          </p:cNvPr>
          <p:cNvCxnSpPr>
            <a:cxnSpLocks/>
          </p:cNvCxnSpPr>
          <p:nvPr/>
        </p:nvCxnSpPr>
        <p:spPr>
          <a:xfrm flipV="1">
            <a:off x="6096000" y="3582888"/>
            <a:ext cx="807720" cy="31855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3BB3431-72D1-8DB3-708A-F8B7D1364458}"/>
              </a:ext>
            </a:extLst>
          </p:cNvPr>
          <p:cNvCxnSpPr>
            <a:cxnSpLocks/>
          </p:cNvCxnSpPr>
          <p:nvPr/>
        </p:nvCxnSpPr>
        <p:spPr>
          <a:xfrm flipV="1">
            <a:off x="6394938" y="4505250"/>
            <a:ext cx="541595" cy="27432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7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Cao10-Exem05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Operações com Dicionários   -  </a:t>
            </a:r>
            <a:r>
              <a:rPr lang="pt-BR" b="1" dirty="0">
                <a:solidFill>
                  <a:srgbClr val="0070C0"/>
                </a:solidFill>
              </a:rPr>
              <a:t>in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336738" y="1715800"/>
            <a:ext cx="1133944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>
              <a:buFont typeface="Arial" panose="020B0604020202020204" pitchFamily="34" charset="0"/>
              <a:buChar char="•"/>
            </a:pPr>
            <a:r>
              <a:rPr lang="pt-BR" sz="3200" dirty="0"/>
              <a:t>Exemplo 5 – Verificando se chave (índice) existe no dicionário</a:t>
            </a:r>
          </a:p>
          <a:p>
            <a:pPr marL="2695575"/>
            <a:r>
              <a:rPr lang="pt-BR" sz="3200" dirty="0"/>
              <a:t> -  </a:t>
            </a:r>
            <a:r>
              <a:rPr lang="pt-BR" sz="3200" b="1" dirty="0">
                <a:solidFill>
                  <a:srgbClr val="0070C0"/>
                </a:solidFill>
              </a:rPr>
              <a:t>in</a:t>
            </a:r>
            <a:endParaRPr lang="pt-BR" sz="3200" dirty="0"/>
          </a:p>
          <a:p>
            <a:endParaRPr lang="pt-BR" sz="2400" dirty="0"/>
          </a:p>
          <a:p>
            <a:r>
              <a:rPr lang="pt-BR" sz="2400" dirty="0"/>
              <a:t>celular = {'Ana':999998888, 'Alan':877779090, 'Pedro':989885555}</a:t>
            </a:r>
          </a:p>
          <a:p>
            <a:endParaRPr lang="pt-BR" sz="2400" dirty="0"/>
          </a:p>
          <a:p>
            <a:r>
              <a:rPr lang="pt-BR" sz="2400" dirty="0"/>
              <a:t>print('Ana'  in celular) 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print('João'  in  celular)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D35CD1-2A8A-AFDB-AFBF-4F0DC8994DDA}"/>
              </a:ext>
            </a:extLst>
          </p:cNvPr>
          <p:cNvSpPr txBox="1"/>
          <p:nvPr/>
        </p:nvSpPr>
        <p:spPr>
          <a:xfrm>
            <a:off x="6936533" y="4358025"/>
            <a:ext cx="871612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True</a:t>
            </a:r>
          </a:p>
          <a:p>
            <a:pPr algn="ctr"/>
            <a:r>
              <a:rPr lang="pt-BR" b="1" dirty="0"/>
              <a:t>False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B8E8FFA-72F1-9340-92BA-FD2F13884542}"/>
              </a:ext>
            </a:extLst>
          </p:cNvPr>
          <p:cNvCxnSpPr>
            <a:cxnSpLocks/>
          </p:cNvCxnSpPr>
          <p:nvPr/>
        </p:nvCxnSpPr>
        <p:spPr>
          <a:xfrm>
            <a:off x="3500846" y="4032738"/>
            <a:ext cx="3435687" cy="49237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1F878C8-89B2-512D-1335-C096FE22AFD4}"/>
              </a:ext>
            </a:extLst>
          </p:cNvPr>
          <p:cNvCxnSpPr>
            <a:cxnSpLocks/>
          </p:cNvCxnSpPr>
          <p:nvPr/>
        </p:nvCxnSpPr>
        <p:spPr>
          <a:xfrm flipV="1">
            <a:off x="3500846" y="4806462"/>
            <a:ext cx="3435687" cy="6015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01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AE7E0B-2FBE-034C-558F-E5CAE71A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E248A7-392C-3908-7841-C10FD37D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200" b="1" dirty="0"/>
              <a:t>Cao10-Exem06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9A4281-3696-654C-C8E7-A8E4EB96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22A96EC-084E-8D9C-11FF-39C61467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Operações com Dicionários   -  </a:t>
            </a:r>
            <a:r>
              <a:rPr lang="pt-BR" b="1" dirty="0">
                <a:solidFill>
                  <a:srgbClr val="0070C0"/>
                </a:solidFill>
              </a:rPr>
              <a:t>len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159394-AAAD-BB04-3A7C-DE7C8541847F}"/>
              </a:ext>
            </a:extLst>
          </p:cNvPr>
          <p:cNvSpPr txBox="1"/>
          <p:nvPr/>
        </p:nvSpPr>
        <p:spPr>
          <a:xfrm>
            <a:off x="336737" y="1715800"/>
            <a:ext cx="1153079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3200" dirty="0"/>
              <a:t>Exemplo 6 – Retorna o tamanho do dicionário – </a:t>
            </a:r>
            <a:r>
              <a:rPr lang="pt-BR" sz="3200" dirty="0">
                <a:solidFill>
                  <a:srgbClr val="0070C0"/>
                </a:solidFill>
              </a:rPr>
              <a:t>len()</a:t>
            </a:r>
          </a:p>
          <a:p>
            <a:endParaRPr lang="pt-BR" sz="2400" dirty="0"/>
          </a:p>
          <a:p>
            <a:r>
              <a:rPr lang="pt-BR" sz="2400" dirty="0"/>
              <a:t>celular = {'Ana':999998888, 'Alan':877779090, 'Pedro':989885555}</a:t>
            </a:r>
          </a:p>
          <a:p>
            <a:endParaRPr lang="pt-BR" sz="2400" dirty="0"/>
          </a:p>
          <a:p>
            <a:r>
              <a:rPr lang="pt-BR" sz="2400" dirty="0"/>
              <a:t>print('Total de elementos do dicionário :  ', len(celular))  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 </a:t>
            </a:r>
          </a:p>
          <a:p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D35CD1-2A8A-AFDB-AFBF-4F0DC8994DDA}"/>
              </a:ext>
            </a:extLst>
          </p:cNvPr>
          <p:cNvSpPr txBox="1"/>
          <p:nvPr/>
        </p:nvSpPr>
        <p:spPr>
          <a:xfrm>
            <a:off x="4350087" y="5255230"/>
            <a:ext cx="43497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Total de elementos do dicionário : 3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B8E8FFA-72F1-9340-92BA-FD2F13884542}"/>
              </a:ext>
            </a:extLst>
          </p:cNvPr>
          <p:cNvCxnSpPr>
            <a:cxnSpLocks/>
          </p:cNvCxnSpPr>
          <p:nvPr/>
        </p:nvCxnSpPr>
        <p:spPr>
          <a:xfrm>
            <a:off x="4350087" y="4611096"/>
            <a:ext cx="1745913" cy="50614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31375352-CD4B-C02E-B49E-19167400B5C5}"/>
              </a:ext>
            </a:extLst>
          </p:cNvPr>
          <p:cNvSpPr/>
          <p:nvPr/>
        </p:nvSpPr>
        <p:spPr>
          <a:xfrm rot="16200000">
            <a:off x="3852555" y="1096197"/>
            <a:ext cx="890255" cy="6139542"/>
          </a:xfrm>
          <a:prstGeom prst="leftBrac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32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61D905-2913-7C87-2BED-5DFDA99F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1CF391-7ECA-B1BB-0810-7814E85A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200" b="1" dirty="0"/>
              <a:t>Cao10-Exem07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2E9DC2-8B2E-B662-00BB-B4B5D29DC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C2A68AA-0651-0127-9DB0-E6EE14893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Operações com Dicionários - Método </a:t>
            </a:r>
            <a:r>
              <a:rPr lang="pt-BR" b="1" i="1" u="none" strike="noStrike" baseline="0" dirty="0" err="1">
                <a:solidFill>
                  <a:srgbClr val="4472C5"/>
                </a:solidFill>
                <a:latin typeface="CIDFont+F1"/>
              </a:rPr>
              <a:t>get</a:t>
            </a:r>
            <a:r>
              <a:rPr lang="pt-BR" b="1" i="1" u="none" strike="noStrike" baseline="0" dirty="0">
                <a:solidFill>
                  <a:srgbClr val="4472C5"/>
                </a:solidFill>
                <a:latin typeface="CIDFont+F1"/>
              </a:rPr>
              <a:t>()</a:t>
            </a:r>
            <a:endParaRPr lang="pt-BR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003649-19FB-EC06-CEE9-E26BE4C2B627}"/>
              </a:ext>
            </a:extLst>
          </p:cNvPr>
          <p:cNvSpPr txBox="1"/>
          <p:nvPr/>
        </p:nvSpPr>
        <p:spPr>
          <a:xfrm>
            <a:off x="604909" y="1606714"/>
            <a:ext cx="113479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1075" indent="-2251075" algn="l"/>
            <a:r>
              <a:rPr lang="pt-BR" sz="32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Exemplo7 – Retorna o valor relativo a chave (índice) do dicionário Método </a:t>
            </a:r>
            <a:r>
              <a:rPr lang="pt-BR" sz="3200" b="0" i="0" u="none" strike="noStrike" baseline="0" dirty="0" err="1">
                <a:solidFill>
                  <a:srgbClr val="4472C5"/>
                </a:solidFill>
                <a:latin typeface="CIDFont+F2"/>
              </a:rPr>
              <a:t>get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()</a:t>
            </a:r>
          </a:p>
          <a:p>
            <a:pPr marL="2251075" indent="-2251075" algn="l"/>
            <a:endParaRPr lang="pt-BR" sz="3200" dirty="0">
              <a:solidFill>
                <a:srgbClr val="4472C5"/>
              </a:solidFill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celular = {'Ana':999998888, 'Alan':877779090, 'Pedro':989885555}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 'Conteúdo do dicionário na posição Alan = ',</a:t>
            </a:r>
            <a:r>
              <a:rPr lang="pt-BR" sz="2800" b="0" i="0" u="none" strike="noStrike" baseline="0" dirty="0" err="1">
                <a:latin typeface="CIDFont+F2"/>
              </a:rPr>
              <a:t>celular.get</a:t>
            </a:r>
            <a:r>
              <a:rPr lang="pt-BR" sz="2800" b="0" i="0" u="none" strike="noStrike" baseline="0" dirty="0">
                <a:latin typeface="CIDFont+F2"/>
              </a:rPr>
              <a:t>('Alan'))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C497A09-818C-F38D-3198-6CFEA765340A}"/>
              </a:ext>
            </a:extLst>
          </p:cNvPr>
          <p:cNvSpPr txBox="1"/>
          <p:nvPr/>
        </p:nvSpPr>
        <p:spPr>
          <a:xfrm>
            <a:off x="3240259" y="5093212"/>
            <a:ext cx="7404295" cy="461665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pt-BR" sz="2400" b="1" i="0" u="none" strike="noStrike" baseline="0" dirty="0">
                <a:latin typeface="CIDFont+F2"/>
              </a:rPr>
              <a:t>Conteúdo do dicionário na posição Alan = 877779090</a:t>
            </a:r>
            <a:endParaRPr lang="pt-BR" sz="2400" b="1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12A69BB-E619-9802-C49A-1C4FEA5D3FEA}"/>
              </a:ext>
            </a:extLst>
          </p:cNvPr>
          <p:cNvCxnSpPr>
            <a:stCxn id="9" idx="2"/>
          </p:cNvCxnSpPr>
          <p:nvPr/>
        </p:nvCxnSpPr>
        <p:spPr>
          <a:xfrm>
            <a:off x="6278879" y="4469036"/>
            <a:ext cx="1" cy="62417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80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3C97F9-2FF5-BE7D-4F4E-5B2B1AC1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D7A16C-4EF2-406A-16D1-7E6D00BA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Cao10-Exem08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94DC7A-B430-FFAD-DE56-5777CB00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C84157B-D29E-C1A6-C8F9-0442BACB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Operações com Dicionários - Método </a:t>
            </a:r>
            <a:r>
              <a:rPr lang="pt-BR" b="1" i="1" u="none" strike="noStrike" baseline="0" dirty="0" err="1">
                <a:solidFill>
                  <a:srgbClr val="0070C0"/>
                </a:solidFill>
                <a:latin typeface="CIDFont+F1"/>
              </a:rPr>
              <a:t>clear</a:t>
            </a:r>
            <a:r>
              <a:rPr lang="pt-BR" b="1" i="1" u="none" strike="noStrike" baseline="0" dirty="0">
                <a:solidFill>
                  <a:srgbClr val="0070C0"/>
                </a:solidFill>
                <a:latin typeface="CIDFont+F1"/>
              </a:rPr>
              <a:t>()</a:t>
            </a:r>
            <a:endParaRPr lang="pt-BR" i="1" dirty="0">
              <a:solidFill>
                <a:srgbClr val="0070C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98C93D-28A8-9606-6DC8-EDBB9B27FDD1}"/>
              </a:ext>
            </a:extLst>
          </p:cNvPr>
          <p:cNvSpPr txBox="1"/>
          <p:nvPr/>
        </p:nvSpPr>
        <p:spPr>
          <a:xfrm>
            <a:off x="445475" y="1611142"/>
            <a:ext cx="104851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1075" indent="-2251075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3200" dirty="0">
                <a:solidFill>
                  <a:srgbClr val="000000"/>
                </a:solidFill>
                <a:latin typeface="CIDFont+F2"/>
              </a:rPr>
              <a:t>Exemplo 8 – Retorna o valor relativo a chave (índice) do dicionário Método </a:t>
            </a:r>
            <a:r>
              <a:rPr lang="pt-BR" sz="3200" dirty="0" err="1">
                <a:solidFill>
                  <a:srgbClr val="000000"/>
                </a:solidFill>
                <a:latin typeface="CIDFont+F2"/>
              </a:rPr>
              <a:t>clear</a:t>
            </a:r>
            <a:r>
              <a:rPr lang="pt-BR" sz="3200" dirty="0">
                <a:solidFill>
                  <a:srgbClr val="000000"/>
                </a:solidFill>
                <a:latin typeface="CIDFont+F2"/>
              </a:rPr>
              <a:t>()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90AB65-5B9C-7735-C5AD-8ACCF24845DC}"/>
              </a:ext>
            </a:extLst>
          </p:cNvPr>
          <p:cNvSpPr txBox="1"/>
          <p:nvPr/>
        </p:nvSpPr>
        <p:spPr>
          <a:xfrm>
            <a:off x="840532" y="2828835"/>
            <a:ext cx="1023894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celular = {'Ana':999998888, 'Alan':877779090, 'Pedro':989885555}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 err="1">
                <a:latin typeface="CIDFont+F2"/>
              </a:rPr>
              <a:t>celular.clear</a:t>
            </a:r>
            <a:r>
              <a:rPr lang="pt-BR" sz="2800" b="0" i="0" u="none" strike="noStrike" baseline="0" dirty="0">
                <a:latin typeface="CIDFont+F2"/>
              </a:rPr>
              <a:t>()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print(celular)</a:t>
            </a:r>
            <a:endParaRPr lang="pt-BR" sz="2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9ECC19-2E52-DB56-0B6B-99CD9BA62539}"/>
              </a:ext>
            </a:extLst>
          </p:cNvPr>
          <p:cNvSpPr txBox="1"/>
          <p:nvPr/>
        </p:nvSpPr>
        <p:spPr>
          <a:xfrm>
            <a:off x="6096001" y="5075602"/>
            <a:ext cx="518159" cy="646331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r>
              <a:rPr lang="pt-BR" sz="3600" b="1" i="0" u="none" strike="noStrike" baseline="0" dirty="0">
                <a:latin typeface="CIDFont+F2"/>
              </a:rPr>
              <a:t>{}</a:t>
            </a:r>
            <a:endParaRPr lang="pt-BR" sz="3600" b="1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EA5E068-0CDC-3627-F8DB-B7B32B353F9B}"/>
              </a:ext>
            </a:extLst>
          </p:cNvPr>
          <p:cNvCxnSpPr/>
          <p:nvPr/>
        </p:nvCxnSpPr>
        <p:spPr>
          <a:xfrm>
            <a:off x="2895600" y="4876800"/>
            <a:ext cx="3017520" cy="54864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1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387E6-4AF3-6DD5-C630-F86335F9E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9ACA51-3087-CDD8-6471-C8D488713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7E55A5-7DB7-8444-FA3E-58A87A4F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Cao10-Exem08B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8F57A9-2A2C-EA94-C155-D28A46E2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D466F05-6D6C-7B15-46E3-711AF146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i="1" dirty="0">
                <a:solidFill>
                  <a:srgbClr val="0070C0"/>
                </a:solidFill>
                <a:latin typeface="CIDFont+F1"/>
              </a:rPr>
              <a:t>Método </a:t>
            </a:r>
            <a:r>
              <a:rPr lang="pt-BR" b="1" i="1" u="none" strike="noStrike" baseline="0" dirty="0">
                <a:solidFill>
                  <a:srgbClr val="0070C0"/>
                </a:solidFill>
                <a:latin typeface="CIDFont+F1"/>
              </a:rPr>
              <a:t>pop()</a:t>
            </a:r>
            <a:endParaRPr lang="pt-BR" i="1" dirty="0">
              <a:solidFill>
                <a:srgbClr val="0070C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4FF90B-76FE-7453-9AF1-5D430BFB2D2B}"/>
              </a:ext>
            </a:extLst>
          </p:cNvPr>
          <p:cNvSpPr txBox="1"/>
          <p:nvPr/>
        </p:nvSpPr>
        <p:spPr>
          <a:xfrm>
            <a:off x="120746" y="1360763"/>
            <a:ext cx="115073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CIDFont+F2"/>
              </a:rPr>
              <a:t>Para remover elementos de um dicionário, você pode utilizar o método pop() informando qual chave deseja remover, cuja sintaxe básica é a seguinte: &lt;dicionario&gt;.pop(&lt;chave&gt;)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63D6A7-F4A7-CA58-5E80-4231F5B67227}"/>
              </a:ext>
            </a:extLst>
          </p:cNvPr>
          <p:cNvSpPr txBox="1"/>
          <p:nvPr/>
        </p:nvSpPr>
        <p:spPr>
          <a:xfrm>
            <a:off x="124252" y="2691675"/>
            <a:ext cx="1184032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CIDFont+F2"/>
              </a:rPr>
              <a:t>contato = {"@</a:t>
            </a:r>
            <a:r>
              <a:rPr lang="pt-BR" sz="2800" dirty="0" err="1">
                <a:latin typeface="CIDFont+F2"/>
              </a:rPr>
              <a:t>camilaqueiroz</a:t>
            </a:r>
            <a:r>
              <a:rPr lang="pt-BR" sz="2800" dirty="0">
                <a:latin typeface="CIDFont+F2"/>
              </a:rPr>
              <a:t>": "Camila Queiroz", </a:t>
            </a:r>
          </a:p>
          <a:p>
            <a:r>
              <a:rPr lang="pt-BR" sz="2800" dirty="0">
                <a:latin typeface="CIDFont+F2"/>
              </a:rPr>
              <a:t>                   "@</a:t>
            </a:r>
            <a:r>
              <a:rPr lang="pt-BR" sz="2800" dirty="0" err="1">
                <a:latin typeface="CIDFont+F2"/>
              </a:rPr>
              <a:t>paollaoliveirareal</a:t>
            </a:r>
            <a:r>
              <a:rPr lang="pt-BR" sz="2800" dirty="0">
                <a:latin typeface="CIDFont+F2"/>
              </a:rPr>
              <a:t>": "Paolla de Oliveira", </a:t>
            </a:r>
          </a:p>
          <a:p>
            <a:r>
              <a:rPr lang="pt-BR" sz="2800" dirty="0">
                <a:latin typeface="CIDFont+F2"/>
              </a:rPr>
              <a:t>                   "@</a:t>
            </a:r>
            <a:r>
              <a:rPr lang="pt-BR" sz="2800" dirty="0" err="1">
                <a:latin typeface="CIDFont+F2"/>
              </a:rPr>
              <a:t>sheronmenezzes</a:t>
            </a:r>
            <a:r>
              <a:rPr lang="pt-BR" sz="2800" dirty="0">
                <a:latin typeface="CIDFont+F2"/>
              </a:rPr>
              <a:t>": "Sheron Menezes", </a:t>
            </a:r>
          </a:p>
          <a:p>
            <a:r>
              <a:rPr lang="pt-BR" sz="2800" dirty="0">
                <a:latin typeface="CIDFont+F2"/>
              </a:rPr>
              <a:t>                   "@</a:t>
            </a:r>
            <a:r>
              <a:rPr lang="pt-BR" sz="2800" dirty="0" err="1">
                <a:latin typeface="CIDFont+F2"/>
              </a:rPr>
              <a:t>bruna_iconica</a:t>
            </a:r>
            <a:r>
              <a:rPr lang="pt-BR" sz="2800" dirty="0">
                <a:latin typeface="CIDFont+F2"/>
              </a:rPr>
              <a:t>": "Bruna Marquezine"} </a:t>
            </a:r>
          </a:p>
          <a:p>
            <a:endParaRPr lang="pt-BR" sz="2800" dirty="0">
              <a:latin typeface="CIDFont+F2"/>
            </a:endParaRPr>
          </a:p>
          <a:p>
            <a:endParaRPr lang="pt-BR" sz="2800" dirty="0">
              <a:latin typeface="CIDFont+F2"/>
            </a:endParaRPr>
          </a:p>
          <a:p>
            <a:r>
              <a:rPr lang="pt-BR" sz="2800" dirty="0" err="1">
                <a:latin typeface="CIDFont+F2"/>
              </a:rPr>
              <a:t>contato.pop</a:t>
            </a:r>
            <a:r>
              <a:rPr lang="pt-BR" sz="2800" dirty="0">
                <a:latin typeface="CIDFont+F2"/>
              </a:rPr>
              <a:t>("@</a:t>
            </a:r>
            <a:r>
              <a:rPr lang="pt-BR" sz="2800" dirty="0" err="1">
                <a:latin typeface="CIDFont+F2"/>
              </a:rPr>
              <a:t>bruna_iconica</a:t>
            </a:r>
            <a:r>
              <a:rPr lang="pt-BR" sz="2800" dirty="0">
                <a:latin typeface="CIDFont+F2"/>
              </a:rPr>
              <a:t>") #Remove os dados de Bruna Marquezine</a:t>
            </a:r>
          </a:p>
          <a:p>
            <a:r>
              <a:rPr lang="pt-BR" sz="2800" dirty="0">
                <a:latin typeface="CIDFont+F2"/>
              </a:rPr>
              <a:t>print(contato)</a:t>
            </a:r>
            <a:endParaRPr lang="pt-BR" sz="2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8EB7356-DE86-D3E2-95B3-8E45A6A3C36F}"/>
              </a:ext>
            </a:extLst>
          </p:cNvPr>
          <p:cNvSpPr txBox="1"/>
          <p:nvPr/>
        </p:nvSpPr>
        <p:spPr>
          <a:xfrm>
            <a:off x="7678352" y="4141350"/>
            <a:ext cx="4442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{'@</a:t>
            </a:r>
            <a:r>
              <a:rPr lang="pt-BR" b="1" dirty="0" err="1">
                <a:solidFill>
                  <a:srgbClr val="FF0000"/>
                </a:solidFill>
              </a:rPr>
              <a:t>camilaqueiroz</a:t>
            </a:r>
            <a:r>
              <a:rPr lang="pt-BR" b="1" dirty="0">
                <a:solidFill>
                  <a:srgbClr val="FF0000"/>
                </a:solidFill>
              </a:rPr>
              <a:t>': 'Camila Queiroz’,</a:t>
            </a:r>
          </a:p>
          <a:p>
            <a:r>
              <a:rPr lang="pt-BR" b="1" dirty="0">
                <a:solidFill>
                  <a:srgbClr val="FF0000"/>
                </a:solidFill>
              </a:rPr>
              <a:t> '@</a:t>
            </a:r>
            <a:r>
              <a:rPr lang="pt-BR" b="1" dirty="0" err="1">
                <a:solidFill>
                  <a:srgbClr val="FF0000"/>
                </a:solidFill>
              </a:rPr>
              <a:t>paollaoliveirareal</a:t>
            </a:r>
            <a:r>
              <a:rPr lang="pt-BR" b="1" dirty="0">
                <a:solidFill>
                  <a:srgbClr val="FF0000"/>
                </a:solidFill>
              </a:rPr>
              <a:t>': 'Paolla de Oliveira', '@</a:t>
            </a:r>
            <a:r>
              <a:rPr lang="pt-BR" b="1" dirty="0" err="1">
                <a:solidFill>
                  <a:srgbClr val="FF0000"/>
                </a:solidFill>
              </a:rPr>
              <a:t>sheronmenezzes</a:t>
            </a:r>
            <a:r>
              <a:rPr lang="pt-BR" b="1" dirty="0">
                <a:solidFill>
                  <a:srgbClr val="FF0000"/>
                </a:solidFill>
              </a:rPr>
              <a:t>': 'Sheron Menezes'}</a:t>
            </a:r>
          </a:p>
        </p:txBody>
      </p:sp>
      <p:sp>
        <p:nvSpPr>
          <p:cNvPr id="6" name="Chave Esquerda 5">
            <a:extLst>
              <a:ext uri="{FF2B5EF4-FFF2-40B4-BE49-F238E27FC236}">
                <a16:creationId xmlns:a16="http://schemas.microsoft.com/office/drawing/2014/main" id="{1BF4FB26-7A4D-2810-6114-1596CA68A7CA}"/>
              </a:ext>
            </a:extLst>
          </p:cNvPr>
          <p:cNvSpPr/>
          <p:nvPr/>
        </p:nvSpPr>
        <p:spPr>
          <a:xfrm rot="16200000">
            <a:off x="9536668" y="3069331"/>
            <a:ext cx="569592" cy="4286219"/>
          </a:xfrm>
          <a:prstGeom prst="leftBrace">
            <a:avLst>
              <a:gd name="adj1" fmla="val 8333"/>
              <a:gd name="adj2" fmla="val 83067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4338DE50-7409-7C63-0C6A-3A674E1C4E57}"/>
              </a:ext>
            </a:extLst>
          </p:cNvPr>
          <p:cNvCxnSpPr>
            <a:cxnSpLocks/>
          </p:cNvCxnSpPr>
          <p:nvPr/>
        </p:nvCxnSpPr>
        <p:spPr>
          <a:xfrm flipV="1">
            <a:off x="2407920" y="5576762"/>
            <a:ext cx="8823960" cy="397318"/>
          </a:xfrm>
          <a:prstGeom prst="bentConnector3">
            <a:avLst>
              <a:gd name="adj1" fmla="val 100087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0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E5C006-7A7E-3B5E-D530-91DF3F5B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3507ED-257B-9A86-06C6-BBF1FDD5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Cao10-Exem09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DF23EA-2076-BE28-F5EC-3B94339A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5FF47DC-19FD-C3BF-7618-58FABF482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1" u="none" strike="noStrike" baseline="0" dirty="0">
                <a:solidFill>
                  <a:srgbClr val="000000"/>
                </a:solidFill>
                <a:latin typeface="CIDFont+F1"/>
              </a:rPr>
              <a:t>Operações com</a:t>
            </a:r>
            <a:r>
              <a:rPr lang="pt-BR" b="1" i="1" dirty="0">
                <a:solidFill>
                  <a:srgbClr val="000000"/>
                </a:solidFill>
                <a:latin typeface="CIDFont+F1"/>
              </a:rPr>
              <a:t> Dicionários </a:t>
            </a:r>
            <a:r>
              <a:rPr lang="pt-BR" b="1" i="1" dirty="0">
                <a:solidFill>
                  <a:srgbClr val="4472C5"/>
                </a:solidFill>
                <a:latin typeface="CIDFont+F1"/>
              </a:rPr>
              <a:t>– Método </a:t>
            </a:r>
            <a:r>
              <a:rPr lang="pt-BR" b="1" i="1" u="none" strike="noStrike" baseline="0" dirty="0">
                <a:solidFill>
                  <a:srgbClr val="4472C5"/>
                </a:solidFill>
                <a:latin typeface="CIDFont+F1"/>
              </a:rPr>
              <a:t>copy()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1550064-08AF-69C3-3E72-D41BE005AF60}"/>
              </a:ext>
            </a:extLst>
          </p:cNvPr>
          <p:cNvSpPr txBox="1"/>
          <p:nvPr/>
        </p:nvSpPr>
        <p:spPr>
          <a:xfrm>
            <a:off x="379970" y="1397674"/>
            <a:ext cx="1157287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6438" indent="-197643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3"/>
              </a:rPr>
              <a:t>•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Exemplo 9 – Retorna</a:t>
            </a:r>
            <a:r>
              <a:rPr lang="pt-BR" sz="1800" b="0" i="0" u="none" strike="noStrike" baseline="0" dirty="0">
                <a:solidFill>
                  <a:srgbClr val="FF0000"/>
                </a:solidFill>
                <a:latin typeface="CIDFont+F6"/>
              </a:rPr>
              <a:t> 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um outro dicionário com os mesmos pares chave/conteúdo</a:t>
            </a:r>
            <a:endParaRPr lang="pt-BR" sz="2800" b="0" i="0" u="none" strike="noStrike" baseline="0" dirty="0">
              <a:solidFill>
                <a:srgbClr val="4472C5"/>
              </a:solidFill>
              <a:latin typeface="CIDFont+F2"/>
            </a:endParaRPr>
          </a:p>
          <a:p>
            <a:pPr algn="l"/>
            <a:endParaRPr lang="pt-BR" sz="900" dirty="0">
              <a:solidFill>
                <a:srgbClr val="4472C5"/>
              </a:solidFill>
              <a:latin typeface="CIDFont+F2"/>
            </a:endParaRPr>
          </a:p>
          <a:p>
            <a:pPr algn="l"/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celular = {'Ana':999998888, 'Alan':877779090, 'Pedro':989885555}</a:t>
            </a:r>
          </a:p>
          <a:p>
            <a:pPr algn="l"/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celular2 = </a:t>
            </a:r>
            <a:r>
              <a:rPr lang="pt-BR" sz="2200" b="0" i="0" u="none" strike="noStrike" baseline="0" dirty="0" err="1">
                <a:solidFill>
                  <a:srgbClr val="000000"/>
                </a:solidFill>
                <a:latin typeface="CIDFont+F2"/>
              </a:rPr>
              <a:t>celular.copy</a:t>
            </a:r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()</a:t>
            </a:r>
          </a:p>
          <a:p>
            <a:pPr algn="l"/>
            <a:r>
              <a:rPr lang="pt-BR" sz="2200" b="0" i="0" u="none" strike="noStrike" baseline="0" dirty="0">
                <a:solidFill>
                  <a:srgbClr val="000000"/>
                </a:solidFill>
                <a:latin typeface="CIDFont+F2"/>
              </a:rPr>
              <a:t>celular3  =  celular</a:t>
            </a:r>
          </a:p>
          <a:p>
            <a:pPr algn="l"/>
            <a:r>
              <a:rPr lang="pt-BR" sz="2200" b="0" i="0" u="none" strike="noStrike" baseline="0" dirty="0">
                <a:latin typeface="CIDFont+F2"/>
              </a:rPr>
              <a:t>print(celular,    '</a:t>
            </a:r>
            <a:r>
              <a:rPr lang="pt-BR" sz="2200" b="0" i="0" u="none" strike="noStrike" baseline="0" dirty="0" err="1">
                <a:latin typeface="CIDFont+F2"/>
              </a:rPr>
              <a:t>endereco</a:t>
            </a:r>
            <a:r>
              <a:rPr lang="pt-BR" sz="2200" b="0" i="0" u="none" strike="noStrike" baseline="0" dirty="0">
                <a:latin typeface="CIDFont+F2"/>
              </a:rPr>
              <a:t> de celular = ', id(celular))</a:t>
            </a:r>
          </a:p>
          <a:p>
            <a:pPr algn="l"/>
            <a:r>
              <a:rPr lang="pt-BR" sz="2200" b="0" i="0" u="none" strike="noStrike" baseline="0" dirty="0">
                <a:latin typeface="CIDFont+F2"/>
              </a:rPr>
              <a:t>print(celular2, '</a:t>
            </a:r>
            <a:r>
              <a:rPr lang="pt-BR" sz="2200" b="0" i="0" u="none" strike="noStrike" baseline="0" dirty="0" err="1">
                <a:latin typeface="CIDFont+F2"/>
              </a:rPr>
              <a:t>endereco</a:t>
            </a:r>
            <a:r>
              <a:rPr lang="pt-BR" sz="2200" b="0" i="0" u="none" strike="noStrike" baseline="0" dirty="0">
                <a:latin typeface="CIDFont+F2"/>
              </a:rPr>
              <a:t> de celular2 = ', id(celular2))</a:t>
            </a:r>
          </a:p>
          <a:p>
            <a:pPr algn="l"/>
            <a:r>
              <a:rPr lang="pt-BR" sz="2200" b="0" i="0" u="none" strike="noStrike" baseline="0" dirty="0">
                <a:latin typeface="CIDFont+F2"/>
              </a:rPr>
              <a:t>print(celular3, '</a:t>
            </a:r>
            <a:r>
              <a:rPr lang="pt-BR" sz="2200" b="0" i="0" u="none" strike="noStrike" baseline="0" dirty="0" err="1">
                <a:latin typeface="CIDFont+F2"/>
              </a:rPr>
              <a:t>endereco</a:t>
            </a:r>
            <a:r>
              <a:rPr lang="pt-BR" sz="2200" b="0" i="0" u="none" strike="noStrike" baseline="0" dirty="0">
                <a:latin typeface="CIDFont+F2"/>
              </a:rPr>
              <a:t> de celular3 = ', id(celular3))</a:t>
            </a:r>
          </a:p>
          <a:p>
            <a:r>
              <a:rPr lang="pt-BR" sz="2000" dirty="0"/>
              <a:t>celular['Almir'] = 933334242</a:t>
            </a:r>
          </a:p>
          <a:p>
            <a:r>
              <a:rPr lang="pt-BR" sz="2000" dirty="0">
                <a:latin typeface="CIDFont+F2"/>
              </a:rPr>
              <a:t>print(celular,    '</a:t>
            </a:r>
            <a:r>
              <a:rPr lang="pt-BR" sz="2000" dirty="0" err="1">
                <a:latin typeface="CIDFont+F2"/>
              </a:rPr>
              <a:t>endereco</a:t>
            </a:r>
            <a:r>
              <a:rPr lang="pt-BR" sz="2000" dirty="0">
                <a:latin typeface="CIDFont+F2"/>
              </a:rPr>
              <a:t> de celular = ', id(celular))</a:t>
            </a:r>
          </a:p>
          <a:p>
            <a:r>
              <a:rPr lang="pt-BR" sz="2000" dirty="0">
                <a:latin typeface="CIDFont+F2"/>
              </a:rPr>
              <a:t>print(celular3, '</a:t>
            </a:r>
            <a:r>
              <a:rPr lang="pt-BR" sz="2000" dirty="0" err="1">
                <a:latin typeface="CIDFont+F2"/>
              </a:rPr>
              <a:t>endereco</a:t>
            </a:r>
            <a:r>
              <a:rPr lang="pt-BR" sz="2000" dirty="0">
                <a:latin typeface="CIDFont+F2"/>
              </a:rPr>
              <a:t> de celular3 = ', id(celular3))</a:t>
            </a:r>
          </a:p>
          <a:p>
            <a:endParaRPr lang="pt-BR" sz="2000" dirty="0">
              <a:latin typeface="CIDFont+F2"/>
            </a:endParaRPr>
          </a:p>
          <a:p>
            <a:endParaRPr lang="pt-BR" sz="2000" dirty="0"/>
          </a:p>
          <a:p>
            <a:pPr algn="l"/>
            <a:endParaRPr lang="pt-BR" sz="2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B60FB4C-7E9C-371E-7AAD-F5EE82E89A9A}"/>
              </a:ext>
            </a:extLst>
          </p:cNvPr>
          <p:cNvSpPr txBox="1"/>
          <p:nvPr/>
        </p:nvSpPr>
        <p:spPr>
          <a:xfrm>
            <a:off x="1448972" y="5530734"/>
            <a:ext cx="9157891" cy="830997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r>
              <a:rPr lang="pt-BR" sz="1600" b="1" dirty="0"/>
              <a:t>{'Ana': 999998888, 'Alan': 877779090, 'Pedro': 989885555} </a:t>
            </a:r>
            <a:r>
              <a:rPr lang="pt-BR" sz="1600" b="1" dirty="0" err="1"/>
              <a:t>endereco</a:t>
            </a:r>
            <a:r>
              <a:rPr lang="pt-BR" sz="1600" b="1" dirty="0"/>
              <a:t> de celular =  2541195486272</a:t>
            </a:r>
          </a:p>
          <a:p>
            <a:r>
              <a:rPr lang="pt-BR" sz="1600" b="1" dirty="0"/>
              <a:t>{'Ana': 999998888, 'Alan': 877779090, 'Pedro': 989885555} </a:t>
            </a:r>
            <a:r>
              <a:rPr lang="pt-BR" sz="1600" b="1" dirty="0" err="1"/>
              <a:t>endereco</a:t>
            </a:r>
            <a:r>
              <a:rPr lang="pt-BR" sz="1600" b="1" dirty="0"/>
              <a:t> de celular2 =  2541195070464</a:t>
            </a:r>
          </a:p>
          <a:p>
            <a:r>
              <a:rPr lang="pt-BR" sz="1600" b="1" dirty="0"/>
              <a:t>{'Ana': 999998888, 'Alan': 877779090, 'Pedro': 989885555} </a:t>
            </a:r>
            <a:r>
              <a:rPr lang="pt-BR" sz="1600" b="1" dirty="0" err="1"/>
              <a:t>endereco</a:t>
            </a:r>
            <a:r>
              <a:rPr lang="pt-BR" sz="1600" b="1" dirty="0"/>
              <a:t> de celular3 =  2541195486272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0FA1D38-5D76-B47C-4085-411AB48E293B}"/>
              </a:ext>
            </a:extLst>
          </p:cNvPr>
          <p:cNvSpPr txBox="1"/>
          <p:nvPr/>
        </p:nvSpPr>
        <p:spPr>
          <a:xfrm>
            <a:off x="7142672" y="4596871"/>
            <a:ext cx="4810177" cy="64633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sz="1800" b="1" i="0" u="none" strike="noStrike" baseline="0" dirty="0">
                <a:solidFill>
                  <a:schemeClr val="bg1"/>
                </a:solidFill>
                <a:latin typeface="CIDFont+F2"/>
              </a:rPr>
              <a:t>celular e celular3 possuem o mesmo endereço</a:t>
            </a:r>
          </a:p>
          <a:p>
            <a:pPr algn="l"/>
            <a:r>
              <a:rPr lang="pt-BR" sz="1800" b="1" i="0" u="none" strike="noStrike" baseline="0" dirty="0">
                <a:solidFill>
                  <a:schemeClr val="bg1"/>
                </a:solidFill>
                <a:latin typeface="CIDFont+F2"/>
              </a:rPr>
              <a:t>celular2 tem outro endereço de memória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F05695B2-FD1C-19BA-0A06-E633265AA0FF}"/>
              </a:ext>
            </a:extLst>
          </p:cNvPr>
          <p:cNvSpPr/>
          <p:nvPr/>
        </p:nvSpPr>
        <p:spPr>
          <a:xfrm>
            <a:off x="9265723" y="3316481"/>
            <a:ext cx="271567" cy="1106970"/>
          </a:xfrm>
          <a:prstGeom prst="down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5F46D1E1-A862-FC74-99B3-965CC81E9809}"/>
              </a:ext>
            </a:extLst>
          </p:cNvPr>
          <p:cNvSpPr/>
          <p:nvPr/>
        </p:nvSpPr>
        <p:spPr>
          <a:xfrm>
            <a:off x="2654710" y="3109580"/>
            <a:ext cx="6813755" cy="319713"/>
          </a:xfrm>
          <a:prstGeom prst="leftArrow">
            <a:avLst/>
          </a:prstGeom>
          <a:solidFill>
            <a:srgbClr val="FE4D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05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FCB372-E58E-06F9-77E7-329CD05B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6C6118-B5AB-6ED8-94A7-9AEC8CB2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/>
              <a:t>Cap10-Exem10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E09035-170B-837A-7EA9-9F698ED1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1A2C669-A67B-F5C7-6AEA-BA2AC33A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0" u="none" strike="noStrike" baseline="0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dirty="0">
                <a:solidFill>
                  <a:srgbClr val="4472C5"/>
                </a:solidFill>
                <a:latin typeface="CIDFont+F1"/>
              </a:rPr>
              <a:t>Método </a:t>
            </a:r>
            <a:r>
              <a:rPr lang="pt-BR" b="1" i="0" u="none" strike="noStrike" baseline="0" dirty="0" err="1">
                <a:solidFill>
                  <a:srgbClr val="4472C5"/>
                </a:solidFill>
                <a:latin typeface="CIDFont+F1"/>
              </a:rPr>
              <a:t>items</a:t>
            </a:r>
            <a:r>
              <a:rPr lang="pt-BR" b="1" i="0" u="none" strike="noStrike" baseline="0" dirty="0">
                <a:solidFill>
                  <a:srgbClr val="4472C5"/>
                </a:solidFill>
                <a:latin typeface="CIDFont+F1"/>
              </a:rPr>
              <a:t>()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FF2348-4F42-2A6F-72C9-F8E2FAD4E64F}"/>
              </a:ext>
            </a:extLst>
          </p:cNvPr>
          <p:cNvSpPr txBox="1"/>
          <p:nvPr/>
        </p:nvSpPr>
        <p:spPr>
          <a:xfrm>
            <a:off x="669842" y="1785854"/>
            <a:ext cx="110234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41550" indent="-2241550" algn="l"/>
            <a:r>
              <a:rPr lang="pt-BR" sz="2800" b="0" i="0" u="none" strike="noStrike" baseline="0" dirty="0">
                <a:latin typeface="CIDFont+F3"/>
              </a:rPr>
              <a:t>• Exemplo 10 –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Possibilita que cada chave/valor sejam recuperados em um for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4C8955-C7B9-211D-B4D5-AD6C243F66FB}"/>
              </a:ext>
            </a:extLst>
          </p:cNvPr>
          <p:cNvSpPr txBox="1"/>
          <p:nvPr/>
        </p:nvSpPr>
        <p:spPr>
          <a:xfrm>
            <a:off x="679470" y="2760873"/>
            <a:ext cx="985518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celular = {'Ana':999998888, 'Alan':877779090, 'Pedro':989885555}</a:t>
            </a:r>
          </a:p>
          <a:p>
            <a:pPr algn="l"/>
            <a:endParaRPr lang="en-US" sz="2800" b="0" i="0" u="none" strike="noStrike" baseline="0" dirty="0">
              <a:latin typeface="CIDFont+F2"/>
            </a:endParaRPr>
          </a:p>
          <a:p>
            <a:pPr algn="l"/>
            <a:r>
              <a:rPr lang="en-US" sz="2800" b="0" i="0" u="none" strike="noStrike" baseline="0" dirty="0">
                <a:latin typeface="CIDFont+F2"/>
              </a:rPr>
              <a:t>for </a:t>
            </a:r>
            <a:r>
              <a:rPr lang="en-US" sz="2800" b="0" i="0" u="none" strike="noStrike" baseline="0" dirty="0" err="1">
                <a:latin typeface="CIDFont+F2"/>
              </a:rPr>
              <a:t>tupla</a:t>
            </a:r>
            <a:r>
              <a:rPr lang="en-US" sz="2800" b="0" i="0" u="none" strike="noStrike" baseline="0" dirty="0">
                <a:latin typeface="CIDFont+F2"/>
              </a:rPr>
              <a:t> in </a:t>
            </a:r>
            <a:r>
              <a:rPr lang="en-US" sz="2800" b="0" i="0" u="none" strike="noStrike" baseline="0" dirty="0" err="1">
                <a:latin typeface="CIDFont+F2"/>
              </a:rPr>
              <a:t>celular.items</a:t>
            </a:r>
            <a:r>
              <a:rPr lang="en-US" sz="2800" b="0" i="0" u="none" strike="noStrike" baseline="0" dirty="0">
                <a:latin typeface="CIDFont+F2"/>
              </a:rPr>
              <a:t>():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      print(tupla)</a:t>
            </a:r>
          </a:p>
          <a:p>
            <a:pPr algn="l"/>
            <a:endParaRPr lang="en-US" sz="2800" b="0" i="0" u="none" strike="noStrike" baseline="0" dirty="0">
              <a:latin typeface="CIDFont+F2"/>
            </a:endParaRPr>
          </a:p>
          <a:p>
            <a:pPr algn="l"/>
            <a:r>
              <a:rPr lang="en-US" sz="2800" b="0" i="0" u="none" strike="noStrike" baseline="0" dirty="0">
                <a:latin typeface="CIDFont+F2"/>
              </a:rPr>
              <a:t>for </a:t>
            </a:r>
            <a:r>
              <a:rPr lang="en-US" sz="2800" b="0" i="0" u="none" strike="noStrike" baseline="0" dirty="0" err="1">
                <a:latin typeface="CIDFont+F2"/>
              </a:rPr>
              <a:t>nome</a:t>
            </a:r>
            <a:r>
              <a:rPr lang="en-US" sz="2800" b="0" i="0" u="none" strike="noStrike" baseline="0" dirty="0">
                <a:latin typeface="CIDFont+F2"/>
              </a:rPr>
              <a:t>, cel in </a:t>
            </a:r>
            <a:r>
              <a:rPr lang="en-US" sz="2800" b="0" i="0" u="none" strike="noStrike" baseline="0" dirty="0" err="1">
                <a:latin typeface="CIDFont+F2"/>
              </a:rPr>
              <a:t>celular.items</a:t>
            </a:r>
            <a:r>
              <a:rPr lang="en-US" sz="2800" b="0" i="0" u="none" strike="noStrike" baseline="0" dirty="0">
                <a:latin typeface="CIDFont+F2"/>
              </a:rPr>
              <a:t>():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      print(nome, </a:t>
            </a:r>
            <a:r>
              <a:rPr lang="pt-BR" sz="2800" b="0" i="0" u="none" strike="noStrike" baseline="0" dirty="0" err="1">
                <a:latin typeface="CIDFont+F2"/>
              </a:rPr>
              <a:t>cel</a:t>
            </a:r>
            <a:r>
              <a:rPr lang="pt-BR" sz="2800" b="0" i="0" u="none" strike="noStrike" baseline="0" dirty="0">
                <a:latin typeface="CIDFont+F2"/>
              </a:rPr>
              <a:t>) </a:t>
            </a:r>
          </a:p>
          <a:p>
            <a:pPr algn="l"/>
            <a:endParaRPr lang="pt-BR" sz="28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207EA5B-DE86-C97B-B086-F19815CB2B54}"/>
              </a:ext>
            </a:extLst>
          </p:cNvPr>
          <p:cNvSpPr txBox="1"/>
          <p:nvPr/>
        </p:nvSpPr>
        <p:spPr>
          <a:xfrm>
            <a:off x="5776450" y="3936598"/>
            <a:ext cx="2246673" cy="92333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 algn="l"/>
            <a:r>
              <a:rPr lang="pt-BR" sz="1800" b="1" i="0" u="none" strike="noStrike" baseline="0" dirty="0">
                <a:latin typeface="CIDFont+F2"/>
              </a:rPr>
              <a:t>('Ana', 999998888)</a:t>
            </a:r>
          </a:p>
          <a:p>
            <a:pPr algn="l"/>
            <a:r>
              <a:rPr lang="pt-BR" sz="1800" b="1" i="0" u="none" strike="noStrike" baseline="0" dirty="0">
                <a:latin typeface="CIDFont+F2"/>
              </a:rPr>
              <a:t>('Alan', 877779090)</a:t>
            </a:r>
          </a:p>
          <a:p>
            <a:pPr algn="l"/>
            <a:r>
              <a:rPr lang="pt-BR" sz="1800" b="1" i="0" u="none" strike="noStrike" baseline="0" dirty="0">
                <a:latin typeface="CIDFont+F2"/>
              </a:rPr>
              <a:t>('Pedro', 989885555</a:t>
            </a:r>
            <a:r>
              <a:rPr lang="pt-BR" sz="1800" b="0" i="0" u="none" strike="noStrike" baseline="0" dirty="0">
                <a:latin typeface="CIDFont+F2"/>
              </a:rPr>
              <a:t>)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8D3434-BE79-1667-F1D5-2C92AD9DF063}"/>
              </a:ext>
            </a:extLst>
          </p:cNvPr>
          <p:cNvSpPr txBox="1"/>
          <p:nvPr/>
        </p:nvSpPr>
        <p:spPr>
          <a:xfrm>
            <a:off x="5813196" y="5184124"/>
            <a:ext cx="2246673" cy="92333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pPr algn="l"/>
            <a:r>
              <a:rPr lang="pt-BR" sz="1800" b="1" i="0" u="none" strike="noStrike" baseline="0" dirty="0">
                <a:latin typeface="CIDFont+F2"/>
              </a:rPr>
              <a:t>Ana  999998888</a:t>
            </a:r>
          </a:p>
          <a:p>
            <a:pPr algn="l"/>
            <a:r>
              <a:rPr lang="pt-BR" sz="1800" b="1" i="0" u="none" strike="noStrike" baseline="0" dirty="0">
                <a:latin typeface="CIDFont+F2"/>
              </a:rPr>
              <a:t>Alan  877779090</a:t>
            </a:r>
          </a:p>
          <a:p>
            <a:pPr algn="l"/>
            <a:r>
              <a:rPr lang="pt-BR" sz="1800" b="1" i="0" u="none" strike="noStrike" baseline="0" dirty="0">
                <a:latin typeface="CIDFont+F2"/>
              </a:rPr>
              <a:t>Pedro  989885555</a:t>
            </a:r>
            <a:endParaRPr lang="pt-BR" dirty="0"/>
          </a:p>
        </p:txBody>
      </p:sp>
      <p:sp>
        <p:nvSpPr>
          <p:cNvPr id="15" name="Chave Direita 14">
            <a:extLst>
              <a:ext uri="{FF2B5EF4-FFF2-40B4-BE49-F238E27FC236}">
                <a16:creationId xmlns:a16="http://schemas.microsoft.com/office/drawing/2014/main" id="{C3A3E50C-6F02-F385-0A80-DC3D305F1886}"/>
              </a:ext>
            </a:extLst>
          </p:cNvPr>
          <p:cNvSpPr/>
          <p:nvPr/>
        </p:nvSpPr>
        <p:spPr>
          <a:xfrm>
            <a:off x="8172450" y="3936598"/>
            <a:ext cx="152400" cy="92333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have Direita 15">
            <a:extLst>
              <a:ext uri="{FF2B5EF4-FFF2-40B4-BE49-F238E27FC236}">
                <a16:creationId xmlns:a16="http://schemas.microsoft.com/office/drawing/2014/main" id="{98AF06E5-6DDC-7D9F-F489-989379726E0B}"/>
              </a:ext>
            </a:extLst>
          </p:cNvPr>
          <p:cNvSpPr/>
          <p:nvPr/>
        </p:nvSpPr>
        <p:spPr>
          <a:xfrm>
            <a:off x="8172450" y="5162896"/>
            <a:ext cx="152400" cy="92333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1C6AF88-27A2-D7E7-9232-EE5C08555A83}"/>
              </a:ext>
            </a:extLst>
          </p:cNvPr>
          <p:cNvSpPr txBox="1"/>
          <p:nvPr/>
        </p:nvSpPr>
        <p:spPr>
          <a:xfrm>
            <a:off x="8474177" y="4075097"/>
            <a:ext cx="260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Cada linha é uma tupla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498F02E-66A4-591A-64A4-A2544DBF1FFB}"/>
              </a:ext>
            </a:extLst>
          </p:cNvPr>
          <p:cNvSpPr txBox="1"/>
          <p:nvPr/>
        </p:nvSpPr>
        <p:spPr>
          <a:xfrm>
            <a:off x="8437431" y="5215723"/>
            <a:ext cx="2605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Cada linha é composta por uma strings e por um número inteiro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5335445A-9EC3-EF4F-54F3-786E25599796}"/>
              </a:ext>
            </a:extLst>
          </p:cNvPr>
          <p:cNvCxnSpPr/>
          <p:nvPr/>
        </p:nvCxnSpPr>
        <p:spPr>
          <a:xfrm>
            <a:off x="3108960" y="4267200"/>
            <a:ext cx="248412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3EC315B-AE6D-329F-F73F-27AB7672B21B}"/>
              </a:ext>
            </a:extLst>
          </p:cNvPr>
          <p:cNvCxnSpPr/>
          <p:nvPr/>
        </p:nvCxnSpPr>
        <p:spPr>
          <a:xfrm>
            <a:off x="3779520" y="5638800"/>
            <a:ext cx="188976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90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FCB372-E58E-06F9-77E7-329CD05B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76C6118-B5AB-6ED8-94A7-9AEC8CB2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Cao10-Exem11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E09035-170B-837A-7EA9-9F698ED1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1A2C669-A67B-F5C7-6AEA-BA2AC33A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30" y="356716"/>
            <a:ext cx="9431980" cy="988219"/>
          </a:xfrm>
        </p:spPr>
        <p:txBody>
          <a:bodyPr>
            <a:normAutofit fontScale="90000"/>
          </a:bodyPr>
          <a:lstStyle/>
          <a:p>
            <a:pPr marL="6275388" indent="-6007100"/>
            <a:r>
              <a:rPr lang="pt-BR" b="1" i="0" u="none" strike="noStrike" baseline="0" dirty="0">
                <a:solidFill>
                  <a:srgbClr val="000000"/>
                </a:solidFill>
                <a:latin typeface="CIDFont+F1"/>
              </a:rPr>
              <a:t>Operações com Dicionários – </a:t>
            </a:r>
            <a:r>
              <a:rPr lang="pt-BR" b="1" dirty="0">
                <a:solidFill>
                  <a:srgbClr val="4472C5"/>
                </a:solidFill>
                <a:latin typeface="CIDFont+F1"/>
              </a:rPr>
              <a:t>Método</a:t>
            </a:r>
            <a:br>
              <a:rPr lang="pt-BR" b="1" dirty="0">
                <a:solidFill>
                  <a:srgbClr val="4472C5"/>
                </a:solidFill>
                <a:latin typeface="CIDFont+F1"/>
              </a:rPr>
            </a:br>
            <a:r>
              <a:rPr lang="pt-BR" b="1" dirty="0">
                <a:solidFill>
                  <a:srgbClr val="4472C5"/>
                </a:solidFill>
                <a:latin typeface="CIDFont+F1"/>
              </a:rPr>
              <a:t> </a:t>
            </a:r>
            <a:r>
              <a:rPr lang="pt-BR" b="1" i="0" u="none" strike="noStrike" baseline="0" dirty="0">
                <a:solidFill>
                  <a:srgbClr val="4472C5"/>
                </a:solidFill>
                <a:latin typeface="CIDFont+F1"/>
              </a:rPr>
              <a:t>update(</a:t>
            </a:r>
            <a:r>
              <a:rPr lang="pt-BR" b="1" i="0" u="none" strike="noStrike" baseline="0" dirty="0" err="1">
                <a:solidFill>
                  <a:srgbClr val="4472C5"/>
                </a:solidFill>
                <a:latin typeface="CIDFont+F1"/>
              </a:rPr>
              <a:t>dic</a:t>
            </a:r>
            <a:r>
              <a:rPr lang="pt-BR" b="1" i="0" u="none" strike="noStrike" baseline="0" dirty="0">
                <a:solidFill>
                  <a:srgbClr val="4472C5"/>
                </a:solidFill>
                <a:latin typeface="CIDFont+F1"/>
              </a:rPr>
              <a:t>)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FF2348-4F42-2A6F-72C9-F8E2FAD4E64F}"/>
              </a:ext>
            </a:extLst>
          </p:cNvPr>
          <p:cNvSpPr txBox="1"/>
          <p:nvPr/>
        </p:nvSpPr>
        <p:spPr>
          <a:xfrm>
            <a:off x="492690" y="1668100"/>
            <a:ext cx="110234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41550" indent="-2241550" algn="just"/>
            <a:r>
              <a:rPr lang="pt-BR" sz="2800" b="0" i="0" u="none" strike="noStrike" baseline="0" dirty="0">
                <a:latin typeface="CIDFont+F3"/>
              </a:rPr>
              <a:t>• Exemplo 11 – 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2"/>
              </a:rPr>
              <a:t>Atualiza um dicionário com os elementos de outro.</a:t>
            </a:r>
          </a:p>
          <a:p>
            <a:pPr marL="2241550" indent="-2241550" algn="just"/>
            <a:r>
              <a:rPr lang="pt-BR" sz="2800" dirty="0">
                <a:solidFill>
                  <a:srgbClr val="000000"/>
                </a:solidFill>
                <a:latin typeface="CIDFont+F2"/>
              </a:rPr>
              <a:t>                            Os itens em </a:t>
            </a:r>
            <a:r>
              <a:rPr lang="pt-BR" sz="2800" dirty="0" err="1">
                <a:solidFill>
                  <a:srgbClr val="000000"/>
                </a:solidFill>
                <a:latin typeface="CIDFont+F2"/>
              </a:rPr>
              <a:t>dic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 são </a:t>
            </a:r>
            <a:r>
              <a:rPr lang="pt-BR" sz="2800" b="1" dirty="0">
                <a:solidFill>
                  <a:srgbClr val="0079B6"/>
                </a:solidFill>
                <a:latin typeface="CIDFont+F2"/>
              </a:rPr>
              <a:t>atualizados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 ou </a:t>
            </a:r>
            <a:r>
              <a:rPr lang="pt-BR" sz="2800" b="1" dirty="0">
                <a:solidFill>
                  <a:srgbClr val="00B050"/>
                </a:solidFill>
                <a:latin typeface="CIDFont+F2"/>
              </a:rPr>
              <a:t>adicionados</a:t>
            </a:r>
            <a:r>
              <a:rPr lang="pt-BR" sz="2800" dirty="0">
                <a:solidFill>
                  <a:srgbClr val="000000"/>
                </a:solidFill>
                <a:latin typeface="CIDFont+F2"/>
              </a:rPr>
              <a:t> um a um ao dicionário original.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4C8955-C7B9-211D-B4D5-AD6C243F66FB}"/>
              </a:ext>
            </a:extLst>
          </p:cNvPr>
          <p:cNvSpPr txBox="1"/>
          <p:nvPr/>
        </p:nvSpPr>
        <p:spPr>
          <a:xfrm>
            <a:off x="492690" y="3149943"/>
            <a:ext cx="85347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latin typeface="CIDFont+F2"/>
              </a:rPr>
              <a:t>celular = {'Ana':999998888, 'Alan':877779090, 'Pedro':989885555}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celular2 = {'Igor': 777777777, 'Guto': 900001111}</a:t>
            </a:r>
          </a:p>
          <a:p>
            <a:pPr algn="l"/>
            <a:r>
              <a:rPr lang="pt-BR" sz="2400" b="0" i="0" u="none" strike="noStrike" baseline="0" dirty="0" err="1">
                <a:latin typeface="CIDFont+F2"/>
              </a:rPr>
              <a:t>celular.update</a:t>
            </a:r>
            <a:r>
              <a:rPr lang="pt-BR" sz="2400" b="0" i="0" u="none" strike="noStrike" baseline="0" dirty="0">
                <a:latin typeface="CIDFont+F2"/>
              </a:rPr>
              <a:t>(celular2)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print(celular)</a:t>
            </a:r>
          </a:p>
          <a:p>
            <a:pPr algn="l"/>
            <a:r>
              <a:rPr lang="pt-BR" sz="2400" b="0" i="0" u="none" strike="noStrike" baseline="0" dirty="0" err="1">
                <a:latin typeface="CIDFont+F2"/>
              </a:rPr>
              <a:t>celular.update</a:t>
            </a:r>
            <a:r>
              <a:rPr lang="pt-BR" sz="2400" b="0" i="0" u="none" strike="noStrike" baseline="0" dirty="0">
                <a:latin typeface="CIDFont+F2"/>
              </a:rPr>
              <a:t>({'Alan': 911111111, 'Igor':666666666})    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print(celular) 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94F325-5702-5236-7933-71119DEB83B3}"/>
              </a:ext>
            </a:extLst>
          </p:cNvPr>
          <p:cNvSpPr txBox="1"/>
          <p:nvPr/>
        </p:nvSpPr>
        <p:spPr>
          <a:xfrm>
            <a:off x="685451" y="5639189"/>
            <a:ext cx="9811100" cy="646331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pt-BR" b="1" dirty="0"/>
              <a:t>{'Ana': 999998888, 'Alan': 877779090, 'Pedro': 989885555, 'Igor': 777777777, 'Guto': 900001111}</a:t>
            </a:r>
          </a:p>
          <a:p>
            <a:r>
              <a:rPr lang="pt-BR" b="1" dirty="0"/>
              <a:t>{'Ana': 999998888, 'Alan': 911111111, 'Pedro': 989885555, 'Igor': 666666666, 'Guto': 900001111}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1FD0F50-1EBB-B88B-FDD3-9071902E585A}"/>
              </a:ext>
            </a:extLst>
          </p:cNvPr>
          <p:cNvSpPr txBox="1"/>
          <p:nvPr/>
        </p:nvSpPr>
        <p:spPr>
          <a:xfrm>
            <a:off x="7871828" y="3597949"/>
            <a:ext cx="4074695" cy="369332"/>
          </a:xfrm>
          <a:prstGeom prst="rect">
            <a:avLst/>
          </a:prstGeom>
          <a:solidFill>
            <a:srgbClr val="0079B6"/>
          </a:solidFill>
        </p:spPr>
        <p:txBody>
          <a:bodyPr wrap="square">
            <a:spAutoFit/>
          </a:bodyPr>
          <a:lstStyle/>
          <a:p>
            <a:r>
              <a:rPr lang="pt-BR" sz="1800" b="1" i="0" u="none" strike="noStrike" baseline="0" dirty="0">
                <a:solidFill>
                  <a:schemeClr val="bg1"/>
                </a:solidFill>
                <a:latin typeface="CIDFont+F2"/>
              </a:rPr>
              <a:t>Adiciona dois itens ao dicionário celular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E135123-30A5-3240-FA1B-3F77F4A74A24}"/>
              </a:ext>
            </a:extLst>
          </p:cNvPr>
          <p:cNvSpPr txBox="1"/>
          <p:nvPr/>
        </p:nvSpPr>
        <p:spPr>
          <a:xfrm>
            <a:off x="7871828" y="4555917"/>
            <a:ext cx="4077465" cy="646331"/>
          </a:xfrm>
          <a:prstGeom prst="rect">
            <a:avLst/>
          </a:prstGeom>
          <a:solidFill>
            <a:srgbClr val="0079B6"/>
          </a:solidFill>
        </p:spPr>
        <p:txBody>
          <a:bodyPr wrap="square">
            <a:sp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  <a:latin typeface="CIDFont+F2"/>
              </a:rPr>
              <a:t>A</a:t>
            </a:r>
            <a:r>
              <a:rPr lang="pt-BR" sz="1800" b="1" i="0" u="none" strike="noStrike" baseline="0" dirty="0">
                <a:solidFill>
                  <a:schemeClr val="bg1"/>
                </a:solidFill>
                <a:latin typeface="CIDFont+F2"/>
              </a:rPr>
              <a:t>tualiza os itens com chaves ‘Alan’ e ‘Igor’ do dicionário celular</a:t>
            </a:r>
            <a:endParaRPr lang="pt-BR" b="1" dirty="0">
              <a:solidFill>
                <a:schemeClr val="bg1"/>
              </a:solidFill>
            </a:endParaRP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A1441BCB-9251-8980-CC0D-F71F079AB5C1}"/>
              </a:ext>
            </a:extLst>
          </p:cNvPr>
          <p:cNvCxnSpPr/>
          <p:nvPr/>
        </p:nvCxnSpPr>
        <p:spPr>
          <a:xfrm flipH="1">
            <a:off x="6705600" y="3760986"/>
            <a:ext cx="1166228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1D62817A-25E4-F07F-4F8A-414C47B922F6}"/>
              </a:ext>
            </a:extLst>
          </p:cNvPr>
          <p:cNvCxnSpPr/>
          <p:nvPr/>
        </p:nvCxnSpPr>
        <p:spPr>
          <a:xfrm flipH="1">
            <a:off x="7288714" y="4879082"/>
            <a:ext cx="5831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8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0B9119-0BA1-D17F-F08A-A6524B14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EF68C2-6172-D608-E1C2-46D81F72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Cao10-Exem12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D4B053-D4B0-5227-E431-78BDAAA3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29</a:t>
            </a:fld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8006B5-48B8-2C7E-5CF7-5624554B626A}"/>
              </a:ext>
            </a:extLst>
          </p:cNvPr>
          <p:cNvSpPr txBox="1"/>
          <p:nvPr/>
        </p:nvSpPr>
        <p:spPr>
          <a:xfrm>
            <a:off x="1" y="1290548"/>
            <a:ext cx="6324599" cy="526297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latin typeface="CIDFont+F3"/>
              </a:rPr>
              <a:t>• Exemplo 12 - </a:t>
            </a:r>
            <a:r>
              <a:rPr lang="pt-BR" sz="2400" b="0" i="0" u="none" strike="noStrike" baseline="0" dirty="0">
                <a:latin typeface="CIDFont+F2"/>
              </a:rPr>
              <a:t>Pode-se ter dicionários dentro de dicionários </a:t>
            </a:r>
            <a:endParaRPr lang="pt-BR" sz="2400" dirty="0">
              <a:latin typeface="CIDFont+F2"/>
            </a:endParaRPr>
          </a:p>
          <a:p>
            <a:pPr marL="361950" algn="l"/>
            <a:endParaRPr lang="pt-BR" sz="2400" b="0" i="0" u="none" strike="noStrike" baseline="0" dirty="0">
              <a:latin typeface="CIDFont+F2"/>
            </a:endParaRPr>
          </a:p>
          <a:p>
            <a:pPr marL="898525" indent="-898525" algn="l"/>
            <a:r>
              <a:rPr lang="pt-BR" sz="2400" i="0" u="none" strike="noStrike" baseline="0" dirty="0">
                <a:latin typeface="CIDFont+F2"/>
              </a:rPr>
              <a:t>fone = {'celular':999999999, 'casa':22222222, 'trab':33333333, 'ddd':21}</a:t>
            </a:r>
          </a:p>
          <a:p>
            <a:pPr marL="1524000" indent="-1341438"/>
            <a:r>
              <a:rPr lang="pt-BR" sz="2400" i="0" u="none" strike="noStrike" baseline="0" dirty="0">
                <a:latin typeface="CIDFont+F2"/>
              </a:rPr>
              <a:t>agenda = {'</a:t>
            </a:r>
            <a:r>
              <a:rPr lang="pt-BR" sz="2400" i="0" u="none" strike="noStrike" baseline="0" dirty="0" err="1">
                <a:latin typeface="CIDFont+F2"/>
              </a:rPr>
              <a:t>nome':'Antônio</a:t>
            </a:r>
            <a:r>
              <a:rPr lang="pt-BR" sz="2400" i="0" u="none" strike="noStrike" baseline="0" dirty="0">
                <a:latin typeface="CIDFont+F2"/>
              </a:rPr>
              <a:t>', ‘</a:t>
            </a:r>
            <a:r>
              <a:rPr lang="pt-BR" sz="2400" i="0" u="none" strike="noStrike" baseline="0" dirty="0" err="1">
                <a:latin typeface="CIDFont+F2"/>
              </a:rPr>
              <a:t>tel</a:t>
            </a:r>
            <a:r>
              <a:rPr lang="pt-BR" sz="2400" i="0" u="none" strike="noStrike" baseline="0" dirty="0">
                <a:latin typeface="CIDFont+F2"/>
              </a:rPr>
              <a:t>’:                , </a:t>
            </a:r>
            <a:r>
              <a:rPr lang="pt-BR" sz="2400" i="0" u="none" strike="noStrike" baseline="0" dirty="0" err="1">
                <a:latin typeface="CIDFont+F2"/>
              </a:rPr>
              <a:t>endereco</a:t>
            </a:r>
            <a:r>
              <a:rPr lang="pt-BR" sz="2400" i="0" u="none" strike="noStrike" baseline="0" dirty="0">
                <a:latin typeface="CIDFont+F2"/>
              </a:rPr>
              <a:t>':'Rua JK 390'}</a:t>
            </a:r>
          </a:p>
          <a:p>
            <a:pPr marL="182563" algn="l"/>
            <a:r>
              <a:rPr lang="pt-BR" sz="2400" i="0" u="none" strike="noStrike" baseline="0" dirty="0">
                <a:latin typeface="CIDFont+F2"/>
              </a:rPr>
              <a:t>print('Nome: ',agenda['nome'])</a:t>
            </a:r>
          </a:p>
          <a:p>
            <a:pPr marL="182563" algn="l"/>
            <a:r>
              <a:rPr lang="pt-BR" sz="2400" i="0" u="none" strike="noStrike" baseline="0" dirty="0">
                <a:latin typeface="CIDFont+F2"/>
              </a:rPr>
              <a:t>print('Todos os telefones: ', agenda['</a:t>
            </a:r>
            <a:r>
              <a:rPr lang="pt-BR" sz="2400" i="0" u="none" strike="noStrike" baseline="0" dirty="0" err="1">
                <a:latin typeface="CIDFont+F2"/>
              </a:rPr>
              <a:t>tel</a:t>
            </a:r>
            <a:r>
              <a:rPr lang="pt-BR" sz="2400" i="0" u="none" strike="noStrike" baseline="0" dirty="0">
                <a:latin typeface="CIDFont+F2"/>
              </a:rPr>
              <a:t>’])</a:t>
            </a:r>
          </a:p>
          <a:p>
            <a:pPr marL="182563" algn="l"/>
            <a:r>
              <a:rPr lang="pt-BR" sz="2400" i="0" u="none" strike="noStrike" baseline="0" dirty="0">
                <a:latin typeface="CIDFont+F2"/>
              </a:rPr>
              <a:t>print('Telefone celular: ', agenda['</a:t>
            </a:r>
            <a:r>
              <a:rPr lang="pt-BR" sz="2400" i="0" u="none" strike="noStrike" baseline="0" dirty="0" err="1">
                <a:latin typeface="CIDFont+F2"/>
              </a:rPr>
              <a:t>tel</a:t>
            </a:r>
            <a:r>
              <a:rPr lang="pt-BR" sz="2400" i="0" u="none" strike="noStrike" baseline="0" dirty="0">
                <a:latin typeface="CIDFont+F2"/>
              </a:rPr>
              <a:t>']['celular'])</a:t>
            </a:r>
          </a:p>
          <a:p>
            <a:pPr marL="182563" algn="l"/>
            <a:r>
              <a:rPr lang="it-IT" sz="2400" i="0" u="none" strike="noStrike" baseline="0" dirty="0">
                <a:latin typeface="CIDFont+F2"/>
              </a:rPr>
              <a:t>print('Telefone casa: ', agenda['tel']['casa'])</a:t>
            </a:r>
          </a:p>
          <a:p>
            <a:pPr marL="182563" algn="l"/>
            <a:r>
              <a:rPr lang="pt-BR" sz="2400" i="0" u="none" strike="noStrike" baseline="0" dirty="0">
                <a:latin typeface="CIDFont+F2"/>
              </a:rPr>
              <a:t>print('Telefone trabalho: ', agenda['</a:t>
            </a:r>
            <a:r>
              <a:rPr lang="pt-BR" sz="2400" i="0" u="none" strike="noStrike" baseline="0" dirty="0" err="1">
                <a:latin typeface="CIDFont+F2"/>
              </a:rPr>
              <a:t>tel</a:t>
            </a:r>
            <a:r>
              <a:rPr lang="pt-BR" sz="2400" i="0" u="none" strike="noStrike" baseline="0" dirty="0">
                <a:latin typeface="CIDFont+F2"/>
              </a:rPr>
              <a:t>']['</a:t>
            </a:r>
            <a:r>
              <a:rPr lang="pt-BR" sz="2400" i="0" u="none" strike="noStrike" baseline="0" dirty="0" err="1">
                <a:latin typeface="CIDFont+F2"/>
              </a:rPr>
              <a:t>trab</a:t>
            </a:r>
            <a:r>
              <a:rPr lang="pt-BR" sz="2400" i="0" u="none" strike="noStrike" baseline="0" dirty="0">
                <a:latin typeface="CIDFont+F2"/>
              </a:rPr>
              <a:t>'])</a:t>
            </a:r>
          </a:p>
          <a:p>
            <a:pPr marL="182563" algn="l"/>
            <a:r>
              <a:rPr lang="pt-BR" sz="2400" i="0" u="none" strike="noStrike" baseline="0" dirty="0">
                <a:latin typeface="CIDFont+F2"/>
              </a:rPr>
              <a:t>print('DDD: ', agenda['</a:t>
            </a:r>
            <a:r>
              <a:rPr lang="pt-BR" sz="2400" i="0" u="none" strike="noStrike" baseline="0" dirty="0" err="1">
                <a:latin typeface="CIDFont+F2"/>
              </a:rPr>
              <a:t>tel</a:t>
            </a:r>
            <a:r>
              <a:rPr lang="pt-BR" sz="2400" i="0" u="none" strike="noStrike" baseline="0" dirty="0">
                <a:latin typeface="CIDFont+F2"/>
              </a:rPr>
              <a:t>']['</a:t>
            </a:r>
            <a:r>
              <a:rPr lang="pt-BR" sz="2400" i="0" u="none" strike="noStrike" baseline="0" dirty="0" err="1">
                <a:latin typeface="CIDFont+F2"/>
              </a:rPr>
              <a:t>ddd</a:t>
            </a:r>
            <a:r>
              <a:rPr lang="pt-BR" sz="2400" i="0" u="none" strike="noStrike" baseline="0" dirty="0">
                <a:latin typeface="CIDFont+F2"/>
              </a:rPr>
              <a:t>’])</a:t>
            </a:r>
          </a:p>
          <a:p>
            <a:pPr marL="182563" algn="l"/>
            <a:r>
              <a:rPr lang="pt-BR" sz="2400" i="0" u="none" strike="noStrike" baseline="0" dirty="0">
                <a:latin typeface="CIDFont+F2"/>
              </a:rPr>
              <a:t>print('Endereço: ',agenda['</a:t>
            </a:r>
            <a:r>
              <a:rPr lang="pt-BR" sz="2400" i="0" u="none" strike="noStrike" baseline="0" dirty="0" err="1">
                <a:latin typeface="CIDFont+F2"/>
              </a:rPr>
              <a:t>endereco</a:t>
            </a:r>
            <a:r>
              <a:rPr lang="pt-BR" sz="2400" i="0" u="none" strike="noStrike" baseline="0" dirty="0">
                <a:latin typeface="CIDFont+F2"/>
              </a:rPr>
              <a:t>'])</a:t>
            </a:r>
            <a:endParaRPr lang="pt-BR" sz="2400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19EA9B4-9C30-CDDA-61A3-6B0219DDD01A}"/>
              </a:ext>
            </a:extLst>
          </p:cNvPr>
          <p:cNvSpPr/>
          <p:nvPr/>
        </p:nvSpPr>
        <p:spPr>
          <a:xfrm>
            <a:off x="4368650" y="3118102"/>
            <a:ext cx="990486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fone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E814A48-EE0D-24A1-F249-18162FD5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Alinhamentos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91A7D4C-94BB-9951-1EB1-51069E745E8E}"/>
              </a:ext>
            </a:extLst>
          </p:cNvPr>
          <p:cNvSpPr txBox="1"/>
          <p:nvPr/>
        </p:nvSpPr>
        <p:spPr>
          <a:xfrm>
            <a:off x="8887322" y="891679"/>
            <a:ext cx="2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Dicionário: agenda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C6A6DB6-BF85-6047-8125-DC1DB6B6D98C}"/>
              </a:ext>
            </a:extLst>
          </p:cNvPr>
          <p:cNvSpPr txBox="1"/>
          <p:nvPr/>
        </p:nvSpPr>
        <p:spPr>
          <a:xfrm>
            <a:off x="7254241" y="1486096"/>
            <a:ext cx="4846320" cy="4708981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pt-BR" sz="2000" b="1" dirty="0"/>
              <a:t>Nome:  Antônio</a:t>
            </a:r>
          </a:p>
          <a:p>
            <a:endParaRPr lang="pt-BR" sz="2000" b="1" dirty="0"/>
          </a:p>
          <a:p>
            <a:r>
              <a:rPr lang="pt-BR" sz="2000" b="1" dirty="0"/>
              <a:t>Todos os telefones:  </a:t>
            </a:r>
          </a:p>
          <a:p>
            <a:r>
              <a:rPr lang="pt-BR" sz="2000" b="1" dirty="0"/>
              <a:t>{'celular': 999999999,  'casa': 22222222, </a:t>
            </a:r>
          </a:p>
          <a:p>
            <a:r>
              <a:rPr lang="pt-BR" sz="2000" b="1" dirty="0"/>
              <a:t> '</a:t>
            </a:r>
            <a:r>
              <a:rPr lang="pt-BR" sz="2000" b="1" dirty="0" err="1"/>
              <a:t>trab</a:t>
            </a:r>
            <a:r>
              <a:rPr lang="pt-BR" sz="2000" b="1" dirty="0"/>
              <a:t>': 33333333,  '</a:t>
            </a:r>
            <a:r>
              <a:rPr lang="pt-BR" sz="2000" b="1" dirty="0" err="1"/>
              <a:t>ddd</a:t>
            </a:r>
            <a:r>
              <a:rPr lang="pt-BR" sz="2000" b="1" dirty="0"/>
              <a:t>': 21}</a:t>
            </a:r>
          </a:p>
          <a:p>
            <a:endParaRPr lang="pt-BR" sz="2000" b="1" dirty="0"/>
          </a:p>
          <a:p>
            <a:r>
              <a:rPr lang="pt-BR" sz="2000" b="1" dirty="0"/>
              <a:t>Telefone celular:  999999999</a:t>
            </a:r>
          </a:p>
          <a:p>
            <a:endParaRPr lang="pt-BR" sz="2000" b="1" dirty="0"/>
          </a:p>
          <a:p>
            <a:r>
              <a:rPr lang="pt-BR" sz="2000" b="1" dirty="0"/>
              <a:t>Telefone casa:  22222222</a:t>
            </a:r>
          </a:p>
          <a:p>
            <a:endParaRPr lang="pt-BR" sz="2000" b="1" dirty="0"/>
          </a:p>
          <a:p>
            <a:r>
              <a:rPr lang="pt-BR" sz="2000" b="1" dirty="0"/>
              <a:t>Telefone trabalho:  33333333</a:t>
            </a:r>
          </a:p>
          <a:p>
            <a:endParaRPr lang="pt-BR" sz="2000" b="1" dirty="0"/>
          </a:p>
          <a:p>
            <a:r>
              <a:rPr lang="pt-BR" sz="2000" b="1" dirty="0"/>
              <a:t>DDD:  21</a:t>
            </a:r>
          </a:p>
          <a:p>
            <a:endParaRPr lang="pt-BR" sz="2000" b="1" dirty="0"/>
          </a:p>
          <a:p>
            <a:r>
              <a:rPr lang="pt-BR" sz="2000" b="1" dirty="0"/>
              <a:t>Endereço:  Rua JK 390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9F194F63-836C-7E66-504E-568DF77F7D25}"/>
              </a:ext>
            </a:extLst>
          </p:cNvPr>
          <p:cNvCxnSpPr/>
          <p:nvPr/>
        </p:nvCxnSpPr>
        <p:spPr>
          <a:xfrm flipV="1">
            <a:off x="4221480" y="1737360"/>
            <a:ext cx="3032761" cy="23926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3240D07A-8094-CC4D-5CCF-6B6EF2F1DF66}"/>
              </a:ext>
            </a:extLst>
          </p:cNvPr>
          <p:cNvCxnSpPr/>
          <p:nvPr/>
        </p:nvCxnSpPr>
        <p:spPr>
          <a:xfrm flipV="1">
            <a:off x="5359136" y="2392680"/>
            <a:ext cx="1895105" cy="208788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0D0C6EBC-44E1-6DFE-C94B-48954FE3BB81}"/>
              </a:ext>
            </a:extLst>
          </p:cNvPr>
          <p:cNvCxnSpPr>
            <a:cxnSpLocks/>
          </p:cNvCxnSpPr>
          <p:nvPr/>
        </p:nvCxnSpPr>
        <p:spPr>
          <a:xfrm flipV="1">
            <a:off x="6096000" y="3535680"/>
            <a:ext cx="1158241" cy="10820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F2A76C89-F2D4-16AB-14E1-61C6EB3E7D9B}"/>
              </a:ext>
            </a:extLst>
          </p:cNvPr>
          <p:cNvCxnSpPr/>
          <p:nvPr/>
        </p:nvCxnSpPr>
        <p:spPr>
          <a:xfrm flipV="1">
            <a:off x="5684520" y="4130040"/>
            <a:ext cx="1569721" cy="10820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BC0A76F9-E9FE-AE1D-E0FD-F7E3EBDB2D04}"/>
              </a:ext>
            </a:extLst>
          </p:cNvPr>
          <p:cNvCxnSpPr/>
          <p:nvPr/>
        </p:nvCxnSpPr>
        <p:spPr>
          <a:xfrm flipV="1">
            <a:off x="6096000" y="4739640"/>
            <a:ext cx="1158241" cy="77724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E2D4CFDA-38F3-73F8-90DD-D3F85C6AB563}"/>
              </a:ext>
            </a:extLst>
          </p:cNvPr>
          <p:cNvCxnSpPr>
            <a:cxnSpLocks/>
          </p:cNvCxnSpPr>
          <p:nvPr/>
        </p:nvCxnSpPr>
        <p:spPr>
          <a:xfrm flipV="1">
            <a:off x="4511040" y="5379720"/>
            <a:ext cx="2743201" cy="6096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8F2DA212-3F72-4A13-23EF-08D919717C31}"/>
              </a:ext>
            </a:extLst>
          </p:cNvPr>
          <p:cNvCxnSpPr/>
          <p:nvPr/>
        </p:nvCxnSpPr>
        <p:spPr>
          <a:xfrm flipV="1">
            <a:off x="4983480" y="5943600"/>
            <a:ext cx="2133600" cy="41275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000"/>
                            </p:stCondLst>
                            <p:childTnLst>
                              <p:par>
                                <p:cTn id="5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0"/>
                            </p:stCondLst>
                            <p:childTnLst>
                              <p:par>
                                <p:cTn id="6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2000"/>
                            </p:stCondLst>
                            <p:childTnLst>
                              <p:par>
                                <p:cTn id="6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000"/>
                            </p:stCondLst>
                            <p:childTnLst>
                              <p:par>
                                <p:cTn id="7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6000"/>
                            </p:stCondLst>
                            <p:childTnLst>
                              <p:par>
                                <p:cTn id="7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allAtOnce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0B9119-0BA1-D17F-F08A-A6524B14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EF68C2-6172-D608-E1C2-46D81F72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Cao10-Exem13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D4B053-D4B0-5227-E431-78BDAAA3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E814A48-EE0D-24A1-F249-18162FD5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Estruturas de Registros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8006B5-48B8-2C7E-5CF7-5624554B626A}"/>
              </a:ext>
            </a:extLst>
          </p:cNvPr>
          <p:cNvSpPr txBox="1"/>
          <p:nvPr/>
        </p:nvSpPr>
        <p:spPr>
          <a:xfrm>
            <a:off x="0" y="1306979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24100" indent="-2324100" algn="l"/>
            <a:r>
              <a:rPr lang="pt-BR" sz="2800" b="0" i="0" u="none" strike="noStrike" baseline="0" dirty="0">
                <a:latin typeface="CIDFont+F3"/>
              </a:rPr>
              <a:t>• Exemplo 13 – Conjunto de variáveis de tipos diferentes, utilizados para relacionar dados pertencentes a um mesmo objeto.</a:t>
            </a:r>
            <a:endParaRPr lang="pt-BR" sz="2800" dirty="0">
              <a:latin typeface="CIDFont+F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F208550-8CA1-E8BF-4533-0A017797853C}"/>
              </a:ext>
            </a:extLst>
          </p:cNvPr>
          <p:cNvSpPr txBox="1"/>
          <p:nvPr/>
        </p:nvSpPr>
        <p:spPr>
          <a:xfrm>
            <a:off x="8046720" y="4206398"/>
            <a:ext cx="3550919" cy="92333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pt-BR" b="1" dirty="0"/>
              <a:t>Alan da Silva 123456 9.5 8.7 7.4</a:t>
            </a:r>
          </a:p>
          <a:p>
            <a:r>
              <a:rPr lang="pt-BR" b="1" dirty="0"/>
              <a:t>Maria Moraes 654321 7.5 6.7 6.4</a:t>
            </a:r>
          </a:p>
          <a:p>
            <a:r>
              <a:rPr lang="pt-BR" b="1" dirty="0"/>
              <a:t>Breno Pontes 222333 10.0 7.0 9.0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B86310E-A02E-0638-75EA-69F03124526C}"/>
              </a:ext>
            </a:extLst>
          </p:cNvPr>
          <p:cNvSpPr txBox="1"/>
          <p:nvPr/>
        </p:nvSpPr>
        <p:spPr>
          <a:xfrm>
            <a:off x="381587" y="1955145"/>
            <a:ext cx="110179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000" b="1" i="0" u="none" strike="noStrike" baseline="0" dirty="0">
                <a:latin typeface="CIDFont+F2"/>
              </a:rPr>
              <a:t>#Registros</a:t>
            </a:r>
          </a:p>
          <a:p>
            <a:pPr algn="l"/>
            <a:r>
              <a:rPr lang="pt-BR" sz="2000" b="1" i="0" u="none" strike="noStrike" baseline="0" dirty="0" err="1">
                <a:latin typeface="CIDFont+F2"/>
              </a:rPr>
              <a:t>alan</a:t>
            </a:r>
            <a:r>
              <a:rPr lang="pt-BR" sz="2000" b="1" i="0" u="none" strike="noStrike" baseline="0" dirty="0">
                <a:latin typeface="CIDFont+F2"/>
              </a:rPr>
              <a:t> = {'</a:t>
            </a:r>
            <a:r>
              <a:rPr lang="pt-BR" sz="2000" b="1" i="0" u="none" strike="noStrike" baseline="0" dirty="0" err="1">
                <a:latin typeface="CIDFont+F2"/>
              </a:rPr>
              <a:t>nome':'Alan</a:t>
            </a:r>
            <a:r>
              <a:rPr lang="pt-BR" sz="2000" b="1" i="0" u="none" strike="noStrike" baseline="0" dirty="0">
                <a:latin typeface="CIDFont+F2"/>
              </a:rPr>
              <a:t> da Silva', 'matricula':123456, 'nota1': 9.5, 'nota2':8.7, 'nota3':7.4}</a:t>
            </a:r>
          </a:p>
          <a:p>
            <a:pPr algn="l"/>
            <a:r>
              <a:rPr lang="pt-BR" sz="2000" b="1" i="0" u="none" strike="noStrike" baseline="0" dirty="0">
                <a:latin typeface="CIDFont+F2"/>
              </a:rPr>
              <a:t>maria = {'</a:t>
            </a:r>
            <a:r>
              <a:rPr lang="pt-BR" sz="2000" b="1" i="0" u="none" strike="noStrike" baseline="0" dirty="0" err="1">
                <a:latin typeface="CIDFont+F2"/>
              </a:rPr>
              <a:t>nome':'Maria</a:t>
            </a:r>
            <a:r>
              <a:rPr lang="pt-BR" sz="2000" b="1" i="0" u="none" strike="noStrike" baseline="0" dirty="0">
                <a:latin typeface="CIDFont+F2"/>
              </a:rPr>
              <a:t> Moraes', 'matricula':654321, 'nota1': 7.5, 'nota2':6.7, 'nota3':6.4}</a:t>
            </a:r>
          </a:p>
          <a:p>
            <a:pPr algn="l"/>
            <a:r>
              <a:rPr lang="pt-BR" sz="2000" b="1" i="0" u="none" strike="noStrike" baseline="0" dirty="0" err="1">
                <a:latin typeface="CIDFont+F2"/>
              </a:rPr>
              <a:t>breno</a:t>
            </a:r>
            <a:r>
              <a:rPr lang="pt-BR" sz="2000" b="1" i="0" u="none" strike="noStrike" baseline="0" dirty="0">
                <a:latin typeface="CIDFont+F2"/>
              </a:rPr>
              <a:t> = {'</a:t>
            </a:r>
            <a:r>
              <a:rPr lang="pt-BR" sz="2000" b="1" i="0" u="none" strike="noStrike" baseline="0" dirty="0" err="1">
                <a:latin typeface="CIDFont+F2"/>
              </a:rPr>
              <a:t>nome':'Breno</a:t>
            </a:r>
            <a:r>
              <a:rPr lang="pt-BR" sz="2000" b="1" i="0" u="none" strike="noStrike" baseline="0" dirty="0">
                <a:latin typeface="CIDFont+F2"/>
              </a:rPr>
              <a:t> Pontes', 'matricula':222333, 'nota1': 10.0, 'nota2':7.0, 'nota3':9.0}</a:t>
            </a:r>
          </a:p>
          <a:p>
            <a:pPr algn="l"/>
            <a:endParaRPr lang="pt-BR" sz="2000" b="1" i="0" u="none" strike="noStrike" baseline="0" dirty="0">
              <a:latin typeface="CIDFont+F2"/>
            </a:endParaRPr>
          </a:p>
          <a:p>
            <a:pPr algn="l"/>
            <a:r>
              <a:rPr lang="pt-BR" sz="2000" b="1" i="0" u="none" strike="noStrike" baseline="0" dirty="0">
                <a:latin typeface="CIDFont+F2"/>
              </a:rPr>
              <a:t>#Base de dados</a:t>
            </a:r>
          </a:p>
          <a:p>
            <a:pPr algn="l"/>
            <a:r>
              <a:rPr lang="pt-BR" sz="2000" b="1" i="0" u="none" strike="noStrike" baseline="0" dirty="0">
                <a:latin typeface="CIDFont+F2"/>
              </a:rPr>
              <a:t>dados = {}</a:t>
            </a:r>
          </a:p>
          <a:p>
            <a:pPr algn="l"/>
            <a:r>
              <a:rPr lang="pt-BR" sz="2000" b="1" i="0" u="none" strike="noStrike" baseline="0" dirty="0">
                <a:latin typeface="CIDFont+F2"/>
              </a:rPr>
              <a:t>dados['Alan'] = </a:t>
            </a:r>
            <a:r>
              <a:rPr lang="pt-BR" sz="2000" b="1" i="0" u="none" strike="noStrike" baseline="0" dirty="0" err="1">
                <a:latin typeface="CIDFont+F2"/>
              </a:rPr>
              <a:t>alan</a:t>
            </a:r>
            <a:endParaRPr lang="pt-BR" sz="2000" b="1" i="0" u="none" strike="noStrike" baseline="0" dirty="0">
              <a:latin typeface="CIDFont+F2"/>
            </a:endParaRPr>
          </a:p>
          <a:p>
            <a:pPr algn="l"/>
            <a:r>
              <a:rPr lang="pt-BR" sz="2000" b="1" i="0" u="none" strike="noStrike" baseline="0" dirty="0">
                <a:latin typeface="CIDFont+F2"/>
              </a:rPr>
              <a:t>dados['Maria'] = maria</a:t>
            </a:r>
          </a:p>
          <a:p>
            <a:pPr algn="l"/>
            <a:r>
              <a:rPr lang="pt-BR" sz="2000" b="1" i="0" u="none" strike="noStrike" baseline="0" dirty="0">
                <a:latin typeface="CIDFont+F2"/>
              </a:rPr>
              <a:t>dados['Breno'] = </a:t>
            </a:r>
            <a:r>
              <a:rPr lang="pt-BR" sz="2000" b="1" i="0" u="none" strike="noStrike" baseline="0" dirty="0" err="1">
                <a:latin typeface="CIDFont+F2"/>
              </a:rPr>
              <a:t>breno</a:t>
            </a:r>
            <a:endParaRPr lang="en-US" sz="2000" b="1" i="0" u="none" strike="noStrike" baseline="0" dirty="0">
              <a:latin typeface="CIDFont+F2"/>
            </a:endParaRPr>
          </a:p>
          <a:p>
            <a:pPr algn="l"/>
            <a:r>
              <a:rPr lang="en-US" sz="2000" b="1" i="0" u="none" strike="noStrike" baseline="0" dirty="0">
                <a:latin typeface="CIDFont+F2"/>
              </a:rPr>
              <a:t>for valor in </a:t>
            </a:r>
            <a:r>
              <a:rPr lang="en-US" sz="2000" b="1" i="0" u="none" strike="noStrike" baseline="0" dirty="0" err="1">
                <a:latin typeface="CIDFont+F2"/>
              </a:rPr>
              <a:t>dados.items</a:t>
            </a:r>
            <a:r>
              <a:rPr lang="en-US" sz="2000" b="1" i="0" u="none" strike="noStrike" baseline="0" dirty="0">
                <a:latin typeface="CIDFont+F2"/>
              </a:rPr>
              <a:t>():</a:t>
            </a:r>
          </a:p>
          <a:p>
            <a:pPr algn="l"/>
            <a:endParaRPr lang="en-US" sz="2000" b="1" i="0" u="none" strike="noStrike" baseline="0" dirty="0">
              <a:latin typeface="CIDFont+F2"/>
            </a:endParaRPr>
          </a:p>
          <a:p>
            <a:pPr marL="182563" indent="-182563" algn="l"/>
            <a:r>
              <a:rPr lang="pt-BR" sz="2000" b="1" i="0" u="none" strike="noStrike" baseline="0" dirty="0">
                <a:latin typeface="CIDFont+F2"/>
              </a:rPr>
              <a:t>    print(valor[1]['nome'],valor[1]['matricula'],valor[1]['nota1'],valor[1]['nota2'],valor[1]['nota3'])</a:t>
            </a:r>
            <a:endParaRPr lang="pt-BR" sz="2000" b="1" dirty="0"/>
          </a:p>
        </p:txBody>
      </p:sp>
      <p:sp>
        <p:nvSpPr>
          <p:cNvPr id="8" name="Chave Direita 7">
            <a:extLst>
              <a:ext uri="{FF2B5EF4-FFF2-40B4-BE49-F238E27FC236}">
                <a16:creationId xmlns:a16="http://schemas.microsoft.com/office/drawing/2014/main" id="{DBAC63AE-C646-DE30-8A34-31931D953FEB}"/>
              </a:ext>
            </a:extLst>
          </p:cNvPr>
          <p:cNvSpPr/>
          <p:nvPr/>
        </p:nvSpPr>
        <p:spPr>
          <a:xfrm rot="16200000">
            <a:off x="5682237" y="868329"/>
            <a:ext cx="365787" cy="9270464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87B04685-91B9-816F-914A-4CE21E67D3D6}"/>
              </a:ext>
            </a:extLst>
          </p:cNvPr>
          <p:cNvCxnSpPr>
            <a:cxnSpLocks/>
          </p:cNvCxnSpPr>
          <p:nvPr/>
        </p:nvCxnSpPr>
        <p:spPr>
          <a:xfrm flipV="1">
            <a:off x="5882640" y="4612155"/>
            <a:ext cx="1951306" cy="647552"/>
          </a:xfrm>
          <a:prstGeom prst="bentConnector3">
            <a:avLst>
              <a:gd name="adj1" fmla="val -76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98010A9C-9C18-F747-5ACD-CFD78C4A22AF}"/>
              </a:ext>
            </a:extLst>
          </p:cNvPr>
          <p:cNvSpPr/>
          <p:nvPr/>
        </p:nvSpPr>
        <p:spPr>
          <a:xfrm>
            <a:off x="7833946" y="4160678"/>
            <a:ext cx="212774" cy="923330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37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ABBF96-0A2E-F8E0-396B-814413A3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62BAA01-861D-42DA-D056-0A35CE550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0A25B6-A791-6C8D-9ADA-7BB17B28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31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4E311C7-DE98-C089-E621-39CA520B4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🧠 💡 </a:t>
            </a:r>
            <a:r>
              <a:rPr lang="pt-BR" b="1" i="1" dirty="0"/>
              <a:t>COMO PENSAR NESSE CÓDIGO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49817E-1385-7166-E664-1205635B37A7}"/>
              </a:ext>
            </a:extLst>
          </p:cNvPr>
          <p:cNvSpPr txBox="1"/>
          <p:nvPr/>
        </p:nvSpPr>
        <p:spPr>
          <a:xfrm>
            <a:off x="4668" y="1353344"/>
            <a:ext cx="37596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🔹 1. Cada aluno é uma “ficha”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alan</a:t>
            </a:r>
            <a:r>
              <a:rPr lang="pt-BR" dirty="0">
                <a:latin typeface="Courier New" panose="02070309020205020404" pitchFamily="49" charset="0"/>
              </a:rPr>
              <a:t> = {...}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maria = {...}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 err="1">
                <a:latin typeface="Courier New" panose="02070309020205020404" pitchFamily="49" charset="0"/>
              </a:rPr>
              <a:t>breno</a:t>
            </a:r>
            <a:r>
              <a:rPr lang="pt-BR" dirty="0">
                <a:latin typeface="Courier New" panose="02070309020205020404" pitchFamily="49" charset="0"/>
              </a:rPr>
              <a:t> = {...}</a:t>
            </a:r>
          </a:p>
          <a:p>
            <a:pPr rtl="0">
              <a:buNone/>
            </a:pPr>
            <a:endParaRPr lang="pt-BR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pt-BR" dirty="0"/>
              <a:t>👉 Imagine assim: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📄 Alan           📄 Maria         📄 Breno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nome              </a:t>
            </a:r>
            <a:r>
              <a:rPr lang="pt-BR" dirty="0" err="1"/>
              <a:t>nome</a:t>
            </a:r>
            <a:r>
              <a:rPr lang="pt-BR" dirty="0"/>
              <a:t>                </a:t>
            </a:r>
            <a:r>
              <a:rPr lang="pt-BR" dirty="0" err="1"/>
              <a:t>nome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matrícula     </a:t>
            </a:r>
            <a:r>
              <a:rPr lang="pt-BR" dirty="0" err="1"/>
              <a:t>matrícula</a:t>
            </a:r>
            <a:r>
              <a:rPr lang="pt-BR" dirty="0"/>
              <a:t>        </a:t>
            </a:r>
            <a:r>
              <a:rPr lang="pt-BR" dirty="0" err="1"/>
              <a:t>matrícula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notas              </a:t>
            </a:r>
            <a:r>
              <a:rPr lang="pt-BR" dirty="0" err="1"/>
              <a:t>notas</a:t>
            </a:r>
            <a:r>
              <a:rPr lang="pt-BR" dirty="0"/>
              <a:t>                </a:t>
            </a:r>
            <a:r>
              <a:rPr lang="pt-BR" dirty="0" err="1"/>
              <a:t>notas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 marL="533400" indent="-533400">
              <a:buNone/>
            </a:pPr>
            <a:r>
              <a:rPr lang="pt-BR" b="1" dirty="0"/>
              <a:t>🔹 2. O “</a:t>
            </a:r>
            <a:r>
              <a:rPr lang="pt-BR" b="1" dirty="0">
                <a:latin typeface="Courier New" panose="02070309020205020404" pitchFamily="49" charset="0"/>
              </a:rPr>
              <a:t>dados</a:t>
            </a:r>
            <a:r>
              <a:rPr lang="pt-BR" b="1" dirty="0"/>
              <a:t> ” é tipo uma “gaveta com fichas”</a:t>
            </a:r>
          </a:p>
          <a:p>
            <a:r>
              <a:rPr lang="pt-BR" dirty="0">
                <a:latin typeface="Courier New" panose="02070309020205020404" pitchFamily="49" charset="0"/>
              </a:rPr>
              <a:t>dados = {}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dados['Alan'] = </a:t>
            </a:r>
            <a:r>
              <a:rPr lang="pt-BR" dirty="0" err="1">
                <a:latin typeface="Courier New" panose="02070309020205020404" pitchFamily="49" charset="0"/>
              </a:rPr>
              <a:t>alan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dados['Maria'] = maria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dados['Breno'] = </a:t>
            </a:r>
            <a:r>
              <a:rPr lang="pt-BR" dirty="0" err="1">
                <a:latin typeface="Courier New" panose="02070309020205020404" pitchFamily="49" charset="0"/>
              </a:rPr>
              <a:t>breno</a:t>
            </a:r>
            <a:endParaRPr lang="pt-BR" dirty="0">
              <a:latin typeface="Courier New" panose="02070309020205020404" pitchFamily="49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7D7AEFB-B39B-5521-203D-DD9A83D14A98}"/>
              </a:ext>
            </a:extLst>
          </p:cNvPr>
          <p:cNvSpPr txBox="1"/>
          <p:nvPr/>
        </p:nvSpPr>
        <p:spPr>
          <a:xfrm>
            <a:off x="3744616" y="1353344"/>
            <a:ext cx="46069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🗂️ dados =</a:t>
            </a:r>
          </a:p>
          <a:p>
            <a:pPr marL="1249363" indent="-1249363"/>
            <a:r>
              <a:rPr lang="pt-BR" dirty="0"/>
              <a:t>                  -"Alan" → ficha do Alan </a:t>
            </a:r>
          </a:p>
          <a:p>
            <a:pPr marL="1249363" indent="-1249363"/>
            <a:r>
              <a:rPr lang="pt-BR" dirty="0"/>
              <a:t>                  -"Maria" → ficha da Maria </a:t>
            </a:r>
          </a:p>
          <a:p>
            <a:pPr marL="1249363" indent="-1249363"/>
            <a:r>
              <a:rPr lang="pt-BR" dirty="0"/>
              <a:t>                  -"Breno" → ficha do Breno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 marL="533400" indent="-533400">
              <a:buNone/>
            </a:pPr>
            <a:r>
              <a:rPr lang="pt-BR" b="1" dirty="0"/>
              <a:t>🔹 3. O </a:t>
            </a:r>
            <a:r>
              <a:rPr lang="pt-BR" b="1" dirty="0">
                <a:latin typeface="Courier New" panose="02070309020205020404" pitchFamily="49" charset="0"/>
              </a:rPr>
              <a:t>for </a:t>
            </a:r>
            <a:r>
              <a:rPr lang="pt-BR" b="1" dirty="0" err="1">
                <a:latin typeface="Courier New" panose="02070309020205020404" pitchFamily="49" charset="0"/>
              </a:rPr>
              <a:t>dados.items</a:t>
            </a:r>
            <a:r>
              <a:rPr lang="pt-BR" b="1" dirty="0">
                <a:latin typeface="Courier New" panose="02070309020205020404" pitchFamily="49" charset="0"/>
              </a:rPr>
              <a:t>()</a:t>
            </a:r>
            <a:r>
              <a:rPr lang="pt-BR" b="1" dirty="0"/>
              <a:t> pega TUDO</a:t>
            </a:r>
          </a:p>
          <a:p>
            <a:r>
              <a:rPr lang="pt-BR" dirty="0">
                <a:latin typeface="Courier New" panose="02070309020205020404" pitchFamily="49" charset="0"/>
              </a:rPr>
              <a:t>for valor in </a:t>
            </a:r>
            <a:r>
              <a:rPr lang="pt-BR" dirty="0" err="1">
                <a:latin typeface="Courier New" panose="02070309020205020404" pitchFamily="49" charset="0"/>
              </a:rPr>
              <a:t>dados.items</a:t>
            </a:r>
            <a:r>
              <a:rPr lang="pt-BR" dirty="0"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pt-BR" dirty="0"/>
              <a:t>👉 Cada </a:t>
            </a:r>
            <a:r>
              <a:rPr lang="pt-BR" dirty="0">
                <a:latin typeface="Courier New" panose="02070309020205020404" pitchFamily="49" charset="0"/>
              </a:rPr>
              <a:t>valor</a:t>
            </a:r>
            <a:r>
              <a:rPr lang="pt-BR" dirty="0"/>
              <a:t> é uma </a:t>
            </a:r>
            <a:r>
              <a:rPr lang="pt-BR" b="1" dirty="0"/>
              <a:t>tupla</a:t>
            </a:r>
            <a:r>
              <a:rPr lang="pt-BR" dirty="0"/>
              <a:t> assim:</a:t>
            </a:r>
          </a:p>
          <a:p>
            <a:r>
              <a:rPr lang="pt-BR" dirty="0">
                <a:latin typeface="Courier New" panose="02070309020205020404" pitchFamily="49" charset="0"/>
              </a:rPr>
              <a:t>   ('Alan', {dados do Alan})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ou seja:  </a:t>
            </a:r>
            <a:r>
              <a:rPr lang="pt-BR" dirty="0">
                <a:latin typeface="Courier New" panose="02070309020205020404" pitchFamily="49" charset="0"/>
              </a:rPr>
              <a:t>(chave, valor)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🔥 4. AQUI está o segredo (onde você </a:t>
            </a:r>
          </a:p>
          <a:p>
            <a:pPr>
              <a:buNone/>
            </a:pPr>
            <a:r>
              <a:rPr lang="pt-BR" b="1" dirty="0"/>
              <a:t>           se confunde)</a:t>
            </a:r>
          </a:p>
          <a:p>
            <a:r>
              <a:rPr lang="pt-BR" dirty="0">
                <a:latin typeface="Courier New" panose="02070309020205020404" pitchFamily="49" charset="0"/>
              </a:rPr>
              <a:t>valor[0] → 'Alan'(nome da chave)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valor[1] → {dicionário do Alan}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D9F2B7A-DC3F-293D-12EF-748F69BA2F81}"/>
              </a:ext>
            </a:extLst>
          </p:cNvPr>
          <p:cNvSpPr txBox="1"/>
          <p:nvPr/>
        </p:nvSpPr>
        <p:spPr>
          <a:xfrm>
            <a:off x="8177901" y="1396306"/>
            <a:ext cx="40141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🔹 5. Por isso </a:t>
            </a:r>
            <a:r>
              <a:rPr lang="pt-BR" b="1" dirty="0" err="1"/>
              <a:t>isso</a:t>
            </a:r>
            <a:r>
              <a:rPr lang="pt-BR" b="1" dirty="0"/>
              <a:t> funciona:</a:t>
            </a:r>
          </a:p>
          <a:p>
            <a:pPr marL="625475" indent="-625475" rtl="0">
              <a:buNone/>
            </a:pPr>
            <a:r>
              <a:rPr lang="pt-BR" dirty="0">
                <a:latin typeface="Courier New" panose="02070309020205020404" pitchFamily="49" charset="0"/>
              </a:rPr>
              <a:t>    valor[1]['nome']</a:t>
            </a:r>
          </a:p>
          <a:p>
            <a:pPr>
              <a:buNone/>
            </a:pPr>
            <a:r>
              <a:rPr lang="pt-BR" dirty="0"/>
              <a:t>👉 Tradução: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     pega o dicionário do aluno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    depois pega o campo </a:t>
            </a:r>
            <a:r>
              <a:rPr lang="pt-BR" dirty="0">
                <a:latin typeface="Courier New" panose="02070309020205020404" pitchFamily="49" charset="0"/>
              </a:rPr>
              <a:t>'nome'</a:t>
            </a:r>
            <a:r>
              <a:rPr lang="pt-BR" dirty="0"/>
              <a:t>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🧠 DESENHO MENTAL FINAL </a:t>
            </a:r>
          </a:p>
          <a:p>
            <a:pPr>
              <a:buNone/>
            </a:pPr>
            <a:r>
              <a:rPr lang="pt-BR" b="1" dirty="0"/>
              <a:t>        (GUARDA ISSO)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dados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├─'Alan' →{</a:t>
            </a:r>
            <a:r>
              <a:rPr lang="pt-BR" dirty="0" err="1">
                <a:latin typeface="Courier New" panose="02070309020205020404" pitchFamily="49" charset="0"/>
              </a:rPr>
              <a:t>nome,matricula</a:t>
            </a:r>
            <a:r>
              <a:rPr lang="pt-BR" dirty="0">
                <a:latin typeface="Courier New" panose="02070309020205020404" pitchFamily="49" charset="0"/>
              </a:rPr>
              <a:t>,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 |           notas}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├─'Maria'→{nome, matricula,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 |          notas}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└─'Breno'→{nome, matricula,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             notas}</a:t>
            </a:r>
          </a:p>
        </p:txBody>
      </p:sp>
    </p:spTree>
    <p:extLst>
      <p:ext uri="{BB962C8B-B14F-4D97-AF65-F5344CB8AC3E}">
        <p14:creationId xmlns:p14="http://schemas.microsoft.com/office/powerpoint/2010/main" val="372701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EF7A08-6DD2-E4EF-A20C-7D0EEDAB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C60634-4D39-F0A1-8F6A-86F097A5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50FDF3-D8E7-4B3D-4BC5-E5148BAF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pPr/>
              <a:t>32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C4B21D1-8B27-4221-7974-C1326F32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🧠 💡 </a:t>
            </a:r>
            <a:r>
              <a:rPr lang="pt-BR" b="1" i="1" dirty="0"/>
              <a:t>COMO PENSAR NESSE CÓDIGO 2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ED4B7C-F088-490C-F386-EC25FF690737}"/>
              </a:ext>
            </a:extLst>
          </p:cNvPr>
          <p:cNvSpPr txBox="1"/>
          <p:nvPr/>
        </p:nvSpPr>
        <p:spPr>
          <a:xfrm>
            <a:off x="76200" y="1508868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ourier New" panose="02070309020205020404" pitchFamily="49" charset="0"/>
              </a:rPr>
              <a:t>for valor in </a:t>
            </a:r>
            <a:r>
              <a:rPr lang="pt-BR" dirty="0" err="1">
                <a:latin typeface="Courier New" panose="02070309020205020404" pitchFamily="49" charset="0"/>
              </a:rPr>
              <a:t>dados.items</a:t>
            </a:r>
            <a:r>
              <a:rPr lang="pt-BR" dirty="0">
                <a:latin typeface="Courier New" panose="02070309020205020404" pitchFamily="49" charset="0"/>
              </a:rPr>
              <a:t>():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  valor = ('Alan', {dicionário})</a:t>
            </a:r>
            <a:br>
              <a:rPr lang="pt-BR" dirty="0">
                <a:latin typeface="Courier New" panose="02070309020205020404" pitchFamily="49" charset="0"/>
              </a:rPr>
            </a:br>
            <a:endParaRPr lang="pt-BR" dirty="0">
              <a:latin typeface="Courier New" panose="02070309020205020404" pitchFamily="49" charset="0"/>
            </a:endParaRPr>
          </a:p>
          <a:p>
            <a:r>
              <a:rPr lang="pt-BR" dirty="0">
                <a:latin typeface="Courier New" panose="02070309020205020404" pitchFamily="49" charset="0"/>
              </a:rPr>
              <a:t>valor[0] = chave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valor[1] = dicionário</a:t>
            </a:r>
          </a:p>
          <a:p>
            <a:endParaRPr lang="pt-BR" dirty="0">
              <a:latin typeface="Courier New" panose="02070309020205020404" pitchFamily="49" charset="0"/>
            </a:endParaRPr>
          </a:p>
          <a:p>
            <a:pPr marL="365125" indent="-365125">
              <a:buNone/>
            </a:pPr>
            <a:r>
              <a:rPr lang="pt-BR" b="1" dirty="0"/>
              <a:t>❌ POR QUE </a:t>
            </a:r>
            <a:r>
              <a:rPr lang="pt-BR" b="1" dirty="0">
                <a:latin typeface="Courier New" panose="02070309020205020404" pitchFamily="49" charset="0"/>
              </a:rPr>
              <a:t>valor[0]['nome']</a:t>
            </a:r>
            <a:r>
              <a:rPr lang="pt-BR" b="1" dirty="0"/>
              <a:t> DÁ ERRO?</a:t>
            </a:r>
          </a:p>
          <a:p>
            <a:pPr>
              <a:buNone/>
            </a:pPr>
            <a:r>
              <a:rPr lang="pt-BR" dirty="0"/>
              <a:t>Porque:</a:t>
            </a:r>
          </a:p>
          <a:p>
            <a:r>
              <a:rPr lang="pt-BR" dirty="0">
                <a:latin typeface="Courier New" panose="02070309020205020404" pitchFamily="49" charset="0"/>
              </a:rPr>
              <a:t>valor[0] = 'Alan'</a:t>
            </a:r>
          </a:p>
          <a:p>
            <a:pPr>
              <a:buNone/>
            </a:pPr>
            <a:r>
              <a:rPr lang="pt-BR" dirty="0"/>
              <a:t>👉 E string NÃO tem </a:t>
            </a:r>
            <a:r>
              <a:rPr lang="pt-BR" dirty="0">
                <a:latin typeface="Courier New" panose="02070309020205020404" pitchFamily="49" charset="0"/>
              </a:rPr>
              <a:t>'nome’ </a:t>
            </a:r>
            <a:r>
              <a:rPr lang="pt-BR" dirty="0"/>
              <a:t>💥 erro!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E5C1B73-98E6-66EB-4BB7-BE9FF8A20455}"/>
              </a:ext>
            </a:extLst>
          </p:cNvPr>
          <p:cNvSpPr txBox="1"/>
          <p:nvPr/>
        </p:nvSpPr>
        <p:spPr>
          <a:xfrm>
            <a:off x="4648200" y="1508868"/>
            <a:ext cx="33985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1325" indent="-441325">
              <a:buNone/>
            </a:pPr>
            <a:r>
              <a:rPr lang="pt-BR" b="1" dirty="0"/>
              <a:t>✅ JEITO MAIS BONITO (melhor prática)</a:t>
            </a:r>
          </a:p>
          <a:p>
            <a:pPr marL="441325" indent="-441325" rtl="0">
              <a:buNone/>
            </a:pPr>
            <a:r>
              <a:rPr lang="pt-BR" dirty="0">
                <a:latin typeface="Courier New" panose="02070309020205020404" pitchFamily="49" charset="0"/>
              </a:rPr>
              <a:t>for </a:t>
            </a:r>
            <a:r>
              <a:rPr lang="pt-BR" dirty="0" err="1">
                <a:latin typeface="Courier New" panose="02070309020205020404" pitchFamily="49" charset="0"/>
              </a:rPr>
              <a:t>chave,aluno</a:t>
            </a:r>
            <a:r>
              <a:rPr lang="pt-BR" dirty="0">
                <a:latin typeface="Courier New" panose="02070309020205020404" pitchFamily="49" charset="0"/>
              </a:rPr>
              <a:t> in </a:t>
            </a:r>
            <a:r>
              <a:rPr lang="pt-BR" dirty="0" err="1">
                <a:latin typeface="Courier New" panose="02070309020205020404" pitchFamily="49" charset="0"/>
              </a:rPr>
              <a:t>dados.items</a:t>
            </a:r>
            <a:r>
              <a:rPr lang="pt-BR" dirty="0">
                <a:latin typeface="Courier New" panose="02070309020205020404" pitchFamily="49" charset="0"/>
              </a:rPr>
              <a:t>():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print(aluno['nome’],aluno['matricula’], aluno['nota1’],</a:t>
            </a:r>
          </a:p>
          <a:p>
            <a:pPr marL="441325" indent="-441325" rtl="0">
              <a:buNone/>
            </a:pPr>
            <a:r>
              <a:rPr lang="pt-BR" dirty="0">
                <a:latin typeface="Courier New" panose="02070309020205020404" pitchFamily="49" charset="0"/>
              </a:rPr>
              <a:t>   aluno['nota2’], aluno['nota3’])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👉 Agora ficou claro:</a:t>
            </a:r>
          </a:p>
          <a:p>
            <a:pPr marL="365125"/>
            <a:r>
              <a:rPr lang="pt-BR" dirty="0">
                <a:latin typeface="Courier New" panose="02070309020205020404" pitchFamily="49" charset="0"/>
              </a:rPr>
              <a:t>-chave</a:t>
            </a:r>
            <a:r>
              <a:rPr lang="pt-BR" dirty="0"/>
              <a:t> → "Alan" </a:t>
            </a:r>
          </a:p>
          <a:p>
            <a:pPr marL="365125"/>
            <a:r>
              <a:rPr lang="pt-BR" dirty="0">
                <a:latin typeface="Courier New" panose="02070309020205020404" pitchFamily="49" charset="0"/>
              </a:rPr>
              <a:t>-aluno</a:t>
            </a:r>
            <a:r>
              <a:rPr lang="pt-BR" dirty="0"/>
              <a:t> → dicionário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1BD878A-0D3D-C303-A2FE-B27F575A9A1A}"/>
              </a:ext>
            </a:extLst>
          </p:cNvPr>
          <p:cNvSpPr txBox="1"/>
          <p:nvPr/>
        </p:nvSpPr>
        <p:spPr>
          <a:xfrm>
            <a:off x="8153400" y="1526340"/>
            <a:ext cx="3962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🚀 RESUMÃO PRA PROVA</a:t>
            </a:r>
          </a:p>
          <a:p>
            <a:pPr marL="2773363" indent="-2408238">
              <a:buNone/>
            </a:pPr>
            <a:r>
              <a:rPr lang="pt-BR" dirty="0"/>
              <a:t>👉 </a:t>
            </a:r>
            <a:r>
              <a:rPr lang="pt-BR" dirty="0">
                <a:latin typeface="Courier New" panose="02070309020205020404" pitchFamily="49" charset="0"/>
              </a:rPr>
              <a:t>items()</a:t>
            </a:r>
            <a:r>
              <a:rPr lang="pt-BR" dirty="0"/>
              <a:t> → retorna (chave, valor)</a:t>
            </a:r>
          </a:p>
          <a:p>
            <a:pPr marL="2773363" indent="-2408238">
              <a:buNone/>
            </a:pPr>
            <a:r>
              <a:rPr lang="pt-BR" dirty="0"/>
              <a:t>👉 valor[0] → chave</a:t>
            </a:r>
          </a:p>
          <a:p>
            <a:pPr marL="2773363" indent="-2408238">
              <a:buNone/>
            </a:pPr>
            <a:endParaRPr lang="pt-BR" dirty="0"/>
          </a:p>
          <a:p>
            <a:pPr marL="2773363" indent="-2408238">
              <a:buNone/>
            </a:pPr>
            <a:r>
              <a:rPr lang="pt-BR" dirty="0"/>
              <a:t>👉 valor[1] → dicionário</a:t>
            </a:r>
          </a:p>
          <a:p>
            <a:pPr marL="2773363" indent="-2408238">
              <a:buNone/>
            </a:pPr>
            <a:endParaRPr lang="pt-BR" dirty="0"/>
          </a:p>
          <a:p>
            <a:pPr marL="2773363" indent="-2408238">
              <a:buNone/>
            </a:pPr>
            <a:r>
              <a:rPr lang="pt-BR" dirty="0"/>
              <a:t>👉 dicionário['campo'] → acessa dado</a:t>
            </a:r>
          </a:p>
        </p:txBody>
      </p:sp>
    </p:spTree>
    <p:extLst>
      <p:ext uri="{BB962C8B-B14F-4D97-AF65-F5344CB8AC3E}">
        <p14:creationId xmlns:p14="http://schemas.microsoft.com/office/powerpoint/2010/main" val="2942939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AD30C7-8C32-2AF5-5A74-0FB5A4703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C2B496-6679-39EE-2D7D-F0F610EF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600" b="1" dirty="0"/>
              <a:t>Cap10-Prog01  -  Cap10-Prog02  -  Cap10-Prog03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3BA834-0F85-8A0B-690F-78990434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3866D1A-90AA-02E0-0373-4562BD7B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0F40F4-D86B-29A4-D371-DF5625E79B56}"/>
              </a:ext>
            </a:extLst>
          </p:cNvPr>
          <p:cNvSpPr txBox="1"/>
          <p:nvPr/>
        </p:nvSpPr>
        <p:spPr>
          <a:xfrm>
            <a:off x="647700" y="1353344"/>
            <a:ext cx="10972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0" indent="-361950" algn="l"/>
            <a:r>
              <a:rPr lang="pt-BR" sz="2400" b="0" i="0" u="none" strike="noStrike" baseline="0" dirty="0">
                <a:latin typeface="CIDFont+F2"/>
              </a:rPr>
              <a:t>1. Crie um dicionário d com os dados de uma pessoa fornecidos pelo usuário: nome, idade, telefone e endereço. Imprima em seguida:</a:t>
            </a:r>
          </a:p>
          <a:p>
            <a:pPr marL="361950" algn="l"/>
            <a:r>
              <a:rPr lang="pt-BR" sz="2400" b="0" i="0" u="none" strike="noStrike" baseline="0" dirty="0">
                <a:latin typeface="CIDFont+F2"/>
              </a:rPr>
              <a:t>a) somente o seu nome      b) todo o dicionário</a:t>
            </a:r>
          </a:p>
          <a:p>
            <a:pPr algn="l"/>
            <a:endParaRPr lang="pt-BR" sz="2400" dirty="0">
              <a:latin typeface="CIDFont+F2"/>
            </a:endParaRPr>
          </a:p>
          <a:p>
            <a:pPr marL="361950" indent="-361950" algn="just"/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2. Crie um dicionário que é uma agenda e coloque nele os seguintes dados: chave (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CIDFont+F2"/>
              </a:rPr>
              <a:t>cpf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), nome, idade, telefone. O programa deve ler um número indeterminado de dados, criar a agenda e imprimir todos os itens do dicionário no formato </a:t>
            </a:r>
            <a:r>
              <a:rPr lang="pt-BR" sz="2400" b="0" i="0" u="none" strike="noStrike" baseline="0" dirty="0">
                <a:solidFill>
                  <a:srgbClr val="C20000"/>
                </a:solidFill>
                <a:latin typeface="CIDFont+F2"/>
              </a:rPr>
              <a:t>chave: nome-idade-fone</a:t>
            </a:r>
          </a:p>
          <a:p>
            <a:pPr algn="just"/>
            <a:endParaRPr lang="pt-BR" sz="2400" dirty="0">
              <a:solidFill>
                <a:srgbClr val="C20000"/>
              </a:solidFill>
              <a:latin typeface="CIDFont+F2"/>
            </a:endParaRPr>
          </a:p>
          <a:p>
            <a:pPr marL="361950" indent="-361950" algn="l"/>
            <a:r>
              <a:rPr lang="pt-BR" sz="2400" b="0" i="0" u="none" strike="noStrike" baseline="0" dirty="0">
                <a:solidFill>
                  <a:srgbClr val="C20000"/>
                </a:solidFill>
                <a:latin typeface="CIDFont+F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IDFont+F2"/>
              </a:rPr>
              <a:t>3. Crie um programa que cadastre informações de várias pessoas </a:t>
            </a:r>
            <a:r>
              <a:rPr lang="pt-BR" sz="1800" b="0" i="0" u="none" strike="noStrike" baseline="0" dirty="0">
                <a:latin typeface="CIDFont+F2"/>
              </a:rPr>
              <a:t>(nome, idade e </a:t>
            </a:r>
            <a:r>
              <a:rPr lang="pt-BR" sz="1800" b="0" i="0" u="none" strike="noStrike" baseline="0" dirty="0" err="1">
                <a:latin typeface="CIDFont+F2"/>
              </a:rPr>
              <a:t>cpf</a:t>
            </a:r>
            <a:r>
              <a:rPr lang="pt-BR" sz="1800" b="0" i="0" u="none" strike="noStrike" baseline="0" dirty="0">
                <a:latin typeface="CIDFont+F2"/>
              </a:rPr>
              <a:t>) e depois </a:t>
            </a:r>
            <a:r>
              <a:rPr lang="pt-BR" sz="2400" b="0" i="0" u="none" strike="noStrike" baseline="0" dirty="0">
                <a:latin typeface="CIDFont+F2"/>
              </a:rPr>
              <a:t>coloque em um dicionário. Depois remova todas as pessoas menores de 18 anos do dicionário e coloque em outro dicionário.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22164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AB09A1-AD7F-2871-3008-5413201A7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34BAFB-ADB4-3F7E-A23D-625C917D0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426688"/>
            <a:ext cx="9284676" cy="365125"/>
          </a:xfrm>
        </p:spPr>
        <p:txBody>
          <a:bodyPr/>
          <a:lstStyle/>
          <a:p>
            <a:r>
              <a:rPr lang="pt-BR" sz="1600" b="1" dirty="0"/>
              <a:t>Cap10-Prog04  -  Cap10-Prog05</a:t>
            </a:r>
            <a:endParaRPr lang="pt-BR" sz="16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283613-51CC-5326-8160-09FCF4BB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9E8D7A5-A3B4-B73D-198C-B32B6A44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Exercícios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FF95A59-0FEB-43A4-F551-E23E75FA3C27}"/>
              </a:ext>
            </a:extLst>
          </p:cNvPr>
          <p:cNvSpPr txBox="1"/>
          <p:nvPr/>
        </p:nvSpPr>
        <p:spPr>
          <a:xfrm>
            <a:off x="168812" y="1309100"/>
            <a:ext cx="1195284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 algn="just"/>
            <a:r>
              <a:rPr lang="pt-BR" sz="2200" b="0" i="0" u="none" strike="noStrike" baseline="0" dirty="0">
                <a:latin typeface="CIDFont+F2"/>
              </a:rPr>
              <a:t>4. Considere um sistema onde os dados são armazenados em dicionários. Nesse sistema existe um dicionário principal e o dicionário de backup. Cada vez que o dicionário principal atinge tamanho 2, ele imprime os dados na tela e apaga o seu conteúdo. Crie um programa que insira dados em um dicionário, realizando o backup a cada dado e excluindo os dados do dicionário principal quando ele atingir tamanho 5.</a:t>
            </a:r>
          </a:p>
          <a:p>
            <a:pPr marL="266700" indent="-266700" algn="just"/>
            <a:endParaRPr lang="pt-BR" sz="2200" dirty="0">
              <a:latin typeface="CIDFont+F2"/>
            </a:endParaRPr>
          </a:p>
          <a:p>
            <a:pPr marL="265113" indent="-265113" algn="l"/>
            <a:r>
              <a:rPr lang="pt-BR" sz="2200" b="0" i="0" u="none" strike="noStrike" baseline="0" dirty="0">
                <a:latin typeface="CIDFont+F2"/>
              </a:rPr>
              <a:t>5. Foi feita uma estatística nas 200 principais cidades brasileiras para coletar dados sobre acidentes de trânsito. Foram obtidos os seguintes dados:   </a:t>
            </a:r>
          </a:p>
          <a:p>
            <a:pPr marL="265113" indent="-265113" algn="l"/>
            <a:r>
              <a:rPr lang="pt-BR" sz="2200" dirty="0">
                <a:latin typeface="CIDFont+F2"/>
              </a:rPr>
              <a:t>     </a:t>
            </a:r>
            <a:r>
              <a:rPr lang="pt-BR" sz="2200" b="0" i="1" u="none" strike="noStrike" baseline="0" dirty="0">
                <a:latin typeface="CIDFont+F3"/>
              </a:rPr>
              <a:t>• </a:t>
            </a:r>
            <a:r>
              <a:rPr lang="pt-BR" sz="2200" b="0" i="1" u="none" strike="noStrike" baseline="0" dirty="0">
                <a:latin typeface="CIDFont+F2"/>
              </a:rPr>
              <a:t>Nome da cidade                                 </a:t>
            </a:r>
            <a:r>
              <a:rPr lang="pt-BR" sz="2200" b="0" i="1" u="none" strike="noStrike" baseline="0" dirty="0">
                <a:latin typeface="CIDFont+F3"/>
              </a:rPr>
              <a:t>• </a:t>
            </a:r>
            <a:r>
              <a:rPr lang="pt-BR" sz="2200" b="0" i="1" u="none" strike="noStrike" baseline="0" dirty="0">
                <a:latin typeface="CIDFont+F2"/>
              </a:rPr>
              <a:t>Estado (RJ, SC, PR, SP, RS, ...) </a:t>
            </a:r>
          </a:p>
          <a:p>
            <a:pPr algn="l"/>
            <a:r>
              <a:rPr lang="pt-BR" sz="2200" i="1" dirty="0">
                <a:latin typeface="CIDFont+F2"/>
              </a:rPr>
              <a:t>    </a:t>
            </a:r>
            <a:r>
              <a:rPr lang="pt-BR" sz="2200" b="0" i="1" u="none" strike="noStrike" baseline="0" dirty="0">
                <a:latin typeface="CIDFont+F2"/>
              </a:rPr>
              <a:t> </a:t>
            </a:r>
            <a:r>
              <a:rPr lang="pt-BR" sz="2200" b="0" i="1" u="none" strike="noStrike" baseline="0" dirty="0">
                <a:latin typeface="CIDFont+F3"/>
              </a:rPr>
              <a:t>• </a:t>
            </a:r>
            <a:r>
              <a:rPr lang="pt-BR" sz="2200" b="0" i="1" u="none" strike="noStrike" baseline="0" dirty="0">
                <a:latin typeface="CIDFont+F2"/>
              </a:rPr>
              <a:t>Número de veículos de passeio </a:t>
            </a:r>
            <a:r>
              <a:rPr lang="pt-BR" sz="2200" b="0" i="1" u="none" strike="noStrike" baseline="0" dirty="0">
                <a:latin typeface="CIDFont+F3"/>
              </a:rPr>
              <a:t>      • </a:t>
            </a:r>
            <a:r>
              <a:rPr lang="pt-BR" sz="2200" b="0" i="1" u="none" strike="noStrike" baseline="0" dirty="0">
                <a:latin typeface="CIDFont+F2"/>
              </a:rPr>
              <a:t>Número de acidentes de trânsito com vítimas</a:t>
            </a:r>
          </a:p>
          <a:p>
            <a:pPr marL="257175" algn="l"/>
            <a:r>
              <a:rPr lang="pt-BR" sz="2200" i="1" dirty="0">
                <a:latin typeface="CIDFont+F2"/>
              </a:rPr>
              <a:t>Todos os dados foram armazenados em um dicionário, onde a chave é um número inteiro.</a:t>
            </a:r>
          </a:p>
          <a:p>
            <a:pPr marL="257175" algn="l"/>
            <a:r>
              <a:rPr lang="pt-BR" sz="2200" b="0" i="1" u="none" strike="noStrike" baseline="0" dirty="0">
                <a:latin typeface="CIDFont+F2"/>
              </a:rPr>
              <a:t> </a:t>
            </a:r>
            <a:r>
              <a:rPr lang="pt-BR" sz="2200" b="0" i="0" u="none" strike="noStrike" baseline="0" dirty="0">
                <a:latin typeface="CIDFont+F2"/>
              </a:rPr>
              <a:t>Deseja-se saber:</a:t>
            </a:r>
          </a:p>
          <a:p>
            <a:pPr marL="257175"/>
            <a:r>
              <a:rPr lang="pt-BR" sz="2200" b="0" i="0" u="none" strike="noStrike" baseline="0" dirty="0">
                <a:latin typeface="CIDFont+F2"/>
              </a:rPr>
              <a:t>a) Qual o maior e menor índice de acidentes de trânsito e a que cidade pertencem </a:t>
            </a:r>
            <a:r>
              <a:rPr lang="pt-BR" sz="2200" i="1" dirty="0">
                <a:latin typeface="CIDFont+F2"/>
              </a:rPr>
              <a:t>      </a:t>
            </a:r>
          </a:p>
          <a:p>
            <a:pPr marL="265113" algn="l"/>
            <a:r>
              <a:rPr lang="pt-BR" sz="2200" b="0" i="0" u="none" strike="noStrike" baseline="0" dirty="0">
                <a:latin typeface="CIDFont+F2"/>
              </a:rPr>
              <a:t>b) Qual a média de veículos nas cidades brasileiras</a:t>
            </a:r>
          </a:p>
          <a:p>
            <a:pPr marL="265113" algn="l"/>
            <a:r>
              <a:rPr lang="pt-BR" sz="2200" b="0" i="0" u="none" strike="noStrike" baseline="0" dirty="0">
                <a:latin typeface="CIDFont+F2"/>
              </a:rPr>
              <a:t>c) Qual a média de acidentes </a:t>
            </a:r>
            <a:r>
              <a:rPr lang="pt-BR" sz="2200" i="1" dirty="0">
                <a:latin typeface="CIDFont+F2"/>
              </a:rPr>
              <a:t>com vítimas entre as cidades do </a:t>
            </a:r>
            <a:r>
              <a:rPr lang="pt-BR" sz="2200" dirty="0">
                <a:latin typeface="CIDFont+F2"/>
              </a:rPr>
              <a:t>Rio Grande do Sul</a:t>
            </a:r>
          </a:p>
        </p:txBody>
      </p:sp>
    </p:spTree>
    <p:extLst>
      <p:ext uri="{BB962C8B-B14F-4D97-AF65-F5344CB8AC3E}">
        <p14:creationId xmlns:p14="http://schemas.microsoft.com/office/powerpoint/2010/main" val="21744593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E062C2-8B01-4EA1-BE69-F63DB29873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27EA31-6026-4191-ABC9-C20204964C60}">
  <ds:schemaRefs>
    <ds:schemaRef ds:uri="http://schemas.microsoft.com/office/2006/metadata/properties"/>
    <ds:schemaRef ds:uri="http://schemas.microsoft.com/office/infopath/2007/PartnerControls"/>
    <ds:schemaRef ds:uri="30a7b03c-4792-4e17-9dab-b93b92a33270"/>
    <ds:schemaRef ds:uri="5c7a6bef-5354-4968-b627-13d8ea6c420d"/>
  </ds:schemaRefs>
</ds:datastoreItem>
</file>

<file path=customXml/itemProps3.xml><?xml version="1.0" encoding="utf-8"?>
<ds:datastoreItem xmlns:ds="http://schemas.openxmlformats.org/officeDocument/2006/customXml" ds:itemID="{DA14EAE1-3A92-4CFB-89E0-C2E7804D8C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17225</TotalTime>
  <Words>3774</Words>
  <Application>Microsoft Office PowerPoint</Application>
  <PresentationFormat>Widescreen</PresentationFormat>
  <Paragraphs>512</Paragraphs>
  <Slides>34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Tema do Office</vt:lpstr>
      <vt:lpstr>              Centro Federal de Educação Tecnológica Celso Suckow da Fonseca Escola de Informática e Computação Ciência da Computação</vt:lpstr>
      <vt:lpstr>Dicionário</vt:lpstr>
      <vt:lpstr>Dicionário</vt:lpstr>
      <vt:lpstr>Como funcionam os dicionários</vt:lpstr>
      <vt:lpstr>Dicionário</vt:lpstr>
      <vt:lpstr>Dicionário</vt:lpstr>
      <vt:lpstr>Dicionário</vt:lpstr>
      <vt:lpstr>Dicionário – 1-Inserindo, 2-atualizando,  3-contando elementos pesquisando elementos</vt:lpstr>
      <vt:lpstr>Operações com Dicionários – Método values()</vt:lpstr>
      <vt:lpstr>Operações com Dicionários – Método : items()</vt:lpstr>
      <vt:lpstr>Operações com Dicionários – Método : sorted()</vt:lpstr>
      <vt:lpstr>Operações com Dicionários – Método : itemgetter()</vt:lpstr>
      <vt:lpstr>Dicionários</vt:lpstr>
      <vt:lpstr>Dicionários</vt:lpstr>
      <vt:lpstr>Dicionários</vt:lpstr>
      <vt:lpstr>Dicionários</vt:lpstr>
      <vt:lpstr>Dicionários</vt:lpstr>
      <vt:lpstr>Operações com Dicionários</vt:lpstr>
      <vt:lpstr>Operações com Dicionários - del</vt:lpstr>
      <vt:lpstr>Lista de Chaves (índices) e Lista de Valores</vt:lpstr>
      <vt:lpstr>Operações com Dicionários   -  in</vt:lpstr>
      <vt:lpstr>Operações com Dicionários   -  len</vt:lpstr>
      <vt:lpstr>Operações com Dicionários - Método get()</vt:lpstr>
      <vt:lpstr>Operações com Dicionários - Método clear()</vt:lpstr>
      <vt:lpstr>Operações com Dicionários – Método pop()</vt:lpstr>
      <vt:lpstr>Operações com Dicionários – Método copy()</vt:lpstr>
      <vt:lpstr>Operações com Dicionários – Método items()</vt:lpstr>
      <vt:lpstr>Operações com Dicionários – Método  update(dic)</vt:lpstr>
      <vt:lpstr>Alinhamentos</vt:lpstr>
      <vt:lpstr>Estruturas de Registros</vt:lpstr>
      <vt:lpstr>🧠 💡 COMO PENSAR NESSE CÓDIGO</vt:lpstr>
      <vt:lpstr>🧠 💡 COMO PENSAR NESSE CÓDIGO 2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352</cp:revision>
  <dcterms:created xsi:type="dcterms:W3CDTF">2024-07-25T18:00:53Z</dcterms:created>
  <dcterms:modified xsi:type="dcterms:W3CDTF">2026-06-22T02:36:36Z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