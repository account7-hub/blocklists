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91" r:id="rId12"/>
    <p:sldId id="265" r:id="rId13"/>
    <p:sldId id="266" r:id="rId14"/>
    <p:sldId id="267" r:id="rId15"/>
    <p:sldId id="268" r:id="rId16"/>
    <p:sldId id="292" r:id="rId17"/>
    <p:sldId id="293" r:id="rId18"/>
    <p:sldId id="294" r:id="rId19"/>
    <p:sldId id="295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7" r:id="rId35"/>
    <p:sldId id="296" r:id="rId36"/>
    <p:sldId id="283" r:id="rId37"/>
    <p:sldId id="284" r:id="rId38"/>
    <p:sldId id="286" r:id="rId39"/>
    <p:sldId id="289" r:id="rId40"/>
    <p:sldId id="290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110C"/>
    <a:srgbClr val="FF0000"/>
    <a:srgbClr val="FC4810"/>
    <a:srgbClr val="0079B6"/>
    <a:srgbClr val="FE4D2A"/>
    <a:srgbClr val="2D100B"/>
    <a:srgbClr val="FFC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269D01E-BC32-4049-B463-5C60D7B0CCD2}" styleName="Estilo com Tema 2 - Ênfas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0" autoAdjust="0"/>
    <p:restoredTop sz="95095" autoAdjust="0"/>
  </p:normalViewPr>
  <p:slideViewPr>
    <p:cSldViewPr snapToGrid="0">
      <p:cViewPr varScale="1">
        <p:scale>
          <a:sx n="63" d="100"/>
          <a:sy n="63" d="100"/>
        </p:scale>
        <p:origin x="68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3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D7F6E95-DF0A-DDE8-9E53-D9371CC825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44EA07-597F-F819-7229-532D66BD13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BDEF1-98DE-47F3-AB9B-696578D75E17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97D246-3E04-820B-A4C8-7E38ADED3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651051-B63C-CCEF-B43D-06863876E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A3027-C7E8-477B-B942-A004D5627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403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62CF-6E2E-4950-A4C6-2F0629CEB57A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4D19-40F4-4FB2-BB02-0ACB3B3819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5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766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744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849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659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274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421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6BDC-F7DD-220C-CACB-623D63919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1EF9C-808A-F892-ED25-C59BF263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2D21-355A-B4C6-D7BF-FC594A5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13E9C-3250-5D7A-CE51-894FC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CD16C1-6D70-DEDF-955E-96C301AA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11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FA50B-B228-B2CB-4BBD-59790D44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9151" y="6356350"/>
            <a:ext cx="1209821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pt-BR" dirty="0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33E03-04D3-3C99-D4CC-393AD43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56350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D6B47-DA56-AC52-B164-35891B6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9480" y="6356350"/>
            <a:ext cx="873369" cy="365125"/>
          </a:xfrm>
        </p:spPr>
        <p:txBody>
          <a:bodyPr/>
          <a:lstStyle>
            <a:lvl1pPr algn="l">
              <a:defRPr/>
            </a:lvl1pPr>
          </a:lstStyle>
          <a:p>
            <a:fld id="{250292FE-8D56-4E3A-9427-CB428FF60A53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07C4F4-2068-EDC6-F8E0-984352F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365125"/>
            <a:ext cx="9862002" cy="988219"/>
          </a:xfrm>
        </p:spPr>
        <p:txBody>
          <a:bodyPr>
            <a:norm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Centro Federal de Educação Tecnológica Celso Suckow da Fonseca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5CB7DE-4FD2-82C8-8085-8522769A2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4466" y="349522"/>
            <a:ext cx="1681066" cy="9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012B-5FFB-503A-93D2-2F43E17D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C1D0C-2F68-C972-9E1F-BA1FD83C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7B6F4-628B-9CD7-8F7F-2A56408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11514-16C5-4418-818A-FDECA547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83EA9-82C8-DD6A-6F7E-A1052938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76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8F2E-F87A-28D2-5177-D8AF0FC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D59D1-A894-70DE-B49C-7E1C42153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A1CB66-D4B3-0C42-5406-A3972149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5A9045-E299-D1BC-548E-DA60065B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861DB-B126-C096-C0C8-75EA29D0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3C2C-87A8-7ADD-E4C9-5C96068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06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3ED7-1686-5F8A-10A9-F50F6603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DAE2A-0C8E-84B7-FF7F-0075E7B6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C14A8-D0E9-8760-78FF-07B539BD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A9A5-E119-FD4F-CCDF-BB396DFF6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5E3807-E3CF-D08F-555A-BAE67FCD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F527B8-39F7-34AC-744A-DB3EAF11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187CDB-4CAD-C47F-7F68-4B977C1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03A58A-4C31-DEDB-994F-3A74734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0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EEE29-8BDC-371F-1F50-0966199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665B26-3B57-E9CD-FEE1-8F12BEB5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300C64-73E3-2FDB-857F-DD1BF80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810EA3-9932-5C64-9D4A-2CF0AEF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0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D1DE8-C2E7-563C-BC88-550A37CD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F044E-5BF1-1E08-B412-3A8E378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2ECD8-BC8E-75AF-3253-F35E2EC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4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9D38-2472-977E-F0B5-2A8A7C3D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AD1A9-6513-146C-8A98-E6EB5DC7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800B00-B279-50DA-DBD9-6C613A9D8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C20CA-FD74-F909-C6A2-CAFF4EC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E8670-D013-EC8F-D118-AB063F6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3CD7B-732D-B650-F141-5F79FB19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7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DBC3-3401-A3D2-B219-259F44F8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29A8F6-B5A7-41C2-5EDB-B3AC72B59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2B7809-70B0-CFDE-77FE-019E49D8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4786D-E5B0-5995-B806-7759C6B7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C364B-4223-A58F-49EE-FDCB6E1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41AD-07A8-879B-D075-7E057EE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2E53-480A-BCC2-AF43-0C32667B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777D6-06A6-D2A5-0BEA-E9A8A19A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FBCF5-1061-4ADF-5028-EB2D461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448D7-E146-7AC9-3404-C4353F5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4F478F-8BE1-E167-FE88-5357CBE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0F69-9B91-0B85-B18D-29C478C3E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CEE54A-78BE-B888-5435-1F4BB92E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9EE3-9541-F7F1-FC4A-5B0F583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835FE-3B42-0F74-F3A7-1EC2D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5329-397C-FC63-6BE6-8BC5E6B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4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392734-EB08-7F99-9C05-CEFB6E1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2EE65-2666-D63F-D25E-DE0E33A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0C4-E182-7218-6B83-DB95542FC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4A0E7-B671-9258-1B0E-12AFF67F1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0868-9CE7-5A9C-049A-DF55CBD7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7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linuxeprogramacao.blogspot.com/2014/05/raid-via-software-linux.html" TargetMode="External"/><Relationship Id="rId13" Type="http://schemas.openxmlformats.org/officeDocument/2006/relationships/image" Target="../media/image10.png"/><Relationship Id="rId18" Type="http://schemas.openxmlformats.org/officeDocument/2006/relationships/image" Target="../media/image12.jpg"/><Relationship Id="rId3" Type="http://schemas.openxmlformats.org/officeDocument/2006/relationships/image" Target="../media/image5.png"/><Relationship Id="rId21" Type="http://schemas.openxmlformats.org/officeDocument/2006/relationships/hyperlink" Target="https://www.pngall.com/ssd-solid-state-drive-png/" TargetMode="External"/><Relationship Id="rId7" Type="http://schemas.openxmlformats.org/officeDocument/2006/relationships/image" Target="../media/image7.jpg"/><Relationship Id="rId12" Type="http://schemas.openxmlformats.org/officeDocument/2006/relationships/hyperlink" Target="https://openclipart.org/detail/16276/usb-pendrive-memoria-usb" TargetMode="External"/><Relationship Id="rId17" Type="http://schemas.openxmlformats.org/officeDocument/2006/relationships/hyperlink" Target="https://francescricart.com/creacion-de-formularios-html/" TargetMode="Externa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nolitonimbus.com.br/particionamento-de-disco-e-inicializacao-de-sistema/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6.jpg"/><Relationship Id="rId15" Type="http://schemas.openxmlformats.org/officeDocument/2006/relationships/hyperlink" Target="https://creativecommons.org/licenses/by-sa/3.0/" TargetMode="External"/><Relationship Id="rId10" Type="http://schemas.openxmlformats.org/officeDocument/2006/relationships/hyperlink" Target="https://pxhere.com/pt/photo/893099" TargetMode="External"/><Relationship Id="rId19" Type="http://schemas.openxmlformats.org/officeDocument/2006/relationships/hyperlink" Target="https://pxhere.com/pt/photo/1457917" TargetMode="External"/><Relationship Id="rId4" Type="http://schemas.openxmlformats.org/officeDocument/2006/relationships/hyperlink" Target="https://pixabay.com/fr/ordinateur-portable-ordinateur-157424/" TargetMode="External"/><Relationship Id="rId9" Type="http://schemas.openxmlformats.org/officeDocument/2006/relationships/image" Target="../media/image8.jpg"/><Relationship Id="rId14" Type="http://schemas.openxmlformats.org/officeDocument/2006/relationships/hyperlink" Target="https://isolution.pro/pt/t/sap-mm/sap-mm-purchase-info-record/sap-mm-registro-de-informacoes-de-compra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5C6A1B-B42D-97AA-6E2D-CC2DD52B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</a:t>
            </a: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3F93AE-CC61-84FA-B813-FE5A675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5ABB53-4A29-DA28-55A7-C099606F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948" y="6356349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C0536A0-9280-5193-6FB9-ED255F9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600" y="6356350"/>
            <a:ext cx="421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1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FACD24-BD62-72C2-991F-8DBA2BDB6F87}"/>
              </a:ext>
            </a:extLst>
          </p:cNvPr>
          <p:cNvSpPr txBox="1"/>
          <p:nvPr/>
        </p:nvSpPr>
        <p:spPr>
          <a:xfrm>
            <a:off x="1039659" y="2028616"/>
            <a:ext cx="101961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Algoritmos Computacionais e</a:t>
            </a:r>
          </a:p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Estrutura de Dados em Python</a:t>
            </a:r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– Cap-11 –</a:t>
            </a:r>
          </a:p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Arquivo-Texto</a:t>
            </a:r>
          </a:p>
          <a:p>
            <a:pPr algn="ctr"/>
            <a:endParaRPr lang="pt-B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2A48056-605B-6FF6-0E25-DCB3BFF50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7BA6A8-2B9A-6842-83BC-96270410C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413E3C-1891-AFB9-27B1-0BC04F7E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4210668-60A9-724F-2D5F-80B15534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Arquivos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CA80F-D71E-7D62-4185-56A189F27E91}"/>
              </a:ext>
            </a:extLst>
          </p:cNvPr>
          <p:cNvSpPr txBox="1"/>
          <p:nvPr/>
        </p:nvSpPr>
        <p:spPr>
          <a:xfrm>
            <a:off x="1017740" y="1555024"/>
            <a:ext cx="81262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2800" b="0" i="0" u="none" strike="noStrike" baseline="0" dirty="0">
                <a:latin typeface="CIDFont+F3"/>
              </a:rPr>
              <a:t>Até então só consideramos teclado e monitor como mecanismos de entrada e saída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800" dirty="0">
              <a:latin typeface="CIDFont+F3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800" dirty="0">
              <a:latin typeface="CIDFont+F3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800" dirty="0">
              <a:latin typeface="CIDFont+F3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800" dirty="0">
              <a:latin typeface="CIDFont+F3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800" dirty="0">
              <a:latin typeface="CIDFont+F3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800" b="0" i="0" u="none" strike="noStrike" baseline="0" dirty="0">
              <a:latin typeface="CIDFont+F3"/>
            </a:endParaRPr>
          </a:p>
          <a:p>
            <a:pPr algn="l"/>
            <a:r>
              <a:rPr lang="pt-BR" sz="2800" b="0" i="0" u="none" strike="noStrike" baseline="0" dirty="0">
                <a:latin typeface="CIDFont+F3"/>
              </a:rPr>
              <a:t>• Veremos como ler e escrever em arquivos</a:t>
            </a:r>
            <a:endParaRPr lang="pt-BR" sz="28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4B7AF2A-97B0-9467-0B7A-33CB7ABD4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911" y="1385889"/>
            <a:ext cx="1839686" cy="179430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B52C702-577D-85C2-6EAB-F4A0E7BC6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156" y="2884930"/>
            <a:ext cx="2424878" cy="1576711"/>
          </a:xfrm>
          <a:prstGeom prst="rect">
            <a:avLst/>
          </a:prstGeom>
        </p:spPr>
      </p:pic>
      <p:pic>
        <p:nvPicPr>
          <p:cNvPr id="1026" name="Picture 2" descr="Ver a imagem de origem">
            <a:extLst>
              <a:ext uri="{FF2B5EF4-FFF2-40B4-BE49-F238E27FC236}">
                <a16:creationId xmlns:a16="http://schemas.microsoft.com/office/drawing/2014/main" id="{54AD0EFC-AE17-4620-D084-6B52EF095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959" y="3731033"/>
            <a:ext cx="1982523" cy="179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011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099886-C3BC-6ADB-B5E3-016F4E40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78FFCE-1927-DEAB-6222-26D0B4C5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E87315-5642-5C4A-B8AD-36EA6C32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3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C6F2208-6280-6283-87FF-F2682003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Motivação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929D9E-97F1-84B2-75EE-A26F17D50957}"/>
              </a:ext>
            </a:extLst>
          </p:cNvPr>
          <p:cNvSpPr txBox="1"/>
          <p:nvPr/>
        </p:nvSpPr>
        <p:spPr>
          <a:xfrm>
            <a:off x="672920" y="1414562"/>
            <a:ext cx="11279929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Em algumas situações é desejado 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ler dados de arquivos e escrever dados em arquivos</a:t>
            </a:r>
          </a:p>
          <a:p>
            <a:pPr algn="l"/>
            <a:endParaRPr lang="pt-BR" sz="2800" b="0" i="0" u="none" strike="noStrike" baseline="0" dirty="0">
              <a:solidFill>
                <a:srgbClr val="4472C5"/>
              </a:solidFill>
              <a:latin typeface="CIDFont+F3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Não é necessário digitar via teclado os dados a cada execução do programa</a:t>
            </a: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marL="263525" indent="-263525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Os resultados do programa podem ser impressos ou enviados para outras pessoas com mais facilidade</a:t>
            </a: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marL="263525" indent="-263525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O estado do programa (jogo, por exemplo) pode ser salvo e recarregado em outro momento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692249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C2D043-EA8B-3083-D1D0-121ECEA3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6166E9-23CD-FC80-3141-65FD99F8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AEFEE3-6208-BE31-57F7-1DFE9B1E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4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97EEB59-D89A-77EF-A473-6CD9F6FA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Operações Básicas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08DF42-DF73-D96D-D141-9E80108CE01E}"/>
              </a:ext>
            </a:extLst>
          </p:cNvPr>
          <p:cNvSpPr txBox="1"/>
          <p:nvPr/>
        </p:nvSpPr>
        <p:spPr>
          <a:xfrm>
            <a:off x="844061" y="1465545"/>
            <a:ext cx="10905353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• Abertura do arquivo</a:t>
            </a:r>
          </a:p>
          <a:p>
            <a:pPr marL="263525"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3"/>
              </a:rPr>
              <a:t>• Liga uma variável do programa com o arquivo físico</a:t>
            </a:r>
          </a:p>
          <a:p>
            <a:pPr marL="533400" indent="-269875"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3"/>
              </a:rPr>
              <a:t>• Essa variável deve ser usada no programa para manipular o arquivo (ler e escrever no arquivo)</a:t>
            </a:r>
          </a:p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• Fechamento do arquivo</a:t>
            </a:r>
          </a:p>
          <a:p>
            <a:pPr marL="263525"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3"/>
              </a:rPr>
              <a:t>• Encerramento da conexão da variável com o arquivo físico</a:t>
            </a:r>
          </a:p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• Leitura do conteúdo do arquivo</a:t>
            </a:r>
          </a:p>
          <a:p>
            <a:pPr algn="l"/>
            <a:endParaRPr lang="pt-BR" sz="2400" b="0" i="0" u="none" strike="noStrike" baseline="0" dirty="0">
              <a:solidFill>
                <a:srgbClr val="4472C5"/>
              </a:solidFill>
              <a:latin typeface="CIDFont+F3"/>
            </a:endParaRPr>
          </a:p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• Escrita no arquivo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945230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64638EA-101B-3AE4-55FA-AE545073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0F8853-4150-A2DE-B58F-161D5359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24B149-457A-6B28-70AD-DB1048BF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5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F351328-9FDE-0F7D-77FC-7A7EC8657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Escrita em Arquivos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998C1A-4738-87E5-4B86-D380681D26F5}"/>
              </a:ext>
            </a:extLst>
          </p:cNvPr>
          <p:cNvSpPr txBox="1"/>
          <p:nvPr/>
        </p:nvSpPr>
        <p:spPr>
          <a:xfrm>
            <a:off x="614004" y="1399273"/>
            <a:ext cx="112036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latin typeface="CIDFont+F3"/>
              </a:rPr>
              <a:t>É muito parecido com escrita no monitor, só que é necessário conectar com o arquivo antes (abrir o arquivo)</a:t>
            </a:r>
          </a:p>
          <a:p>
            <a:pPr algn="l"/>
            <a:r>
              <a:rPr lang="pt-BR" sz="2400" b="0" i="0" u="none" strike="noStrike" baseline="0" dirty="0">
                <a:latin typeface="CIDFont+F3"/>
              </a:rPr>
              <a:t>• Vamos ver um exemplo...</a:t>
            </a:r>
            <a:endParaRPr lang="pt-BR" sz="2400" dirty="0"/>
          </a:p>
        </p:txBody>
      </p:sp>
      <p:pic>
        <p:nvPicPr>
          <p:cNvPr id="8" name="Imagem 7" descr="Computador aberto em tela de computador&#10;&#10;Descrição gerada automaticamente">
            <a:extLst>
              <a:ext uri="{FF2B5EF4-FFF2-40B4-BE49-F238E27FC236}">
                <a16:creationId xmlns:a16="http://schemas.microsoft.com/office/drawing/2014/main" id="{2BEE6206-8419-A195-BF51-8A4EF9762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12025" y="3390532"/>
            <a:ext cx="1909353" cy="1509039"/>
          </a:xfrm>
          <a:prstGeom prst="rect">
            <a:avLst/>
          </a:prstGeom>
        </p:spPr>
      </p:pic>
      <p:pic>
        <p:nvPicPr>
          <p:cNvPr id="13" name="Imagem 12" descr="Som do lado&#10;&#10;Descrição gerada automaticamente com confiança baixa">
            <a:extLst>
              <a:ext uri="{FF2B5EF4-FFF2-40B4-BE49-F238E27FC236}">
                <a16:creationId xmlns:a16="http://schemas.microsoft.com/office/drawing/2014/main" id="{4C38339F-25BC-AE68-DA6E-CD4AD2CE99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289667" y="2381698"/>
            <a:ext cx="1328404" cy="1477849"/>
          </a:xfrm>
          <a:prstGeom prst="rect">
            <a:avLst/>
          </a:prstGeom>
        </p:spPr>
      </p:pic>
      <p:pic>
        <p:nvPicPr>
          <p:cNvPr id="16" name="Imagem 15" descr="Uma imagem contendo Diagrama&#10;&#10;Descrição gerada automaticamente">
            <a:extLst>
              <a:ext uri="{FF2B5EF4-FFF2-40B4-BE49-F238E27FC236}">
                <a16:creationId xmlns:a16="http://schemas.microsoft.com/office/drawing/2014/main" id="{BC2BB3E4-9989-FF55-2DB9-A9B8C8A922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9224270" y="4721976"/>
            <a:ext cx="1608811" cy="1037683"/>
          </a:xfrm>
          <a:prstGeom prst="rect">
            <a:avLst/>
          </a:prstGeom>
        </p:spPr>
      </p:pic>
      <p:pic>
        <p:nvPicPr>
          <p:cNvPr id="19" name="Imagem 18" descr="Cd em cima&#10;&#10;Descrição gerada automaticamente com confiança média">
            <a:extLst>
              <a:ext uri="{FF2B5EF4-FFF2-40B4-BE49-F238E27FC236}">
                <a16:creationId xmlns:a16="http://schemas.microsoft.com/office/drawing/2014/main" id="{F55D132A-B070-812D-DBD2-6BF7F1891B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1016107" y="4987790"/>
            <a:ext cx="1020003" cy="466201"/>
          </a:xfrm>
          <a:prstGeom prst="rect">
            <a:avLst/>
          </a:prstGeom>
        </p:spPr>
      </p:pic>
      <p:pic>
        <p:nvPicPr>
          <p:cNvPr id="21" name="Imagem 20" descr="Uma imagem contendo Ícone&#10;&#10;Descrição gerada automaticamente">
            <a:extLst>
              <a:ext uri="{FF2B5EF4-FFF2-40B4-BE49-F238E27FC236}">
                <a16:creationId xmlns:a16="http://schemas.microsoft.com/office/drawing/2014/main" id="{71F593EB-F5E1-5D3B-4E6A-DA18D20037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1092218" y="2475728"/>
            <a:ext cx="792070" cy="747187"/>
          </a:xfrm>
          <a:prstGeom prst="rect">
            <a:avLst/>
          </a:prstGeom>
        </p:spPr>
      </p:pic>
      <p:sp>
        <p:nvSpPr>
          <p:cNvPr id="22" name="Chave Esquerda 21">
            <a:extLst>
              <a:ext uri="{FF2B5EF4-FFF2-40B4-BE49-F238E27FC236}">
                <a16:creationId xmlns:a16="http://schemas.microsoft.com/office/drawing/2014/main" id="{F6A0E666-5227-E090-D764-1EB8AA7C1AA5}"/>
              </a:ext>
            </a:extLst>
          </p:cNvPr>
          <p:cNvSpPr/>
          <p:nvPr/>
        </p:nvSpPr>
        <p:spPr>
          <a:xfrm>
            <a:off x="8892880" y="2285436"/>
            <a:ext cx="664393" cy="3374385"/>
          </a:xfrm>
          <a:prstGeom prst="leftBrace">
            <a:avLst>
              <a:gd name="adj1" fmla="val 8333"/>
              <a:gd name="adj2" fmla="val 54717"/>
            </a:avLst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Interface gráfica do usuário&#10;&#10;Descrição gerada automaticamente">
            <a:extLst>
              <a:ext uri="{FF2B5EF4-FFF2-40B4-BE49-F238E27FC236}">
                <a16:creationId xmlns:a16="http://schemas.microsoft.com/office/drawing/2014/main" id="{C808926B-BC15-5B47-767A-08629F5186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2066533" y="3390532"/>
            <a:ext cx="1317041" cy="1446550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BE654266-486A-A7B6-7F86-92ECEDB5DAB8}"/>
              </a:ext>
            </a:extLst>
          </p:cNvPr>
          <p:cNvSpPr txBox="1"/>
          <p:nvPr/>
        </p:nvSpPr>
        <p:spPr>
          <a:xfrm>
            <a:off x="83481" y="10839511"/>
            <a:ext cx="271586" cy="660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14" tooltip="https://isolution.pro/pt/t/sap-mm/sap-mm-purchase-info-record/sap-mm-registro-de-informacoes-de-compra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15" tooltip="https://creativecommons.org/licenses/by-sa/3.0/"/>
              </a:rPr>
              <a:t>CC BY-SA</a:t>
            </a:r>
            <a:endParaRPr lang="pt-BR" sz="90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C3B6BA49-9CDD-7E85-6503-979EE03CE333}"/>
              </a:ext>
            </a:extLst>
          </p:cNvPr>
          <p:cNvSpPr txBox="1"/>
          <p:nvPr/>
        </p:nvSpPr>
        <p:spPr>
          <a:xfrm>
            <a:off x="5391478" y="5053072"/>
            <a:ext cx="157634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dados</a:t>
            </a:r>
            <a:r>
              <a:rPr lang="pt-BR" dirty="0"/>
              <a:t> </a:t>
            </a:r>
          </a:p>
        </p:txBody>
      </p:sp>
      <p:pic>
        <p:nvPicPr>
          <p:cNvPr id="57" name="Imagem 56" descr="Texto&#10;&#10;Descrição gerada automaticamente">
            <a:extLst>
              <a:ext uri="{FF2B5EF4-FFF2-40B4-BE49-F238E27FC236}">
                <a16:creationId xmlns:a16="http://schemas.microsoft.com/office/drawing/2014/main" id="{0DF1F06E-E002-C25B-3FB7-381D803BC9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3720807" y="3390532"/>
            <a:ext cx="1436923" cy="1446550"/>
          </a:xfrm>
          <a:prstGeom prst="rect">
            <a:avLst/>
          </a:prstGeom>
        </p:spPr>
      </p:pic>
      <p:pic>
        <p:nvPicPr>
          <p:cNvPr id="65" name="Imagem 64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893F4BF0-5D07-C14A-4392-0DF49D9D99C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 flipH="1">
            <a:off x="355067" y="3390532"/>
            <a:ext cx="1389997" cy="1389997"/>
          </a:xfrm>
          <a:prstGeom prst="rect">
            <a:avLst/>
          </a:prstGeom>
        </p:spPr>
      </p:pic>
      <p:sp>
        <p:nvSpPr>
          <p:cNvPr id="66" name="CaixaDeTexto 65">
            <a:extLst>
              <a:ext uri="{FF2B5EF4-FFF2-40B4-BE49-F238E27FC236}">
                <a16:creationId xmlns:a16="http://schemas.microsoft.com/office/drawing/2014/main" id="{EA7D7A70-A07E-1843-89D4-7F34FB66F615}"/>
              </a:ext>
            </a:extLst>
          </p:cNvPr>
          <p:cNvSpPr txBox="1"/>
          <p:nvPr/>
        </p:nvSpPr>
        <p:spPr>
          <a:xfrm>
            <a:off x="245415" y="5053072"/>
            <a:ext cx="157634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ideia</a:t>
            </a:r>
            <a:r>
              <a:rPr lang="pt-BR" dirty="0"/>
              <a:t> 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529B0D7E-01E4-A35E-8344-15D6DD306F37}"/>
              </a:ext>
            </a:extLst>
          </p:cNvPr>
          <p:cNvSpPr txBox="1"/>
          <p:nvPr/>
        </p:nvSpPr>
        <p:spPr>
          <a:xfrm>
            <a:off x="3676123" y="5053072"/>
            <a:ext cx="157634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programação</a:t>
            </a:r>
            <a:r>
              <a:rPr lang="pt-BR" dirty="0"/>
              <a:t> 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36B8004-3635-0637-A99B-64C26C7E23BE}"/>
              </a:ext>
            </a:extLst>
          </p:cNvPr>
          <p:cNvSpPr txBox="1"/>
          <p:nvPr/>
        </p:nvSpPr>
        <p:spPr>
          <a:xfrm>
            <a:off x="1960769" y="5053072"/>
            <a:ext cx="157634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informações</a:t>
            </a:r>
            <a:r>
              <a:rPr lang="pt-BR" dirty="0"/>
              <a:t> 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0B3B07B6-CAC2-D894-FC51-45C9C6E6D91A}"/>
              </a:ext>
            </a:extLst>
          </p:cNvPr>
          <p:cNvSpPr txBox="1"/>
          <p:nvPr/>
        </p:nvSpPr>
        <p:spPr>
          <a:xfrm>
            <a:off x="9470851" y="5945334"/>
            <a:ext cx="207391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arquivos de dados</a:t>
            </a:r>
            <a:endParaRPr lang="pt-BR" dirty="0"/>
          </a:p>
        </p:txBody>
      </p:sp>
      <p:sp>
        <p:nvSpPr>
          <p:cNvPr id="77" name="Seta: Curva para Cima 76">
            <a:extLst>
              <a:ext uri="{FF2B5EF4-FFF2-40B4-BE49-F238E27FC236}">
                <a16:creationId xmlns:a16="http://schemas.microsoft.com/office/drawing/2014/main" id="{FBDBDF85-4BCB-6301-6822-A08196810FE3}"/>
              </a:ext>
            </a:extLst>
          </p:cNvPr>
          <p:cNvSpPr/>
          <p:nvPr/>
        </p:nvSpPr>
        <p:spPr>
          <a:xfrm>
            <a:off x="967360" y="5525607"/>
            <a:ext cx="1576341" cy="47389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8" name="Seta: Curva para Cima 77">
            <a:extLst>
              <a:ext uri="{FF2B5EF4-FFF2-40B4-BE49-F238E27FC236}">
                <a16:creationId xmlns:a16="http://schemas.microsoft.com/office/drawing/2014/main" id="{19A38EAA-B793-DD4C-E753-DA01C915BA78}"/>
              </a:ext>
            </a:extLst>
          </p:cNvPr>
          <p:cNvSpPr/>
          <p:nvPr/>
        </p:nvSpPr>
        <p:spPr>
          <a:xfrm>
            <a:off x="2874370" y="5511946"/>
            <a:ext cx="1452702" cy="473899"/>
          </a:xfrm>
          <a:prstGeom prst="curvedUpArrow">
            <a:avLst>
              <a:gd name="adj1" fmla="val 25000"/>
              <a:gd name="adj2" fmla="val 50000"/>
              <a:gd name="adj3" fmla="val 146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9" name="Seta: Curva para Cima 78">
            <a:extLst>
              <a:ext uri="{FF2B5EF4-FFF2-40B4-BE49-F238E27FC236}">
                <a16:creationId xmlns:a16="http://schemas.microsoft.com/office/drawing/2014/main" id="{18545ACD-3B84-4A2D-059F-4D9CE12C5E4C}"/>
              </a:ext>
            </a:extLst>
          </p:cNvPr>
          <p:cNvSpPr/>
          <p:nvPr/>
        </p:nvSpPr>
        <p:spPr>
          <a:xfrm>
            <a:off x="4657742" y="5529739"/>
            <a:ext cx="1452702" cy="47389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0" name="Seta: para a Direita 79">
            <a:extLst>
              <a:ext uri="{FF2B5EF4-FFF2-40B4-BE49-F238E27FC236}">
                <a16:creationId xmlns:a16="http://schemas.microsoft.com/office/drawing/2014/main" id="{0F77F3DF-14D0-D501-4ED4-3759ABB50A40}"/>
              </a:ext>
            </a:extLst>
          </p:cNvPr>
          <p:cNvSpPr/>
          <p:nvPr/>
        </p:nvSpPr>
        <p:spPr>
          <a:xfrm>
            <a:off x="8429202" y="4053120"/>
            <a:ext cx="453789" cy="1706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2" name="Imagem 81" descr="Tela de computador com texto preto sobre fundo branco&#10;&#10;Descrição gerada automaticamente com confiança média">
            <a:extLst>
              <a:ext uri="{FF2B5EF4-FFF2-40B4-BE49-F238E27FC236}">
                <a16:creationId xmlns:a16="http://schemas.microsoft.com/office/drawing/2014/main" id="{4B26AFF7-9737-09F4-9C12-42551ED1D70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10568216" y="3426548"/>
            <a:ext cx="1467894" cy="1410534"/>
          </a:xfrm>
          <a:prstGeom prst="rect">
            <a:avLst/>
          </a:prstGeom>
        </p:spPr>
      </p:pic>
      <p:sp>
        <p:nvSpPr>
          <p:cNvPr id="86" name="CaixaDeTexto 85">
            <a:extLst>
              <a:ext uri="{FF2B5EF4-FFF2-40B4-BE49-F238E27FC236}">
                <a16:creationId xmlns:a16="http://schemas.microsoft.com/office/drawing/2014/main" id="{D6B94806-B68D-5AF5-6A0F-9F883ABA1A40}"/>
              </a:ext>
            </a:extLst>
          </p:cNvPr>
          <p:cNvSpPr txBox="1"/>
          <p:nvPr/>
        </p:nvSpPr>
        <p:spPr>
          <a:xfrm>
            <a:off x="7155469" y="3411508"/>
            <a:ext cx="1244378" cy="14465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i="1" dirty="0">
                <a:solidFill>
                  <a:srgbClr val="0070C0"/>
                </a:solidFill>
              </a:rPr>
              <a:t>ARQUIVO</a:t>
            </a:r>
          </a:p>
          <a:p>
            <a:r>
              <a:rPr lang="pt-BR" sz="1400" b="1" dirty="0">
                <a:solidFill>
                  <a:srgbClr val="FC4810"/>
                </a:solidFill>
              </a:rPr>
              <a:t>Nome Idade</a:t>
            </a:r>
          </a:p>
          <a:p>
            <a:r>
              <a:rPr lang="pt-BR" sz="1400" b="1" dirty="0"/>
              <a:t>José       40 Mane     30</a:t>
            </a:r>
          </a:p>
          <a:p>
            <a:r>
              <a:rPr lang="pt-BR" sz="1400" b="1" dirty="0"/>
              <a:t>     .  .  .</a:t>
            </a:r>
          </a:p>
          <a:p>
            <a:r>
              <a:rPr lang="pt-BR" sz="1400" b="1" dirty="0"/>
              <a:t>Pedro    64</a:t>
            </a:r>
          </a:p>
        </p:txBody>
      </p:sp>
      <p:sp>
        <p:nvSpPr>
          <p:cNvPr id="87" name="Seta: Curva para Cima 86">
            <a:extLst>
              <a:ext uri="{FF2B5EF4-FFF2-40B4-BE49-F238E27FC236}">
                <a16:creationId xmlns:a16="http://schemas.microsoft.com/office/drawing/2014/main" id="{86CBBC62-8FCE-4B2C-F83A-E00F3934EFAA}"/>
              </a:ext>
            </a:extLst>
          </p:cNvPr>
          <p:cNvSpPr/>
          <p:nvPr/>
        </p:nvSpPr>
        <p:spPr>
          <a:xfrm rot="20005174">
            <a:off x="6414604" y="5203887"/>
            <a:ext cx="1768897" cy="547693"/>
          </a:xfrm>
          <a:prstGeom prst="curvedUpArrow">
            <a:avLst>
              <a:gd name="adj1" fmla="val 30730"/>
              <a:gd name="adj2" fmla="val 62245"/>
              <a:gd name="adj3" fmla="val 571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C2A2865-A252-FAF4-1DA6-2CE94F89BA3E}"/>
              </a:ext>
            </a:extLst>
          </p:cNvPr>
          <p:cNvCxnSpPr>
            <a:stCxn id="30" idx="3"/>
            <a:endCxn id="57" idx="1"/>
          </p:cNvCxnSpPr>
          <p:nvPr/>
        </p:nvCxnSpPr>
        <p:spPr>
          <a:xfrm>
            <a:off x="3383574" y="4113807"/>
            <a:ext cx="337233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10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5" grpId="0" animBg="1"/>
      <p:bldP spid="66" grpId="0" animBg="1"/>
      <p:bldP spid="67" grpId="0" animBg="1"/>
      <p:bldP spid="68" grpId="0" animBg="1"/>
      <p:bldP spid="69" grpId="0" animBg="1"/>
      <p:bldP spid="77" grpId="0" animBg="1"/>
      <p:bldP spid="78" grpId="0" animBg="1"/>
      <p:bldP spid="79" grpId="0" animBg="1"/>
      <p:bldP spid="80" grpId="0" animBg="1"/>
      <p:bldP spid="86" grpId="0" animBg="1"/>
      <p:bldP spid="8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38FAC7-897F-BECA-1188-0622BE13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AEFD906-A569-5556-19DB-2EF90DA2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Cap11-Exem01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0E87EF-9471-66FD-E183-ACFE0809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6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5B2CE4D-B9F7-3224-2423-885AA979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Escrevendo Números Aleatórios no monitor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1408F5-0516-91CB-7367-7D4777955E58}"/>
              </a:ext>
            </a:extLst>
          </p:cNvPr>
          <p:cNvSpPr txBox="1"/>
          <p:nvPr/>
        </p:nvSpPr>
        <p:spPr>
          <a:xfrm>
            <a:off x="842621" y="1619081"/>
            <a:ext cx="3103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u="none" strike="noStrike" baseline="0" dirty="0">
                <a:latin typeface="CIDFont+F1"/>
              </a:rPr>
              <a:t>Exemplo 1:</a:t>
            </a:r>
            <a:r>
              <a:rPr lang="pt-BR" sz="2800" b="0" i="0" u="none" strike="noStrike" baseline="0" dirty="0">
                <a:latin typeface="CIDFont+F1"/>
              </a:rPr>
              <a:t> </a:t>
            </a:r>
            <a:r>
              <a:rPr lang="pt-BR" sz="2800" b="0" i="0" u="none" strike="noStrike" baseline="0" dirty="0">
                <a:solidFill>
                  <a:srgbClr val="FF0000"/>
                </a:solidFill>
                <a:latin typeface="CIDFont+F1"/>
              </a:rPr>
              <a:t>monitor</a:t>
            </a:r>
            <a:endParaRPr lang="pt-BR" sz="28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F74D564-0FD4-887A-3ACD-10F46B6E3506}"/>
              </a:ext>
            </a:extLst>
          </p:cNvPr>
          <p:cNvSpPr txBox="1"/>
          <p:nvPr/>
        </p:nvSpPr>
        <p:spPr>
          <a:xfrm>
            <a:off x="324465" y="2667118"/>
            <a:ext cx="73927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random</a:t>
            </a:r>
          </a:p>
          <a:p>
            <a:endParaRPr lang="pt-BR" sz="2400" dirty="0"/>
          </a:p>
          <a:p>
            <a:r>
              <a:rPr lang="pt-BR" sz="2400" dirty="0" err="1"/>
              <a:t>def</a:t>
            </a:r>
            <a:r>
              <a:rPr lang="pt-BR" sz="2400" dirty="0"/>
              <a:t> </a:t>
            </a:r>
            <a:r>
              <a:rPr lang="pt-BR" sz="2400" dirty="0" err="1"/>
              <a:t>escreveNumerosAleatorios</a:t>
            </a:r>
            <a:r>
              <a:rPr lang="pt-BR" sz="2400" dirty="0"/>
              <a:t>(</a:t>
            </a:r>
            <a:r>
              <a:rPr lang="pt-BR" sz="2400" dirty="0" err="1"/>
              <a:t>qtdNumeros</a:t>
            </a:r>
            <a:r>
              <a:rPr lang="pt-BR" sz="2400" dirty="0"/>
              <a:t>):</a:t>
            </a:r>
          </a:p>
          <a:p>
            <a:endParaRPr lang="pt-BR" sz="2400" dirty="0"/>
          </a:p>
          <a:p>
            <a:r>
              <a:rPr lang="pt-BR" sz="2400" dirty="0"/>
              <a:t>       for  i  in  range(</a:t>
            </a:r>
            <a:r>
              <a:rPr lang="pt-BR" sz="2400" dirty="0" err="1"/>
              <a:t>qtdNumeros</a:t>
            </a:r>
            <a:r>
              <a:rPr lang="pt-BR" sz="2400" dirty="0"/>
              <a:t>):</a:t>
            </a:r>
          </a:p>
          <a:p>
            <a:r>
              <a:rPr lang="pt-BR" sz="2400" dirty="0"/>
              <a:t> </a:t>
            </a:r>
          </a:p>
          <a:p>
            <a:r>
              <a:rPr lang="pt-BR" sz="2400" dirty="0"/>
              <a:t>            print(</a:t>
            </a:r>
            <a:r>
              <a:rPr lang="pt-BR" sz="2400" dirty="0" err="1"/>
              <a:t>random.randint</a:t>
            </a:r>
            <a:r>
              <a:rPr lang="pt-BR" sz="2400" dirty="0"/>
              <a:t>(0, 100),  </a:t>
            </a:r>
            <a:r>
              <a:rPr lang="pt-BR" sz="2400" dirty="0" err="1"/>
              <a:t>end</a:t>
            </a:r>
            <a:r>
              <a:rPr lang="pt-BR" sz="2400" dirty="0"/>
              <a:t>= " ")</a:t>
            </a:r>
          </a:p>
          <a:p>
            <a:endParaRPr lang="pt-BR" sz="2400" dirty="0"/>
          </a:p>
          <a:p>
            <a:r>
              <a:rPr lang="pt-BR" sz="2400" dirty="0" err="1"/>
              <a:t>escreveNumerosAleatorios</a:t>
            </a:r>
            <a:r>
              <a:rPr lang="pt-BR" sz="2400" dirty="0"/>
              <a:t>(100)   # Programa Principal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F800DEE-7C19-42AB-200B-6275D0E18016}"/>
              </a:ext>
            </a:extLst>
          </p:cNvPr>
          <p:cNvSpPr txBox="1"/>
          <p:nvPr/>
        </p:nvSpPr>
        <p:spPr>
          <a:xfrm>
            <a:off x="4313207" y="1807873"/>
            <a:ext cx="7392738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19 85 98 41 79 91 86 84 64 72 36 68 3 2 62 57 24 94 51 87 47 96 80 7 29 3 91 95 60 94 61 62 32 84 96 20 38 16 58 78 51 16 73 33 97 100 32 17 10 10 97 39 15 39 15 46 31 78 16 22 57 9 72 8 49 27 11 94 24 94 33 86 36 71 13 22 53 78 49 12 89 68 41 9 85 56 21 23 55 40 73 88 11 29 96 85 10 15 38 22 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21A6E58E-C565-617C-9711-682C85FA2F58}"/>
              </a:ext>
            </a:extLst>
          </p:cNvPr>
          <p:cNvCxnSpPr>
            <a:cxnSpLocks/>
          </p:cNvCxnSpPr>
          <p:nvPr/>
        </p:nvCxnSpPr>
        <p:spPr>
          <a:xfrm flipV="1">
            <a:off x="6324600" y="3008202"/>
            <a:ext cx="1338943" cy="2005758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84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38FAC7-897F-BECA-1188-0622BE13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AEFD906-A569-5556-19DB-2EF90DA2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Cap11-Exem02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0E87EF-9471-66FD-E183-ACFE0809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7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5B2CE4D-B9F7-3224-2423-885AA979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Escrevendo Números Aleatórios em um arquivo</a:t>
            </a:r>
            <a:endParaRPr lang="pt-BR" b="1" i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F74D564-0FD4-887A-3ACD-10F46B6E3506}"/>
              </a:ext>
            </a:extLst>
          </p:cNvPr>
          <p:cNvSpPr txBox="1"/>
          <p:nvPr/>
        </p:nvSpPr>
        <p:spPr>
          <a:xfrm>
            <a:off x="1132390" y="2310436"/>
            <a:ext cx="85393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random</a:t>
            </a:r>
          </a:p>
          <a:p>
            <a:r>
              <a:rPr lang="pt-BR" sz="2400" dirty="0" err="1"/>
              <a:t>def</a:t>
            </a:r>
            <a:r>
              <a:rPr lang="pt-BR" sz="2400" dirty="0"/>
              <a:t> </a:t>
            </a:r>
            <a:r>
              <a:rPr lang="pt-BR" sz="2400" dirty="0" err="1"/>
              <a:t>escreverNumerosAleatorios</a:t>
            </a:r>
            <a:r>
              <a:rPr lang="pt-BR" sz="2400" dirty="0"/>
              <a:t>(</a:t>
            </a:r>
            <a:r>
              <a:rPr lang="pt-BR" sz="2400" dirty="0" err="1"/>
              <a:t>qtdNumeros</a:t>
            </a:r>
            <a:r>
              <a:rPr lang="pt-BR" sz="2400" dirty="0"/>
              <a:t>,  </a:t>
            </a:r>
            <a:r>
              <a:rPr lang="pt-BR" sz="2400" dirty="0" err="1"/>
              <a:t>nomeArquivo</a:t>
            </a:r>
            <a:r>
              <a:rPr lang="pt-BR" sz="2400" dirty="0"/>
              <a:t>): </a:t>
            </a:r>
          </a:p>
          <a:p>
            <a:endParaRPr lang="pt-BR" sz="2400" dirty="0"/>
          </a:p>
          <a:p>
            <a:r>
              <a:rPr lang="pt-BR" sz="2400" dirty="0"/>
              <a:t>       </a:t>
            </a:r>
            <a:r>
              <a:rPr lang="pt-BR" sz="2400" dirty="0" err="1"/>
              <a:t>arquivoNumeros</a:t>
            </a:r>
            <a:r>
              <a:rPr lang="pt-BR" sz="2400" dirty="0"/>
              <a:t>  =    open(</a:t>
            </a:r>
            <a:r>
              <a:rPr lang="pt-BR" sz="2400" dirty="0" err="1"/>
              <a:t>nomeArquivo</a:t>
            </a:r>
            <a:r>
              <a:rPr lang="pt-BR" sz="2400" dirty="0"/>
              <a:t>,  'w')</a:t>
            </a:r>
          </a:p>
          <a:p>
            <a:endParaRPr lang="pt-BR" sz="2400" dirty="0"/>
          </a:p>
          <a:p>
            <a:r>
              <a:rPr lang="pt-BR" sz="2400" dirty="0"/>
              <a:t>       for  i  in  range(</a:t>
            </a:r>
            <a:r>
              <a:rPr lang="pt-BR" sz="2400" dirty="0" err="1"/>
              <a:t>qtdNumeros</a:t>
            </a:r>
            <a:r>
              <a:rPr lang="pt-BR" sz="2400" dirty="0"/>
              <a:t>):</a:t>
            </a:r>
          </a:p>
          <a:p>
            <a:r>
              <a:rPr lang="pt-BR" sz="2400" dirty="0"/>
              <a:t>            </a:t>
            </a:r>
            <a:r>
              <a:rPr lang="pt-BR" sz="2400" dirty="0" err="1"/>
              <a:t>arquivoNumeros.write</a:t>
            </a:r>
            <a:r>
              <a:rPr lang="pt-BR" sz="2400" dirty="0"/>
              <a:t>(</a:t>
            </a:r>
            <a:r>
              <a:rPr lang="pt-BR" sz="2400" dirty="0" err="1"/>
              <a:t>str</a:t>
            </a:r>
            <a:r>
              <a:rPr lang="pt-BR" sz="2400" dirty="0"/>
              <a:t>(</a:t>
            </a:r>
            <a:r>
              <a:rPr lang="pt-BR" sz="2400" dirty="0" err="1"/>
              <a:t>random.randint</a:t>
            </a:r>
            <a:r>
              <a:rPr lang="pt-BR" sz="2400" dirty="0"/>
              <a:t>(0,  100)))</a:t>
            </a:r>
          </a:p>
          <a:p>
            <a:r>
              <a:rPr lang="pt-BR" sz="2400" dirty="0"/>
              <a:t>            </a:t>
            </a:r>
            <a:r>
              <a:rPr lang="pt-BR" sz="2400" dirty="0" err="1"/>
              <a:t>arquivoNumeros.write</a:t>
            </a:r>
            <a:r>
              <a:rPr lang="pt-BR" sz="2400" dirty="0"/>
              <a:t>('\n')</a:t>
            </a:r>
          </a:p>
          <a:p>
            <a:r>
              <a:rPr lang="pt-BR" sz="2400" dirty="0"/>
              <a:t>       </a:t>
            </a:r>
            <a:r>
              <a:rPr lang="pt-BR" sz="2400" dirty="0" err="1"/>
              <a:t>arquivoNumeros.close</a:t>
            </a:r>
            <a:r>
              <a:rPr lang="pt-BR" sz="2400" dirty="0"/>
              <a:t>()</a:t>
            </a:r>
          </a:p>
          <a:p>
            <a:endParaRPr lang="pt-BR" sz="2400" dirty="0"/>
          </a:p>
          <a:p>
            <a:r>
              <a:rPr lang="pt-BR" sz="2400" dirty="0" err="1"/>
              <a:t>escreverNumerosAleatorios</a:t>
            </a:r>
            <a:r>
              <a:rPr lang="pt-BR" sz="2400" dirty="0"/>
              <a:t> (100,  'aleatórios.txt') </a:t>
            </a:r>
            <a:endParaRPr lang="pt-BR" dirty="0"/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D9CF0DC-D850-B903-0318-66519FD5589A}"/>
              </a:ext>
            </a:extLst>
          </p:cNvPr>
          <p:cNvCxnSpPr/>
          <p:nvPr/>
        </p:nvCxnSpPr>
        <p:spPr>
          <a:xfrm>
            <a:off x="1077393" y="3666449"/>
            <a:ext cx="545939" cy="0"/>
          </a:xfrm>
          <a:prstGeom prst="straightConnector1">
            <a:avLst/>
          </a:prstGeom>
          <a:ln w="412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BA77E6A-1EB3-C76E-7707-99D8066D6BEE}"/>
              </a:ext>
            </a:extLst>
          </p:cNvPr>
          <p:cNvSpPr txBox="1"/>
          <p:nvPr/>
        </p:nvSpPr>
        <p:spPr>
          <a:xfrm>
            <a:off x="7884528" y="3495339"/>
            <a:ext cx="35141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Abertura do arquivo para escrita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38BC73E6-A9C7-090C-C017-4AFF6D5AF4E6}"/>
              </a:ext>
            </a:extLst>
          </p:cNvPr>
          <p:cNvCxnSpPr>
            <a:cxnSpLocks/>
          </p:cNvCxnSpPr>
          <p:nvPr/>
        </p:nvCxnSpPr>
        <p:spPr>
          <a:xfrm>
            <a:off x="1319958" y="4747997"/>
            <a:ext cx="545939" cy="0"/>
          </a:xfrm>
          <a:prstGeom prst="straightConnector1">
            <a:avLst/>
          </a:prstGeom>
          <a:ln w="412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FE8046F-A314-334F-73E6-C25C03349FF2}"/>
              </a:ext>
            </a:extLst>
          </p:cNvPr>
          <p:cNvSpPr txBox="1"/>
          <p:nvPr/>
        </p:nvSpPr>
        <p:spPr>
          <a:xfrm>
            <a:off x="8991033" y="4585975"/>
            <a:ext cx="29618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Escrever um nº no arquivo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368878D6-67B3-C1B3-196E-8DA88E488FDB}"/>
              </a:ext>
            </a:extLst>
          </p:cNvPr>
          <p:cNvCxnSpPr>
            <a:cxnSpLocks/>
          </p:cNvCxnSpPr>
          <p:nvPr/>
        </p:nvCxnSpPr>
        <p:spPr>
          <a:xfrm>
            <a:off x="1319958" y="5110213"/>
            <a:ext cx="545939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DD4186F-FA79-BF2D-192F-8D40C2B993F0}"/>
              </a:ext>
            </a:extLst>
          </p:cNvPr>
          <p:cNvSpPr txBox="1"/>
          <p:nvPr/>
        </p:nvSpPr>
        <p:spPr>
          <a:xfrm>
            <a:off x="5606716" y="297581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73B6FF3-1E77-2982-170F-DCE3A41B2788}"/>
              </a:ext>
            </a:extLst>
          </p:cNvPr>
          <p:cNvSpPr txBox="1"/>
          <p:nvPr/>
        </p:nvSpPr>
        <p:spPr>
          <a:xfrm>
            <a:off x="5911682" y="4943016"/>
            <a:ext cx="315527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Pula linha dento do arquivo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A8A18FA7-BABB-4C46-4751-22926BFBF131}"/>
              </a:ext>
            </a:extLst>
          </p:cNvPr>
          <p:cNvCxnSpPr>
            <a:cxnSpLocks/>
          </p:cNvCxnSpPr>
          <p:nvPr/>
        </p:nvCxnSpPr>
        <p:spPr>
          <a:xfrm>
            <a:off x="1107016" y="5465532"/>
            <a:ext cx="486768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4820474-1A1F-B7C1-0A67-D3AD5591AFED}"/>
              </a:ext>
            </a:extLst>
          </p:cNvPr>
          <p:cNvSpPr txBox="1"/>
          <p:nvPr/>
        </p:nvSpPr>
        <p:spPr>
          <a:xfrm>
            <a:off x="5606716" y="297581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D131DE0-6D2E-3D24-5C2D-0B53B737FF7D}"/>
              </a:ext>
            </a:extLst>
          </p:cNvPr>
          <p:cNvSpPr txBox="1"/>
          <p:nvPr/>
        </p:nvSpPr>
        <p:spPr>
          <a:xfrm>
            <a:off x="5400391" y="5338386"/>
            <a:ext cx="263559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Fecha o arquivo lógico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CC27CAA-682E-0DB8-1174-C521B2A11011}"/>
              </a:ext>
            </a:extLst>
          </p:cNvPr>
          <p:cNvSpPr txBox="1"/>
          <p:nvPr/>
        </p:nvSpPr>
        <p:spPr>
          <a:xfrm>
            <a:off x="842620" y="1619081"/>
            <a:ext cx="85393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06563" indent="-1706563"/>
            <a:r>
              <a:rPr lang="pt-BR" sz="2800" b="1" i="0" u="none" strike="noStrike" baseline="0" dirty="0">
                <a:latin typeface="CIDFont+F1"/>
              </a:rPr>
              <a:t>Exemplo 2:</a:t>
            </a:r>
            <a:r>
              <a:rPr lang="pt-BR" sz="2800" b="0" i="0" u="none" strike="noStrike" baseline="0" dirty="0">
                <a:latin typeface="CIDFont+F1"/>
              </a:rPr>
              <a:t> </a:t>
            </a:r>
            <a:r>
              <a:rPr lang="pt-BR" sz="2800" b="0" i="0" u="none" strike="noStrike" baseline="0" dirty="0">
                <a:solidFill>
                  <a:srgbClr val="FF0000"/>
                </a:solidFill>
                <a:latin typeface="CIDFont+F1"/>
              </a:rPr>
              <a:t>disco, </a:t>
            </a:r>
            <a:r>
              <a:rPr lang="pt-BR" sz="2800" b="0" i="0" u="none" strike="noStrike" baseline="0" dirty="0" err="1">
                <a:solidFill>
                  <a:srgbClr val="FF0000"/>
                </a:solidFill>
                <a:latin typeface="CIDFont+F1"/>
              </a:rPr>
              <a:t>pendriver</a:t>
            </a:r>
            <a:r>
              <a:rPr lang="pt-BR" sz="2800" b="0" i="0" u="none" strike="noStrike" baseline="0" dirty="0">
                <a:solidFill>
                  <a:srgbClr val="FF0000"/>
                </a:solidFill>
                <a:latin typeface="CIDFont+F1"/>
              </a:rPr>
              <a:t> ou qualquer meio </a:t>
            </a:r>
            <a:r>
              <a:rPr lang="pt-BR" sz="2800" b="0" i="0" u="none" strike="noStrike" baseline="0" dirty="0" err="1">
                <a:solidFill>
                  <a:srgbClr val="FF0000"/>
                </a:solidFill>
                <a:latin typeface="CIDFont+F1"/>
              </a:rPr>
              <a:t>magnetivo</a:t>
            </a:r>
            <a:endParaRPr lang="pt-BR" sz="28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36B556-AFBF-D887-AFFA-7D601582ACA3}"/>
              </a:ext>
            </a:extLst>
          </p:cNvPr>
          <p:cNvSpPr txBox="1"/>
          <p:nvPr/>
        </p:nvSpPr>
        <p:spPr>
          <a:xfrm>
            <a:off x="8035982" y="5855001"/>
            <a:ext cx="232637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Programa Principal Chamada da Função</a:t>
            </a:r>
          </a:p>
        </p:txBody>
      </p:sp>
      <p:sp>
        <p:nvSpPr>
          <p:cNvPr id="23" name="Seta: Curva para a Esquerda 22">
            <a:extLst>
              <a:ext uri="{FF2B5EF4-FFF2-40B4-BE49-F238E27FC236}">
                <a16:creationId xmlns:a16="http://schemas.microsoft.com/office/drawing/2014/main" id="{9D172B2F-2636-0F83-0B65-6DA583ED3AB2}"/>
              </a:ext>
            </a:extLst>
          </p:cNvPr>
          <p:cNvSpPr/>
          <p:nvPr/>
        </p:nvSpPr>
        <p:spPr>
          <a:xfrm rot="10800000">
            <a:off x="366528" y="2804683"/>
            <a:ext cx="710863" cy="3489427"/>
          </a:xfrm>
          <a:prstGeom prst="curvedLeftArrow">
            <a:avLst>
              <a:gd name="adj1" fmla="val 25000"/>
              <a:gd name="adj2" fmla="val 52146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7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1" grpId="0" animBg="1"/>
      <p:bldP spid="21" grpId="1" animBg="1"/>
      <p:bldP spid="26" grpId="0" animBg="1"/>
      <p:bldP spid="26" grpId="1" animBg="1"/>
      <p:bldP spid="31" grpId="0" animBg="1"/>
      <p:bldP spid="1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BD281DC-47FD-C3E3-0388-EAF7821C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195F58-C6D4-3DB7-C12E-6D9AB25C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Cap11-Exem02A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A5A1A4-8941-6557-272D-4BBBA4F0F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8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7339EA2-2179-4C2C-4BAB-82E578D6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Forma mais fácil e intuitiva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739082-3989-48D7-538A-D97D2F41B107}"/>
              </a:ext>
            </a:extLst>
          </p:cNvPr>
          <p:cNvSpPr txBox="1"/>
          <p:nvPr/>
        </p:nvSpPr>
        <p:spPr>
          <a:xfrm>
            <a:off x="239151" y="1391418"/>
            <a:ext cx="11830929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random</a:t>
            </a:r>
          </a:p>
          <a:p>
            <a:endParaRPr lang="pt-BR" sz="1000" dirty="0"/>
          </a:p>
          <a:p>
            <a:r>
              <a:rPr lang="pt-BR" sz="2400" dirty="0" err="1"/>
              <a:t>def</a:t>
            </a:r>
            <a:r>
              <a:rPr lang="pt-BR" sz="2400" dirty="0"/>
              <a:t> escreverNumerosAleatorios(</a:t>
            </a:r>
            <a:r>
              <a:rPr lang="pt-BR" sz="2400" dirty="0" err="1"/>
              <a:t>qtdNumeros</a:t>
            </a:r>
            <a:r>
              <a:rPr lang="pt-BR" sz="2400" dirty="0"/>
              <a:t>, </a:t>
            </a:r>
            <a:r>
              <a:rPr lang="pt-BR" sz="2400" dirty="0" err="1"/>
              <a:t>nomeArquivo</a:t>
            </a:r>
            <a:r>
              <a:rPr lang="pt-BR" sz="2400" dirty="0"/>
              <a:t>):</a:t>
            </a:r>
          </a:p>
          <a:p>
            <a:pPr marL="7620000" indent="-7620000"/>
            <a:r>
              <a:rPr lang="pt-BR" sz="2400" dirty="0"/>
              <a:t>        with open(</a:t>
            </a:r>
            <a:r>
              <a:rPr lang="pt-BR" sz="2400" dirty="0" err="1"/>
              <a:t>nomeArquivo</a:t>
            </a:r>
            <a:r>
              <a:rPr lang="pt-BR" sz="2400" dirty="0"/>
              <a:t>, 'w') as arquivoNumeros:        # with open já garante que o</a:t>
            </a:r>
          </a:p>
          <a:p>
            <a:pPr marL="7620000" indent="-7620000"/>
            <a:r>
              <a:rPr lang="pt-BR" sz="2400" dirty="0"/>
              <a:t>                                                                                                                        # arquivo será fechado</a:t>
            </a:r>
          </a:p>
          <a:p>
            <a:r>
              <a:rPr lang="pt-BR" sz="2400" dirty="0"/>
              <a:t>             for i in range(</a:t>
            </a:r>
            <a:r>
              <a:rPr lang="pt-BR" sz="2400" dirty="0" err="1"/>
              <a:t>qtdNumeros</a:t>
            </a:r>
            <a:r>
              <a:rPr lang="pt-BR" sz="2400" dirty="0"/>
              <a:t>):</a:t>
            </a:r>
          </a:p>
          <a:p>
            <a:r>
              <a:rPr lang="pt-BR" sz="2400" dirty="0"/>
              <a:t>                 numero = </a:t>
            </a:r>
            <a:r>
              <a:rPr lang="pt-BR" sz="2400" dirty="0" err="1"/>
              <a:t>random.randint</a:t>
            </a:r>
            <a:r>
              <a:rPr lang="pt-BR" sz="2400" dirty="0"/>
              <a:t>(0, 100)           # gera o número</a:t>
            </a:r>
          </a:p>
          <a:p>
            <a:r>
              <a:rPr lang="pt-BR" sz="2400" dirty="0"/>
              <a:t>                </a:t>
            </a:r>
            <a:r>
              <a:rPr lang="pt-BR" sz="2400" dirty="0" err="1"/>
              <a:t>arquivoNumeros.write</a:t>
            </a:r>
            <a:r>
              <a:rPr lang="pt-BR" sz="2400" dirty="0"/>
              <a:t>(f"{numero}\n")  # escreve com quebra de linha</a:t>
            </a:r>
          </a:p>
          <a:p>
            <a:endParaRPr lang="pt-BR" sz="2400" dirty="0"/>
          </a:p>
          <a:p>
            <a:r>
              <a:rPr lang="pt-BR" sz="2400" dirty="0"/>
              <a:t># chamada da função</a:t>
            </a:r>
          </a:p>
          <a:p>
            <a:r>
              <a:rPr lang="pt-BR" sz="2400" dirty="0"/>
              <a:t>escreverNumerosAleatorios(100, 'aleatorios.txt')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5C0B196-12C2-62D4-FFED-72D26E2DBEBD}"/>
              </a:ext>
            </a:extLst>
          </p:cNvPr>
          <p:cNvSpPr txBox="1"/>
          <p:nvPr/>
        </p:nvSpPr>
        <p:spPr>
          <a:xfrm>
            <a:off x="239150" y="5392169"/>
            <a:ext cx="9986890" cy="1015663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FFFF00"/>
                </a:solidFill>
                <a:latin typeface="Courier New" panose="02070309020205020404" pitchFamily="49" charset="0"/>
              </a:rPr>
              <a:t>with open(...) as ...:</a:t>
            </a:r>
            <a:endParaRPr lang="pt-BR" sz="2000" b="1" dirty="0">
              <a:solidFill>
                <a:srgbClr val="FFFF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FFFF00"/>
                </a:solidFill>
              </a:rPr>
              <a:t>Substitui </a:t>
            </a:r>
            <a:r>
              <a:rPr lang="pt-BR" sz="2000" b="1" dirty="0">
                <a:solidFill>
                  <a:srgbClr val="FFFF00"/>
                </a:solidFill>
                <a:latin typeface="Courier New" panose="02070309020205020404" pitchFamily="49" charset="0"/>
              </a:rPr>
              <a:t>open()</a:t>
            </a:r>
            <a:r>
              <a:rPr lang="pt-BR" sz="2000" b="1" dirty="0">
                <a:solidFill>
                  <a:srgbClr val="FFFF00"/>
                </a:solidFill>
              </a:rPr>
              <a:t> e </a:t>
            </a:r>
            <a:r>
              <a:rPr lang="pt-BR" sz="2000" b="1" dirty="0">
                <a:solidFill>
                  <a:srgbClr val="FFFF00"/>
                </a:solidFill>
                <a:latin typeface="Courier New" panose="02070309020205020404" pitchFamily="49" charset="0"/>
              </a:rPr>
              <a:t>close()</a:t>
            </a:r>
            <a:r>
              <a:rPr lang="pt-BR" sz="2000" b="1" dirty="0">
                <a:solidFill>
                  <a:srgbClr val="FFFF0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FFFF00"/>
                </a:solidFill>
              </a:rPr>
              <a:t>Mesmo que ocorra erro dentro do </a:t>
            </a:r>
            <a:r>
              <a:rPr lang="pt-BR" sz="2000" b="1" dirty="0">
                <a:solidFill>
                  <a:srgbClr val="FFFF00"/>
                </a:solidFill>
                <a:latin typeface="Courier New" panose="02070309020205020404" pitchFamily="49" charset="0"/>
              </a:rPr>
              <a:t>for</a:t>
            </a:r>
            <a:r>
              <a:rPr lang="pt-BR" sz="2000" b="1" dirty="0">
                <a:solidFill>
                  <a:srgbClr val="FFFF00"/>
                </a:solidFill>
              </a:rPr>
              <a:t>, o arquivo será fechado corretamente.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1F40E353-7525-781D-D0C1-42DDFDD305CC}"/>
              </a:ext>
            </a:extLst>
          </p:cNvPr>
          <p:cNvSpPr/>
          <p:nvPr/>
        </p:nvSpPr>
        <p:spPr>
          <a:xfrm>
            <a:off x="239150" y="2468880"/>
            <a:ext cx="420860" cy="1524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20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38EFF8E-976C-18A5-EEB1-58A7DED5D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7B4636F-4383-DA13-0F84-871057DE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1600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92B181-C754-786C-56A5-9052BC62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9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33CE675-595C-7EE2-3B8B-96300AEB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b="1" i="1" u="none" strike="noStrike" baseline="0" dirty="0">
                <a:solidFill>
                  <a:srgbClr val="000000"/>
                </a:solidFill>
                <a:latin typeface="CIDFont+F1"/>
              </a:rPr>
              <a:t>Leitura do Arquivo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6B45C38-DB48-8E8A-F6C3-445C70D91596}"/>
              </a:ext>
            </a:extLst>
          </p:cNvPr>
          <p:cNvSpPr txBox="1"/>
          <p:nvPr/>
        </p:nvSpPr>
        <p:spPr>
          <a:xfrm>
            <a:off x="844060" y="1597604"/>
            <a:ext cx="102354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6100" indent="-546100" algn="just"/>
            <a:r>
              <a:rPr lang="pt-BR" sz="3600" b="0" i="0" u="none" strike="noStrike" baseline="0" dirty="0">
                <a:latin typeface="CIDFont+F3"/>
              </a:rPr>
              <a:t>• Novamente, é muito parecido com leitura do teclado, só que é  necessário conectar com o arquivo antes (abrir o arquivo)</a:t>
            </a:r>
          </a:p>
          <a:p>
            <a:pPr marL="96838" indent="-96838" algn="l"/>
            <a:endParaRPr lang="pt-BR" sz="3600" b="0" i="0" u="none" strike="noStrike" baseline="0" dirty="0">
              <a:latin typeface="CIDFont+F3"/>
            </a:endParaRPr>
          </a:p>
          <a:p>
            <a:pPr marL="625475" indent="-625475" algn="l"/>
            <a:r>
              <a:rPr lang="pt-BR" sz="3600" b="0" i="0" u="none" strike="noStrike" baseline="0" dirty="0">
                <a:latin typeface="CIDFont+F3"/>
              </a:rPr>
              <a:t>•    Vamos ver um exemplo...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793586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87E45F-309F-DA29-D415-1BE01ABD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73B48E1-F19E-476A-9AFE-40D1DACA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Cap11-Exem03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00BA95-04CB-0506-AC26-090FADEC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10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3E545C4-C1B0-25E9-3744-1681A999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Lendo 10 números do teclado e</a:t>
            </a:r>
            <a:br>
              <a:rPr lang="pt-BR" b="1" i="1" u="none" strike="noStrike" baseline="0" dirty="0">
                <a:latin typeface="CIDFont+F1"/>
              </a:rPr>
            </a:br>
            <a:r>
              <a:rPr lang="pt-BR" b="1" i="1" u="none" strike="noStrike" baseline="0" dirty="0">
                <a:latin typeface="CIDFont+F1"/>
              </a:rPr>
              <a:t>escrevendo a média na tela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2FE9145-B4C2-BB1D-AC5A-586F1D2C8647}"/>
              </a:ext>
            </a:extLst>
          </p:cNvPr>
          <p:cNvSpPr txBox="1"/>
          <p:nvPr/>
        </p:nvSpPr>
        <p:spPr>
          <a:xfrm>
            <a:off x="750276" y="2203938"/>
            <a:ext cx="83436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def</a:t>
            </a:r>
            <a:r>
              <a:rPr lang="pt-BR" sz="2800" dirty="0"/>
              <a:t> </a:t>
            </a:r>
            <a:r>
              <a:rPr lang="pt-BR" sz="2800" dirty="0" err="1"/>
              <a:t>escreverMedia</a:t>
            </a:r>
            <a:r>
              <a:rPr lang="pt-BR" sz="2800" dirty="0"/>
              <a:t> (</a:t>
            </a:r>
            <a:r>
              <a:rPr lang="pt-BR" sz="2800" dirty="0" err="1"/>
              <a:t>qtdNumeros</a:t>
            </a:r>
            <a:r>
              <a:rPr lang="pt-BR" sz="2800" dirty="0"/>
              <a:t>):</a:t>
            </a:r>
          </a:p>
          <a:p>
            <a:r>
              <a:rPr lang="pt-BR" sz="2800" dirty="0"/>
              <a:t>         soma  = 0</a:t>
            </a:r>
          </a:p>
          <a:p>
            <a:r>
              <a:rPr lang="pt-BR" sz="2800" dirty="0"/>
              <a:t>         for i in range (</a:t>
            </a:r>
            <a:r>
              <a:rPr lang="pt-BR" sz="2800" dirty="0" err="1"/>
              <a:t>qtdNumeros</a:t>
            </a:r>
            <a:r>
              <a:rPr lang="pt-BR" sz="2800" dirty="0"/>
              <a:t>):</a:t>
            </a:r>
          </a:p>
          <a:p>
            <a:r>
              <a:rPr lang="pt-BR" sz="2800" dirty="0"/>
              <a:t>               num  =  </a:t>
            </a:r>
            <a:r>
              <a:rPr lang="pt-BR" sz="2800" dirty="0" err="1"/>
              <a:t>int</a:t>
            </a:r>
            <a:r>
              <a:rPr lang="pt-BR" sz="2800" dirty="0"/>
              <a:t>(input("Digite o número: "))</a:t>
            </a:r>
          </a:p>
          <a:p>
            <a:r>
              <a:rPr lang="pt-BR" sz="2800" dirty="0"/>
              <a:t>               soma  +=  num</a:t>
            </a:r>
          </a:p>
          <a:p>
            <a:r>
              <a:rPr lang="pt-BR" sz="2800" dirty="0"/>
              <a:t>         </a:t>
            </a:r>
            <a:r>
              <a:rPr lang="pt-BR" sz="2800" dirty="0" err="1"/>
              <a:t>return</a:t>
            </a:r>
            <a:r>
              <a:rPr lang="pt-BR" sz="2800" dirty="0"/>
              <a:t>  soma /  </a:t>
            </a:r>
            <a:r>
              <a:rPr lang="pt-BR" sz="2800" dirty="0" err="1"/>
              <a:t>qtdNumeros</a:t>
            </a:r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print("\</a:t>
            </a:r>
            <a:r>
              <a:rPr lang="pt-BR" sz="2800" dirty="0" err="1"/>
              <a:t>nA</a:t>
            </a:r>
            <a:r>
              <a:rPr lang="pt-BR" sz="2800" dirty="0"/>
              <a:t> média dos números : ",</a:t>
            </a:r>
            <a:r>
              <a:rPr lang="pt-BR" sz="2800" dirty="0" err="1"/>
              <a:t>escreverMedia</a:t>
            </a:r>
            <a:r>
              <a:rPr lang="pt-BR" sz="2800" dirty="0"/>
              <a:t>(10))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D57394-904D-25FE-0FDF-81CB93711A42}"/>
              </a:ext>
            </a:extLst>
          </p:cNvPr>
          <p:cNvSpPr txBox="1"/>
          <p:nvPr/>
        </p:nvSpPr>
        <p:spPr>
          <a:xfrm>
            <a:off x="777981" y="1559304"/>
            <a:ext cx="4057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 3 :</a:t>
            </a:r>
          </a:p>
        </p:txBody>
      </p:sp>
    </p:spTree>
    <p:extLst>
      <p:ext uri="{BB962C8B-B14F-4D97-AF65-F5344CB8AC3E}">
        <p14:creationId xmlns:p14="http://schemas.microsoft.com/office/powerpoint/2010/main" val="2655146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BA32C5-6D40-13B3-B2A3-94B1C099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5D471D-BFF8-1CA4-9507-18F5C203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Cap11-Exem04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2E2E95-1944-5D49-0399-E6D98D7B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11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6B0E25E-E72D-F5DF-8DA4-615EA025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b="1" i="1" dirty="0"/>
              <a:t>Lendo 10 números de um arquivo e escrevendo a média na tela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9AC413-DC32-F22B-B7D5-A5B6049603B4}"/>
              </a:ext>
            </a:extLst>
          </p:cNvPr>
          <p:cNvSpPr txBox="1"/>
          <p:nvPr/>
        </p:nvSpPr>
        <p:spPr>
          <a:xfrm>
            <a:off x="324466" y="1986498"/>
            <a:ext cx="781134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 err="1"/>
              <a:t>def</a:t>
            </a:r>
            <a:r>
              <a:rPr lang="pt-BR" sz="2200" dirty="0"/>
              <a:t> </a:t>
            </a:r>
            <a:r>
              <a:rPr lang="pt-BR" sz="2200" dirty="0" err="1"/>
              <a:t>escreverMedia</a:t>
            </a:r>
            <a:r>
              <a:rPr lang="pt-BR" sz="2200" dirty="0"/>
              <a:t>(</a:t>
            </a:r>
            <a:r>
              <a:rPr lang="pt-BR" sz="2200" dirty="0" err="1"/>
              <a:t>qtdNumeros</a:t>
            </a:r>
            <a:r>
              <a:rPr lang="pt-BR" sz="2200" dirty="0"/>
              <a:t>, </a:t>
            </a:r>
            <a:r>
              <a:rPr lang="pt-BR" sz="2200" dirty="0" err="1"/>
              <a:t>nomeArquivo</a:t>
            </a:r>
            <a:r>
              <a:rPr lang="pt-BR" sz="2200" dirty="0"/>
              <a:t>):</a:t>
            </a:r>
          </a:p>
          <a:p>
            <a:r>
              <a:rPr lang="pt-BR" sz="2200" b="1" dirty="0"/>
              <a:t>      </a:t>
            </a:r>
            <a:r>
              <a:rPr lang="pt-BR" sz="2200" b="1" dirty="0" err="1"/>
              <a:t>arquivoNumeros</a:t>
            </a:r>
            <a:r>
              <a:rPr lang="pt-BR" sz="2200" b="1" dirty="0"/>
              <a:t>  = open(</a:t>
            </a:r>
            <a:r>
              <a:rPr lang="pt-BR" sz="2200" b="1" dirty="0" err="1"/>
              <a:t>nomeArquivo</a:t>
            </a:r>
            <a:r>
              <a:rPr lang="pt-BR" sz="2200" b="1" dirty="0"/>
              <a:t>)</a:t>
            </a:r>
          </a:p>
          <a:p>
            <a:r>
              <a:rPr lang="pt-BR" sz="2200" dirty="0"/>
              <a:t>      soma  = 0</a:t>
            </a:r>
          </a:p>
          <a:p>
            <a:endParaRPr lang="pt-BR" sz="2200" dirty="0"/>
          </a:p>
          <a:p>
            <a:r>
              <a:rPr lang="pt-BR" sz="2200" b="1" dirty="0"/>
              <a:t>      for i in range (</a:t>
            </a:r>
            <a:r>
              <a:rPr lang="pt-BR" sz="2200" b="1" dirty="0" err="1"/>
              <a:t>qtdNumeros</a:t>
            </a:r>
            <a:r>
              <a:rPr lang="pt-BR" sz="2200" b="1" dirty="0"/>
              <a:t>):</a:t>
            </a:r>
          </a:p>
          <a:p>
            <a:r>
              <a:rPr lang="pt-BR" sz="2200" dirty="0"/>
              <a:t>           num   =  float(</a:t>
            </a:r>
            <a:r>
              <a:rPr lang="pt-BR" sz="2200" dirty="0" err="1"/>
              <a:t>arquivoNumeros.readline</a:t>
            </a:r>
            <a:r>
              <a:rPr lang="pt-BR" sz="2200" dirty="0"/>
              <a:t>())</a:t>
            </a:r>
          </a:p>
          <a:p>
            <a:r>
              <a:rPr lang="pt-BR" sz="2200" dirty="0"/>
              <a:t>           soma  +=  num</a:t>
            </a:r>
          </a:p>
          <a:p>
            <a:r>
              <a:rPr lang="pt-BR" sz="2200" dirty="0"/>
              <a:t>  </a:t>
            </a:r>
          </a:p>
          <a:p>
            <a:r>
              <a:rPr lang="pt-BR" sz="2200" dirty="0"/>
              <a:t>      </a:t>
            </a:r>
            <a:r>
              <a:rPr lang="pt-BR" sz="2200" b="1" dirty="0" err="1"/>
              <a:t>arquivoNumeros.close</a:t>
            </a:r>
            <a:r>
              <a:rPr lang="pt-BR" sz="2200" b="1" dirty="0"/>
              <a:t>()</a:t>
            </a:r>
          </a:p>
          <a:p>
            <a:r>
              <a:rPr lang="pt-BR" sz="2200" dirty="0"/>
              <a:t>      </a:t>
            </a:r>
            <a:r>
              <a:rPr lang="pt-BR" sz="2200" dirty="0" err="1"/>
              <a:t>return</a:t>
            </a:r>
            <a:r>
              <a:rPr lang="pt-BR" sz="2200" dirty="0"/>
              <a:t>  soma  /  </a:t>
            </a:r>
            <a:r>
              <a:rPr lang="pt-BR" sz="2200" dirty="0" err="1"/>
              <a:t>qtdNumeros</a:t>
            </a:r>
            <a:endParaRPr lang="pt-BR" sz="2200" dirty="0"/>
          </a:p>
          <a:p>
            <a:endParaRPr lang="pt-BR" sz="2200" dirty="0"/>
          </a:p>
          <a:p>
            <a:r>
              <a:rPr lang="pt-BR" sz="2200" dirty="0"/>
              <a:t>print('\</a:t>
            </a:r>
            <a:r>
              <a:rPr lang="pt-BR" sz="2200" dirty="0" err="1"/>
              <a:t>nMédia</a:t>
            </a:r>
            <a:r>
              <a:rPr lang="pt-BR" sz="2200" dirty="0"/>
              <a:t> dos 5 números : ',</a:t>
            </a:r>
            <a:r>
              <a:rPr lang="pt-BR" sz="2200" dirty="0" err="1"/>
              <a:t>escreverMedia</a:t>
            </a:r>
            <a:r>
              <a:rPr lang="pt-BR" sz="2200" dirty="0"/>
              <a:t>(5,  'media.txt'))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A46194D-B4F1-96E5-DC91-C63C3FE4EF5C}"/>
              </a:ext>
            </a:extLst>
          </p:cNvPr>
          <p:cNvSpPr txBox="1"/>
          <p:nvPr/>
        </p:nvSpPr>
        <p:spPr>
          <a:xfrm>
            <a:off x="8135815" y="4462992"/>
            <a:ext cx="3817034" cy="181588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Interação no arquivo quando a quantidade de valores no arquivo é conhecida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2313258-1497-DB7E-C0EE-379D41BC57C2}"/>
              </a:ext>
            </a:extLst>
          </p:cNvPr>
          <p:cNvSpPr txBox="1"/>
          <p:nvPr/>
        </p:nvSpPr>
        <p:spPr>
          <a:xfrm>
            <a:off x="8141272" y="3031299"/>
            <a:ext cx="248100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O arquivo media.txt já existe (Arquivo físico)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6E0D56B-0CE9-566F-6891-B71297DBD12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6901196" y="3354465"/>
            <a:ext cx="1240076" cy="22726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F8CDDAE-0178-65B9-4593-DEEA7CA3103E}"/>
              </a:ext>
            </a:extLst>
          </p:cNvPr>
          <p:cNvSpPr txBox="1"/>
          <p:nvPr/>
        </p:nvSpPr>
        <p:spPr>
          <a:xfrm>
            <a:off x="394804" y="1500556"/>
            <a:ext cx="2324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 4</a:t>
            </a:r>
            <a:r>
              <a:rPr lang="pt-BR" dirty="0"/>
              <a:t>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944CBEE-69DB-6926-0039-5893A2FE7B4B}"/>
              </a:ext>
            </a:extLst>
          </p:cNvPr>
          <p:cNvSpPr txBox="1"/>
          <p:nvPr/>
        </p:nvSpPr>
        <p:spPr>
          <a:xfrm>
            <a:off x="6873522" y="2205046"/>
            <a:ext cx="2324949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A variável arquivoNumeros </a:t>
            </a:r>
            <a:endParaRPr lang="pt-BR" sz="2000" dirty="0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8813371E-1D65-E8B2-1B0A-E6A320E838CA}"/>
              </a:ext>
            </a:extLst>
          </p:cNvPr>
          <p:cNvSpPr/>
          <p:nvPr/>
        </p:nvSpPr>
        <p:spPr>
          <a:xfrm>
            <a:off x="9321180" y="2470254"/>
            <a:ext cx="462152" cy="162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4375C7-D232-7C09-6834-E184CB634FAB}"/>
              </a:ext>
            </a:extLst>
          </p:cNvPr>
          <p:cNvSpPr txBox="1"/>
          <p:nvPr/>
        </p:nvSpPr>
        <p:spPr>
          <a:xfrm>
            <a:off x="9879099" y="2205046"/>
            <a:ext cx="1959470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Representa o Arquivo Lógico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8744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32DFA3-1421-D625-6AA7-B16339BD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7775EA-BE0F-C850-BE61-68EF4770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Cap11-Exem05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34C31F-AA1E-D400-AF1A-72D6C5C3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12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26CEC40-4A59-5BB9-1188-E94BE41E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Fazendo de outra forma...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760989A-C05C-EB08-320F-834C59D1C19C}"/>
              </a:ext>
            </a:extLst>
          </p:cNvPr>
          <p:cNvSpPr txBox="1"/>
          <p:nvPr/>
        </p:nvSpPr>
        <p:spPr>
          <a:xfrm>
            <a:off x="656492" y="2282837"/>
            <a:ext cx="590843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 err="1"/>
              <a:t>def</a:t>
            </a:r>
            <a:r>
              <a:rPr lang="pt-BR" sz="2200" dirty="0"/>
              <a:t> </a:t>
            </a:r>
            <a:r>
              <a:rPr lang="pt-BR" sz="2200" dirty="0" err="1"/>
              <a:t>escreverMedia</a:t>
            </a:r>
            <a:r>
              <a:rPr lang="pt-BR" sz="2200" dirty="0"/>
              <a:t>(</a:t>
            </a:r>
            <a:r>
              <a:rPr lang="pt-BR" sz="2200" dirty="0" err="1"/>
              <a:t>nomeArquivo</a:t>
            </a:r>
            <a:r>
              <a:rPr lang="pt-BR" sz="2200" dirty="0"/>
              <a:t>):</a:t>
            </a:r>
          </a:p>
          <a:p>
            <a:r>
              <a:rPr lang="pt-BR" sz="2200" dirty="0"/>
              <a:t>       arquivoNumeros  = open(</a:t>
            </a:r>
            <a:r>
              <a:rPr lang="pt-BR" sz="2200" dirty="0" err="1"/>
              <a:t>nomeArquivo</a:t>
            </a:r>
            <a:r>
              <a:rPr lang="pt-BR" sz="2200" dirty="0"/>
              <a:t>)</a:t>
            </a:r>
          </a:p>
          <a:p>
            <a:r>
              <a:rPr lang="pt-BR" sz="2200" dirty="0"/>
              <a:t>       soma  =  0</a:t>
            </a:r>
          </a:p>
          <a:p>
            <a:r>
              <a:rPr lang="pt-BR" sz="2200" dirty="0"/>
              <a:t>       </a:t>
            </a:r>
            <a:r>
              <a:rPr lang="pt-BR" sz="2200" dirty="0" err="1"/>
              <a:t>qtdNumeros</a:t>
            </a:r>
            <a:r>
              <a:rPr lang="pt-BR" sz="2200" dirty="0"/>
              <a:t>  =  0</a:t>
            </a:r>
          </a:p>
          <a:p>
            <a:r>
              <a:rPr lang="pt-BR" sz="2200" dirty="0"/>
              <a:t>       for num in arquivoNumeros:</a:t>
            </a:r>
          </a:p>
          <a:p>
            <a:r>
              <a:rPr lang="pt-BR" sz="2200" dirty="0"/>
              <a:t>              num  =  float(num)</a:t>
            </a:r>
          </a:p>
          <a:p>
            <a:r>
              <a:rPr lang="pt-BR" sz="2200" dirty="0"/>
              <a:t>              soma  +=  num</a:t>
            </a:r>
          </a:p>
          <a:p>
            <a:r>
              <a:rPr lang="pt-BR" sz="2200" dirty="0"/>
              <a:t>              </a:t>
            </a:r>
            <a:r>
              <a:rPr lang="pt-BR" sz="2200" dirty="0" err="1"/>
              <a:t>qtdNumeros</a:t>
            </a:r>
            <a:r>
              <a:rPr lang="pt-BR" sz="2200" dirty="0"/>
              <a:t>  +=  1</a:t>
            </a:r>
          </a:p>
          <a:p>
            <a:r>
              <a:rPr lang="pt-BR" sz="2200" dirty="0"/>
              <a:t>       </a:t>
            </a:r>
            <a:r>
              <a:rPr lang="pt-BR" sz="2200" dirty="0" err="1"/>
              <a:t>arquivoNumeros.close</a:t>
            </a:r>
            <a:r>
              <a:rPr lang="pt-BR" sz="2200" dirty="0"/>
              <a:t>()</a:t>
            </a:r>
          </a:p>
          <a:p>
            <a:r>
              <a:rPr lang="pt-BR" sz="2200" dirty="0"/>
              <a:t>       </a:t>
            </a:r>
            <a:r>
              <a:rPr lang="pt-BR" sz="2200" dirty="0" err="1"/>
              <a:t>return</a:t>
            </a:r>
            <a:r>
              <a:rPr lang="pt-BR" sz="2200" dirty="0"/>
              <a:t>  soma  /  </a:t>
            </a:r>
            <a:r>
              <a:rPr lang="pt-BR" sz="2200" dirty="0" err="1"/>
              <a:t>qtdNumeros</a:t>
            </a:r>
            <a:endParaRPr lang="pt-BR" sz="2200" dirty="0"/>
          </a:p>
          <a:p>
            <a:endParaRPr lang="pt-BR" sz="2200" dirty="0"/>
          </a:p>
          <a:p>
            <a:r>
              <a:rPr lang="pt-BR" sz="2200" dirty="0"/>
              <a:t>print (</a:t>
            </a:r>
            <a:r>
              <a:rPr lang="pt-BR" sz="2200" dirty="0" err="1"/>
              <a:t>escreverMedia</a:t>
            </a:r>
            <a:r>
              <a:rPr lang="pt-BR" sz="2200" dirty="0"/>
              <a:t> ('media.txt'))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C267E7-6633-A1FD-3BF9-882B37F6F147}"/>
              </a:ext>
            </a:extLst>
          </p:cNvPr>
          <p:cNvSpPr txBox="1"/>
          <p:nvPr/>
        </p:nvSpPr>
        <p:spPr>
          <a:xfrm>
            <a:off x="6761872" y="3406222"/>
            <a:ext cx="4931001" cy="95410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Lendo todos os valores do arquivo com o comando for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94FE043-F23D-5F66-4EB8-F8CC25D01B26}"/>
              </a:ext>
            </a:extLst>
          </p:cNvPr>
          <p:cNvSpPr txBox="1"/>
          <p:nvPr/>
        </p:nvSpPr>
        <p:spPr>
          <a:xfrm>
            <a:off x="679938" y="1547446"/>
            <a:ext cx="2180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 5</a:t>
            </a:r>
            <a:r>
              <a:rPr lang="pt-BR" dirty="0"/>
              <a:t>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13D329-6DA1-21C7-E042-85BBEDCBD22F}"/>
              </a:ext>
            </a:extLst>
          </p:cNvPr>
          <p:cNvSpPr txBox="1"/>
          <p:nvPr/>
        </p:nvSpPr>
        <p:spPr>
          <a:xfrm>
            <a:off x="6761872" y="4872627"/>
            <a:ext cx="5309511" cy="52322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Transforma o nº lido em float.</a:t>
            </a:r>
          </a:p>
        </p:txBody>
      </p:sp>
      <p:sp>
        <p:nvSpPr>
          <p:cNvPr id="11" name="Seta: para a Esquerda 10">
            <a:extLst>
              <a:ext uri="{FF2B5EF4-FFF2-40B4-BE49-F238E27FC236}">
                <a16:creationId xmlns:a16="http://schemas.microsoft.com/office/drawing/2014/main" id="{F76A994A-C225-F0CB-D59D-0ED437B43961}"/>
              </a:ext>
            </a:extLst>
          </p:cNvPr>
          <p:cNvSpPr/>
          <p:nvPr/>
        </p:nvSpPr>
        <p:spPr>
          <a:xfrm>
            <a:off x="4648200" y="3780434"/>
            <a:ext cx="2024578" cy="1676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287A0619-5512-8658-DE29-6AF163BDB162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3977640" y="4175765"/>
            <a:ext cx="2784232" cy="958473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42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CA5026A-91D2-F0E4-CDFB-A4E0E281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3D8EDD-CE99-65DC-456B-31B538F04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Cap11-Exem05A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5293B2-EDC1-CAF9-266A-D2FE0AB9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13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4FDBE19-1863-71BA-C17D-F52A66AA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Forma mais fácil e intuitiva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F0976EB-994A-75CE-702A-1DB5F244A013}"/>
              </a:ext>
            </a:extLst>
          </p:cNvPr>
          <p:cNvSpPr txBox="1"/>
          <p:nvPr/>
        </p:nvSpPr>
        <p:spPr>
          <a:xfrm>
            <a:off x="41031" y="1485265"/>
            <a:ext cx="7228449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 err="1"/>
              <a:t>import</a:t>
            </a:r>
            <a:r>
              <a:rPr lang="pt-BR" sz="2200" dirty="0"/>
              <a:t> random</a:t>
            </a:r>
          </a:p>
          <a:p>
            <a:endParaRPr lang="pt-BR" sz="1000" dirty="0"/>
          </a:p>
          <a:p>
            <a:pPr marL="3413125" indent="-3413125"/>
            <a:r>
              <a:rPr lang="pt-BR" sz="2200" dirty="0" err="1"/>
              <a:t>def</a:t>
            </a:r>
            <a:r>
              <a:rPr lang="pt-BR" sz="2200" dirty="0"/>
              <a:t> </a:t>
            </a:r>
            <a:r>
              <a:rPr lang="pt-BR" sz="2200" dirty="0" err="1"/>
              <a:t>escreverNumAleatorios</a:t>
            </a:r>
            <a:r>
              <a:rPr lang="pt-BR" sz="2200" dirty="0"/>
              <a:t>(</a:t>
            </a:r>
            <a:r>
              <a:rPr lang="pt-BR" sz="2200" dirty="0" err="1"/>
              <a:t>qtdNumeros</a:t>
            </a:r>
            <a:r>
              <a:rPr lang="pt-BR" sz="2200" dirty="0"/>
              <a:t>, nomeArquivo):</a:t>
            </a:r>
          </a:p>
          <a:p>
            <a:r>
              <a:rPr lang="pt-BR" sz="2200" dirty="0"/>
              <a:t>    # grava os números aleatórios no arquivo</a:t>
            </a:r>
          </a:p>
          <a:p>
            <a:r>
              <a:rPr lang="pt-BR" sz="2200" dirty="0"/>
              <a:t>    with open(nomeArquivo, 'w') as </a:t>
            </a:r>
            <a:r>
              <a:rPr lang="pt-BR" sz="2200" dirty="0" err="1"/>
              <a:t>arquivoNum</a:t>
            </a:r>
            <a:r>
              <a:rPr lang="pt-BR" sz="2200" dirty="0"/>
              <a:t>:</a:t>
            </a:r>
          </a:p>
          <a:p>
            <a:r>
              <a:rPr lang="pt-BR" sz="2200" dirty="0"/>
              <a:t>        for i in range(</a:t>
            </a:r>
            <a:r>
              <a:rPr lang="pt-BR" sz="2200" dirty="0" err="1"/>
              <a:t>qtdNumeros</a:t>
            </a:r>
            <a:r>
              <a:rPr lang="pt-BR" sz="2200" dirty="0"/>
              <a:t>):</a:t>
            </a:r>
          </a:p>
          <a:p>
            <a:r>
              <a:rPr lang="pt-BR" sz="2200" dirty="0"/>
              <a:t>            numero = </a:t>
            </a:r>
            <a:r>
              <a:rPr lang="pt-BR" sz="2200" dirty="0" err="1"/>
              <a:t>random.randint</a:t>
            </a:r>
            <a:r>
              <a:rPr lang="pt-BR" sz="2200" dirty="0"/>
              <a:t>(0, 100)</a:t>
            </a:r>
          </a:p>
          <a:p>
            <a:r>
              <a:rPr lang="pt-BR" sz="2200" dirty="0"/>
              <a:t>            </a:t>
            </a:r>
            <a:r>
              <a:rPr lang="pt-BR" sz="2200" dirty="0" err="1"/>
              <a:t>arquivoNum.write</a:t>
            </a:r>
            <a:r>
              <a:rPr lang="pt-BR" sz="2200" dirty="0"/>
              <a:t>(f"{numero}\n")</a:t>
            </a:r>
          </a:p>
          <a:p>
            <a:endParaRPr lang="pt-BR" sz="1000" dirty="0"/>
          </a:p>
          <a:p>
            <a:r>
              <a:rPr lang="pt-BR" sz="2200" dirty="0" err="1"/>
              <a:t>def</a:t>
            </a:r>
            <a:r>
              <a:rPr lang="pt-BR" sz="2200" dirty="0"/>
              <a:t> </a:t>
            </a:r>
            <a:r>
              <a:rPr lang="pt-BR" sz="2200" dirty="0" err="1"/>
              <a:t>lerNumArquivo</a:t>
            </a:r>
            <a:r>
              <a:rPr lang="pt-BR" sz="2200" dirty="0"/>
              <a:t>(nomeArquivo):</a:t>
            </a:r>
          </a:p>
          <a:p>
            <a:r>
              <a:rPr lang="pt-BR" sz="2200" dirty="0"/>
              <a:t>    # lê todos os números e retorna como lista de inteiros</a:t>
            </a:r>
          </a:p>
          <a:p>
            <a:r>
              <a:rPr lang="pt-BR" sz="2200" dirty="0"/>
              <a:t>    with open(nomeArquivo, 'r') as </a:t>
            </a:r>
            <a:r>
              <a:rPr lang="pt-BR" sz="2200" dirty="0" err="1"/>
              <a:t>arquivoNum</a:t>
            </a:r>
            <a:r>
              <a:rPr lang="pt-BR" sz="2200" dirty="0"/>
              <a:t>:</a:t>
            </a:r>
          </a:p>
          <a:p>
            <a:r>
              <a:rPr lang="pt-BR" sz="2200" dirty="0"/>
              <a:t>        numeros = [</a:t>
            </a:r>
            <a:r>
              <a:rPr lang="pt-BR" sz="2200" dirty="0" err="1"/>
              <a:t>int</a:t>
            </a:r>
            <a:r>
              <a:rPr lang="pt-BR" sz="2200" dirty="0"/>
              <a:t>(</a:t>
            </a:r>
            <a:r>
              <a:rPr lang="pt-BR" sz="2200" dirty="0" err="1"/>
              <a:t>linha.strip</a:t>
            </a:r>
            <a:r>
              <a:rPr lang="pt-BR" sz="2200" dirty="0"/>
              <a:t>()) for linha in </a:t>
            </a:r>
            <a:r>
              <a:rPr lang="pt-BR" sz="2200" dirty="0" err="1"/>
              <a:t>arquivoNum</a:t>
            </a:r>
            <a:r>
              <a:rPr lang="pt-BR" sz="2200" dirty="0"/>
              <a:t>]  </a:t>
            </a:r>
          </a:p>
          <a:p>
            <a:r>
              <a:rPr lang="pt-BR" sz="2200" dirty="0"/>
              <a:t>    </a:t>
            </a:r>
            <a:r>
              <a:rPr lang="pt-BR" sz="2200" dirty="0" err="1"/>
              <a:t>return</a:t>
            </a:r>
            <a:r>
              <a:rPr lang="pt-BR" sz="2200" dirty="0"/>
              <a:t> numeros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22D0302-E194-D210-C858-7E08907E9537}"/>
              </a:ext>
            </a:extLst>
          </p:cNvPr>
          <p:cNvSpPr txBox="1"/>
          <p:nvPr/>
        </p:nvSpPr>
        <p:spPr>
          <a:xfrm>
            <a:off x="7086600" y="1744345"/>
            <a:ext cx="515580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# ---- Programa Principal ----</a:t>
            </a:r>
          </a:p>
          <a:p>
            <a:endParaRPr lang="pt-BR" sz="2200" dirty="0"/>
          </a:p>
          <a:p>
            <a:r>
              <a:rPr lang="pt-BR" sz="2200" dirty="0"/>
              <a:t>arquivo = 'aleatorios.txt'</a:t>
            </a:r>
          </a:p>
          <a:p>
            <a:endParaRPr lang="pt-BR" sz="2200" dirty="0"/>
          </a:p>
          <a:p>
            <a:r>
              <a:rPr lang="pt-BR" sz="2200" dirty="0"/>
              <a:t># escreve 100 números no arquivo</a:t>
            </a:r>
          </a:p>
          <a:p>
            <a:r>
              <a:rPr lang="pt-BR" sz="2200" dirty="0" err="1"/>
              <a:t>escreverNumAleatorios</a:t>
            </a:r>
            <a:r>
              <a:rPr lang="pt-BR" sz="2200" dirty="0"/>
              <a:t>(100, arquivo)</a:t>
            </a:r>
          </a:p>
          <a:p>
            <a:endParaRPr lang="pt-BR" sz="2200" dirty="0"/>
          </a:p>
          <a:p>
            <a:r>
              <a:rPr lang="pt-BR" sz="2200" dirty="0"/>
              <a:t># lê de volta os números</a:t>
            </a:r>
          </a:p>
          <a:p>
            <a:r>
              <a:rPr lang="pt-BR" sz="2200" dirty="0" err="1"/>
              <a:t>numeros_lidos</a:t>
            </a:r>
            <a:r>
              <a:rPr lang="pt-BR" sz="2200" dirty="0"/>
              <a:t> = </a:t>
            </a:r>
            <a:r>
              <a:rPr lang="pt-BR" sz="2200" dirty="0" err="1"/>
              <a:t>lerNumArquivo</a:t>
            </a:r>
            <a:r>
              <a:rPr lang="pt-BR" sz="2200" dirty="0"/>
              <a:t>(arquivo)</a:t>
            </a:r>
          </a:p>
          <a:p>
            <a:endParaRPr lang="pt-BR" sz="2200" dirty="0"/>
          </a:p>
          <a:p>
            <a:r>
              <a:rPr lang="pt-BR" sz="2200" dirty="0"/>
              <a:t># mostra na tela</a:t>
            </a:r>
          </a:p>
          <a:p>
            <a:r>
              <a:rPr lang="pt-BR" sz="2200" dirty="0"/>
              <a:t>print("Números lidos do arquivo:")</a:t>
            </a:r>
          </a:p>
          <a:p>
            <a:r>
              <a:rPr lang="pt-BR" sz="2200" dirty="0"/>
              <a:t>print(</a:t>
            </a:r>
            <a:r>
              <a:rPr lang="pt-BR" sz="2200" dirty="0" err="1"/>
              <a:t>numeros_lidos</a:t>
            </a:r>
            <a:r>
              <a:rPr lang="pt-BR" sz="2200" dirty="0"/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BE7B36F-E2B9-EEE0-9576-C90C2061D41C}"/>
              </a:ext>
            </a:extLst>
          </p:cNvPr>
          <p:cNvSpPr txBox="1"/>
          <p:nvPr/>
        </p:nvSpPr>
        <p:spPr>
          <a:xfrm>
            <a:off x="211895" y="6015028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0070C0"/>
                </a:solidFill>
              </a:rPr>
              <a:t>linha.strip</a:t>
            </a:r>
            <a:r>
              <a:rPr lang="pt-BR" b="1" dirty="0">
                <a:solidFill>
                  <a:srgbClr val="0070C0"/>
                </a:solidFill>
              </a:rPr>
              <a:t>() </a:t>
            </a:r>
            <a:r>
              <a:rPr lang="pt-BR" b="1" dirty="0">
                <a:solidFill>
                  <a:srgbClr val="FF0000"/>
                </a:solidFill>
              </a:rPr>
              <a:t>→ remove espaços e quebras de linha extras.</a:t>
            </a:r>
          </a:p>
        </p:txBody>
      </p:sp>
    </p:spTree>
    <p:extLst>
      <p:ext uri="{BB962C8B-B14F-4D97-AF65-F5344CB8AC3E}">
        <p14:creationId xmlns:p14="http://schemas.microsoft.com/office/powerpoint/2010/main" val="596428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2A76993-6ABB-6497-D945-D4104EB3B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FE1A3C-A7EB-999D-A8D5-E148FC27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Cap11-Exem05B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9046C7-4E87-4FDE-6E73-32C3FBD4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14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2FF98EA-DB3E-94FC-0EEF-990D2EBB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367" y="227330"/>
            <a:ext cx="9862002" cy="988219"/>
          </a:xfrm>
        </p:spPr>
        <p:txBody>
          <a:bodyPr>
            <a:normAutofit/>
          </a:bodyPr>
          <a:lstStyle/>
          <a:p>
            <a:pPr algn="ctr"/>
            <a:r>
              <a:rPr lang="pt-BR" b="1" i="1" dirty="0" err="1"/>
              <a:t>map</a:t>
            </a:r>
            <a:r>
              <a:rPr lang="pt-BR" b="1" i="1" dirty="0"/>
              <a:t>(função, iterável)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11ADA72-ABA3-6DF4-2537-0CA1B59B6AB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2950" y="2686188"/>
            <a:ext cx="7959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49363" marR="0" lvl="0" indent="-12493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função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 função que será aplicada em cada item.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249363" marR="0" lvl="0" indent="-12493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iter</a:t>
            </a:r>
            <a:r>
              <a:rPr lang="pt-BR" altLang="pt-BR" sz="2400" b="1" dirty="0">
                <a:latin typeface="Arial Unicode MS" panose="020B0604020202020204" pitchFamily="34" charset="-128"/>
              </a:rPr>
              <a:t>á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vel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 coleção de dados (lista, tupla, arquivo, etc.)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68E587D-B941-63A1-6FCF-2A057876E5EA}"/>
              </a:ext>
            </a:extLst>
          </p:cNvPr>
          <p:cNvSpPr txBox="1"/>
          <p:nvPr/>
        </p:nvSpPr>
        <p:spPr>
          <a:xfrm>
            <a:off x="193430" y="3608705"/>
            <a:ext cx="966684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46525" indent="-3946525"/>
            <a:r>
              <a:rPr lang="pt-BR" sz="2400" dirty="0"/>
              <a:t>numeros = ["1", "2", "3", "4"]  # Cada elemento de </a:t>
            </a:r>
            <a:r>
              <a:rPr lang="pt-BR" sz="2400" dirty="0">
                <a:latin typeface="Courier New" panose="02070309020205020404" pitchFamily="49" charset="0"/>
              </a:rPr>
              <a:t>numeros</a:t>
            </a:r>
          </a:p>
          <a:p>
            <a:pPr marL="3946525" indent="-3946525"/>
            <a:r>
              <a:rPr lang="pt-BR" sz="2400" dirty="0">
                <a:latin typeface="Courier New" panose="02070309020205020404" pitchFamily="49" charset="0"/>
              </a:rPr>
              <a:t>                    #</a:t>
            </a:r>
            <a:r>
              <a:rPr lang="pt-BR" sz="2400" dirty="0"/>
              <a:t> (</a:t>
            </a:r>
            <a:r>
              <a:rPr lang="pt-BR" sz="2400" dirty="0">
                <a:latin typeface="Courier New" panose="02070309020205020404" pitchFamily="49" charset="0"/>
              </a:rPr>
              <a:t>"1"</a:t>
            </a:r>
            <a:r>
              <a:rPr lang="pt-BR" sz="2400" dirty="0"/>
              <a:t>, </a:t>
            </a:r>
            <a:r>
              <a:rPr lang="pt-BR" sz="2400" dirty="0">
                <a:latin typeface="Courier New" panose="02070309020205020404" pitchFamily="49" charset="0"/>
              </a:rPr>
              <a:t>"2"</a:t>
            </a:r>
            <a:r>
              <a:rPr lang="pt-BR" sz="2400" dirty="0"/>
              <a:t>, …)</a:t>
            </a:r>
          </a:p>
          <a:p>
            <a:pPr marL="4221163" indent="-4221163"/>
            <a:r>
              <a:rPr lang="pt-BR" sz="2400" b="1" dirty="0">
                <a:solidFill>
                  <a:srgbClr val="FF0000"/>
                </a:solidFill>
              </a:rPr>
              <a:t>resultado = </a:t>
            </a:r>
            <a:r>
              <a:rPr lang="pt-BR" sz="2400" b="1" dirty="0" err="1">
                <a:solidFill>
                  <a:srgbClr val="FF0000"/>
                </a:solidFill>
              </a:rPr>
              <a:t>map</a:t>
            </a:r>
            <a:r>
              <a:rPr lang="pt-BR" sz="2400" b="1" dirty="0">
                <a:solidFill>
                  <a:srgbClr val="FF0000"/>
                </a:solidFill>
              </a:rPr>
              <a:t>(</a:t>
            </a:r>
            <a:r>
              <a:rPr lang="pt-BR" sz="2400" b="1" dirty="0" err="1">
                <a:solidFill>
                  <a:srgbClr val="FF0000"/>
                </a:solidFill>
              </a:rPr>
              <a:t>int</a:t>
            </a:r>
            <a:r>
              <a:rPr lang="pt-BR" sz="2400" b="1" dirty="0">
                <a:solidFill>
                  <a:srgbClr val="FF0000"/>
                </a:solidFill>
              </a:rPr>
              <a:t>, numeros)</a:t>
            </a:r>
            <a:r>
              <a:rPr lang="pt-BR" sz="2400" dirty="0"/>
              <a:t> # aplica </a:t>
            </a:r>
            <a:r>
              <a:rPr lang="pt-BR" sz="2400" dirty="0" err="1"/>
              <a:t>int</a:t>
            </a:r>
            <a:r>
              <a:rPr lang="pt-BR" sz="2400" dirty="0"/>
              <a:t>() em cada elemento da lista                                                           </a:t>
            </a:r>
          </a:p>
          <a:p>
            <a:pPr marL="4221163" indent="-4221163"/>
            <a:endParaRPr lang="pt-BR" sz="2400" dirty="0"/>
          </a:p>
          <a:p>
            <a:pPr marL="4221163" indent="-4221163"/>
            <a:r>
              <a:rPr lang="pt-BR" sz="2400" dirty="0"/>
              <a:t>print(resultado)           # objeto </a:t>
            </a:r>
            <a:r>
              <a:rPr lang="pt-BR" sz="2400" dirty="0" err="1"/>
              <a:t>map</a:t>
            </a:r>
            <a:endParaRPr lang="pt-BR" sz="2400" dirty="0"/>
          </a:p>
          <a:p>
            <a:pPr marL="2773363" indent="-2773363"/>
            <a:r>
              <a:rPr lang="pt-BR" sz="2400" dirty="0"/>
              <a:t>print(</a:t>
            </a:r>
            <a:r>
              <a:rPr lang="pt-BR" sz="2400" dirty="0" err="1"/>
              <a:t>list</a:t>
            </a:r>
            <a:r>
              <a:rPr lang="pt-BR" sz="2400" dirty="0"/>
              <a:t>(resultado))  # [1, 2, 3, 4] Retorna um objeto iterável (por</a:t>
            </a:r>
          </a:p>
          <a:p>
            <a:pPr marL="2773363" indent="-2773363"/>
            <a:r>
              <a:rPr lang="pt-BR" sz="2400" dirty="0"/>
              <a:t>                                            # isso usamos  </a:t>
            </a:r>
            <a:r>
              <a:rPr lang="pt-BR" sz="2400" b="1" dirty="0" err="1">
                <a:latin typeface="Courier New" panose="02070309020205020404" pitchFamily="49" charset="0"/>
              </a:rPr>
              <a:t>list</a:t>
            </a:r>
            <a:r>
              <a:rPr lang="pt-BR" sz="2400" b="1" dirty="0">
                <a:latin typeface="Courier New" panose="02070309020205020404" pitchFamily="49" charset="0"/>
              </a:rPr>
              <a:t>(...)</a:t>
            </a:r>
            <a:r>
              <a:rPr lang="pt-BR" sz="2400" b="1" dirty="0"/>
              <a:t>   </a:t>
            </a:r>
            <a:r>
              <a:rPr lang="pt-BR" sz="2400" dirty="0"/>
              <a:t>para visualizar).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BAC1FE5-7A3B-4ED5-CD90-FC8C71FAD666}"/>
              </a:ext>
            </a:extLst>
          </p:cNvPr>
          <p:cNvSpPr txBox="1"/>
          <p:nvPr/>
        </p:nvSpPr>
        <p:spPr>
          <a:xfrm>
            <a:off x="223911" y="1310397"/>
            <a:ext cx="111298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map</a:t>
            </a:r>
            <a:r>
              <a:rPr lang="pt-BR" sz="2400" dirty="0"/>
              <a:t> é uma </a:t>
            </a:r>
            <a:r>
              <a:rPr lang="pt-BR" sz="2400" b="1" dirty="0"/>
              <a:t>função embutida</a:t>
            </a:r>
            <a:r>
              <a:rPr lang="pt-BR" sz="2400" dirty="0"/>
              <a:t> do Python que aplica uma função a cada elemento de um iterável (como lista, arquivo, tupla etc.) e devolve um </a:t>
            </a:r>
            <a:r>
              <a:rPr lang="pt-BR" sz="2400" b="1" dirty="0"/>
              <a:t>objeto </a:t>
            </a:r>
            <a:r>
              <a:rPr lang="pt-BR" sz="2400" b="1" dirty="0" err="1"/>
              <a:t>map</a:t>
            </a:r>
            <a:r>
              <a:rPr lang="pt-BR" sz="2400" dirty="0"/>
              <a:t> (que pode ser convertido em lista, conjunto, etc.).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13C7A27-0C9A-A814-6D6E-9D5861B70381}"/>
              </a:ext>
            </a:extLst>
          </p:cNvPr>
          <p:cNvSpPr txBox="1"/>
          <p:nvPr/>
        </p:nvSpPr>
        <p:spPr>
          <a:xfrm>
            <a:off x="9432387" y="4876507"/>
            <a:ext cx="2682240" cy="92333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&lt;</a:t>
            </a:r>
            <a:r>
              <a:rPr lang="pt-BR" b="1" dirty="0" err="1">
                <a:solidFill>
                  <a:schemeClr val="bg1"/>
                </a:solidFill>
              </a:rPr>
              <a:t>map</a:t>
            </a:r>
            <a:r>
              <a:rPr lang="pt-BR" b="1" dirty="0">
                <a:solidFill>
                  <a:schemeClr val="bg1"/>
                </a:solidFill>
              </a:rPr>
              <a:t> object </a:t>
            </a:r>
            <a:r>
              <a:rPr lang="pt-BR" b="1" dirty="0" err="1">
                <a:solidFill>
                  <a:schemeClr val="bg1"/>
                </a:solidFill>
              </a:rPr>
              <a:t>at</a:t>
            </a:r>
            <a:r>
              <a:rPr lang="pt-BR" b="1" dirty="0">
                <a:solidFill>
                  <a:schemeClr val="bg1"/>
                </a:solidFill>
              </a:rPr>
              <a:t> 0x000001CE6F45FE50&gt;</a:t>
            </a:r>
          </a:p>
          <a:p>
            <a:r>
              <a:rPr lang="pt-BR" b="1" dirty="0">
                <a:solidFill>
                  <a:schemeClr val="bg1"/>
                </a:solidFill>
              </a:rPr>
              <a:t>[1, 2, 3, 4]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95EB9C33-E591-4126-2F26-5597E6A4ADD8}"/>
              </a:ext>
            </a:extLst>
          </p:cNvPr>
          <p:cNvCxnSpPr>
            <a:cxnSpLocks/>
          </p:cNvCxnSpPr>
          <p:nvPr/>
        </p:nvCxnSpPr>
        <p:spPr>
          <a:xfrm flipH="1">
            <a:off x="4968240" y="5141182"/>
            <a:ext cx="4413152" cy="196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37ADF89E-F926-0A39-A1DD-C47EEFCDB596}"/>
              </a:ext>
            </a:extLst>
          </p:cNvPr>
          <p:cNvCxnSpPr>
            <a:cxnSpLocks/>
          </p:cNvCxnSpPr>
          <p:nvPr/>
        </p:nvCxnSpPr>
        <p:spPr>
          <a:xfrm flipH="1">
            <a:off x="8991600" y="5708104"/>
            <a:ext cx="389792" cy="196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ve Direita 12">
            <a:extLst>
              <a:ext uri="{FF2B5EF4-FFF2-40B4-BE49-F238E27FC236}">
                <a16:creationId xmlns:a16="http://schemas.microsoft.com/office/drawing/2014/main" id="{F68B5DE0-57BC-B7AD-E72B-610177825DD8}"/>
              </a:ext>
            </a:extLst>
          </p:cNvPr>
          <p:cNvSpPr/>
          <p:nvPr/>
        </p:nvSpPr>
        <p:spPr>
          <a:xfrm>
            <a:off x="8793480" y="5532120"/>
            <a:ext cx="228600" cy="719365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023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2C870E-E57F-62A8-7668-66661F26F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669045E-DC1B-F7C9-F42B-F0D6970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Cap11-Exem05B2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3AE6A5-1D88-64EB-C7D2-B268367A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pPr/>
              <a:t>15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387E652-6D53-5CD0-1CCB-364F8735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dirty="0"/>
              <a:t>Função lambda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6A4F91-3D58-8A45-E1EC-BC3EA9CE21F5}"/>
              </a:ext>
            </a:extLst>
          </p:cNvPr>
          <p:cNvSpPr txBox="1"/>
          <p:nvPr/>
        </p:nvSpPr>
        <p:spPr>
          <a:xfrm>
            <a:off x="322373" y="1294200"/>
            <a:ext cx="661416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nums = [1, 2, 3, 4]</a:t>
            </a:r>
          </a:p>
          <a:p>
            <a:endParaRPr lang="pt-BR" sz="1000" dirty="0"/>
          </a:p>
          <a:p>
            <a:r>
              <a:rPr lang="pt-BR" sz="2800" b="1" dirty="0">
                <a:solidFill>
                  <a:srgbClr val="FF0000"/>
                </a:solidFill>
              </a:rPr>
              <a:t>resultado = </a:t>
            </a:r>
            <a:r>
              <a:rPr lang="pt-BR" sz="2800" b="1" dirty="0" err="1">
                <a:solidFill>
                  <a:srgbClr val="FF0000"/>
                </a:solidFill>
              </a:rPr>
              <a:t>map</a:t>
            </a:r>
            <a:r>
              <a:rPr lang="pt-BR" sz="2800" b="1" dirty="0">
                <a:solidFill>
                  <a:srgbClr val="FF0000"/>
                </a:solidFill>
              </a:rPr>
              <a:t>(lambda x: x**2, nums)</a:t>
            </a:r>
          </a:p>
          <a:p>
            <a:r>
              <a:rPr lang="pt-BR" sz="2800" dirty="0"/>
              <a:t>print(</a:t>
            </a:r>
            <a:r>
              <a:rPr lang="pt-BR" sz="2800" dirty="0" err="1"/>
              <a:t>list</a:t>
            </a:r>
            <a:r>
              <a:rPr lang="pt-BR" sz="2800" dirty="0"/>
              <a:t>(resultado))  # [1, 4, 9, 16]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CB75F1D-67D7-4390-10AC-973AE63E9F7C}"/>
              </a:ext>
            </a:extLst>
          </p:cNvPr>
          <p:cNvSpPr txBox="1"/>
          <p:nvPr/>
        </p:nvSpPr>
        <p:spPr>
          <a:xfrm>
            <a:off x="350520" y="2908565"/>
            <a:ext cx="8671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numeros = [</a:t>
            </a:r>
            <a:r>
              <a:rPr lang="pt-BR" sz="2800" dirty="0" err="1"/>
              <a:t>int</a:t>
            </a:r>
            <a:r>
              <a:rPr lang="pt-BR" sz="2800" dirty="0"/>
              <a:t>(</a:t>
            </a:r>
            <a:r>
              <a:rPr lang="pt-BR" sz="2800" dirty="0" err="1"/>
              <a:t>linha.strip</a:t>
            </a:r>
            <a:r>
              <a:rPr lang="pt-BR" sz="2800" dirty="0"/>
              <a:t>()) for linha in </a:t>
            </a:r>
            <a:r>
              <a:rPr lang="pt-BR" sz="2800" dirty="0" err="1"/>
              <a:t>arquivoNum</a:t>
            </a:r>
            <a:r>
              <a:rPr lang="pt-BR" sz="2800" dirty="0"/>
              <a:t>]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5F84C03-8057-7319-EA73-03254C7415FF}"/>
              </a:ext>
            </a:extLst>
          </p:cNvPr>
          <p:cNvSpPr txBox="1"/>
          <p:nvPr/>
        </p:nvSpPr>
        <p:spPr>
          <a:xfrm>
            <a:off x="322373" y="3507267"/>
            <a:ext cx="10460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Pode ser escrita assim com </a:t>
            </a:r>
            <a:r>
              <a:rPr lang="pt-BR" sz="2800" b="1" dirty="0" err="1"/>
              <a:t>map</a:t>
            </a:r>
            <a:r>
              <a:rPr lang="pt-BR" sz="2800" b="1" dirty="0"/>
              <a:t>:</a:t>
            </a:r>
          </a:p>
          <a:p>
            <a:r>
              <a:rPr lang="pt-BR" sz="2800" dirty="0"/>
              <a:t>numeros = </a:t>
            </a:r>
            <a:r>
              <a:rPr lang="pt-BR" sz="2800" b="1" dirty="0" err="1">
                <a:solidFill>
                  <a:srgbClr val="FF0000"/>
                </a:solidFill>
              </a:rPr>
              <a:t>list</a:t>
            </a:r>
            <a:r>
              <a:rPr lang="pt-BR" sz="2800" b="1" dirty="0">
                <a:solidFill>
                  <a:srgbClr val="FF0000"/>
                </a:solidFill>
              </a:rPr>
              <a:t>(</a:t>
            </a:r>
            <a:r>
              <a:rPr lang="pt-BR" sz="2800" b="1" dirty="0" err="1">
                <a:solidFill>
                  <a:srgbClr val="FF0000"/>
                </a:solidFill>
              </a:rPr>
              <a:t>map</a:t>
            </a:r>
            <a:r>
              <a:rPr lang="pt-BR" sz="2800" b="1" dirty="0">
                <a:solidFill>
                  <a:srgbClr val="FF0000"/>
                </a:solidFill>
              </a:rPr>
              <a:t>(lambda x: </a:t>
            </a:r>
            <a:r>
              <a:rPr lang="pt-BR" sz="2800" b="1" dirty="0" err="1">
                <a:solidFill>
                  <a:srgbClr val="FF0000"/>
                </a:solidFill>
              </a:rPr>
              <a:t>int</a:t>
            </a:r>
            <a:r>
              <a:rPr lang="pt-BR" sz="2800" b="1" dirty="0">
                <a:solidFill>
                  <a:srgbClr val="FF0000"/>
                </a:solidFill>
              </a:rPr>
              <a:t>(</a:t>
            </a:r>
            <a:r>
              <a:rPr lang="pt-BR" sz="2800" b="1" dirty="0" err="1">
                <a:solidFill>
                  <a:srgbClr val="FF0000"/>
                </a:solidFill>
              </a:rPr>
              <a:t>x.strip</a:t>
            </a:r>
            <a:r>
              <a:rPr lang="pt-BR" sz="2800" b="1" dirty="0">
                <a:solidFill>
                  <a:srgbClr val="FF0000"/>
                </a:solidFill>
              </a:rPr>
              <a:t>()), </a:t>
            </a:r>
            <a:r>
              <a:rPr lang="pt-BR" sz="2800" b="1" dirty="0" err="1">
                <a:solidFill>
                  <a:srgbClr val="FF0000"/>
                </a:solidFill>
              </a:rPr>
              <a:t>arquivoNum</a:t>
            </a:r>
            <a:r>
              <a:rPr lang="pt-BR" sz="2800" b="1" dirty="0">
                <a:solidFill>
                  <a:srgbClr val="FF0000"/>
                </a:solidFill>
              </a:rPr>
              <a:t>))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C5C29EB-D44C-77A6-D310-F84ECD97D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77" y="4536856"/>
            <a:ext cx="11525543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89325" marR="0" lvl="0" indent="-34893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 lambda x: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x.strip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define a função que tira espaços (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strip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e converte em inteiro 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3489325" marR="0" lvl="0" indent="-34893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82563" marR="0" lvl="0" indent="-1825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arquivoNum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é o iterável (cada linha do arquivo).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list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(...)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converte o objeto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map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em lista.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400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9B2D50C-7520-D96B-8560-59140425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73F14E1-6EEB-4712-6E80-EFB25B72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Cap11-Exem05C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C29449-B993-19A3-73E0-3C58E430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16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CC34EC7-FCC3-C7CA-687E-55AEB720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Forma mais fácil e intuitiva (2)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6B17C5C-E16D-7CAD-81C6-FA17893E2466}"/>
              </a:ext>
            </a:extLst>
          </p:cNvPr>
          <p:cNvSpPr txBox="1"/>
          <p:nvPr/>
        </p:nvSpPr>
        <p:spPr>
          <a:xfrm>
            <a:off x="91438" y="1380668"/>
            <a:ext cx="7498081" cy="4770537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200" dirty="0" err="1"/>
              <a:t>import</a:t>
            </a:r>
            <a:r>
              <a:rPr lang="pt-BR" sz="2200" dirty="0"/>
              <a:t> random</a:t>
            </a:r>
          </a:p>
          <a:p>
            <a:endParaRPr lang="pt-BR" sz="1000" dirty="0"/>
          </a:p>
          <a:p>
            <a:r>
              <a:rPr lang="pt-BR" sz="2200" dirty="0" err="1"/>
              <a:t>def</a:t>
            </a:r>
            <a:r>
              <a:rPr lang="pt-BR" sz="2200" dirty="0"/>
              <a:t> escreverNumerosAleatorios(</a:t>
            </a:r>
            <a:r>
              <a:rPr lang="pt-BR" sz="2200" dirty="0" err="1"/>
              <a:t>qtdNumeros</a:t>
            </a:r>
            <a:r>
              <a:rPr lang="pt-BR" sz="2200" dirty="0"/>
              <a:t>, nomeArquivo):</a:t>
            </a:r>
          </a:p>
          <a:p>
            <a:r>
              <a:rPr lang="pt-BR" sz="2200" dirty="0"/>
              <a:t>    # grava os números aleatórios no arquivo</a:t>
            </a:r>
          </a:p>
          <a:p>
            <a:r>
              <a:rPr lang="pt-BR" sz="2200" dirty="0"/>
              <a:t>    with open(nomeArquivo, 'w') as arquivoNum:</a:t>
            </a:r>
          </a:p>
          <a:p>
            <a:r>
              <a:rPr lang="pt-BR" sz="2200" dirty="0"/>
              <a:t>        for i in range(</a:t>
            </a:r>
            <a:r>
              <a:rPr lang="pt-BR" sz="2200" dirty="0" err="1"/>
              <a:t>qtdNumeros</a:t>
            </a:r>
            <a:r>
              <a:rPr lang="pt-BR" sz="2200" dirty="0"/>
              <a:t>):</a:t>
            </a:r>
          </a:p>
          <a:p>
            <a:r>
              <a:rPr lang="pt-BR" sz="2200" dirty="0"/>
              <a:t>            numero = </a:t>
            </a:r>
            <a:r>
              <a:rPr lang="pt-BR" sz="2200" dirty="0" err="1"/>
              <a:t>random.randint</a:t>
            </a:r>
            <a:r>
              <a:rPr lang="pt-BR" sz="2200" dirty="0"/>
              <a:t>(0, 100)</a:t>
            </a:r>
          </a:p>
          <a:p>
            <a:r>
              <a:rPr lang="pt-BR" sz="2200" dirty="0"/>
              <a:t>            </a:t>
            </a:r>
            <a:r>
              <a:rPr lang="pt-BR" sz="2200" dirty="0" err="1"/>
              <a:t>arquivoNum.write</a:t>
            </a:r>
            <a:r>
              <a:rPr lang="pt-BR" sz="2200" dirty="0"/>
              <a:t>(f"{numero}\n")</a:t>
            </a:r>
          </a:p>
          <a:p>
            <a:endParaRPr lang="pt-BR" sz="1000" dirty="0"/>
          </a:p>
          <a:p>
            <a:r>
              <a:rPr lang="pt-BR" sz="2200" dirty="0" err="1"/>
              <a:t>def</a:t>
            </a:r>
            <a:r>
              <a:rPr lang="pt-BR" sz="2200" dirty="0"/>
              <a:t> lerNumerosArquivo(nomeArquivo):</a:t>
            </a:r>
          </a:p>
          <a:p>
            <a:r>
              <a:rPr lang="pt-BR" sz="2200" dirty="0"/>
              <a:t>    # lê todos os números usando </a:t>
            </a:r>
            <a:r>
              <a:rPr lang="pt-BR" sz="2200" dirty="0" err="1"/>
              <a:t>map</a:t>
            </a:r>
            <a:r>
              <a:rPr lang="pt-BR" sz="2200" dirty="0"/>
              <a:t> + lambda</a:t>
            </a:r>
          </a:p>
          <a:p>
            <a:r>
              <a:rPr lang="pt-BR" sz="2200" dirty="0"/>
              <a:t>    with open(nomeArquivo, 'r') as arquivoNum:</a:t>
            </a:r>
          </a:p>
          <a:p>
            <a:r>
              <a:rPr lang="pt-BR" sz="2200" dirty="0"/>
              <a:t>        numeros = </a:t>
            </a:r>
            <a:r>
              <a:rPr lang="pt-BR" sz="2200" dirty="0" err="1">
                <a:solidFill>
                  <a:srgbClr val="FF0000"/>
                </a:solidFill>
              </a:rPr>
              <a:t>list</a:t>
            </a:r>
            <a:r>
              <a:rPr lang="pt-BR" sz="2200" dirty="0">
                <a:solidFill>
                  <a:srgbClr val="FF0000"/>
                </a:solidFill>
              </a:rPr>
              <a:t>(</a:t>
            </a:r>
            <a:r>
              <a:rPr lang="pt-BR" sz="2200" dirty="0" err="1">
                <a:solidFill>
                  <a:srgbClr val="FF0000"/>
                </a:solidFill>
              </a:rPr>
              <a:t>map</a:t>
            </a:r>
            <a:r>
              <a:rPr lang="pt-BR" sz="2200" dirty="0">
                <a:solidFill>
                  <a:srgbClr val="FF0000"/>
                </a:solidFill>
              </a:rPr>
              <a:t>(lambda x: </a:t>
            </a:r>
            <a:r>
              <a:rPr lang="pt-BR" sz="2200" dirty="0" err="1">
                <a:solidFill>
                  <a:srgbClr val="FF0000"/>
                </a:solidFill>
              </a:rPr>
              <a:t>int</a:t>
            </a:r>
            <a:r>
              <a:rPr lang="pt-BR" sz="2200" dirty="0">
                <a:solidFill>
                  <a:srgbClr val="FF0000"/>
                </a:solidFill>
              </a:rPr>
              <a:t>(</a:t>
            </a:r>
            <a:r>
              <a:rPr lang="pt-BR" sz="2200" dirty="0" err="1">
                <a:solidFill>
                  <a:srgbClr val="FF0000"/>
                </a:solidFill>
              </a:rPr>
              <a:t>x.strip</a:t>
            </a:r>
            <a:r>
              <a:rPr lang="pt-BR" sz="2200" dirty="0">
                <a:solidFill>
                  <a:srgbClr val="FF0000"/>
                </a:solidFill>
              </a:rPr>
              <a:t>()), arquivoNum</a:t>
            </a:r>
            <a:r>
              <a:rPr lang="pt-BR" sz="2200" dirty="0"/>
              <a:t>))</a:t>
            </a:r>
            <a:r>
              <a:rPr lang="pt-BR" sz="1000" dirty="0"/>
              <a:t>  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return</a:t>
            </a:r>
            <a:r>
              <a:rPr lang="pt-BR" sz="2000" dirty="0"/>
              <a:t> numeros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01E211D-B954-A82F-BE64-7C92E66DB732}"/>
              </a:ext>
            </a:extLst>
          </p:cNvPr>
          <p:cNvSpPr txBox="1"/>
          <p:nvPr/>
        </p:nvSpPr>
        <p:spPr>
          <a:xfrm>
            <a:off x="7680959" y="1380668"/>
            <a:ext cx="4378570" cy="440120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/>
              <a:t># ---- Programa Principal ----</a:t>
            </a:r>
          </a:p>
          <a:p>
            <a:r>
              <a:rPr lang="pt-BR" sz="2000" dirty="0"/>
              <a:t>arquivo = 'aleatorios.txt'</a:t>
            </a:r>
          </a:p>
          <a:p>
            <a:endParaRPr lang="pt-BR" sz="2000" dirty="0"/>
          </a:p>
          <a:p>
            <a:r>
              <a:rPr lang="pt-BR" sz="2000" dirty="0"/>
              <a:t># escreve 100 números no arquivo</a:t>
            </a:r>
          </a:p>
          <a:p>
            <a:pPr marL="1082675" indent="-1082675"/>
            <a:r>
              <a:rPr lang="pt-BR" sz="2000" dirty="0"/>
              <a:t>escreverNumerosAleatorios(100, arquivo)</a:t>
            </a:r>
          </a:p>
          <a:p>
            <a:endParaRPr lang="pt-BR" sz="2000" dirty="0"/>
          </a:p>
          <a:p>
            <a:r>
              <a:rPr lang="pt-BR" sz="2000" dirty="0"/>
              <a:t># lê de volta os números</a:t>
            </a:r>
          </a:p>
          <a:p>
            <a:r>
              <a:rPr lang="pt-BR" sz="2000" dirty="0" err="1"/>
              <a:t>numeros_lidos</a:t>
            </a:r>
            <a:r>
              <a:rPr lang="pt-BR" sz="2000" dirty="0"/>
              <a:t> = lerNumerosArquivo(arquivo)</a:t>
            </a:r>
          </a:p>
          <a:p>
            <a:endParaRPr lang="pt-BR" sz="2000" dirty="0"/>
          </a:p>
          <a:p>
            <a:r>
              <a:rPr lang="pt-BR" sz="2000" dirty="0"/>
              <a:t># mostra na tela</a:t>
            </a:r>
          </a:p>
          <a:p>
            <a:r>
              <a:rPr lang="pt-BR" sz="2000" dirty="0"/>
              <a:t>print("Números lidos do arquivo:")</a:t>
            </a:r>
          </a:p>
          <a:p>
            <a:r>
              <a:rPr lang="pt-BR" sz="2000" dirty="0"/>
              <a:t>print(</a:t>
            </a:r>
            <a:r>
              <a:rPr lang="pt-BR" sz="2000" dirty="0" err="1"/>
              <a:t>numeros_lidos</a:t>
            </a:r>
            <a:r>
              <a:rPr lang="pt-BR" sz="2000" dirty="0"/>
              <a:t>)</a:t>
            </a:r>
          </a:p>
        </p:txBody>
      </p:sp>
      <p:sp>
        <p:nvSpPr>
          <p:cNvPr id="9" name="Chave Esquerda 8">
            <a:extLst>
              <a:ext uri="{FF2B5EF4-FFF2-40B4-BE49-F238E27FC236}">
                <a16:creationId xmlns:a16="http://schemas.microsoft.com/office/drawing/2014/main" id="{1CDA53F4-DA44-1B02-3E79-92971EEDFD12}"/>
              </a:ext>
            </a:extLst>
          </p:cNvPr>
          <p:cNvSpPr/>
          <p:nvPr/>
        </p:nvSpPr>
        <p:spPr>
          <a:xfrm rot="16200000">
            <a:off x="4510311" y="3165977"/>
            <a:ext cx="381000" cy="5390553"/>
          </a:xfrm>
          <a:prstGeom prst="leftBrace">
            <a:avLst>
              <a:gd name="adj1" fmla="val 24885"/>
              <a:gd name="adj2" fmla="val 50000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F8CBFA-09DD-314F-0BFF-1C4FE6F4F3C4}"/>
              </a:ext>
            </a:extLst>
          </p:cNvPr>
          <p:cNvSpPr txBox="1"/>
          <p:nvPr/>
        </p:nvSpPr>
        <p:spPr>
          <a:xfrm>
            <a:off x="5833403" y="6016265"/>
            <a:ext cx="5317588" cy="36933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numeros = [</a:t>
            </a:r>
            <a:r>
              <a:rPr lang="pt-BR" dirty="0" err="1"/>
              <a:t>int</a:t>
            </a:r>
            <a:r>
              <a:rPr lang="pt-BR" dirty="0"/>
              <a:t>(</a:t>
            </a:r>
            <a:r>
              <a:rPr lang="pt-BR" dirty="0" err="1"/>
              <a:t>linha.strip</a:t>
            </a:r>
            <a:r>
              <a:rPr lang="pt-BR" dirty="0"/>
              <a:t>()) for linha in arquivoNum]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E66F47E-C638-ABDE-3B09-E35CA182EF54}"/>
              </a:ext>
            </a:extLst>
          </p:cNvPr>
          <p:cNvCxnSpPr>
            <a:cxnSpLocks/>
          </p:cNvCxnSpPr>
          <p:nvPr/>
        </p:nvCxnSpPr>
        <p:spPr>
          <a:xfrm>
            <a:off x="4754880" y="6016265"/>
            <a:ext cx="929640" cy="13494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442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C2B64D-E42B-5122-EF86-7D992C2BA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C3AA690-3FB7-DC33-F276-6313CBC6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Cap11-Exem06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CF68A4-AFD2-D102-8820-48B74AA8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17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D1DD306-7C68-A39F-6E41-0B7ED8A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Agora usando o comando </a:t>
            </a:r>
            <a:r>
              <a:rPr lang="pt-BR" b="1" i="1" u="none" strike="noStrike" baseline="0" dirty="0" err="1">
                <a:latin typeface="CIDFont+F1"/>
              </a:rPr>
              <a:t>while</a:t>
            </a:r>
            <a:r>
              <a:rPr lang="pt-BR" b="1" i="1" u="none" strike="noStrike" baseline="0" dirty="0">
                <a:latin typeface="CIDFont+F1"/>
              </a:rPr>
              <a:t>...</a:t>
            </a:r>
            <a:endParaRPr lang="pt-BR" b="1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48B3B0-B5BB-58DA-DA11-D34EA2AAAD24}"/>
              </a:ext>
            </a:extLst>
          </p:cNvPr>
          <p:cNvSpPr txBox="1"/>
          <p:nvPr/>
        </p:nvSpPr>
        <p:spPr>
          <a:xfrm>
            <a:off x="537367" y="1353344"/>
            <a:ext cx="2217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 6: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C927024-7EEC-652F-8BC9-EB38893E4D0C}"/>
              </a:ext>
            </a:extLst>
          </p:cNvPr>
          <p:cNvSpPr txBox="1"/>
          <p:nvPr/>
        </p:nvSpPr>
        <p:spPr>
          <a:xfrm>
            <a:off x="2754474" y="1484670"/>
            <a:ext cx="832500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def</a:t>
            </a:r>
            <a:r>
              <a:rPr lang="pt-BR" sz="2400" dirty="0"/>
              <a:t> </a:t>
            </a:r>
            <a:r>
              <a:rPr lang="pt-BR" sz="2400" dirty="0" err="1"/>
              <a:t>escreverMedia</a:t>
            </a:r>
            <a:r>
              <a:rPr lang="pt-BR" sz="2400" dirty="0"/>
              <a:t> (</a:t>
            </a:r>
            <a:r>
              <a:rPr lang="pt-BR" sz="2400" dirty="0" err="1"/>
              <a:t>nomeArquivo</a:t>
            </a:r>
            <a:r>
              <a:rPr lang="pt-BR" sz="2400" dirty="0"/>
              <a:t>):</a:t>
            </a:r>
          </a:p>
          <a:p>
            <a:r>
              <a:rPr lang="pt-BR" sz="2400" dirty="0"/>
              <a:t>        arquivoNumeros  =  open(nomeArquivo)</a:t>
            </a:r>
          </a:p>
          <a:p>
            <a:r>
              <a:rPr lang="pt-BR" sz="2400" dirty="0"/>
              <a:t>        soma  =  0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qtdNumeros</a:t>
            </a:r>
            <a:r>
              <a:rPr lang="pt-BR" sz="2400" dirty="0"/>
              <a:t>  =  0</a:t>
            </a:r>
          </a:p>
          <a:p>
            <a:r>
              <a:rPr lang="pt-BR" sz="2400" dirty="0"/>
              <a:t>        num  =   </a:t>
            </a:r>
            <a:r>
              <a:rPr lang="pt-BR" sz="2400" dirty="0" err="1"/>
              <a:t>arquivoNumeros.readline</a:t>
            </a:r>
            <a:r>
              <a:rPr lang="pt-BR" sz="2400" dirty="0"/>
              <a:t>()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while</a:t>
            </a:r>
            <a:r>
              <a:rPr lang="pt-BR" sz="2400" dirty="0"/>
              <a:t> (num  !=  ""):</a:t>
            </a:r>
          </a:p>
          <a:p>
            <a:r>
              <a:rPr lang="pt-BR" sz="2400" dirty="0"/>
              <a:t>         |     num  =  float(num)</a:t>
            </a:r>
          </a:p>
          <a:p>
            <a:r>
              <a:rPr lang="pt-BR" sz="2400" dirty="0"/>
              <a:t>         |     soma  +=  num</a:t>
            </a:r>
          </a:p>
          <a:p>
            <a:r>
              <a:rPr lang="pt-BR" sz="2400" dirty="0"/>
              <a:t>         |     </a:t>
            </a:r>
            <a:r>
              <a:rPr lang="pt-BR" sz="2400" dirty="0" err="1"/>
              <a:t>qtdNumeros</a:t>
            </a:r>
            <a:r>
              <a:rPr lang="pt-BR" sz="2400" dirty="0"/>
              <a:t>  +=  1</a:t>
            </a:r>
          </a:p>
          <a:p>
            <a:r>
              <a:rPr lang="pt-BR" sz="2400" dirty="0"/>
              <a:t>         |     num  =   </a:t>
            </a:r>
            <a:r>
              <a:rPr lang="pt-BR" sz="2400" dirty="0" err="1"/>
              <a:t>arquivoNumeros.readline</a:t>
            </a:r>
            <a:r>
              <a:rPr lang="pt-BR" sz="2400" dirty="0"/>
              <a:t>()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arquivoNumeros.close</a:t>
            </a:r>
            <a:r>
              <a:rPr lang="pt-BR" sz="2400" dirty="0"/>
              <a:t>()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return</a:t>
            </a:r>
            <a:r>
              <a:rPr lang="pt-BR" sz="2400" dirty="0"/>
              <a:t>  soma  /  </a:t>
            </a:r>
            <a:r>
              <a:rPr lang="pt-BR" sz="2400" dirty="0" err="1"/>
              <a:t>qtdNumeros</a:t>
            </a:r>
            <a:endParaRPr lang="pt-BR" sz="2400" dirty="0"/>
          </a:p>
          <a:p>
            <a:r>
              <a:rPr lang="pt-BR" sz="2400" dirty="0"/>
              <a:t>print(</a:t>
            </a:r>
            <a:r>
              <a:rPr lang="pt-BR" sz="2400" dirty="0" err="1"/>
              <a:t>escreverMedia</a:t>
            </a:r>
            <a:r>
              <a:rPr lang="pt-BR" sz="2400" dirty="0"/>
              <a:t>('media.txt’))   </a:t>
            </a:r>
            <a:r>
              <a:rPr lang="pt-BR" sz="2400" b="1" dirty="0"/>
              <a:t># Prog. Principal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655F33E-EF97-DF2F-86CC-56D496FE33A1}"/>
              </a:ext>
            </a:extLst>
          </p:cNvPr>
          <p:cNvSpPr txBox="1"/>
          <p:nvPr/>
        </p:nvSpPr>
        <p:spPr>
          <a:xfrm>
            <a:off x="2772283" y="1827829"/>
            <a:ext cx="27571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326411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75C911-CFDF-911D-08E1-2BF8BFA9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32C3F6-5AEB-5B06-EA6B-20F0DB1CD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FDC6A0-AECA-225C-F85A-94BF7717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18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4077020-CA21-082D-86C3-8F83645A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i="1" dirty="0"/>
              <a:t>Detalhes do Comando de Abertura do Arquivo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4B9B52-54D3-6B32-BDA8-AD9080215CA5}"/>
              </a:ext>
            </a:extLst>
          </p:cNvPr>
          <p:cNvSpPr txBox="1"/>
          <p:nvPr/>
        </p:nvSpPr>
        <p:spPr>
          <a:xfrm>
            <a:off x="1078521" y="1617784"/>
            <a:ext cx="98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 err="1">
                <a:solidFill>
                  <a:srgbClr val="000000"/>
                </a:solidFill>
                <a:latin typeface="CIDFont+F2"/>
              </a:rPr>
              <a:t>varArquivo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 = open(</a:t>
            </a:r>
            <a:r>
              <a:rPr lang="pt-BR" sz="3200" b="0" i="0" u="none" strike="noStrike" baseline="0" dirty="0" err="1">
                <a:solidFill>
                  <a:srgbClr val="000000"/>
                </a:solidFill>
                <a:latin typeface="CIDFont+F2"/>
              </a:rPr>
              <a:t>nomeArquivoFísico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, 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2"/>
              </a:rPr>
              <a:t>modo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, </a:t>
            </a:r>
            <a:r>
              <a:rPr lang="pt-BR" sz="3200" b="0" i="0" u="none" strike="noStrike" baseline="0" dirty="0" err="1">
                <a:solidFill>
                  <a:srgbClr val="000000"/>
                </a:solidFill>
                <a:latin typeface="CIDFont+F2"/>
              </a:rPr>
              <a:t>buffering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)</a:t>
            </a:r>
            <a:endParaRPr lang="pt-BR" sz="3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28EC16-424F-F53E-DB7E-89C59BA99DBD}"/>
              </a:ext>
            </a:extLst>
          </p:cNvPr>
          <p:cNvSpPr txBox="1"/>
          <p:nvPr/>
        </p:nvSpPr>
        <p:spPr>
          <a:xfrm>
            <a:off x="1068594" y="2977662"/>
            <a:ext cx="96931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/>
              <a:t>Modo</a:t>
            </a:r>
          </a:p>
          <a:p>
            <a:pPr marL="801688" indent="-350838">
              <a:buFont typeface="Arial" panose="020B0604020202020204" pitchFamily="34" charset="0"/>
              <a:buChar char="•"/>
            </a:pPr>
            <a:r>
              <a:rPr lang="pt-BR" sz="2800" dirty="0"/>
              <a:t>r: leitura (default) – o arquivo deve existir</a:t>
            </a:r>
          </a:p>
          <a:p>
            <a:pPr marL="801688" indent="-350838">
              <a:buFont typeface="Arial" panose="020B0604020202020204" pitchFamily="34" charset="0"/>
              <a:buChar char="•"/>
            </a:pPr>
            <a:r>
              <a:rPr lang="pt-BR" sz="2800" dirty="0"/>
              <a:t>w: escrita – conteúdo existente no arquivo será apagado</a:t>
            </a:r>
          </a:p>
          <a:p>
            <a:pPr marL="801688" indent="-350838">
              <a:buFont typeface="Arial" panose="020B0604020202020204" pitchFamily="34" charset="0"/>
              <a:buChar char="•"/>
            </a:pPr>
            <a:r>
              <a:rPr lang="pt-BR" sz="2800" dirty="0"/>
              <a:t>a: escrita a partir do final do arquivo (</a:t>
            </a:r>
            <a:r>
              <a:rPr lang="pt-BR" sz="2800" dirty="0" err="1"/>
              <a:t>append</a:t>
            </a:r>
            <a:r>
              <a:rPr lang="pt-BR" sz="2800" dirty="0"/>
              <a:t>)</a:t>
            </a:r>
          </a:p>
          <a:p>
            <a:pPr marL="801688" indent="-350838">
              <a:buFont typeface="Arial" panose="020B0604020202020204" pitchFamily="34" charset="0"/>
              <a:buChar char="•"/>
            </a:pPr>
            <a:r>
              <a:rPr lang="pt-BR" sz="2800" dirty="0"/>
              <a:t>+: (usando com r) indica leitura e escrita</a:t>
            </a:r>
          </a:p>
        </p:txBody>
      </p:sp>
    </p:spTree>
    <p:extLst>
      <p:ext uri="{BB962C8B-B14F-4D97-AF65-F5344CB8AC3E}">
        <p14:creationId xmlns:p14="http://schemas.microsoft.com/office/powerpoint/2010/main" val="148894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75C911-CFDF-911D-08E1-2BF8BFA9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32C3F6-5AEB-5B06-EA6B-20F0DB1CD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FDC6A0-AECA-225C-F85A-94BF7717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19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4077020-CA21-082D-86C3-8F83645A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i="1" dirty="0"/>
              <a:t>Detalhes do Comando de Abertura do Arquivo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4B9B52-54D3-6B32-BDA8-AD9080215CA5}"/>
              </a:ext>
            </a:extLst>
          </p:cNvPr>
          <p:cNvSpPr txBox="1"/>
          <p:nvPr/>
        </p:nvSpPr>
        <p:spPr>
          <a:xfrm>
            <a:off x="1078521" y="1617784"/>
            <a:ext cx="98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 err="1">
                <a:solidFill>
                  <a:srgbClr val="000000"/>
                </a:solidFill>
                <a:latin typeface="CIDFont+F2"/>
              </a:rPr>
              <a:t>varArquivo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 = open(</a:t>
            </a:r>
            <a:r>
              <a:rPr lang="pt-BR" sz="3200" b="0" i="0" u="none" strike="noStrike" baseline="0" dirty="0" err="1">
                <a:solidFill>
                  <a:srgbClr val="000000"/>
                </a:solidFill>
                <a:latin typeface="CIDFont+F2"/>
              </a:rPr>
              <a:t>nomeArquivoFísico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, </a:t>
            </a:r>
            <a:r>
              <a:rPr lang="pt-BR" sz="3200" i="0" u="none" strike="noStrike" baseline="0" dirty="0">
                <a:latin typeface="CIDFont+F2"/>
              </a:rPr>
              <a:t>modo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, </a:t>
            </a:r>
            <a:r>
              <a:rPr lang="pt-BR" sz="3200" b="0" i="0" u="none" strike="noStrike" baseline="0" dirty="0" err="1">
                <a:solidFill>
                  <a:srgbClr val="0070C0"/>
                </a:solidFill>
                <a:latin typeface="CIDFont+F2"/>
              </a:rPr>
              <a:t>buffering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)</a:t>
            </a:r>
            <a:endParaRPr lang="pt-BR" sz="3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28EC16-424F-F53E-DB7E-89C59BA99DBD}"/>
              </a:ext>
            </a:extLst>
          </p:cNvPr>
          <p:cNvSpPr txBox="1"/>
          <p:nvPr/>
        </p:nvSpPr>
        <p:spPr>
          <a:xfrm>
            <a:off x="1068594" y="2789772"/>
            <a:ext cx="107989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 err="1"/>
              <a:t>Buffering</a:t>
            </a:r>
            <a:r>
              <a:rPr lang="pt-BR" sz="2800" dirty="0"/>
              <a:t> (opcional)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pt-BR" sz="2800" dirty="0"/>
              <a:t>Indica se memória (buffer) é usada para acelerar operações de entrada e saída</a:t>
            </a:r>
          </a:p>
          <a:p>
            <a:pPr marL="1252538" indent="-261938">
              <a:buFont typeface="Arial" panose="020B0604020202020204" pitchFamily="34" charset="0"/>
              <a:buChar char="•"/>
            </a:pPr>
            <a:r>
              <a:rPr lang="pt-BR" sz="2800" dirty="0"/>
              <a:t>0: buffers não são usados</a:t>
            </a:r>
          </a:p>
          <a:p>
            <a:pPr marL="1249363" lvl="8" indent="-260350">
              <a:buFont typeface="Arial" panose="020B0604020202020204" pitchFamily="34" charset="0"/>
              <a:buChar char="•"/>
              <a:tabLst>
                <a:tab pos="1249363" algn="l"/>
              </a:tabLst>
            </a:pPr>
            <a:r>
              <a:rPr lang="pt-BR" sz="2800" dirty="0"/>
              <a:t>1 (ou </a:t>
            </a:r>
            <a:r>
              <a:rPr lang="pt-BR" sz="2800" dirty="0" err="1"/>
              <a:t>qq</a:t>
            </a:r>
            <a:r>
              <a:rPr lang="pt-BR" sz="2800" dirty="0"/>
              <a:t> número negativo): um buffer de tamanho padrão  é usado (default)</a:t>
            </a:r>
          </a:p>
          <a:p>
            <a:pPr marL="1252538" indent="-261938">
              <a:buFont typeface="Arial" panose="020B0604020202020204" pitchFamily="34" charset="0"/>
              <a:buChar char="•"/>
            </a:pPr>
            <a:r>
              <a:rPr lang="pt-BR" sz="2800" dirty="0"/>
              <a:t>2 ou maior : tamanho do buffer em bytes</a:t>
            </a:r>
          </a:p>
        </p:txBody>
      </p:sp>
    </p:spTree>
    <p:extLst>
      <p:ext uri="{BB962C8B-B14F-4D97-AF65-F5344CB8AC3E}">
        <p14:creationId xmlns:p14="http://schemas.microsoft.com/office/powerpoint/2010/main" val="2032141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8AE8D4D-C833-A146-DBA7-84968D8D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E321D9-6DC9-4605-3A10-393F8BD4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C9DD1F-07BB-98DF-F8C7-8DD4C841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20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B298153-49AF-D020-FF06-66AAE5D41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Como funciona um buffer 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6662BBE-4A37-2A04-77D3-5812AFDE2A75}"/>
              </a:ext>
            </a:extLst>
          </p:cNvPr>
          <p:cNvSpPr/>
          <p:nvPr/>
        </p:nvSpPr>
        <p:spPr>
          <a:xfrm>
            <a:off x="1296572" y="2293405"/>
            <a:ext cx="9031459" cy="14771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26C5F1B-E94A-5037-9824-1C3FE91B0CAB}"/>
              </a:ext>
            </a:extLst>
          </p:cNvPr>
          <p:cNvSpPr txBox="1"/>
          <p:nvPr/>
        </p:nvSpPr>
        <p:spPr>
          <a:xfrm>
            <a:off x="1711569" y="2414954"/>
            <a:ext cx="1430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</a:rPr>
              <a:t>Buffer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3A51B20-115F-6049-BF0B-4D9CBD604D21}"/>
              </a:ext>
            </a:extLst>
          </p:cNvPr>
          <p:cNvSpPr txBox="1"/>
          <p:nvPr/>
        </p:nvSpPr>
        <p:spPr>
          <a:xfrm>
            <a:off x="6936533" y="3206376"/>
            <a:ext cx="3259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</a:rPr>
              <a:t>Memória de Dados</a:t>
            </a:r>
            <a:endParaRPr lang="pt-BR" dirty="0"/>
          </a:p>
        </p:txBody>
      </p:sp>
      <p:sp>
        <p:nvSpPr>
          <p:cNvPr id="9" name="Cubo 8">
            <a:extLst>
              <a:ext uri="{FF2B5EF4-FFF2-40B4-BE49-F238E27FC236}">
                <a16:creationId xmlns:a16="http://schemas.microsoft.com/office/drawing/2014/main" id="{1681F4CB-4647-410C-0D4F-2859732D364F}"/>
              </a:ext>
            </a:extLst>
          </p:cNvPr>
          <p:cNvSpPr/>
          <p:nvPr/>
        </p:nvSpPr>
        <p:spPr>
          <a:xfrm>
            <a:off x="7555809" y="4255476"/>
            <a:ext cx="2379785" cy="1477108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Programa</a:t>
            </a:r>
          </a:p>
        </p:txBody>
      </p:sp>
      <p:sp>
        <p:nvSpPr>
          <p:cNvPr id="10" name="Cilindro 9">
            <a:extLst>
              <a:ext uri="{FF2B5EF4-FFF2-40B4-BE49-F238E27FC236}">
                <a16:creationId xmlns:a16="http://schemas.microsoft.com/office/drawing/2014/main" id="{3CEC5548-F70C-B264-3D81-F4B85D5DCCA0}"/>
              </a:ext>
            </a:extLst>
          </p:cNvPr>
          <p:cNvSpPr/>
          <p:nvPr/>
        </p:nvSpPr>
        <p:spPr>
          <a:xfrm>
            <a:off x="1832106" y="4079629"/>
            <a:ext cx="1987348" cy="182880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Arquivo</a:t>
            </a:r>
          </a:p>
        </p:txBody>
      </p:sp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854771C2-8DCB-EE93-8573-A5C5252113E8}"/>
              </a:ext>
            </a:extLst>
          </p:cNvPr>
          <p:cNvCxnSpPr>
            <a:cxnSpLocks/>
          </p:cNvCxnSpPr>
          <p:nvPr/>
        </p:nvCxnSpPr>
        <p:spPr>
          <a:xfrm rot="16200000" flipV="1">
            <a:off x="1469531" y="3474176"/>
            <a:ext cx="1493149" cy="421145"/>
          </a:xfrm>
          <a:prstGeom prst="curvedConnector3">
            <a:avLst>
              <a:gd name="adj1" fmla="val 52112"/>
            </a:avLst>
          </a:prstGeom>
          <a:ln w="412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Curvo 22">
            <a:extLst>
              <a:ext uri="{FF2B5EF4-FFF2-40B4-BE49-F238E27FC236}">
                <a16:creationId xmlns:a16="http://schemas.microsoft.com/office/drawing/2014/main" id="{8CB2A87C-22A3-D202-FF38-D9EA14CA520D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3966102" y="1398749"/>
            <a:ext cx="2249288" cy="5328138"/>
          </a:xfrm>
          <a:prstGeom prst="curvedConnector2">
            <a:avLst/>
          </a:prstGeom>
          <a:ln w="412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C735605-9F15-9DF9-18D9-2C77B3C8A11D}"/>
              </a:ext>
            </a:extLst>
          </p:cNvPr>
          <p:cNvSpPr txBox="1"/>
          <p:nvPr/>
        </p:nvSpPr>
        <p:spPr>
          <a:xfrm>
            <a:off x="5063067" y="3770513"/>
            <a:ext cx="1099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read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188711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507B509-9795-7682-3A46-E5ABD3DE6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85ADEC5-BB2E-B715-E5B7-3684958FB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773843-C7DC-BC3F-D87B-5D3756477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21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4F4BD23-8704-8AEA-28B8-62C0F2E49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Detalhes do Comando de Escrita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59E1020-BDE0-782D-9A91-B8299141D193}"/>
              </a:ext>
            </a:extLst>
          </p:cNvPr>
          <p:cNvSpPr txBox="1"/>
          <p:nvPr/>
        </p:nvSpPr>
        <p:spPr>
          <a:xfrm>
            <a:off x="844061" y="1613920"/>
            <a:ext cx="10658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3538" indent="-363538" algn="l"/>
            <a:r>
              <a:rPr lang="pt-BR" sz="3600" b="0" i="0" u="none" strike="noStrike" baseline="0" dirty="0">
                <a:latin typeface="CIDFont+F3"/>
              </a:rPr>
              <a:t>• </a:t>
            </a:r>
            <a:r>
              <a:rPr lang="pt-BR" sz="3200" b="0" i="0" u="none" strike="noStrike" baseline="0" dirty="0">
                <a:latin typeface="CIDFont+F3"/>
              </a:rPr>
              <a:t>Necessário que o arquivo </a:t>
            </a:r>
            <a:r>
              <a:rPr lang="pt-BR" sz="3200" b="0" i="0" u="none" strike="noStrike" baseline="0" dirty="0">
                <a:latin typeface="CIDFont+F4"/>
              </a:rPr>
              <a:t>não </a:t>
            </a:r>
            <a:r>
              <a:rPr lang="pt-BR" sz="3200" b="0" i="0" u="none" strike="noStrike" baseline="0" dirty="0">
                <a:latin typeface="CIDFont+F3"/>
              </a:rPr>
              <a:t>tenha sido aberto em modo </a:t>
            </a:r>
            <a:r>
              <a:rPr lang="pt-BR" sz="3200" b="0" i="0" u="none" strike="noStrike" baseline="0" dirty="0">
                <a:latin typeface="CIDFont+F4"/>
              </a:rPr>
              <a:t>r</a:t>
            </a:r>
            <a:endParaRPr lang="pt-BR" sz="3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CFC7FC-34FA-5C2C-6C78-B8D59BB5EEB8}"/>
              </a:ext>
            </a:extLst>
          </p:cNvPr>
          <p:cNvSpPr txBox="1"/>
          <p:nvPr/>
        </p:nvSpPr>
        <p:spPr>
          <a:xfrm>
            <a:off x="844061" y="2526151"/>
            <a:ext cx="1065812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3"/>
              </a:rPr>
              <a:t>varArquivo.write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(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3"/>
              </a:rPr>
              <a:t>string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)</a:t>
            </a:r>
          </a:p>
          <a:p>
            <a:pPr algn="l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Escreve a </a:t>
            </a:r>
            <a:r>
              <a:rPr lang="pt-BR" sz="3200" b="0" i="0" u="none" strike="noStrike" baseline="0" dirty="0" err="1">
                <a:solidFill>
                  <a:srgbClr val="000000"/>
                </a:solidFill>
                <a:latin typeface="CIDFont+F3"/>
              </a:rPr>
              <a:t>string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 no arquivo</a:t>
            </a:r>
          </a:p>
          <a:p>
            <a:pPr marL="360363" indent="-360363" algn="l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Devido ao uso de buffers, a escrita pode não ser feita imediatamente</a:t>
            </a:r>
          </a:p>
          <a:p>
            <a:pPr marL="360363" indent="-360363" algn="l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Use o comando flush() ou close() para assegurar a escrita física no arquivo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806964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AC72B3-A14C-F719-BB8A-E86756C2D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789959-0576-54BA-4B51-292C9D75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A7EA2A-B94F-DC60-BEA8-D46F98C02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22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F619892-F6DA-A285-99DE-E5596057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Detalhes do Comando de Escrita</a:t>
            </a:r>
            <a:endParaRPr lang="pt-BR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A5D7474-3D0E-FED3-A6C1-97445D264246}"/>
              </a:ext>
            </a:extLst>
          </p:cNvPr>
          <p:cNvSpPr txBox="1"/>
          <p:nvPr/>
        </p:nvSpPr>
        <p:spPr>
          <a:xfrm>
            <a:off x="818146" y="1577742"/>
            <a:ext cx="10684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3200" b="0" i="0" u="none" strike="noStrike" baseline="0" dirty="0">
                <a:latin typeface="CIDFont+F3"/>
              </a:rPr>
              <a:t>• Necessário que o arquivo </a:t>
            </a:r>
            <a:r>
              <a:rPr lang="pt-BR" sz="3200" b="1" i="0" u="none" strike="noStrike" baseline="0" dirty="0">
                <a:latin typeface="CIDFont+F4"/>
              </a:rPr>
              <a:t>não</a:t>
            </a:r>
            <a:r>
              <a:rPr lang="pt-BR" sz="3200" b="0" i="0" u="none" strike="noStrike" baseline="0" dirty="0">
                <a:latin typeface="CIDFont+F4"/>
              </a:rPr>
              <a:t> </a:t>
            </a:r>
            <a:r>
              <a:rPr lang="pt-BR" sz="3200" b="0" i="0" u="none" strike="noStrike" baseline="0" dirty="0">
                <a:latin typeface="CIDFont+F3"/>
              </a:rPr>
              <a:t>tenha sido aberto em modo </a:t>
            </a:r>
            <a:r>
              <a:rPr lang="pt-BR" sz="3200" b="0" i="0" u="none" strike="noStrike" baseline="0" dirty="0">
                <a:latin typeface="CIDFont+F4"/>
              </a:rPr>
              <a:t>r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A324CD-950F-834E-2D45-F67347D33A1B}"/>
              </a:ext>
            </a:extLst>
          </p:cNvPr>
          <p:cNvSpPr txBox="1"/>
          <p:nvPr/>
        </p:nvSpPr>
        <p:spPr>
          <a:xfrm>
            <a:off x="818145" y="2361704"/>
            <a:ext cx="1104938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3"/>
              </a:rPr>
              <a:t>varArquivo.writelines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(sequência)</a:t>
            </a:r>
          </a:p>
          <a:p>
            <a:pPr algn="l"/>
            <a:endParaRPr lang="pt-BR" sz="3200" b="0" i="0" u="none" strike="noStrike" baseline="0" dirty="0">
              <a:solidFill>
                <a:srgbClr val="4472C5"/>
              </a:solidFill>
              <a:latin typeface="CIDFont+F3"/>
            </a:endParaRPr>
          </a:p>
          <a:p>
            <a:pPr marL="360363" indent="-360363" algn="l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Escreve a lista (ou qualquer sequência) de strings no arquivo, uma por uma</a:t>
            </a:r>
          </a:p>
          <a:p>
            <a:pPr marL="360363" indent="-360363" algn="l"/>
            <a:endParaRPr lang="pt-BR" sz="32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algn="l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Caracteres de final de linha não são acrescentados no arquivo</a:t>
            </a:r>
          </a:p>
          <a:p>
            <a:pPr algn="l"/>
            <a:endParaRPr lang="pt-BR" sz="32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algn="l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Fica tudo numa única linha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897768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2E0D2C-9920-F073-8B82-F67D60BA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947C3E-A5FE-3594-9BC9-7D691837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C34135-754C-F463-C9F4-6E27383F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23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7700C2B-FCF3-5D51-7E99-EF642215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Detalhes do Comando de Escrita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4DB541-6EC3-23C4-C10C-36D28C2A5B18}"/>
              </a:ext>
            </a:extLst>
          </p:cNvPr>
          <p:cNvSpPr txBox="1"/>
          <p:nvPr/>
        </p:nvSpPr>
        <p:spPr>
          <a:xfrm>
            <a:off x="529389" y="1423411"/>
            <a:ext cx="1133814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363" indent="-360363" algn="l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CIDFont+F3"/>
              </a:rPr>
              <a:t>Necessário que o arquivo tenha sido aberto em modo leitura ou leitura/escrita</a:t>
            </a:r>
          </a:p>
          <a:p>
            <a:pPr marL="360363" indent="-360363" algn="l"/>
            <a:endParaRPr lang="pt-BR" sz="32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3"/>
              </a:rPr>
              <a:t>varString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 = 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3"/>
              </a:rPr>
              <a:t>varArquivo.readline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()</a:t>
            </a:r>
          </a:p>
          <a:p>
            <a:pPr marL="263525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Lê uma linha do arquivo e a retorna como strings</a:t>
            </a: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3"/>
              </a:rPr>
              <a:t>varListaString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 = 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3"/>
              </a:rPr>
              <a:t>varArquivo.readlines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()</a:t>
            </a:r>
          </a:p>
          <a:p>
            <a:pPr marL="625475" indent="-265113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Lê o arquivo do ponto atual até o final, e retorna o conteúdo em uma lista de strings</a:t>
            </a:r>
          </a:p>
          <a:p>
            <a:pPr marL="360363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Cada linha do arquivo é guardada em uma posição da lista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44788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2E0D2C-9920-F073-8B82-F67D60BA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947C3E-A5FE-3594-9BC9-7D691837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C34135-754C-F463-C9F4-6E27383F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24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7700C2B-FCF3-5D51-7E99-EF642215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Detalhes do Comando de Escrita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4DB541-6EC3-23C4-C10C-36D28C2A5B18}"/>
              </a:ext>
            </a:extLst>
          </p:cNvPr>
          <p:cNvSpPr txBox="1"/>
          <p:nvPr/>
        </p:nvSpPr>
        <p:spPr>
          <a:xfrm>
            <a:off x="529389" y="1423411"/>
            <a:ext cx="11338145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363" indent="-360363" algn="l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CIDFont+F3"/>
              </a:rPr>
              <a:t>Necessário que o arquivo tenha sido aberto em modo leitura ou leitura/escrita</a:t>
            </a:r>
          </a:p>
          <a:p>
            <a:pPr marL="360363" indent="-360363" algn="l"/>
            <a:endParaRPr lang="pt-BR" sz="32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3"/>
              </a:rPr>
              <a:t>varString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 = 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3"/>
              </a:rPr>
              <a:t>varArquivo.readline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(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3"/>
              </a:rPr>
              <a:t>numBytes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)</a:t>
            </a:r>
          </a:p>
          <a:p>
            <a:pPr marL="720725" indent="-457200" algn="l">
              <a:buFont typeface="Arial" panose="020B0604020202020204" pitchFamily="34" charset="0"/>
              <a:buChar char="•"/>
            </a:pPr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Lê </a:t>
            </a:r>
            <a:r>
              <a:rPr lang="pt-BR" sz="2800" b="1" i="0" u="none" strike="noStrike" baseline="0" dirty="0" err="1">
                <a:solidFill>
                  <a:srgbClr val="000000"/>
                </a:solidFill>
                <a:latin typeface="CIDFont+F3"/>
              </a:rPr>
              <a:t>numBytes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 do arquivo e os retorna em uma strings</a:t>
            </a:r>
          </a:p>
          <a:p>
            <a:pPr marL="633413" indent="-369888" algn="l">
              <a:buFont typeface="Arial" panose="020B0604020202020204" pitchFamily="34" charset="0"/>
              <a:buChar char="•"/>
            </a:pPr>
            <a:endParaRPr lang="pt-BR" sz="28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marL="720725" indent="-457200" algn="l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CIDFont+F3"/>
              </a:rPr>
              <a:t>Se </a:t>
            </a:r>
            <a:r>
              <a:rPr lang="pt-BR" sz="2800" b="1" dirty="0" err="1">
                <a:solidFill>
                  <a:srgbClr val="000000"/>
                </a:solidFill>
                <a:latin typeface="CIDFont+F3"/>
              </a:rPr>
              <a:t>numBytes</a:t>
            </a:r>
            <a:r>
              <a:rPr lang="pt-BR" sz="2800" dirty="0">
                <a:solidFill>
                  <a:srgbClr val="000000"/>
                </a:solidFill>
                <a:latin typeface="CIDFont+F3"/>
              </a:rPr>
              <a:t> não for especifico, todos os bytes, desde o ponto atual do arquivo até o final do arquivo são retornados</a:t>
            </a:r>
            <a:endParaRPr lang="pt-BR" sz="28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pt-BR" sz="28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algn="l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986013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AC85C5-62DC-35C3-5473-7D4C1CCE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F9268C-04C6-0EC6-7F0D-EADBA27A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Cap11.Exem07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93E77E-BB4E-C48B-8BE1-97C5BE34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1346" y="6310312"/>
            <a:ext cx="87336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25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3B96DF4-4E7C-C7C1-108B-6BF63BB4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Copiando dois Arquivos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302B2E2-E60E-9C84-095A-E8AFD09C2BA6}"/>
              </a:ext>
            </a:extLst>
          </p:cNvPr>
          <p:cNvSpPr txBox="1"/>
          <p:nvPr/>
        </p:nvSpPr>
        <p:spPr>
          <a:xfrm>
            <a:off x="838200" y="1481266"/>
            <a:ext cx="10683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Exemplo 7</a:t>
            </a:r>
            <a:r>
              <a:rPr lang="pt-BR" sz="3600" dirty="0"/>
              <a:t>:                                              </a:t>
            </a:r>
            <a:r>
              <a:rPr lang="pt-BR" sz="3600" b="1" dirty="0"/>
              <a:t>Exemplo 7ª: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F41080B-AD6B-C8B8-DEFD-CB806B9B4FD8}"/>
              </a:ext>
            </a:extLst>
          </p:cNvPr>
          <p:cNvSpPr txBox="1"/>
          <p:nvPr/>
        </p:nvSpPr>
        <p:spPr>
          <a:xfrm>
            <a:off x="1" y="1990526"/>
            <a:ext cx="73304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def</a:t>
            </a:r>
            <a:r>
              <a:rPr lang="pt-BR" sz="2800" dirty="0"/>
              <a:t> </a:t>
            </a:r>
            <a:r>
              <a:rPr lang="pt-BR" sz="2800" dirty="0" err="1"/>
              <a:t>copiaArquivo</a:t>
            </a:r>
            <a:r>
              <a:rPr lang="pt-BR" sz="2800" dirty="0"/>
              <a:t> (</a:t>
            </a:r>
            <a:r>
              <a:rPr lang="pt-BR" sz="2800" dirty="0" err="1"/>
              <a:t>velhoArquivo</a:t>
            </a:r>
            <a:r>
              <a:rPr lang="pt-BR" sz="2800" dirty="0"/>
              <a:t>, </a:t>
            </a:r>
            <a:r>
              <a:rPr lang="pt-BR" sz="2800" dirty="0" err="1"/>
              <a:t>novoArquivo</a:t>
            </a:r>
            <a:r>
              <a:rPr lang="pt-BR" sz="2800" dirty="0"/>
              <a:t>):</a:t>
            </a:r>
          </a:p>
          <a:p>
            <a:r>
              <a:rPr lang="pt-BR" sz="2800" dirty="0"/>
              <a:t>       f1  =  open(</a:t>
            </a:r>
            <a:r>
              <a:rPr lang="pt-BR" sz="2800" dirty="0" err="1"/>
              <a:t>velhoArquivo</a:t>
            </a:r>
            <a:r>
              <a:rPr lang="pt-BR" sz="2800" dirty="0"/>
              <a:t>,  "r")</a:t>
            </a:r>
          </a:p>
          <a:p>
            <a:r>
              <a:rPr lang="pt-BR" sz="2800" dirty="0"/>
              <a:t>       f2  =  open(</a:t>
            </a:r>
            <a:r>
              <a:rPr lang="pt-BR" sz="2800" dirty="0" err="1"/>
              <a:t>novoArquivo</a:t>
            </a:r>
            <a:r>
              <a:rPr lang="pt-BR" sz="2800" dirty="0"/>
              <a:t>,  "w")</a:t>
            </a:r>
          </a:p>
          <a:p>
            <a:r>
              <a:rPr lang="pt-BR" sz="2800" dirty="0"/>
              <a:t>       for  texto  in  f1:</a:t>
            </a:r>
          </a:p>
          <a:p>
            <a:r>
              <a:rPr lang="pt-BR" sz="2800" dirty="0"/>
              <a:t>              f2.write (texto)</a:t>
            </a:r>
          </a:p>
          <a:p>
            <a:r>
              <a:rPr lang="pt-BR" sz="2800" dirty="0"/>
              <a:t>       f1.close()</a:t>
            </a:r>
          </a:p>
          <a:p>
            <a:r>
              <a:rPr lang="pt-BR" sz="2800" dirty="0"/>
              <a:t>       f2.close()</a:t>
            </a:r>
          </a:p>
          <a:p>
            <a:endParaRPr lang="pt-BR" sz="2800" dirty="0"/>
          </a:p>
          <a:p>
            <a:r>
              <a:rPr lang="pt-BR" sz="2800" dirty="0" err="1"/>
              <a:t>copiaArquivo</a:t>
            </a:r>
            <a:r>
              <a:rPr lang="pt-BR" sz="2800" dirty="0"/>
              <a:t>("velho.txt",  "novo.txt")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990177-2F2E-3F23-8D79-A23E22F5225A}"/>
              </a:ext>
            </a:extLst>
          </p:cNvPr>
          <p:cNvSpPr txBox="1"/>
          <p:nvPr/>
        </p:nvSpPr>
        <p:spPr>
          <a:xfrm>
            <a:off x="894246" y="2703016"/>
            <a:ext cx="2757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  <a:p>
            <a:r>
              <a:rPr lang="pt-BR" sz="2400" dirty="0"/>
              <a:t>|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4A3485B-BEAD-B10B-816A-1BAAF8A31745}"/>
              </a:ext>
            </a:extLst>
          </p:cNvPr>
          <p:cNvSpPr txBox="1"/>
          <p:nvPr/>
        </p:nvSpPr>
        <p:spPr>
          <a:xfrm>
            <a:off x="7147559" y="2438400"/>
            <a:ext cx="504444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06563" indent="-1706563"/>
            <a:r>
              <a:rPr lang="pt-BR" sz="2800" dirty="0"/>
              <a:t>with open (</a:t>
            </a:r>
            <a:r>
              <a:rPr lang="pt-BR" sz="2800" dirty="0" err="1"/>
              <a:t>velhoArquivo</a:t>
            </a:r>
            <a:r>
              <a:rPr lang="pt-BR" sz="2800" dirty="0"/>
              <a:t>)  as f1 </a:t>
            </a:r>
          </a:p>
          <a:p>
            <a:pPr marL="1706563" indent="-1706563"/>
            <a:r>
              <a:rPr lang="pt-BR" sz="2800" dirty="0"/>
              <a:t>with open (</a:t>
            </a:r>
            <a:r>
              <a:rPr lang="pt-BR" sz="2800" dirty="0" err="1"/>
              <a:t>novoArquivo</a:t>
            </a:r>
            <a:r>
              <a:rPr lang="pt-BR" sz="2800" dirty="0"/>
              <a:t>)  as f2</a:t>
            </a:r>
          </a:p>
          <a:p>
            <a:r>
              <a:rPr lang="pt-BR" sz="2800" dirty="0"/>
              <a:t>for  texto  in  f1:</a:t>
            </a:r>
          </a:p>
          <a:p>
            <a:r>
              <a:rPr lang="pt-BR" sz="2800" dirty="0"/>
              <a:t>       f2.write (texto)</a:t>
            </a:r>
          </a:p>
          <a:p>
            <a:endParaRPr lang="pt-BR" sz="2800" dirty="0"/>
          </a:p>
          <a:p>
            <a:pPr marL="2239963" indent="-2239963"/>
            <a:r>
              <a:rPr lang="pt-BR" sz="2800" dirty="0" err="1"/>
              <a:t>copiaArquivo</a:t>
            </a:r>
            <a:r>
              <a:rPr lang="pt-BR" sz="2800" dirty="0"/>
              <a:t>("velho.txt",  "novo.txt")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0922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A8C39D1-2B17-D512-AEDA-FE8BF4CF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135898-EF54-9506-9284-6FAB1278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Cap11.Exem08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DA025A-5070-46A5-D101-8F7F7307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26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8A650BD-828D-9362-BA89-DEBCBB4BF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Arquivos Texto: Sempre </a:t>
            </a:r>
            <a:r>
              <a:rPr lang="pt-BR" b="1" i="1" dirty="0" err="1"/>
              <a:t>String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CD37EDD-A98A-9F3E-B063-B5BDDBFFBD87}"/>
              </a:ext>
            </a:extLst>
          </p:cNvPr>
          <p:cNvSpPr txBox="1"/>
          <p:nvPr/>
        </p:nvSpPr>
        <p:spPr>
          <a:xfrm>
            <a:off x="370840" y="1428452"/>
            <a:ext cx="76877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 algn="l"/>
            <a:r>
              <a:rPr lang="pt-BR" sz="3200" b="1" i="0" u="none" strike="noStrike" baseline="0" dirty="0">
                <a:latin typeface="CIDFont+F3"/>
              </a:rPr>
              <a:t>Exemplo 8:</a:t>
            </a:r>
          </a:p>
          <a:p>
            <a:pPr marL="274638" indent="-274638" algn="l"/>
            <a:endParaRPr lang="pt-BR" sz="3200" b="1" i="0" u="none" strike="noStrike" baseline="0" dirty="0">
              <a:latin typeface="CIDFont+F3"/>
            </a:endParaRPr>
          </a:p>
          <a:p>
            <a:pPr marL="274638" indent="-274638" algn="l"/>
            <a:r>
              <a:rPr lang="pt-BR" sz="3200" b="0" i="0" u="none" strike="noStrike" baseline="0" dirty="0">
                <a:latin typeface="CIDFont+F3"/>
              </a:rPr>
              <a:t>• Para inserir valores em um arquivo, primeiro é necessário convertê-los para strings</a:t>
            </a:r>
          </a:p>
          <a:p>
            <a:pPr marL="274638" indent="-274638" algn="l"/>
            <a:endParaRPr lang="pt-BR" sz="3200" b="0" i="0" u="none" strike="noStrike" baseline="0" dirty="0">
              <a:latin typeface="CIDFont+F3"/>
            </a:endParaRPr>
          </a:p>
          <a:p>
            <a:pPr marL="274638" indent="-274638" algn="l"/>
            <a:r>
              <a:rPr lang="pt-BR" sz="3200" b="0" i="0" u="none" strike="noStrike" baseline="0" dirty="0">
                <a:latin typeface="CIDFont+F3"/>
              </a:rPr>
              <a:t>• Quando você lê esses valores de volta, você obtém uma </a:t>
            </a:r>
            <a:r>
              <a:rPr lang="pt-BR" sz="3200" b="0" i="0" u="none" strike="noStrike" baseline="0" dirty="0" err="1">
                <a:latin typeface="CIDFont+F3"/>
              </a:rPr>
              <a:t>string</a:t>
            </a:r>
            <a:r>
              <a:rPr lang="pt-BR" sz="3200" b="0" i="0" u="none" strike="noStrike" baseline="0" dirty="0">
                <a:latin typeface="CIDFont+F3"/>
              </a:rPr>
              <a:t>. O tipo original do dado foi perdido...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ED9530-F636-463E-FF52-AC52FF64DCBE}"/>
              </a:ext>
            </a:extLst>
          </p:cNvPr>
          <p:cNvSpPr txBox="1"/>
          <p:nvPr/>
        </p:nvSpPr>
        <p:spPr>
          <a:xfrm>
            <a:off x="9429977" y="5309885"/>
            <a:ext cx="1429173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sz="2400" b="1" i="0" u="none" strike="noStrike" baseline="0" dirty="0">
                <a:latin typeface="CIDFont+F5"/>
              </a:rPr>
              <a:t>’12.3</a:t>
            </a:r>
          </a:p>
          <a:p>
            <a:r>
              <a:rPr lang="pt-BR" sz="2400" b="1" i="0" u="none" strike="noStrike" baseline="0" dirty="0">
                <a:latin typeface="CIDFont+F5"/>
              </a:rPr>
              <a:t>[1, 2, 3]’</a:t>
            </a:r>
            <a:endParaRPr lang="pt-BR" sz="2400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C5DC0DB-EE1E-AA97-BC8C-C1AD3F674776}"/>
              </a:ext>
            </a:extLst>
          </p:cNvPr>
          <p:cNvSpPr txBox="1"/>
          <p:nvPr/>
        </p:nvSpPr>
        <p:spPr>
          <a:xfrm>
            <a:off x="8336280" y="2416761"/>
            <a:ext cx="36165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638" indent="-274638"/>
            <a:r>
              <a:rPr lang="pt-BR" sz="2800" b="0" i="0" u="none" strike="noStrike" baseline="0" dirty="0" err="1">
                <a:latin typeface="CIDFont+F3"/>
              </a:rPr>
              <a:t>arq</a:t>
            </a:r>
            <a:r>
              <a:rPr lang="pt-BR" sz="2800" b="0" i="0" u="none" strike="noStrike" baseline="0" dirty="0">
                <a:latin typeface="CIDFont+F3"/>
              </a:rPr>
              <a:t> = 'teste.txt'</a:t>
            </a:r>
          </a:p>
          <a:p>
            <a:pPr marL="274638" indent="-274638"/>
            <a:r>
              <a:rPr lang="pt-BR" sz="2800" b="0" i="0" u="none" strike="noStrike" baseline="0" dirty="0">
                <a:latin typeface="CIDFont+F3"/>
              </a:rPr>
              <a:t>f2  =  open(</a:t>
            </a:r>
            <a:r>
              <a:rPr lang="pt-BR" sz="2800" b="0" i="0" u="none" strike="noStrike" baseline="0" dirty="0" err="1">
                <a:latin typeface="CIDFont+F3"/>
              </a:rPr>
              <a:t>arq</a:t>
            </a:r>
            <a:r>
              <a:rPr lang="pt-BR" sz="2800" b="0" i="0" u="none" strike="noStrike" baseline="0" dirty="0">
                <a:latin typeface="CIDFont+F3"/>
              </a:rPr>
              <a:t>,  "w")</a:t>
            </a:r>
          </a:p>
          <a:p>
            <a:pPr marL="274638" indent="-274638"/>
            <a:r>
              <a:rPr lang="pt-BR" sz="2800" b="0" i="0" u="none" strike="noStrike" baseline="0" dirty="0">
                <a:latin typeface="CIDFont+F3"/>
              </a:rPr>
              <a:t>f2.write(</a:t>
            </a:r>
            <a:r>
              <a:rPr lang="pt-BR" sz="2800" b="0" i="0" u="none" strike="noStrike" baseline="0" dirty="0" err="1">
                <a:latin typeface="CIDFont+F3"/>
              </a:rPr>
              <a:t>str</a:t>
            </a:r>
            <a:r>
              <a:rPr lang="pt-BR" sz="2800" b="0" i="0" u="none" strike="noStrike" baseline="0" dirty="0">
                <a:latin typeface="CIDFont+F3"/>
              </a:rPr>
              <a:t>(12.3))</a:t>
            </a:r>
          </a:p>
          <a:p>
            <a:pPr marL="274638" indent="-274638"/>
            <a:r>
              <a:rPr lang="pt-BR" sz="2800" b="0" i="0" u="none" strike="noStrike" baseline="0" dirty="0">
                <a:latin typeface="CIDFont+F3"/>
              </a:rPr>
              <a:t>f2.write('\n')</a:t>
            </a:r>
          </a:p>
          <a:p>
            <a:pPr marL="274638" indent="-274638"/>
            <a:r>
              <a:rPr lang="pt-BR" sz="2800" b="0" i="0" u="none" strike="noStrike" baseline="0" dirty="0">
                <a:latin typeface="CIDFont+F3"/>
              </a:rPr>
              <a:t>f2.write(</a:t>
            </a:r>
            <a:r>
              <a:rPr lang="pt-BR" sz="2800" b="0" i="0" u="none" strike="noStrike" baseline="0" dirty="0" err="1">
                <a:latin typeface="CIDFont+F3"/>
              </a:rPr>
              <a:t>str</a:t>
            </a:r>
            <a:r>
              <a:rPr lang="pt-BR" sz="2800" b="0" i="0" u="none" strike="noStrike" baseline="0" dirty="0">
                <a:latin typeface="CIDFont+F3"/>
              </a:rPr>
              <a:t>([1, 2, 3]))</a:t>
            </a:r>
          </a:p>
          <a:p>
            <a:pPr marL="274638" indent="-274638"/>
            <a:r>
              <a:rPr lang="pt-BR" sz="2800" b="0" i="0" u="none" strike="noStrike" baseline="0" dirty="0">
                <a:latin typeface="CIDFont+F3"/>
              </a:rPr>
              <a:t>f2.close()</a:t>
            </a:r>
          </a:p>
        </p:txBody>
      </p:sp>
    </p:spTree>
    <p:extLst>
      <p:ext uri="{BB962C8B-B14F-4D97-AF65-F5344CB8AC3E}">
        <p14:creationId xmlns:p14="http://schemas.microsoft.com/office/powerpoint/2010/main" val="1030188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A9E6F8-998B-4261-CD19-83643B0C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7F216C-DA11-FF60-890F-B2B1006E1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4FC24C-AC12-8F9A-277A-7CC273542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27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4386531-1D68-676E-C26E-244939A3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Interação com o Sistema Operacional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6FACE4-E984-49F1-EFA5-A286C98DA306}"/>
              </a:ext>
            </a:extLst>
          </p:cNvPr>
          <p:cNvSpPr txBox="1"/>
          <p:nvPr/>
        </p:nvSpPr>
        <p:spPr>
          <a:xfrm>
            <a:off x="870633" y="1674674"/>
            <a:ext cx="986200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 indent="-271463" algn="just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Operações de entrada e saída são na verdade realizadas pelo sistema operacional</a:t>
            </a:r>
          </a:p>
          <a:p>
            <a:pPr algn="l"/>
            <a:endParaRPr lang="pt-BR" sz="32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marL="271463" indent="-271463" algn="just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O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3"/>
              </a:rPr>
              <a:t>módulo </a:t>
            </a:r>
            <a:r>
              <a:rPr lang="pt-BR" sz="3600" b="0" i="1" u="none" strike="noStrike" baseline="0">
                <a:solidFill>
                  <a:srgbClr val="000000"/>
                </a:solidFill>
                <a:highlight>
                  <a:srgbClr val="FFFF00"/>
                </a:highlight>
                <a:latin typeface="CIDFont+F4"/>
              </a:rPr>
              <a:t>OS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4"/>
              </a:rPr>
              <a:t> 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4"/>
              </a:rPr>
              <a:t>(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4"/>
              </a:rPr>
              <a:t>operational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4"/>
              </a:rPr>
              <a:t> system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4"/>
              </a:rPr>
              <a:t>) 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possui diversas variáveis e funções que ajudam um programa Python a se adequar ao sistema operacional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459698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A5CE36-1EBF-5E51-854D-85B04C47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3F12EB-D37B-73CB-4D00-9150C2D5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2B5B71-35B6-7D25-6FE2-9E6D0E1B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28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DB8974A-F300-F8CB-23BA-2EF83B5C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solidFill>
                  <a:srgbClr val="000000"/>
                </a:solidFill>
                <a:latin typeface="CIDFont+F1"/>
              </a:rPr>
              <a:t>Funções do Módulo </a:t>
            </a:r>
            <a:r>
              <a:rPr lang="pt-BR" b="1" i="1" u="none" strike="noStrike" baseline="0" dirty="0">
                <a:solidFill>
                  <a:srgbClr val="4472C5"/>
                </a:solidFill>
                <a:latin typeface="CIDFont+F1"/>
              </a:rPr>
              <a:t>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32763A-F3D7-90D1-3F3A-C7F9F33066A7}"/>
              </a:ext>
            </a:extLst>
          </p:cNvPr>
          <p:cNvSpPr txBox="1"/>
          <p:nvPr/>
        </p:nvSpPr>
        <p:spPr>
          <a:xfrm>
            <a:off x="239151" y="1625600"/>
            <a:ext cx="117136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600" b="0" i="0" u="none" strike="noStrike" baseline="0" dirty="0" err="1">
                <a:solidFill>
                  <a:srgbClr val="4472C5"/>
                </a:solidFill>
                <a:latin typeface="CIDFont+F3"/>
              </a:rPr>
              <a:t>os.getcwd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()</a:t>
            </a:r>
          </a:p>
          <a:p>
            <a:pPr marL="439738"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• Retorna o diretório corrente</a:t>
            </a:r>
          </a:p>
          <a:p>
            <a:pPr algn="l"/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600" b="0" i="0" u="none" strike="noStrike" baseline="0" dirty="0" err="1">
                <a:solidFill>
                  <a:srgbClr val="4472C5"/>
                </a:solidFill>
                <a:latin typeface="CIDFont+F3"/>
              </a:rPr>
              <a:t>os.chdir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(</a:t>
            </a:r>
            <a:r>
              <a:rPr lang="pt-BR" sz="3600" b="0" i="0" u="none" strike="noStrike" baseline="0" dirty="0" err="1">
                <a:solidFill>
                  <a:srgbClr val="4472C5"/>
                </a:solidFill>
                <a:latin typeface="CIDFont+F3"/>
              </a:rPr>
              <a:t>dir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)</a:t>
            </a:r>
          </a:p>
          <a:p>
            <a:pPr marL="355600"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• Muda o diretório corrente para </a:t>
            </a:r>
            <a:r>
              <a:rPr lang="pt-BR" sz="3600" b="0" i="0" u="none" strike="noStrike" baseline="0" dirty="0" err="1">
                <a:solidFill>
                  <a:srgbClr val="000000"/>
                </a:solidFill>
                <a:latin typeface="CIDFont+F4"/>
              </a:rPr>
              <a:t>dir</a:t>
            </a:r>
            <a:endParaRPr lang="pt-BR" sz="3600" b="0" i="0" u="none" strike="noStrike" baseline="0" dirty="0">
              <a:solidFill>
                <a:srgbClr val="000000"/>
              </a:solidFill>
              <a:latin typeface="CIDFont+F4"/>
            </a:endParaRPr>
          </a:p>
          <a:p>
            <a:pPr algn="l"/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600" b="0" i="0" u="none" strike="noStrike" baseline="0" dirty="0" err="1">
                <a:solidFill>
                  <a:srgbClr val="4472C5"/>
                </a:solidFill>
                <a:latin typeface="CIDFont+F3"/>
              </a:rPr>
              <a:t>os.sep</a:t>
            </a:r>
            <a:endParaRPr lang="pt-BR" sz="3600" b="0" i="0" u="none" strike="noStrike" baseline="0" dirty="0">
              <a:solidFill>
                <a:srgbClr val="4472C5"/>
              </a:solidFill>
              <a:latin typeface="CIDFont+F3"/>
            </a:endParaRPr>
          </a:p>
          <a:p>
            <a:pPr marL="711200" indent="-355600"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• É uma </a:t>
            </a:r>
            <a:r>
              <a:rPr lang="pt-BR" sz="3600" b="0" i="0" u="none" strike="noStrike" baseline="0" dirty="0" err="1">
                <a:solidFill>
                  <a:srgbClr val="000000"/>
                </a:solidFill>
                <a:latin typeface="CIDFont+F3"/>
              </a:rPr>
              <a:t>string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 que contém o caractere que separa os componentes de um caminho (‘/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"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para Unix,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"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\\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"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para Windows)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691786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A5CE36-1EBF-5E51-854D-85B04C47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3F12EB-D37B-73CB-4D00-9150C2D5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2B5B71-35B6-7D25-6FE2-9E6D0E1B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29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DB8974A-F300-F8CB-23BA-2EF83B5C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solidFill>
                  <a:srgbClr val="000000"/>
                </a:solidFill>
                <a:latin typeface="CIDFont+F1"/>
              </a:rPr>
              <a:t>Funções do Módulo </a:t>
            </a:r>
            <a:r>
              <a:rPr lang="pt-BR" b="1" i="1" u="none" strike="noStrike" baseline="0" dirty="0">
                <a:solidFill>
                  <a:srgbClr val="4472C5"/>
                </a:solidFill>
                <a:latin typeface="CIDFont+F1"/>
              </a:rPr>
              <a:t>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32763A-F3D7-90D1-3F3A-C7F9F33066A7}"/>
              </a:ext>
            </a:extLst>
          </p:cNvPr>
          <p:cNvSpPr txBox="1"/>
          <p:nvPr/>
        </p:nvSpPr>
        <p:spPr>
          <a:xfrm>
            <a:off x="350521" y="1422404"/>
            <a:ext cx="1151701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600" b="0" i="0" u="none" strike="noStrike" baseline="0" dirty="0" err="1">
                <a:solidFill>
                  <a:srgbClr val="4472C5"/>
                </a:solidFill>
                <a:latin typeface="CIDFont+F3"/>
              </a:rPr>
              <a:t>os.path.exists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(path)</a:t>
            </a:r>
          </a:p>
          <a:p>
            <a:pPr marL="355600"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• Retorna True se o arquivo </a:t>
            </a:r>
            <a:r>
              <a:rPr lang="pt-BR" sz="3600" b="1" i="1" u="none" strike="noStrike" baseline="0" dirty="0">
                <a:solidFill>
                  <a:srgbClr val="000000"/>
                </a:solidFill>
                <a:latin typeface="CIDFont+F4"/>
              </a:rPr>
              <a:t>path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4"/>
              </a:rPr>
              <a:t>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existe</a:t>
            </a:r>
          </a:p>
          <a:p>
            <a:pPr marL="355600" algn="l"/>
            <a:endParaRPr lang="pt-BR" sz="36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algn="l"/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600" b="0" i="0" u="none" strike="noStrike" baseline="0" dirty="0" err="1">
                <a:solidFill>
                  <a:srgbClr val="4472C5"/>
                </a:solidFill>
                <a:latin typeface="CIDFont+F3"/>
              </a:rPr>
              <a:t>os.remove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(</a:t>
            </a:r>
            <a:r>
              <a:rPr lang="pt-BR" sz="3600" b="0" i="0" u="none" strike="noStrike" baseline="0" dirty="0" err="1">
                <a:solidFill>
                  <a:srgbClr val="4472C5"/>
                </a:solidFill>
                <a:latin typeface="CIDFont+F3"/>
              </a:rPr>
              <a:t>nome_arquivo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)</a:t>
            </a:r>
          </a:p>
          <a:p>
            <a:pPr marL="355600"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• Apaga o arquivo </a:t>
            </a:r>
            <a:r>
              <a:rPr lang="pt-BR" sz="3600" b="1" i="1" u="none" strike="noStrike" baseline="0" dirty="0" err="1">
                <a:solidFill>
                  <a:srgbClr val="000000"/>
                </a:solidFill>
                <a:latin typeface="CIDFont+F4"/>
              </a:rPr>
              <a:t>nome_arquivo</a:t>
            </a:r>
            <a:r>
              <a:rPr lang="pt-BR" sz="3600" b="1" i="1" u="none" strike="noStrike" baseline="0" dirty="0">
                <a:solidFill>
                  <a:srgbClr val="000000"/>
                </a:solidFill>
                <a:latin typeface="CIDFont+F4"/>
              </a:rPr>
              <a:t>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do disco</a:t>
            </a:r>
          </a:p>
          <a:p>
            <a:pPr marL="355600" algn="l"/>
            <a:endParaRPr lang="pt-BR" sz="3600" b="0" i="0" u="none" strike="noStrike" baseline="0" dirty="0">
              <a:solidFill>
                <a:srgbClr val="000000"/>
              </a:solidFill>
              <a:latin typeface="CIDFont+F3"/>
            </a:endParaRPr>
          </a:p>
          <a:p>
            <a:pPr algn="l"/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600" b="0" i="0" u="none" strike="noStrike" baseline="0" dirty="0" err="1">
                <a:solidFill>
                  <a:srgbClr val="4472C5"/>
                </a:solidFill>
                <a:latin typeface="CIDFont+F3"/>
              </a:rPr>
              <a:t>os.rename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(origem, destino)</a:t>
            </a:r>
          </a:p>
          <a:p>
            <a:pPr marL="711200" indent="-355600"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• Renomeia o arquivo </a:t>
            </a:r>
            <a:r>
              <a:rPr lang="pt-BR" sz="3600" b="1" i="1" u="none" strike="noStrike" baseline="0" dirty="0">
                <a:solidFill>
                  <a:srgbClr val="000000"/>
                </a:solidFill>
                <a:latin typeface="CIDFont+F4"/>
              </a:rPr>
              <a:t>origem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4"/>
              </a:rPr>
              <a:t>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com o nome especificado em </a:t>
            </a:r>
            <a:r>
              <a:rPr lang="pt-BR" sz="3600" b="1" i="1" u="none" strike="noStrike" baseline="0" dirty="0">
                <a:solidFill>
                  <a:srgbClr val="000000"/>
                </a:solidFill>
                <a:latin typeface="CIDFont+F4"/>
              </a:rPr>
              <a:t>destino</a:t>
            </a: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1075382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A5CE36-1EBF-5E51-854D-85B04C47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3F12EB-D37B-73CB-4D00-9150C2D5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2B5B71-35B6-7D25-6FE2-9E6D0E1B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30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DB8974A-F300-F8CB-23BA-2EF83B5C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solidFill>
                  <a:srgbClr val="000000"/>
                </a:solidFill>
                <a:latin typeface="CIDFont+F1"/>
              </a:rPr>
              <a:t>Curiosidades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32763A-F3D7-90D1-3F3A-C7F9F33066A7}"/>
              </a:ext>
            </a:extLst>
          </p:cNvPr>
          <p:cNvSpPr txBox="1"/>
          <p:nvPr/>
        </p:nvSpPr>
        <p:spPr>
          <a:xfrm>
            <a:off x="148882" y="1422404"/>
            <a:ext cx="1191064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 indent="-271463" algn="just"/>
            <a:r>
              <a:rPr lang="pt-BR" sz="3000" b="0" i="0" u="none" strike="noStrike" baseline="0" dirty="0">
                <a:latin typeface="CIDFont+F3"/>
              </a:rPr>
              <a:t>• As operações de entrada e saída do teclado também usam arquivos </a:t>
            </a:r>
            <a:r>
              <a:rPr lang="pt-BR" sz="3000" b="0" i="0" u="none" strike="noStrike" baseline="0" dirty="0">
                <a:latin typeface="CIDFont+F2"/>
              </a:rPr>
              <a:t>"</a:t>
            </a:r>
            <a:r>
              <a:rPr lang="pt-BR" sz="3000" b="0" i="0" u="none" strike="noStrike" baseline="0" dirty="0">
                <a:latin typeface="CIDFont+F3"/>
              </a:rPr>
              <a:t>por baixo dos panos</a:t>
            </a:r>
            <a:r>
              <a:rPr lang="pt-BR" sz="3000" b="0" i="0" u="none" strike="noStrike" baseline="0" dirty="0">
                <a:latin typeface="CIDFont+F2"/>
              </a:rPr>
              <a:t>"</a:t>
            </a:r>
            <a:r>
              <a:rPr lang="pt-BR" sz="3000" b="0" i="0" u="none" strike="noStrike" baseline="0" dirty="0">
                <a:latin typeface="CIDFont+F3"/>
              </a:rPr>
              <a:t>!</a:t>
            </a:r>
          </a:p>
          <a:p>
            <a:pPr algn="l"/>
            <a:endParaRPr lang="pt-BR" sz="1000" b="0" i="0" u="none" strike="noStrike" baseline="0" dirty="0">
              <a:latin typeface="CIDFont+F3"/>
            </a:endParaRPr>
          </a:p>
          <a:p>
            <a:pPr marL="355600" indent="-355600" algn="just"/>
            <a:r>
              <a:rPr lang="pt-BR" sz="3000" b="0" i="0" u="none" strike="noStrike" baseline="0" dirty="0">
                <a:latin typeface="CIDFont+F3"/>
              </a:rPr>
              <a:t>• Sempre que um comando </a:t>
            </a:r>
            <a:r>
              <a:rPr lang="pt-BR" sz="3000" b="1" i="0" u="none" strike="noStrike" baseline="0" dirty="0">
                <a:latin typeface="CIDFont+F4"/>
              </a:rPr>
              <a:t>print </a:t>
            </a:r>
            <a:r>
              <a:rPr lang="pt-BR" sz="3000" b="0" i="0" u="none" strike="noStrike" baseline="0" dirty="0">
                <a:latin typeface="CIDFont+F3"/>
              </a:rPr>
              <a:t>é executado, o resultado vai para um arquivo chamado </a:t>
            </a:r>
            <a:r>
              <a:rPr lang="pt-BR" sz="3000" b="1" i="0" u="none" strike="noStrike" baseline="0" dirty="0" err="1">
                <a:latin typeface="CIDFont+F4"/>
              </a:rPr>
              <a:t>sys.stdout</a:t>
            </a:r>
            <a:endParaRPr lang="pt-BR" sz="3000" b="1" i="0" u="none" strike="noStrike" baseline="0" dirty="0">
              <a:latin typeface="CIDFont+F4"/>
            </a:endParaRPr>
          </a:p>
          <a:p>
            <a:pPr marL="271463" indent="-271463" algn="l"/>
            <a:endParaRPr lang="pt-BR" sz="1000" b="0" i="0" u="none" strike="noStrike" baseline="0" dirty="0">
              <a:latin typeface="CIDFont+F4"/>
            </a:endParaRPr>
          </a:p>
          <a:p>
            <a:pPr marL="271463" indent="-271463" algn="just"/>
            <a:r>
              <a:rPr lang="pt-BR" sz="3000" b="0" i="0" u="none" strike="noStrike" baseline="0" dirty="0">
                <a:latin typeface="CIDFont+F3"/>
              </a:rPr>
              <a:t>• Sempre que lemos um dado através do comando </a:t>
            </a:r>
            <a:r>
              <a:rPr lang="pt-BR" sz="3000" b="0" i="0" u="none" strike="noStrike" baseline="0" dirty="0">
                <a:latin typeface="CIDFont+F4"/>
              </a:rPr>
              <a:t>input</a:t>
            </a:r>
            <a:r>
              <a:rPr lang="pt-BR" sz="3000" b="0" i="0" u="none" strike="noStrike" baseline="0" dirty="0">
                <a:latin typeface="CIDFont+F3"/>
              </a:rPr>
              <a:t>, na verdade estamos lendo de um arquivo chamado </a:t>
            </a:r>
            <a:r>
              <a:rPr lang="pt-BR" sz="3000" b="1" i="0" u="none" strike="noStrike" baseline="0" dirty="0" err="1">
                <a:latin typeface="CIDFont+F4"/>
              </a:rPr>
              <a:t>sys.stdin</a:t>
            </a:r>
            <a:endParaRPr lang="pt-BR" sz="3000" b="1" i="0" u="none" strike="noStrike" baseline="0" dirty="0">
              <a:latin typeface="CIDFont+F4"/>
            </a:endParaRPr>
          </a:p>
          <a:p>
            <a:pPr algn="l"/>
            <a:endParaRPr lang="pt-BR" sz="1000" b="0" i="0" u="none" strike="noStrike" baseline="0" dirty="0">
              <a:latin typeface="CIDFont+F4"/>
            </a:endParaRPr>
          </a:p>
          <a:p>
            <a:pPr marL="355600" indent="-355600" algn="just"/>
            <a:r>
              <a:rPr lang="pt-BR" sz="3000" b="0" i="0" u="none" strike="noStrike" baseline="0" dirty="0">
                <a:latin typeface="CIDFont+F3"/>
              </a:rPr>
              <a:t>• Mensagens de erro ou de rastreamento de exceções são enviadas para um arquivo chamado </a:t>
            </a:r>
            <a:r>
              <a:rPr lang="pt-BR" sz="3000" b="1" i="0" u="none" strike="noStrike" baseline="0" dirty="0" err="1">
                <a:latin typeface="CIDFont+F4"/>
              </a:rPr>
              <a:t>sys.stderr</a:t>
            </a:r>
            <a:endParaRPr lang="pt-BR" sz="3000" b="1" i="1" dirty="0"/>
          </a:p>
        </p:txBody>
      </p:sp>
    </p:spTree>
    <p:extLst>
      <p:ext uri="{BB962C8B-B14F-4D97-AF65-F5344CB8AC3E}">
        <p14:creationId xmlns:p14="http://schemas.microsoft.com/office/powerpoint/2010/main" val="3023115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6A08562-D220-3129-F532-052C85AD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6F2F38-E626-7049-9C18-B99B3DA0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9AFE70-B196-BE4F-0424-DC315678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31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A4E3A08-6191-F384-065F-85AD3DB2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Uso do </a:t>
            </a:r>
            <a:r>
              <a:rPr lang="pt-BR" b="1" i="1" dirty="0" err="1"/>
              <a:t>Try</a:t>
            </a:r>
            <a:r>
              <a:rPr lang="pt-BR" b="1" i="1" dirty="0"/>
              <a:t>, With, </a:t>
            </a:r>
            <a:r>
              <a:rPr lang="pt-BR" b="1" i="1" dirty="0" err="1"/>
              <a:t>Finally</a:t>
            </a:r>
            <a:r>
              <a:rPr lang="pt-BR" b="1" i="1" dirty="0"/>
              <a:t> e 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4F0F414-96E3-FD5E-C3E7-479FD3B0AE10}"/>
              </a:ext>
            </a:extLst>
          </p:cNvPr>
          <p:cNvSpPr txBox="1"/>
          <p:nvPr/>
        </p:nvSpPr>
        <p:spPr>
          <a:xfrm>
            <a:off x="98212" y="1353344"/>
            <a:ext cx="57539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pt-BR" sz="2800" b="0" i="0" dirty="0">
                <a:effectLst/>
                <a:latin typeface="inherit"/>
              </a:rPr>
              <a:t># com </a:t>
            </a:r>
            <a:r>
              <a:rPr lang="pt-BR" sz="2800" b="0" i="0" dirty="0" err="1">
                <a:effectLst/>
                <a:latin typeface="inherit"/>
              </a:rPr>
              <a:t>try</a:t>
            </a:r>
            <a:r>
              <a:rPr lang="pt-BR" sz="2800" b="0" i="0" dirty="0">
                <a:effectLst/>
                <a:latin typeface="inherit"/>
              </a:rPr>
              <a:t> e </a:t>
            </a:r>
            <a:r>
              <a:rPr lang="pt-BR" sz="2800" b="0" i="0" dirty="0" err="1">
                <a:effectLst/>
                <a:latin typeface="inherit"/>
              </a:rPr>
              <a:t>finally</a:t>
            </a:r>
            <a:endParaRPr lang="pt-BR" sz="2800" b="0" i="0" dirty="0">
              <a:effectLst/>
              <a:latin typeface="inter" panose="020B0502030000000004" pitchFamily="34" charset="0"/>
            </a:endParaRPr>
          </a:p>
          <a:p>
            <a:pPr algn="l" rtl="0"/>
            <a:r>
              <a:rPr lang="pt-BR" sz="2800" b="1" i="0" dirty="0" err="1">
                <a:solidFill>
                  <a:srgbClr val="0070C0"/>
                </a:solidFill>
                <a:effectLst/>
                <a:latin typeface="inherit"/>
              </a:rPr>
              <a:t>try</a:t>
            </a:r>
            <a:r>
              <a:rPr lang="pt-BR" sz="2800" b="1" i="0" dirty="0">
                <a:solidFill>
                  <a:srgbClr val="0070C0"/>
                </a:solidFill>
                <a:effectLst/>
                <a:latin typeface="inherit"/>
              </a:rPr>
              <a:t>:</a:t>
            </a:r>
            <a:endParaRPr lang="pt-BR" sz="2800" b="1" i="0" dirty="0">
              <a:solidFill>
                <a:srgbClr val="0070C0"/>
              </a:solidFill>
              <a:effectLst/>
              <a:latin typeface="inter" panose="020B0502030000000004" pitchFamily="34" charset="0"/>
            </a:endParaRPr>
          </a:p>
          <a:p>
            <a:pPr algn="l" rtl="0"/>
            <a:r>
              <a:rPr lang="pt-BR" sz="2800" b="0" i="0" dirty="0">
                <a:effectLst/>
                <a:latin typeface="inherit"/>
              </a:rPr>
              <a:t>     f = open</a:t>
            </a:r>
            <a:r>
              <a:rPr lang="pt-BR" sz="2800" b="1" i="0" dirty="0">
                <a:effectLst/>
                <a:latin typeface="inherit"/>
              </a:rPr>
              <a:t>(</a:t>
            </a:r>
            <a:r>
              <a:rPr lang="pt-BR" sz="2800" b="0" i="0" dirty="0">
                <a:effectLst/>
                <a:latin typeface="inherit"/>
              </a:rPr>
              <a:t>"teste.txt", "w"</a:t>
            </a:r>
            <a:r>
              <a:rPr lang="pt-BR" sz="2800" b="1" i="0" dirty="0">
                <a:effectLst/>
                <a:latin typeface="inherit"/>
              </a:rPr>
              <a:t>)</a:t>
            </a:r>
            <a:endParaRPr lang="pt-BR" sz="2800" b="0" i="0" dirty="0">
              <a:effectLst/>
              <a:latin typeface="inter" panose="020B0502030000000004" pitchFamily="34" charset="0"/>
            </a:endParaRPr>
          </a:p>
          <a:p>
            <a:pPr algn="l" rtl="0"/>
            <a:r>
              <a:rPr lang="pt-BR" sz="2800" dirty="0">
                <a:latin typeface="inherit"/>
              </a:rPr>
              <a:t>     </a:t>
            </a:r>
            <a:r>
              <a:rPr lang="pt-BR" sz="2800" dirty="0" err="1">
                <a:latin typeface="inherit"/>
              </a:rPr>
              <a:t>f</a:t>
            </a:r>
            <a:r>
              <a:rPr lang="pt-BR" sz="2800" b="0" i="0" dirty="0" err="1">
                <a:effectLst/>
                <a:latin typeface="inherit"/>
              </a:rPr>
              <a:t>.write</a:t>
            </a:r>
            <a:r>
              <a:rPr lang="pt-BR" sz="2800" b="1" i="0" dirty="0">
                <a:effectLst/>
                <a:latin typeface="inherit"/>
              </a:rPr>
              <a:t>(</a:t>
            </a:r>
            <a:r>
              <a:rPr lang="pt-BR" sz="2800" b="0" i="0" dirty="0">
                <a:effectLst/>
                <a:latin typeface="inherit"/>
              </a:rPr>
              <a:t>"Testando escrita"</a:t>
            </a:r>
            <a:r>
              <a:rPr lang="pt-BR" sz="2800" b="1" i="0" dirty="0">
                <a:effectLst/>
                <a:latin typeface="inherit"/>
              </a:rPr>
              <a:t>)</a:t>
            </a:r>
            <a:endParaRPr lang="pt-BR" sz="2800" b="0" i="0" dirty="0">
              <a:effectLst/>
              <a:latin typeface="inter" panose="020B0502030000000004" pitchFamily="34" charset="0"/>
            </a:endParaRPr>
          </a:p>
          <a:p>
            <a:pPr algn="l" rtl="0"/>
            <a:r>
              <a:rPr lang="pt-BR" sz="2800" b="1" i="0" dirty="0" err="1">
                <a:solidFill>
                  <a:srgbClr val="0070C0"/>
                </a:solidFill>
                <a:effectLst/>
                <a:latin typeface="inherit"/>
              </a:rPr>
              <a:t>finally</a:t>
            </a:r>
            <a:r>
              <a:rPr lang="pt-BR" sz="2800" b="0" i="0" dirty="0">
                <a:solidFill>
                  <a:srgbClr val="0070C0"/>
                </a:solidFill>
                <a:effectLst/>
                <a:latin typeface="inherit"/>
              </a:rPr>
              <a:t>:</a:t>
            </a:r>
            <a:endParaRPr lang="pt-BR" sz="2800" b="0" i="0" dirty="0">
              <a:solidFill>
                <a:srgbClr val="0070C0"/>
              </a:solidFill>
              <a:effectLst/>
              <a:latin typeface="inter" panose="020B0502030000000004" pitchFamily="34" charset="0"/>
            </a:endParaRPr>
          </a:p>
          <a:p>
            <a:pPr algn="l" rtl="0"/>
            <a:r>
              <a:rPr lang="pt-BR" sz="2800" dirty="0">
                <a:latin typeface="inherit"/>
              </a:rPr>
              <a:t>   </a:t>
            </a:r>
            <a:r>
              <a:rPr lang="pt-BR" sz="2800" dirty="0" err="1">
                <a:latin typeface="inherit"/>
              </a:rPr>
              <a:t>f</a:t>
            </a:r>
            <a:r>
              <a:rPr lang="pt-BR" sz="2800" b="0" i="0" dirty="0" err="1">
                <a:effectLst/>
                <a:latin typeface="inherit"/>
              </a:rPr>
              <a:t>.close</a:t>
            </a:r>
            <a:r>
              <a:rPr lang="pt-BR" sz="2800" b="1" i="0" dirty="0">
                <a:effectLst/>
                <a:latin typeface="inherit"/>
              </a:rPr>
              <a:t>()</a:t>
            </a:r>
          </a:p>
          <a:p>
            <a:pPr algn="l" rtl="0"/>
            <a:endParaRPr lang="pt-BR" sz="2800" b="0" i="0" dirty="0">
              <a:effectLst/>
              <a:latin typeface="inter" panose="020B0502030000000004" pitchFamily="34" charset="0"/>
            </a:endParaRPr>
          </a:p>
          <a:p>
            <a:pPr algn="l" rtl="0"/>
            <a:r>
              <a:rPr lang="pt-BR" sz="2800" b="0" i="0" dirty="0">
                <a:effectLst/>
                <a:latin typeface="inherit"/>
              </a:rPr>
              <a:t># com with</a:t>
            </a:r>
            <a:endParaRPr lang="pt-BR" sz="2800" b="0" i="0" dirty="0">
              <a:effectLst/>
              <a:latin typeface="inter" panose="020B0502030000000004" pitchFamily="34" charset="0"/>
            </a:endParaRPr>
          </a:p>
          <a:p>
            <a:pPr algn="l" rtl="0"/>
            <a:r>
              <a:rPr lang="pt-BR" sz="2800" b="1" i="0" dirty="0">
                <a:solidFill>
                  <a:srgbClr val="0070C0"/>
                </a:solidFill>
                <a:effectLst/>
                <a:latin typeface="inherit"/>
              </a:rPr>
              <a:t>with</a:t>
            </a:r>
            <a:r>
              <a:rPr lang="pt-BR" sz="2800" b="0" i="0" dirty="0">
                <a:effectLst/>
                <a:latin typeface="inherit"/>
              </a:rPr>
              <a:t> open</a:t>
            </a:r>
            <a:r>
              <a:rPr lang="pt-BR" sz="2800" b="1" i="0" dirty="0">
                <a:effectLst/>
                <a:latin typeface="inherit"/>
              </a:rPr>
              <a:t>(</a:t>
            </a:r>
            <a:r>
              <a:rPr lang="pt-BR" sz="2800" b="0" i="0" dirty="0">
                <a:effectLst/>
                <a:latin typeface="inherit"/>
              </a:rPr>
              <a:t>"teste2.txt", "w"</a:t>
            </a:r>
            <a:r>
              <a:rPr lang="pt-BR" sz="2800" b="1" i="0" dirty="0">
                <a:effectLst/>
                <a:latin typeface="inherit"/>
              </a:rPr>
              <a:t>)</a:t>
            </a:r>
            <a:r>
              <a:rPr lang="pt-BR" sz="2800" b="0" i="0" dirty="0">
                <a:effectLst/>
                <a:latin typeface="inherit"/>
              </a:rPr>
              <a:t>  </a:t>
            </a:r>
            <a:r>
              <a:rPr lang="pt-BR" sz="2800" b="1" i="0" dirty="0">
                <a:solidFill>
                  <a:srgbClr val="0070C0"/>
                </a:solidFill>
                <a:effectLst/>
                <a:latin typeface="inherit"/>
              </a:rPr>
              <a:t>as</a:t>
            </a:r>
            <a:r>
              <a:rPr lang="pt-BR" sz="2800" b="1" i="0" dirty="0">
                <a:effectLst/>
                <a:latin typeface="inherit"/>
              </a:rPr>
              <a:t> </a:t>
            </a:r>
            <a:r>
              <a:rPr lang="pt-BR" sz="2800" b="0" i="0" dirty="0">
                <a:effectLst/>
                <a:latin typeface="inherit"/>
              </a:rPr>
              <a:t>f:</a:t>
            </a:r>
          </a:p>
          <a:p>
            <a:pPr algn="l" rtl="0"/>
            <a:r>
              <a:rPr lang="pt-BR" sz="2800" b="0" i="0" dirty="0">
                <a:effectLst/>
                <a:latin typeface="inherit"/>
              </a:rPr>
              <a:t>   </a:t>
            </a:r>
            <a:r>
              <a:rPr lang="pt-BR" sz="2800" b="0" i="0" dirty="0" err="1">
                <a:effectLst/>
                <a:latin typeface="inherit"/>
              </a:rPr>
              <a:t>f.write</a:t>
            </a:r>
            <a:r>
              <a:rPr lang="pt-BR" sz="2800" b="1" i="0" dirty="0">
                <a:effectLst/>
                <a:latin typeface="inherit"/>
              </a:rPr>
              <a:t>(</a:t>
            </a:r>
            <a:r>
              <a:rPr lang="pt-BR" sz="2800" b="0" i="0" dirty="0">
                <a:effectLst/>
                <a:latin typeface="inherit"/>
              </a:rPr>
              <a:t>"Testando escrita com with"</a:t>
            </a:r>
            <a:r>
              <a:rPr lang="pt-BR" sz="2800" b="1" i="0" dirty="0">
                <a:effectLst/>
                <a:latin typeface="inherit"/>
              </a:rPr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DA86F5C-2A41-3CD5-5390-50F22A150297}"/>
              </a:ext>
            </a:extLst>
          </p:cNvPr>
          <p:cNvSpPr txBox="1"/>
          <p:nvPr/>
        </p:nvSpPr>
        <p:spPr>
          <a:xfrm>
            <a:off x="5755113" y="1381145"/>
            <a:ext cx="61913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200" i="0" dirty="0">
                <a:effectLst/>
                <a:latin typeface="inter" panose="020B0502030000000004" pitchFamily="34" charset="0"/>
              </a:rPr>
              <a:t>A instrução nos vai poupar código, perceba que não precisamos mais fechar os arquivos.</a:t>
            </a:r>
          </a:p>
          <a:p>
            <a:pPr algn="l"/>
            <a:endParaRPr lang="pt-BR" sz="1000" i="0" dirty="0">
              <a:effectLst/>
              <a:latin typeface="inter" panose="020B0502030000000004" pitchFamily="34" charset="0"/>
            </a:endParaRPr>
          </a:p>
          <a:p>
            <a:pPr algn="just"/>
            <a:r>
              <a:rPr lang="pt-BR" sz="2200" i="0" dirty="0">
                <a:effectLst/>
                <a:latin typeface="inter" panose="020B0502030000000004" pitchFamily="34" charset="0"/>
              </a:rPr>
              <a:t>E ela justamente atua nesse sentido, de simplificar as coisas e retornar os recursos alocados com certeza a máquina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C16C690-70A7-B4B3-F149-337087250FA9}"/>
              </a:ext>
            </a:extLst>
          </p:cNvPr>
          <p:cNvSpPr txBox="1"/>
          <p:nvPr/>
        </p:nvSpPr>
        <p:spPr>
          <a:xfrm>
            <a:off x="5852159" y="3526245"/>
            <a:ext cx="619135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3200" b="1" i="0" dirty="0">
                <a:effectLst/>
                <a:latin typeface="inter" panose="020B0502030000000004" pitchFamily="34" charset="0"/>
              </a:rPr>
              <a:t>Conclusão</a:t>
            </a:r>
          </a:p>
          <a:p>
            <a:pPr algn="l"/>
            <a:endParaRPr lang="pt-BR" sz="1000" b="1" i="0" dirty="0">
              <a:effectLst/>
              <a:latin typeface="inter" panose="020B0502030000000004" pitchFamily="34" charset="0"/>
            </a:endParaRPr>
          </a:p>
          <a:p>
            <a:pPr algn="just"/>
            <a:r>
              <a:rPr lang="pt-BR" sz="2200" b="0" i="0" dirty="0">
                <a:effectLst/>
                <a:latin typeface="inter" panose="020B0502030000000004" pitchFamily="34" charset="0"/>
              </a:rPr>
              <a:t>Vimos para que serve o </a:t>
            </a:r>
            <a:r>
              <a:rPr lang="pt-BR" sz="2200" b="1" i="0" dirty="0">
                <a:solidFill>
                  <a:srgbClr val="0070C0"/>
                </a:solidFill>
                <a:effectLst/>
                <a:latin typeface="inter" panose="020B0502030000000004" pitchFamily="34" charset="0"/>
              </a:rPr>
              <a:t>with</a:t>
            </a:r>
            <a:r>
              <a:rPr lang="pt-BR" sz="2200" b="0" i="0" dirty="0">
                <a:effectLst/>
                <a:latin typeface="inter" panose="020B0502030000000004" pitchFamily="34" charset="0"/>
              </a:rPr>
              <a:t> no Python. A instrução nos vai poupar código, perceba que não precisamos mais fechar os arquivos. E ela justamente atua nesse sentido, de simplificar as coisas e retornar os recursos alocados com certeza a máquina.</a:t>
            </a:r>
          </a:p>
        </p:txBody>
      </p:sp>
    </p:spTree>
    <p:extLst>
      <p:ext uri="{BB962C8B-B14F-4D97-AF65-F5344CB8AC3E}">
        <p14:creationId xmlns:p14="http://schemas.microsoft.com/office/powerpoint/2010/main" val="3932953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C2D6BF6-0303-89F9-F8A1-A011C8F8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66095A-D86C-47FF-E04F-8AE650B74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Cap11.Exem09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581E54-4BAB-04FF-2CC7-C90BBD57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z="1400" b="1" smtClean="0">
                <a:solidFill>
                  <a:srgbClr val="2C110C"/>
                </a:solidFill>
              </a:rPr>
              <a:pPr algn="r"/>
              <a:t>32</a:t>
            </a:fld>
            <a:endParaRPr lang="pt-BR" sz="1400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3E4389-3C49-DC48-BE86-9A70B974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b="1" i="1" dirty="0"/>
              <a:t>Exemplo de Gravação/Leitura de Arquivo Texto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268C8E1-23F0-DB31-4352-3A85B5754F41}"/>
              </a:ext>
            </a:extLst>
          </p:cNvPr>
          <p:cNvSpPr txBox="1"/>
          <p:nvPr/>
        </p:nvSpPr>
        <p:spPr>
          <a:xfrm>
            <a:off x="41031" y="1338104"/>
            <a:ext cx="709129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 err="1"/>
              <a:t>def</a:t>
            </a:r>
            <a:r>
              <a:rPr lang="pt-BR" sz="2200" dirty="0"/>
              <a:t> </a:t>
            </a:r>
            <a:r>
              <a:rPr lang="pt-BR" sz="2200" dirty="0" err="1"/>
              <a:t>gravarTexto</a:t>
            </a:r>
            <a:r>
              <a:rPr lang="pt-BR" sz="2200" dirty="0"/>
              <a:t>(nomeArquivo):</a:t>
            </a:r>
          </a:p>
          <a:p>
            <a:r>
              <a:rPr lang="pt-BR" sz="2200" dirty="0"/>
              <a:t>    print("Digite o texto (digite 'FIM' para encerrar):")</a:t>
            </a:r>
          </a:p>
          <a:p>
            <a:r>
              <a:rPr lang="pt-BR" sz="2200" dirty="0"/>
              <a:t>    linhas = []</a:t>
            </a:r>
          </a:p>
          <a:p>
            <a:endParaRPr lang="pt-BR" sz="1000" dirty="0"/>
          </a:p>
          <a:p>
            <a:r>
              <a:rPr lang="pt-BR" sz="2200" dirty="0"/>
              <a:t>    </a:t>
            </a:r>
            <a:r>
              <a:rPr lang="pt-BR" sz="2200" dirty="0" err="1"/>
              <a:t>while</a:t>
            </a:r>
            <a:r>
              <a:rPr lang="pt-BR" sz="2200" dirty="0"/>
              <a:t> True:</a:t>
            </a:r>
          </a:p>
          <a:p>
            <a:r>
              <a:rPr lang="pt-BR" sz="2200" dirty="0"/>
              <a:t>        linha = input()</a:t>
            </a:r>
          </a:p>
          <a:p>
            <a:r>
              <a:rPr lang="pt-BR" sz="2200" b="1" i="1" dirty="0"/>
              <a:t>        </a:t>
            </a:r>
            <a:r>
              <a:rPr lang="pt-BR" sz="2200" b="1" i="1" dirty="0">
                <a:solidFill>
                  <a:srgbClr val="0070C0"/>
                </a:solidFill>
              </a:rPr>
              <a:t># se o usuário digitar FIM termina  a gravação.</a:t>
            </a:r>
          </a:p>
          <a:p>
            <a:pPr marL="3048000" indent="-3048000"/>
            <a:r>
              <a:rPr lang="pt-BR" sz="2200" dirty="0"/>
              <a:t>        </a:t>
            </a:r>
            <a:r>
              <a:rPr lang="pt-BR" sz="2200" dirty="0" err="1"/>
              <a:t>if</a:t>
            </a:r>
            <a:r>
              <a:rPr lang="pt-BR" sz="2200" dirty="0"/>
              <a:t> </a:t>
            </a:r>
            <a:r>
              <a:rPr lang="pt-BR" sz="2200" dirty="0" err="1"/>
              <a:t>linha.upper</a:t>
            </a:r>
            <a:r>
              <a:rPr lang="pt-BR" sz="2200" dirty="0"/>
              <a:t>() == "FIM": </a:t>
            </a:r>
          </a:p>
          <a:p>
            <a:pPr marL="3048000" indent="-3048000"/>
            <a:r>
              <a:rPr lang="pt-BR" sz="2200" dirty="0"/>
              <a:t>            break</a:t>
            </a:r>
          </a:p>
          <a:p>
            <a:r>
              <a:rPr lang="pt-BR" sz="2200" dirty="0"/>
              <a:t>        </a:t>
            </a:r>
            <a:r>
              <a:rPr lang="pt-BR" sz="2200" dirty="0" err="1"/>
              <a:t>linhas.append</a:t>
            </a:r>
            <a:r>
              <a:rPr lang="pt-BR" sz="2200" dirty="0"/>
              <a:t>(linha)</a:t>
            </a:r>
          </a:p>
          <a:p>
            <a:endParaRPr lang="pt-BR" sz="1000" dirty="0"/>
          </a:p>
          <a:p>
            <a:r>
              <a:rPr lang="pt-BR" sz="2200" b="1" i="1" dirty="0"/>
              <a:t>    </a:t>
            </a:r>
            <a:r>
              <a:rPr lang="pt-BR" sz="2200" b="1" i="1" dirty="0">
                <a:solidFill>
                  <a:srgbClr val="0070C0"/>
                </a:solidFill>
              </a:rPr>
              <a:t># grava todas as linhas no arquivo</a:t>
            </a:r>
          </a:p>
          <a:p>
            <a:r>
              <a:rPr lang="pt-BR" sz="2200" dirty="0"/>
              <a:t>    with open(nomeArquivo, 'w') as </a:t>
            </a:r>
            <a:r>
              <a:rPr lang="pt-BR" sz="2200" dirty="0" err="1"/>
              <a:t>arq</a:t>
            </a:r>
            <a:r>
              <a:rPr lang="pt-BR" sz="2200" dirty="0"/>
              <a:t>:</a:t>
            </a:r>
          </a:p>
          <a:p>
            <a:r>
              <a:rPr lang="pt-BR" sz="2200" dirty="0"/>
              <a:t>        for linha in linhas:</a:t>
            </a:r>
          </a:p>
          <a:p>
            <a:r>
              <a:rPr lang="pt-BR" sz="2200" dirty="0"/>
              <a:t>            </a:t>
            </a:r>
            <a:r>
              <a:rPr lang="pt-BR" sz="2200" dirty="0" err="1"/>
              <a:t>arq.write</a:t>
            </a:r>
            <a:r>
              <a:rPr lang="pt-BR" sz="2200" dirty="0"/>
              <a:t>(linha + '\n')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62D91C-4410-DD7D-9187-055657970CDD}"/>
              </a:ext>
            </a:extLst>
          </p:cNvPr>
          <p:cNvSpPr txBox="1"/>
          <p:nvPr/>
        </p:nvSpPr>
        <p:spPr>
          <a:xfrm>
            <a:off x="6936533" y="1353344"/>
            <a:ext cx="5273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 err="1"/>
              <a:t>def</a:t>
            </a:r>
            <a:r>
              <a:rPr lang="pt-BR" sz="2200" dirty="0"/>
              <a:t> lerTexto(nomeArquivo):</a:t>
            </a:r>
          </a:p>
          <a:p>
            <a:r>
              <a:rPr lang="pt-BR" sz="2200" b="1" i="1" dirty="0">
                <a:solidFill>
                  <a:srgbClr val="0070C0"/>
                </a:solidFill>
              </a:rPr>
              <a:t># abre o arq. no modo leitura e lê tudo</a:t>
            </a:r>
          </a:p>
          <a:p>
            <a:r>
              <a:rPr lang="pt-BR" sz="2200" dirty="0"/>
              <a:t>    with open(nomeArquivo, 'r') as </a:t>
            </a:r>
            <a:r>
              <a:rPr lang="pt-BR" sz="2200" dirty="0" err="1"/>
              <a:t>arq</a:t>
            </a:r>
            <a:r>
              <a:rPr lang="pt-BR" sz="2200" dirty="0"/>
              <a:t>:</a:t>
            </a:r>
          </a:p>
          <a:p>
            <a:r>
              <a:rPr lang="pt-BR" sz="2200" dirty="0"/>
              <a:t>        conteudo = </a:t>
            </a:r>
            <a:r>
              <a:rPr lang="pt-BR" sz="2200" dirty="0" err="1"/>
              <a:t>arq.read</a:t>
            </a:r>
            <a:r>
              <a:rPr lang="pt-BR" sz="2200" dirty="0"/>
              <a:t>()</a:t>
            </a:r>
          </a:p>
          <a:p>
            <a:r>
              <a:rPr lang="pt-BR" sz="2200" dirty="0"/>
              <a:t>    </a:t>
            </a:r>
            <a:r>
              <a:rPr lang="pt-BR" sz="2200" dirty="0" err="1"/>
              <a:t>return</a:t>
            </a:r>
            <a:r>
              <a:rPr lang="pt-BR" sz="2200" dirty="0"/>
              <a:t> conteudo</a:t>
            </a:r>
          </a:p>
          <a:p>
            <a:endParaRPr lang="pt-BR" sz="1000" dirty="0"/>
          </a:p>
          <a:p>
            <a:r>
              <a:rPr lang="pt-BR" sz="2200" dirty="0" err="1"/>
              <a:t>arq</a:t>
            </a:r>
            <a:r>
              <a:rPr lang="pt-BR" sz="2200" dirty="0"/>
              <a:t> = 'meu_texto.txt’ </a:t>
            </a:r>
            <a:r>
              <a:rPr lang="pt-BR" sz="2200" b="1" dirty="0">
                <a:solidFill>
                  <a:srgbClr val="0070C0"/>
                </a:solidFill>
              </a:rPr>
              <a:t># Prog. Principal</a:t>
            </a:r>
          </a:p>
          <a:p>
            <a:endParaRPr lang="pt-BR" sz="1000" dirty="0"/>
          </a:p>
          <a:p>
            <a:r>
              <a:rPr lang="pt-BR" sz="2200" b="1" i="1" dirty="0">
                <a:solidFill>
                  <a:srgbClr val="0070C0"/>
                </a:solidFill>
              </a:rPr>
              <a:t># grava o texto digitado pelo usuário</a:t>
            </a:r>
          </a:p>
          <a:p>
            <a:r>
              <a:rPr lang="pt-BR" sz="2200" dirty="0"/>
              <a:t>gravarTexto(</a:t>
            </a:r>
            <a:r>
              <a:rPr lang="pt-BR" sz="2200" dirty="0" err="1"/>
              <a:t>arq</a:t>
            </a:r>
            <a:r>
              <a:rPr lang="pt-BR" sz="2200" dirty="0"/>
              <a:t>)</a:t>
            </a:r>
          </a:p>
          <a:p>
            <a:endParaRPr lang="pt-BR" sz="1000" dirty="0"/>
          </a:p>
          <a:p>
            <a:r>
              <a:rPr lang="pt-BR" sz="2200" b="1" i="1" dirty="0">
                <a:solidFill>
                  <a:srgbClr val="0070C0"/>
                </a:solidFill>
              </a:rPr>
              <a:t># lê o texto gravado</a:t>
            </a:r>
          </a:p>
          <a:p>
            <a:r>
              <a:rPr lang="pt-BR" sz="2200" dirty="0"/>
              <a:t>conteudo = lerTexto(</a:t>
            </a:r>
            <a:r>
              <a:rPr lang="pt-BR" sz="2200" dirty="0" err="1"/>
              <a:t>arq</a:t>
            </a:r>
            <a:r>
              <a:rPr lang="pt-BR" sz="2200" dirty="0"/>
              <a:t>)</a:t>
            </a:r>
          </a:p>
          <a:p>
            <a:endParaRPr lang="pt-BR" sz="1000" dirty="0"/>
          </a:p>
          <a:p>
            <a:r>
              <a:rPr lang="pt-BR" sz="2200" b="1" i="1" dirty="0">
                <a:solidFill>
                  <a:srgbClr val="0070C0"/>
                </a:solidFill>
              </a:rPr>
              <a:t># mostra na tela</a:t>
            </a:r>
          </a:p>
          <a:p>
            <a:r>
              <a:rPr lang="pt-BR" sz="2200" dirty="0"/>
              <a:t>print("\</a:t>
            </a:r>
            <a:r>
              <a:rPr lang="pt-BR" sz="2200" dirty="0" err="1"/>
              <a:t>nTexto</a:t>
            </a:r>
            <a:r>
              <a:rPr lang="pt-BR" sz="2200" dirty="0"/>
              <a:t> lido do arquivo:")</a:t>
            </a:r>
          </a:p>
          <a:p>
            <a:r>
              <a:rPr lang="pt-BR" sz="2200" dirty="0"/>
              <a:t>print(conteudo)</a:t>
            </a:r>
          </a:p>
        </p:txBody>
      </p:sp>
    </p:spTree>
    <p:extLst>
      <p:ext uri="{BB962C8B-B14F-4D97-AF65-F5344CB8AC3E}">
        <p14:creationId xmlns:p14="http://schemas.microsoft.com/office/powerpoint/2010/main" val="2255897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B87950-0B59-B407-EEAF-9E803416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A3CF8E-623D-AEB8-89FB-5BDCC814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Cap11.Prog01  -  Cap11-Prog02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96A786-BE76-7FA3-2B51-B62B312F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33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955E8F7-6A0B-6FAD-DDEF-BC9E607C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FEC0C7-03B4-DF08-C96B-44311FC4CB66}"/>
              </a:ext>
            </a:extLst>
          </p:cNvPr>
          <p:cNvSpPr txBox="1"/>
          <p:nvPr/>
        </p:nvSpPr>
        <p:spPr>
          <a:xfrm>
            <a:off x="752099" y="1546523"/>
            <a:ext cx="109149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indent="-365125" algn="l"/>
            <a:r>
              <a:rPr lang="pt-BR" sz="2800" b="0" i="0" u="none" strike="noStrike" baseline="0" dirty="0">
                <a:latin typeface="CIDFont+F3"/>
              </a:rPr>
              <a:t>1. Faça um programa que gere um arquivo com 5 nomes e idades aleatórios</a:t>
            </a:r>
            <a:r>
              <a:rPr lang="pt-BR" sz="2800" dirty="0">
                <a:latin typeface="CIDFont+F3"/>
              </a:rPr>
              <a:t>, a partir de duas listas. A saber, uma que contenha 5 nomes e outra com sobrenomes. Essas duas listas já devem estar criadas dentro da declaração de variáveis.</a:t>
            </a:r>
            <a:endParaRPr lang="pt-BR" sz="2800" b="0" i="0" u="none" strike="noStrike" baseline="0" dirty="0">
              <a:latin typeface="CIDFont+F3"/>
            </a:endParaRPr>
          </a:p>
          <a:p>
            <a:pPr marL="625475" indent="-269875" algn="l"/>
            <a:r>
              <a:rPr lang="pt-BR" sz="2800" b="0" i="0" u="none" strike="noStrike" baseline="0" dirty="0">
                <a:latin typeface="CIDFont+F3"/>
              </a:rPr>
              <a:t>• Cada linha do arquivo resultante deve conter um nome completo e a sua idade. O nome do arquivo deve ser “nomes_e_idades.txt”.</a:t>
            </a:r>
          </a:p>
          <a:p>
            <a:pPr marL="271463" algn="l"/>
            <a:endParaRPr lang="pt-BR" sz="2800" b="0" i="0" u="none" strike="noStrike" baseline="0" dirty="0">
              <a:latin typeface="CIDFont+F3"/>
            </a:endParaRPr>
          </a:p>
          <a:p>
            <a:pPr marL="355600" indent="-355600" algn="l"/>
            <a:r>
              <a:rPr lang="pt-BR" sz="2800" b="0" i="0" u="none" strike="noStrike" baseline="0" dirty="0">
                <a:latin typeface="CIDFont+F3"/>
              </a:rPr>
              <a:t>2. Estenda o exemplo do cadastro para considerar também a altura da pessoa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499062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B87950-0B59-B407-EEAF-9E803416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A3CF8E-623D-AEB8-89FB-5BDCC814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Cap11.Prog03  -  Cap11-Prog04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96A786-BE76-7FA3-2B51-B62B312F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34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955E8F7-6A0B-6FAD-DDEF-BC9E607C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FEC0C7-03B4-DF08-C96B-44311FC4CB66}"/>
              </a:ext>
            </a:extLst>
          </p:cNvPr>
          <p:cNvSpPr txBox="1"/>
          <p:nvPr/>
        </p:nvSpPr>
        <p:spPr>
          <a:xfrm>
            <a:off x="666784" y="1592689"/>
            <a:ext cx="112007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 algn="just"/>
            <a:r>
              <a:rPr lang="pt-BR" sz="2400" b="0" i="0" u="none" strike="noStrike" baseline="0" dirty="0">
                <a:latin typeface="CIDFont+F3"/>
              </a:rPr>
              <a:t>3. Escreva um programa em </a:t>
            </a:r>
            <a:r>
              <a:rPr lang="pt-BR" sz="2400" b="0" i="0" u="none" strike="noStrike" baseline="0" dirty="0" err="1">
                <a:latin typeface="CIDFont+F3"/>
              </a:rPr>
              <a:t>python</a:t>
            </a:r>
            <a:r>
              <a:rPr lang="pt-BR" sz="2400" b="0" i="0" u="none" strike="noStrike" baseline="0" dirty="0">
                <a:latin typeface="CIDFont+F3"/>
              </a:rPr>
              <a:t> que chame uma função que recebe dois nomes de arquivos e copia o conteúdo do primeiro arquivo para o segundo arquivo. Considere que o conteúdo do arquivo de origem é um texto. Sua função não deve copiar linhas comentadas (que começam com // ou #)</a:t>
            </a:r>
          </a:p>
          <a:p>
            <a:pPr algn="l"/>
            <a:endParaRPr lang="pt-BR" sz="2400" b="0" i="0" u="none" strike="noStrike" baseline="0" dirty="0">
              <a:latin typeface="CIDFont+F3"/>
            </a:endParaRPr>
          </a:p>
          <a:p>
            <a:pPr marL="355600" indent="-355600" algn="just"/>
            <a:r>
              <a:rPr lang="pt-BR" sz="2400" b="0" i="0" u="none" strike="noStrike" baseline="0" dirty="0">
                <a:latin typeface="CIDFont+F3"/>
              </a:rPr>
              <a:t>4. Faça um programa contendo uma função que recebe como argumentos os nomes de dois arquivos. O primeiro arquivo contém nomes de alunos e o segundo arquivo contém as notas dos alunos. No primeiro arquivo, cada linha corresponde ao nome de um aluno e no segundo arquivo, cada linha corresponde às notas dos alunos (uma ou mais). Ass</a:t>
            </a:r>
            <a:r>
              <a:rPr lang="pt-BR" sz="2400" b="0" i="0" strike="noStrike" baseline="0" dirty="0">
                <a:latin typeface="CIDFont+F3"/>
              </a:rPr>
              <a:t>um</a:t>
            </a:r>
            <a:r>
              <a:rPr lang="pt-BR" sz="2400" b="0" i="0" u="none" strike="noStrike" baseline="0" dirty="0">
                <a:latin typeface="CIDFont+F3"/>
              </a:rPr>
              <a:t>a que as notas foram armazenadas como strings, e estão separadas umas das outras por espaços em branco. Leia os dois arquivos e gere um terceiro arquivo que contém o nome do aluno seguido da média de suas notas.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353738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B87950-0B59-B407-EEAF-9E803416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A3CF8E-623D-AEB8-89FB-5BDCC814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90216"/>
            <a:ext cx="9284676" cy="365125"/>
          </a:xfrm>
        </p:spPr>
        <p:txBody>
          <a:bodyPr/>
          <a:lstStyle/>
          <a:p>
            <a:r>
              <a:rPr lang="pt-BR" sz="1600" b="1" dirty="0"/>
              <a:t>Cap11.Cap05  Cap11-Prog06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96A786-BE76-7FA3-2B51-B62B312F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35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955E8F7-6A0B-6FAD-DDEF-BC9E607C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FEC0C7-03B4-DF08-C96B-44311FC4CB66}"/>
              </a:ext>
            </a:extLst>
          </p:cNvPr>
          <p:cNvSpPr txBox="1"/>
          <p:nvPr/>
        </p:nvSpPr>
        <p:spPr>
          <a:xfrm>
            <a:off x="752099" y="1546523"/>
            <a:ext cx="108472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 algn="just"/>
            <a:r>
              <a:rPr lang="pt-BR" sz="2800" b="0" i="0" u="none" strike="noStrike" baseline="0" dirty="0">
                <a:latin typeface="CIDFont+F3"/>
              </a:rPr>
              <a:t>5. Faça um programa para alterar uma das notas de um aluno (usando os arquivos do exercício anterior). O programa deve ter uma função que recebe o nome do aluno, a nota velha e a nova nota. A função deve fazer a alteração no arquivo.</a:t>
            </a:r>
          </a:p>
          <a:p>
            <a:pPr algn="l"/>
            <a:endParaRPr lang="pt-BR" sz="2800" b="0" i="0" u="none" strike="noStrike" baseline="0" dirty="0">
              <a:latin typeface="CIDFont+F3"/>
            </a:endParaRPr>
          </a:p>
          <a:p>
            <a:pPr marL="355600" indent="-355600" algn="just"/>
            <a:r>
              <a:rPr lang="pt-BR" sz="2800" b="0" i="0" u="none" strike="noStrike" baseline="0" dirty="0">
                <a:latin typeface="CIDFont+F3"/>
              </a:rPr>
              <a:t>6. Faça uma função que leia um arquivo texto contendo uma lista de endereços IP e gere dois outros arquivos, um contendo os endereços IP válidos e outro contendo os endereços inválidos. O formato de um endereço IP é </a:t>
            </a:r>
            <a:r>
              <a:rPr lang="pt-BR" sz="2800" b="0" i="0" u="none" strike="noStrike" baseline="0" dirty="0">
                <a:latin typeface="CIDFont+F4"/>
              </a:rPr>
              <a:t>num1.num.num.num</a:t>
            </a:r>
            <a:r>
              <a:rPr lang="pt-BR" sz="2800" b="0" i="0" u="none" strike="noStrike" baseline="0" dirty="0">
                <a:latin typeface="CIDFont+F3"/>
              </a:rPr>
              <a:t>, onde </a:t>
            </a:r>
            <a:r>
              <a:rPr lang="pt-BR" sz="2800" b="0" i="0" u="none" strike="noStrike" baseline="0" dirty="0">
                <a:latin typeface="CIDFont+F4"/>
              </a:rPr>
              <a:t>num1 </a:t>
            </a:r>
            <a:r>
              <a:rPr lang="pt-BR" sz="2800" b="0" i="0" u="none" strike="noStrike" baseline="0" dirty="0">
                <a:latin typeface="CIDFont+F3"/>
              </a:rPr>
              <a:t>vai de 1 a 255 e </a:t>
            </a:r>
            <a:r>
              <a:rPr lang="pt-BR" sz="2800" b="0" i="0" u="none" strike="noStrike" baseline="0" dirty="0">
                <a:latin typeface="CIDFont+F4"/>
              </a:rPr>
              <a:t>num </a:t>
            </a:r>
            <a:r>
              <a:rPr lang="pt-BR" sz="2800" b="0" i="0" u="none" strike="noStrike" baseline="0" dirty="0">
                <a:latin typeface="CIDFont+F3"/>
              </a:rPr>
              <a:t>vai de 0 a 255.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27367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B87950-0B59-B407-EEAF-9E803416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A3CF8E-623D-AEB8-89FB-5BDCC814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90216"/>
            <a:ext cx="9284676" cy="365125"/>
          </a:xfrm>
        </p:spPr>
        <p:txBody>
          <a:bodyPr/>
          <a:lstStyle/>
          <a:p>
            <a:r>
              <a:rPr lang="pt-BR" sz="1600" b="1" dirty="0"/>
              <a:t>Cap11-Prog07 - Cap11-Cap08  Cap11-Prog09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96A786-BE76-7FA3-2B51-B62B312F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36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955E8F7-6A0B-6FAD-DDEF-BC9E607C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FEC0C7-03B4-DF08-C96B-44311FC4CB66}"/>
              </a:ext>
            </a:extLst>
          </p:cNvPr>
          <p:cNvSpPr txBox="1"/>
          <p:nvPr/>
        </p:nvSpPr>
        <p:spPr>
          <a:xfrm>
            <a:off x="752099" y="1546523"/>
            <a:ext cx="108472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9738" indent="-439738" algn="just"/>
            <a:r>
              <a:rPr lang="pt-BR" sz="2800" b="0" i="0" u="none" strike="noStrike" baseline="0" dirty="0">
                <a:latin typeface="CIDFont+F3"/>
              </a:rPr>
              <a:t>7. </a:t>
            </a:r>
            <a:r>
              <a:rPr lang="pt-BR" sz="2800" dirty="0"/>
              <a:t>Faça um programa que receba do usuário um arquivo texto e mostre na tela quantas linhas esse arquivo possui. </a:t>
            </a:r>
          </a:p>
          <a:p>
            <a:pPr algn="l"/>
            <a:endParaRPr lang="pt-BR" sz="2800" dirty="0"/>
          </a:p>
          <a:p>
            <a:pPr marL="439738" indent="-439738" algn="just"/>
            <a:r>
              <a:rPr lang="pt-BR" sz="2800" dirty="0"/>
              <a:t>8. Faça um programa que receba do usuário um arquivo texto e mostre na tela quantas letras são vogais.</a:t>
            </a:r>
          </a:p>
          <a:p>
            <a:pPr marL="439738" indent="-439738" algn="just"/>
            <a:endParaRPr lang="pt-BR" sz="2800" b="0" i="0" u="none" strike="noStrike" baseline="0" dirty="0">
              <a:latin typeface="CIDFont+F3"/>
            </a:endParaRPr>
          </a:p>
          <a:p>
            <a:pPr marL="439738" indent="-439738" algn="just"/>
            <a:r>
              <a:rPr lang="pt-BR" sz="2800" dirty="0"/>
              <a:t>9.  Faça um programa que permita que o usuário entre com diversos nomes e telefone para cadastro, e crie um arquivo com essas informações, uma por linha. O usuário finaliza a entrada com ‘0’ para o telefone.</a:t>
            </a:r>
            <a:endParaRPr lang="pt-BR" sz="2800" dirty="0">
              <a:latin typeface="CIDFont+F3"/>
            </a:endParaRPr>
          </a:p>
        </p:txBody>
      </p:sp>
    </p:spTree>
    <p:extLst>
      <p:ext uri="{BB962C8B-B14F-4D97-AF65-F5344CB8AC3E}">
        <p14:creationId xmlns:p14="http://schemas.microsoft.com/office/powerpoint/2010/main" val="2697755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B87950-0B59-B407-EEAF-9E803416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A3CF8E-623D-AEB8-89FB-5BDCC814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90216"/>
            <a:ext cx="9284676" cy="365125"/>
          </a:xfrm>
        </p:spPr>
        <p:txBody>
          <a:bodyPr/>
          <a:lstStyle/>
          <a:p>
            <a:r>
              <a:rPr lang="pt-BR" sz="1600" b="1" dirty="0"/>
              <a:t>Cap11-Prog10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96A786-BE76-7FA3-2B51-B62B312F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rgbClr val="2C110C"/>
                </a:solidFill>
              </a:rPr>
              <a:pPr algn="r"/>
              <a:t>37</a:t>
            </a:fld>
            <a:endParaRPr lang="pt-BR" b="1" dirty="0">
              <a:solidFill>
                <a:srgbClr val="2C110C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955E8F7-6A0B-6FAD-DDEF-BC9E607C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Exercícios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599B2AB-5852-5414-7E9E-FAC80B55516E}"/>
              </a:ext>
            </a:extLst>
          </p:cNvPr>
          <p:cNvSpPr txBox="1"/>
          <p:nvPr/>
        </p:nvSpPr>
        <p:spPr>
          <a:xfrm>
            <a:off x="844061" y="1353344"/>
            <a:ext cx="105182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sz="2400" dirty="0"/>
          </a:p>
          <a:p>
            <a:pPr marL="541338" indent="-541338" algn="just"/>
            <a:r>
              <a:rPr lang="pt-BR" sz="2400" dirty="0"/>
              <a:t>10. Faça um programa que receba do usuário a entrada dos dados de um arquivo que conterá o nome e a nota de diversos alunos (da seguinte forma:  JOAO 8.5), um aluno por linha. Se o arquivo já existir deverá ser recriado, sem os dados anteriores.</a:t>
            </a:r>
          </a:p>
          <a:p>
            <a:pPr marL="355600" indent="-355600" algn="just"/>
            <a:r>
              <a:rPr lang="pt-BR" sz="2400" dirty="0"/>
              <a:t>       a)  Liste os nomes e as respectivas notas de cada aluno.</a:t>
            </a:r>
          </a:p>
          <a:p>
            <a:pPr marL="439738" algn="just"/>
            <a:r>
              <a:rPr lang="pt-BR" sz="2400" dirty="0"/>
              <a:t>b)  Mostre  na tela o nome e a nota do aluno que possui a maior nota.</a:t>
            </a:r>
          </a:p>
          <a:p>
            <a:pPr marL="439738" algn="just"/>
            <a:r>
              <a:rPr lang="pt-BR" sz="2400" dirty="0"/>
              <a:t>c)  Mostre  na tela o nome e a nota do aluno que possui a menor nota.</a:t>
            </a:r>
          </a:p>
          <a:p>
            <a:pPr marL="439738" algn="just"/>
            <a:r>
              <a:rPr lang="pt-BR" sz="2400" dirty="0"/>
              <a:t>c)  A média das notas dos alunos.</a:t>
            </a:r>
          </a:p>
          <a:p>
            <a:pPr marL="342900" indent="-342900" algn="just">
              <a:buAutoNum type="alphaLcParenR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2531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a7b03c-4792-4e17-9dab-b93b92a33270">
      <Terms xmlns="http://schemas.microsoft.com/office/infopath/2007/PartnerControls"/>
    </lcf76f155ced4ddcb4097134ff3c332f>
    <TaxCatchAll xmlns="5c7a6bef-5354-4968-b627-13d8ea6c420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3A580C3F0644BAE65217E90A3571B" ma:contentTypeVersion="10" ma:contentTypeDescription="Crie um novo documento." ma:contentTypeScope="" ma:versionID="17db1123b059ccd9b7a0137fb695dfba">
  <xsd:schema xmlns:xsd="http://www.w3.org/2001/XMLSchema" xmlns:xs="http://www.w3.org/2001/XMLSchema" xmlns:p="http://schemas.microsoft.com/office/2006/metadata/properties" xmlns:ns2="30a7b03c-4792-4e17-9dab-b93b92a33270" xmlns:ns3="5c7a6bef-5354-4968-b627-13d8ea6c420d" targetNamespace="http://schemas.microsoft.com/office/2006/metadata/properties" ma:root="true" ma:fieldsID="8a52f4d396bca3b056e9e32e12d83d9c" ns2:_="" ns3:_="">
    <xsd:import namespace="30a7b03c-4792-4e17-9dab-b93b92a33270"/>
    <xsd:import namespace="5c7a6bef-5354-4968-b627-13d8ea6c42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b03c-4792-4e17-9dab-b93b92a332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666036a-182f-4ecd-b44e-d420e52619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6bef-5354-4968-b627-13d8ea6c42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3475c2-86e0-40c6-a7f9-d735a9095961}" ma:internalName="TaxCatchAll" ma:showField="CatchAllData" ma:web="5c7a6bef-5354-4968-b627-13d8ea6c42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1AA78D-9F66-42E3-89AD-E4C2B6C3A57E}">
  <ds:schemaRefs>
    <ds:schemaRef ds:uri="http://schemas.microsoft.com/office/2006/metadata/properties"/>
    <ds:schemaRef ds:uri="http://schemas.microsoft.com/office/infopath/2007/PartnerControls"/>
    <ds:schemaRef ds:uri="30a7b03c-4792-4e17-9dab-b93b92a33270"/>
    <ds:schemaRef ds:uri="5c7a6bef-5354-4968-b627-13d8ea6c420d"/>
  </ds:schemaRefs>
</ds:datastoreItem>
</file>

<file path=customXml/itemProps2.xml><?xml version="1.0" encoding="utf-8"?>
<ds:datastoreItem xmlns:ds="http://schemas.openxmlformats.org/officeDocument/2006/customXml" ds:itemID="{95ADAC01-00D3-48A6-8D51-2BDD517422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b03c-4792-4e17-9dab-b93b92a33270"/>
    <ds:schemaRef ds:uri="5c7a6bef-5354-4968-b627-13d8ea6c42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E561E-B4B1-4990-9280-5AD3F03B2B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19835</TotalTime>
  <Words>3534</Words>
  <Application>Microsoft Office PowerPoint</Application>
  <PresentationFormat>Widescreen</PresentationFormat>
  <Paragraphs>544</Paragraphs>
  <Slides>37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38" baseType="lpstr">
      <vt:lpstr>Tema do Office</vt:lpstr>
      <vt:lpstr>              Centro Federal de Educação Tecnológica Celso Suckow da Fonseca Escola de Informática e Computação Ciência da Computação</vt:lpstr>
      <vt:lpstr>Arquivos</vt:lpstr>
      <vt:lpstr>Motivação</vt:lpstr>
      <vt:lpstr>Operações Básicas</vt:lpstr>
      <vt:lpstr>Escrita em Arquivos</vt:lpstr>
      <vt:lpstr>Escrevendo Números Aleatórios no monitor</vt:lpstr>
      <vt:lpstr>Escrevendo Números Aleatórios em um arquivo</vt:lpstr>
      <vt:lpstr>Forma mais fácil e intuitiva</vt:lpstr>
      <vt:lpstr>Leitura do Arquivo</vt:lpstr>
      <vt:lpstr>Lendo 10 números do teclado e escrevendo a média na tela</vt:lpstr>
      <vt:lpstr>Lendo 10 números de um arquivo e escrevendo a média na tela</vt:lpstr>
      <vt:lpstr>Fazendo de outra forma...</vt:lpstr>
      <vt:lpstr>Forma mais fácil e intuitiva</vt:lpstr>
      <vt:lpstr>map(função, iterável)</vt:lpstr>
      <vt:lpstr>Função lambda</vt:lpstr>
      <vt:lpstr>Forma mais fácil e intuitiva (2)</vt:lpstr>
      <vt:lpstr>Agora usando o comando while...</vt:lpstr>
      <vt:lpstr>Detalhes do Comando de Abertura do Arquivo</vt:lpstr>
      <vt:lpstr>Detalhes do Comando de Abertura do Arquivo</vt:lpstr>
      <vt:lpstr>Como funciona um buffer ?</vt:lpstr>
      <vt:lpstr>Detalhes do Comando de Escrita</vt:lpstr>
      <vt:lpstr>Detalhes do Comando de Escrita</vt:lpstr>
      <vt:lpstr>Detalhes do Comando de Escrita</vt:lpstr>
      <vt:lpstr>Detalhes do Comando de Escrita</vt:lpstr>
      <vt:lpstr>Copiando dois Arquivos</vt:lpstr>
      <vt:lpstr>Arquivos Texto: Sempre String</vt:lpstr>
      <vt:lpstr>Interação com o Sistema Operacional</vt:lpstr>
      <vt:lpstr>Funções do Módulo OS</vt:lpstr>
      <vt:lpstr>Funções do Módulo OS</vt:lpstr>
      <vt:lpstr>Curiosidades</vt:lpstr>
      <vt:lpstr>Uso do Try, With, Finally e As</vt:lpstr>
      <vt:lpstr>Exemplo de Gravação/Leitura de Arquivo Texto</vt:lpstr>
      <vt:lpstr>Exercícios</vt:lpstr>
      <vt:lpstr>Exercícios</vt:lpstr>
      <vt:lpstr>Exercícios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ALMIR SILVA DA SILVEIRA</dc:creator>
  <cp:lastModifiedBy>ALMIR SILVA DA SILVEIRA</cp:lastModifiedBy>
  <cp:revision>380</cp:revision>
  <dcterms:created xsi:type="dcterms:W3CDTF">2024-07-25T18:00:53Z</dcterms:created>
  <dcterms:modified xsi:type="dcterms:W3CDTF">2026-06-20T19:21:42Z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0x01010024A3A580C3F0644BAE65217E90A3571B</vt:lpwstr>
  </property>
  <property fmtid="{D5CDD505-2E9C-101B-9397-08002B2CF9AE}" pid="3" name="MediaServiceImageTags">
    <vt:lpwstr/>
  </property>
</Properties>
</file>