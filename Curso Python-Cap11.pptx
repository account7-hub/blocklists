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3"/>
  </p:notesMasterIdLst>
  <p:handoutMasterIdLst>
    <p:handoutMasterId r:id="rId54"/>
  </p:handoutMasterIdLst>
  <p:sldIdLst>
    <p:sldId id="258" r:id="rId2"/>
    <p:sldId id="260" r:id="rId3"/>
    <p:sldId id="291" r:id="rId4"/>
    <p:sldId id="261" r:id="rId5"/>
    <p:sldId id="263" r:id="rId6"/>
    <p:sldId id="294" r:id="rId7"/>
    <p:sldId id="300" r:id="rId8"/>
    <p:sldId id="292" r:id="rId9"/>
    <p:sldId id="297" r:id="rId10"/>
    <p:sldId id="295" r:id="rId11"/>
    <p:sldId id="296" r:id="rId12"/>
    <p:sldId id="269" r:id="rId13"/>
    <p:sldId id="270" r:id="rId14"/>
    <p:sldId id="340" r:id="rId15"/>
    <p:sldId id="341" r:id="rId16"/>
    <p:sldId id="342" r:id="rId17"/>
    <p:sldId id="343" r:id="rId18"/>
    <p:sldId id="356" r:id="rId19"/>
    <p:sldId id="345" r:id="rId20"/>
    <p:sldId id="346" r:id="rId21"/>
    <p:sldId id="321" r:id="rId22"/>
    <p:sldId id="322" r:id="rId23"/>
    <p:sldId id="323" r:id="rId24"/>
    <p:sldId id="324" r:id="rId25"/>
    <p:sldId id="325" r:id="rId26"/>
    <p:sldId id="326" r:id="rId27"/>
    <p:sldId id="327" r:id="rId28"/>
    <p:sldId id="328" r:id="rId29"/>
    <p:sldId id="329" r:id="rId30"/>
    <p:sldId id="303" r:id="rId31"/>
    <p:sldId id="339" r:id="rId32"/>
    <p:sldId id="311" r:id="rId33"/>
    <p:sldId id="320" r:id="rId34"/>
    <p:sldId id="312" r:id="rId35"/>
    <p:sldId id="337" r:id="rId36"/>
    <p:sldId id="338" r:id="rId37"/>
    <p:sldId id="313" r:id="rId38"/>
    <p:sldId id="314" r:id="rId39"/>
    <p:sldId id="315" r:id="rId40"/>
    <p:sldId id="317" r:id="rId41"/>
    <p:sldId id="318" r:id="rId42"/>
    <p:sldId id="316" r:id="rId43"/>
    <p:sldId id="302" r:id="rId44"/>
    <p:sldId id="304" r:id="rId45"/>
    <p:sldId id="305" r:id="rId46"/>
    <p:sldId id="306" r:id="rId47"/>
    <p:sldId id="347" r:id="rId48"/>
    <p:sldId id="308" r:id="rId49"/>
    <p:sldId id="309" r:id="rId50"/>
    <p:sldId id="268" r:id="rId51"/>
    <p:sldId id="310" r:id="rId52"/>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3300"/>
    <a:srgbClr val="0079B6"/>
    <a:srgbClr val="FC4810"/>
    <a:srgbClr val="FE4D2A"/>
    <a:srgbClr val="2D100B"/>
    <a:srgbClr val="2C110C"/>
    <a:srgbClr val="FFCC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enhum Estilo, Nenhuma Grad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269D01E-BC32-4049-B463-5C60D7B0CCD2}" styleName="Estilo com Tema 2 - Ênfase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41" autoAdjust="0"/>
    <p:restoredTop sz="89662" autoAdjust="0"/>
  </p:normalViewPr>
  <p:slideViewPr>
    <p:cSldViewPr snapToGrid="0">
      <p:cViewPr varScale="1">
        <p:scale>
          <a:sx n="67" d="100"/>
          <a:sy n="67" d="100"/>
        </p:scale>
        <p:origin x="558" y="78"/>
      </p:cViewPr>
      <p:guideLst/>
    </p:cSldViewPr>
  </p:slideViewPr>
  <p:notesTextViewPr>
    <p:cViewPr>
      <p:scale>
        <a:sx n="3" d="2"/>
        <a:sy n="3" d="2"/>
      </p:scale>
      <p:origin x="0" y="0"/>
    </p:cViewPr>
  </p:notesTextViewPr>
  <p:sorterViewPr>
    <p:cViewPr>
      <p:scale>
        <a:sx n="136" d="100"/>
        <a:sy n="136" d="100"/>
      </p:scale>
      <p:origin x="0" y="-12138"/>
    </p:cViewPr>
  </p:sorterViewPr>
  <p:notesViewPr>
    <p:cSldViewPr snapToGrid="0">
      <p:cViewPr>
        <p:scale>
          <a:sx n="75" d="100"/>
          <a:sy n="75" d="100"/>
        </p:scale>
        <p:origin x="2346" y="-6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3.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D7F6E95-DF0A-DDE8-9E53-D9371CC8254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7044EA07-597F-F819-7229-532D66BD13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ABDEF1-98DE-47F3-AB9B-696578D75E17}" type="datetimeFigureOut">
              <a:rPr lang="pt-BR" smtClean="0"/>
              <a:t>19/05/2026</a:t>
            </a:fld>
            <a:endParaRPr lang="pt-BR"/>
          </a:p>
        </p:txBody>
      </p:sp>
      <p:sp>
        <p:nvSpPr>
          <p:cNvPr id="4" name="Espaço Reservado para Rodapé 3">
            <a:extLst>
              <a:ext uri="{FF2B5EF4-FFF2-40B4-BE49-F238E27FC236}">
                <a16:creationId xmlns:a16="http://schemas.microsoft.com/office/drawing/2014/main" id="{8D97D246-3E04-820B-A4C8-7E38ADED397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EF651051-B63C-CCEF-B43D-06863876E8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A3027-C7E8-477B-B942-A004D5627CB8}" type="slidenum">
              <a:rPr lang="pt-BR" smtClean="0"/>
              <a:t>‹nº›</a:t>
            </a:fld>
            <a:endParaRPr lang="pt-BR"/>
          </a:p>
        </p:txBody>
      </p:sp>
    </p:spTree>
    <p:extLst>
      <p:ext uri="{BB962C8B-B14F-4D97-AF65-F5344CB8AC3E}">
        <p14:creationId xmlns:p14="http://schemas.microsoft.com/office/powerpoint/2010/main" val="16774030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FE62CF-6E2E-4950-A4C6-2F0629CEB57A}" type="datetimeFigureOut">
              <a:rPr lang="pt-BR" smtClean="0"/>
              <a:t>19/05/2026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754D19-40F4-4FB2-BB02-0ACB3B381977}" type="slidenum">
              <a:rPr lang="pt-BR" smtClean="0"/>
              <a:t>‹nº›</a:t>
            </a:fld>
            <a:endParaRPr lang="pt-BR"/>
          </a:p>
        </p:txBody>
      </p:sp>
    </p:spTree>
    <p:extLst>
      <p:ext uri="{BB962C8B-B14F-4D97-AF65-F5344CB8AC3E}">
        <p14:creationId xmlns:p14="http://schemas.microsoft.com/office/powerpoint/2010/main" val="3381155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EFA18-43B6-2412-7431-673BF20B14E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B9B921D-E440-E421-8B79-281E7C04F32C}"/>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7CAAC0F-73AA-6228-8B3A-B0B9C1DDF59D}"/>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AD58C1D2-2EA8-AC9E-FB36-F50508B7FE2F}"/>
              </a:ext>
            </a:extLst>
          </p:cNvPr>
          <p:cNvSpPr>
            <a:spLocks noGrp="1"/>
          </p:cNvSpPr>
          <p:nvPr>
            <p:ph type="sldNum" sz="quarter" idx="5"/>
          </p:nvPr>
        </p:nvSpPr>
        <p:spPr/>
        <p:txBody>
          <a:bodyPr/>
          <a:lstStyle/>
          <a:p>
            <a:fld id="{A2754D19-40F4-4FB2-BB02-0ACB3B381977}" type="slidenum">
              <a:rPr lang="pt-BR" smtClean="0"/>
              <a:t>8</a:t>
            </a:fld>
            <a:endParaRPr lang="pt-BR"/>
          </a:p>
        </p:txBody>
      </p:sp>
    </p:spTree>
    <p:extLst>
      <p:ext uri="{BB962C8B-B14F-4D97-AF65-F5344CB8AC3E}">
        <p14:creationId xmlns:p14="http://schemas.microsoft.com/office/powerpoint/2010/main" val="2543043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C580-FCB2-558B-AA7F-15B474FEC47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00A9F54-F040-11FC-76DE-BF6C8D394FB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BEB5A82-E921-B76F-C5B0-6268F0BE10A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72EA116E-CBC9-74DE-8FF9-753A6AA9DD77}"/>
              </a:ext>
            </a:extLst>
          </p:cNvPr>
          <p:cNvSpPr>
            <a:spLocks noGrp="1"/>
          </p:cNvSpPr>
          <p:nvPr>
            <p:ph type="sldNum" sz="quarter" idx="5"/>
          </p:nvPr>
        </p:nvSpPr>
        <p:spPr/>
        <p:txBody>
          <a:bodyPr/>
          <a:lstStyle/>
          <a:p>
            <a:fld id="{A2754D19-40F4-4FB2-BB02-0ACB3B381977}" type="slidenum">
              <a:rPr lang="pt-BR" smtClean="0"/>
              <a:t>9</a:t>
            </a:fld>
            <a:endParaRPr lang="pt-BR"/>
          </a:p>
        </p:txBody>
      </p:sp>
    </p:spTree>
    <p:extLst>
      <p:ext uri="{BB962C8B-B14F-4D97-AF65-F5344CB8AC3E}">
        <p14:creationId xmlns:p14="http://schemas.microsoft.com/office/powerpoint/2010/main" val="13865887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A5A9-C5DA-99F7-B926-C97BC3FA810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9F58954D-66E7-3246-E87E-92488C110D4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32E55DE-3B27-0613-3DDC-283C8E2C1B08}"/>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1BA8DEB-BFBD-3481-5681-D98B9CC28FFD}"/>
              </a:ext>
            </a:extLst>
          </p:cNvPr>
          <p:cNvSpPr>
            <a:spLocks noGrp="1"/>
          </p:cNvSpPr>
          <p:nvPr>
            <p:ph type="sldNum" sz="quarter" idx="5"/>
          </p:nvPr>
        </p:nvSpPr>
        <p:spPr/>
        <p:txBody>
          <a:bodyPr/>
          <a:lstStyle/>
          <a:p>
            <a:fld id="{A2754D19-40F4-4FB2-BB02-0ACB3B381977}" type="slidenum">
              <a:rPr lang="pt-BR" smtClean="0"/>
              <a:t>10</a:t>
            </a:fld>
            <a:endParaRPr lang="pt-BR"/>
          </a:p>
        </p:txBody>
      </p:sp>
    </p:spTree>
    <p:extLst>
      <p:ext uri="{BB962C8B-B14F-4D97-AF65-F5344CB8AC3E}">
        <p14:creationId xmlns:p14="http://schemas.microsoft.com/office/powerpoint/2010/main" val="2318945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AF174-5202-E9B8-3570-B67F4B66473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5F58482-FE66-CD0A-2B95-2DF81F2EF24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A1D1365-7764-EC93-1C24-F45C657C4632}"/>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E9647BB6-3977-233F-0FBF-16B3543E4A94}"/>
              </a:ext>
            </a:extLst>
          </p:cNvPr>
          <p:cNvSpPr>
            <a:spLocks noGrp="1"/>
          </p:cNvSpPr>
          <p:nvPr>
            <p:ph type="sldNum" sz="quarter" idx="5"/>
          </p:nvPr>
        </p:nvSpPr>
        <p:spPr/>
        <p:txBody>
          <a:bodyPr/>
          <a:lstStyle/>
          <a:p>
            <a:fld id="{A2754D19-40F4-4FB2-BB02-0ACB3B381977}" type="slidenum">
              <a:rPr lang="pt-BR" smtClean="0"/>
              <a:t>11</a:t>
            </a:fld>
            <a:endParaRPr lang="pt-BR"/>
          </a:p>
        </p:txBody>
      </p:sp>
    </p:spTree>
    <p:extLst>
      <p:ext uri="{BB962C8B-B14F-4D97-AF65-F5344CB8AC3E}">
        <p14:creationId xmlns:p14="http://schemas.microsoft.com/office/powerpoint/2010/main" val="1578468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A2754D19-40F4-4FB2-BB02-0ACB3B381977}" type="slidenum">
              <a:rPr lang="pt-BR" smtClean="0"/>
              <a:t>46</a:t>
            </a:fld>
            <a:endParaRPr lang="pt-BR"/>
          </a:p>
        </p:txBody>
      </p:sp>
    </p:spTree>
    <p:extLst>
      <p:ext uri="{BB962C8B-B14F-4D97-AF65-F5344CB8AC3E}">
        <p14:creationId xmlns:p14="http://schemas.microsoft.com/office/powerpoint/2010/main" val="2709975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F06BDC-F7DD-220C-CACB-623D63919B7F}"/>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6E61EF9C-808A-F892-ED25-C59BF26334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DD2C2D21-355A-B4C6-D7BF-FC594A57772A}"/>
              </a:ext>
            </a:extLst>
          </p:cNvPr>
          <p:cNvSpPr>
            <a:spLocks noGrp="1"/>
          </p:cNvSpPr>
          <p:nvPr>
            <p:ph type="dt" sz="half" idx="10"/>
          </p:nvPr>
        </p:nvSpPr>
        <p:spPr/>
        <p:txBody>
          <a:bodyPr/>
          <a:lstStyle/>
          <a:p>
            <a:r>
              <a:rPr lang="pt-BR"/>
              <a:t>25/07/2024</a:t>
            </a:r>
          </a:p>
        </p:txBody>
      </p:sp>
      <p:sp>
        <p:nvSpPr>
          <p:cNvPr id="5" name="Espaço Reservado para Rodapé 4">
            <a:extLst>
              <a:ext uri="{FF2B5EF4-FFF2-40B4-BE49-F238E27FC236}">
                <a16:creationId xmlns:a16="http://schemas.microsoft.com/office/drawing/2014/main" id="{B7F13E9C-3250-5D7A-CE51-894FCACB683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A0CD16C1-6D70-DEDF-955E-96C301AA61CC}"/>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4222112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sp>
        <p:nvSpPr>
          <p:cNvPr id="4" name="Espaço Reservado para Data 3">
            <a:extLst>
              <a:ext uri="{FF2B5EF4-FFF2-40B4-BE49-F238E27FC236}">
                <a16:creationId xmlns:a16="http://schemas.microsoft.com/office/drawing/2014/main" id="{9B8FA50B-B228-B2CB-4BBD-59790D442491}"/>
              </a:ext>
            </a:extLst>
          </p:cNvPr>
          <p:cNvSpPr>
            <a:spLocks noGrp="1"/>
          </p:cNvSpPr>
          <p:nvPr>
            <p:ph type="dt" sz="half" idx="10"/>
          </p:nvPr>
        </p:nvSpPr>
        <p:spPr>
          <a:xfrm>
            <a:off x="239151" y="6356350"/>
            <a:ext cx="1209821" cy="365125"/>
          </a:xfrm>
        </p:spPr>
        <p:txBody>
          <a:bodyPr/>
          <a:lstStyle>
            <a:lvl1pPr>
              <a:defRPr b="1"/>
            </a:lvl1pPr>
          </a:lstStyle>
          <a:p>
            <a:r>
              <a:rPr lang="pt-BR" dirty="0"/>
              <a:t>25/07/2024</a:t>
            </a:r>
          </a:p>
        </p:txBody>
      </p:sp>
      <p:sp>
        <p:nvSpPr>
          <p:cNvPr id="5" name="Espaço Reservado para Rodapé 4">
            <a:extLst>
              <a:ext uri="{FF2B5EF4-FFF2-40B4-BE49-F238E27FC236}">
                <a16:creationId xmlns:a16="http://schemas.microsoft.com/office/drawing/2014/main" id="{52A33E03-04D3-3C99-D4CC-393AD43778FB}"/>
              </a:ext>
            </a:extLst>
          </p:cNvPr>
          <p:cNvSpPr>
            <a:spLocks noGrp="1"/>
          </p:cNvSpPr>
          <p:nvPr>
            <p:ph type="ftr" sz="quarter" idx="11"/>
          </p:nvPr>
        </p:nvSpPr>
        <p:spPr>
          <a:xfrm>
            <a:off x="1645921" y="6356350"/>
            <a:ext cx="9284676" cy="365125"/>
          </a:xfrm>
        </p:spPr>
        <p:txBody>
          <a:bodyPr/>
          <a:lstStyle/>
          <a:p>
            <a:endParaRPr lang="pt-BR"/>
          </a:p>
        </p:txBody>
      </p:sp>
      <p:sp>
        <p:nvSpPr>
          <p:cNvPr id="6" name="Espaço Reservado para Número de Slide 5">
            <a:extLst>
              <a:ext uri="{FF2B5EF4-FFF2-40B4-BE49-F238E27FC236}">
                <a16:creationId xmlns:a16="http://schemas.microsoft.com/office/drawing/2014/main" id="{676D6B47-DA56-AC52-B164-35891B6B93F6}"/>
              </a:ext>
            </a:extLst>
          </p:cNvPr>
          <p:cNvSpPr>
            <a:spLocks noGrp="1"/>
          </p:cNvSpPr>
          <p:nvPr>
            <p:ph type="sldNum" sz="quarter" idx="12"/>
          </p:nvPr>
        </p:nvSpPr>
        <p:spPr>
          <a:xfrm>
            <a:off x="11079480" y="6356350"/>
            <a:ext cx="873369" cy="365125"/>
          </a:xfrm>
        </p:spPr>
        <p:txBody>
          <a:bodyPr/>
          <a:lstStyle>
            <a:lvl1pPr algn="l">
              <a:defRPr/>
            </a:lvl1pPr>
          </a:lstStyle>
          <a:p>
            <a:fld id="{250292FE-8D56-4E3A-9427-CB428FF60A53}" type="slidenum">
              <a:rPr lang="pt-BR" smtClean="0"/>
              <a:pPr/>
              <a:t>‹nº›</a:t>
            </a:fld>
            <a:endParaRPr lang="pt-BR" dirty="0"/>
          </a:p>
        </p:txBody>
      </p:sp>
      <p:sp>
        <p:nvSpPr>
          <p:cNvPr id="7" name="Título 1">
            <a:extLst>
              <a:ext uri="{FF2B5EF4-FFF2-40B4-BE49-F238E27FC236}">
                <a16:creationId xmlns:a16="http://schemas.microsoft.com/office/drawing/2014/main" id="{8107C4F4-2068-EDC6-F8E0-984352F65550}"/>
              </a:ext>
            </a:extLst>
          </p:cNvPr>
          <p:cNvSpPr>
            <a:spLocks noGrp="1"/>
          </p:cNvSpPr>
          <p:nvPr>
            <p:ph type="title"/>
          </p:nvPr>
        </p:nvSpPr>
        <p:spPr>
          <a:xfrm>
            <a:off x="2005532" y="365125"/>
            <a:ext cx="9862002" cy="988219"/>
          </a:xfrm>
        </p:spPr>
        <p:txBody>
          <a:bodyPr>
            <a:normAutofit/>
          </a:bodyPr>
          <a:lstStyle/>
          <a:p>
            <a:pPr algn="ctr"/>
            <a:r>
              <a:rPr lang="pt-BR" sz="1800" b="1" i="0" u="none" strike="noStrike" baseline="0" dirty="0">
                <a:solidFill>
                  <a:srgbClr val="4F81BC"/>
                </a:solidFill>
                <a:latin typeface="Arial" panose="020B0604020202020204" pitchFamily="34" charset="0"/>
              </a:rPr>
              <a:t>              Centro Federal de Educação Tecnológica Celso Suckow da Fonseca</a:t>
            </a:r>
            <a:br>
              <a:rPr lang="pt-BR" sz="1800" b="0" i="0" u="none" strike="noStrike" baseline="0" dirty="0">
                <a:solidFill>
                  <a:srgbClr val="4F81BC"/>
                </a:solidFill>
                <a:latin typeface="Arial" panose="020B0604020202020204" pitchFamily="34" charset="0"/>
              </a:rPr>
            </a:br>
            <a:r>
              <a:rPr lang="pt-BR" sz="1800" b="1" i="0" u="none" strike="noStrike" baseline="0" dirty="0">
                <a:solidFill>
                  <a:srgbClr val="4F81BC"/>
                </a:solidFill>
                <a:latin typeface="Arial" panose="020B0604020202020204" pitchFamily="34" charset="0"/>
              </a:rPr>
              <a:t>Escola de Informática e Computação</a:t>
            </a:r>
            <a:br>
              <a:rPr lang="pt-BR" sz="1800" b="0" i="0" u="none" strike="noStrike" baseline="0" dirty="0">
                <a:solidFill>
                  <a:srgbClr val="4F81BC"/>
                </a:solidFill>
                <a:latin typeface="Arial" panose="020B0604020202020204" pitchFamily="34" charset="0"/>
              </a:rPr>
            </a:br>
            <a:r>
              <a:rPr lang="pt-BR" sz="1800" b="1" i="0" u="none" strike="noStrike" baseline="0" dirty="0">
                <a:solidFill>
                  <a:srgbClr val="4F81BC"/>
                </a:solidFill>
                <a:latin typeface="Arial" panose="020B0604020202020204" pitchFamily="34" charset="0"/>
              </a:rPr>
              <a:t>Ciência da Computação</a:t>
            </a:r>
            <a:endParaRPr lang="pt-BR" dirty="0"/>
          </a:p>
        </p:txBody>
      </p:sp>
      <p:pic>
        <p:nvPicPr>
          <p:cNvPr id="8" name="Imagem 7">
            <a:extLst>
              <a:ext uri="{FF2B5EF4-FFF2-40B4-BE49-F238E27FC236}">
                <a16:creationId xmlns:a16="http://schemas.microsoft.com/office/drawing/2014/main" id="{5F5CB7DE-4FD2-82C8-8085-8522769A2684}"/>
              </a:ext>
            </a:extLst>
          </p:cNvPr>
          <p:cNvPicPr>
            <a:picLocks noChangeAspect="1"/>
          </p:cNvPicPr>
          <p:nvPr userDrawn="1"/>
        </p:nvPicPr>
        <p:blipFill>
          <a:blip r:embed="rId2"/>
          <a:stretch>
            <a:fillRect/>
          </a:stretch>
        </p:blipFill>
        <p:spPr>
          <a:xfrm>
            <a:off x="324466" y="349522"/>
            <a:ext cx="1681066" cy="988218"/>
          </a:xfrm>
          <a:prstGeom prst="rect">
            <a:avLst/>
          </a:prstGeom>
        </p:spPr>
      </p:pic>
    </p:spTree>
    <p:extLst>
      <p:ext uri="{BB962C8B-B14F-4D97-AF65-F5344CB8AC3E}">
        <p14:creationId xmlns:p14="http://schemas.microsoft.com/office/powerpoint/2010/main" val="1817846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30012B-5FFB-503A-93D2-2F43E17DD7B7}"/>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87AC1D0C-2F68-C972-9E1F-BA1FD83CB3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EE07B6F4-628B-9CD7-8F7F-2A56408445C5}"/>
              </a:ext>
            </a:extLst>
          </p:cNvPr>
          <p:cNvSpPr>
            <a:spLocks noGrp="1"/>
          </p:cNvSpPr>
          <p:nvPr>
            <p:ph type="dt" sz="half" idx="10"/>
          </p:nvPr>
        </p:nvSpPr>
        <p:spPr/>
        <p:txBody>
          <a:bodyPr/>
          <a:lstStyle/>
          <a:p>
            <a:r>
              <a:rPr lang="pt-BR"/>
              <a:t>25/07/2024</a:t>
            </a:r>
          </a:p>
        </p:txBody>
      </p:sp>
      <p:sp>
        <p:nvSpPr>
          <p:cNvPr id="5" name="Espaço Reservado para Rodapé 4">
            <a:extLst>
              <a:ext uri="{FF2B5EF4-FFF2-40B4-BE49-F238E27FC236}">
                <a16:creationId xmlns:a16="http://schemas.microsoft.com/office/drawing/2014/main" id="{76D11514-16C5-4418-818A-FDECA547580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1883EA9-82C8-DD6A-6F7E-A105293851CF}"/>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2556764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078F2E-F87A-28D2-5177-D8AF0FC549B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6BAD59D1-A894-70DE-B49C-7E1C42153B3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4FA1CB66-D4B3-0C42-5406-A39721499837}"/>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E25A9045-E299-D1BC-548E-DA60065BEA1F}"/>
              </a:ext>
            </a:extLst>
          </p:cNvPr>
          <p:cNvSpPr>
            <a:spLocks noGrp="1"/>
          </p:cNvSpPr>
          <p:nvPr>
            <p:ph type="dt" sz="half" idx="10"/>
          </p:nvPr>
        </p:nvSpPr>
        <p:spPr/>
        <p:txBody>
          <a:bodyPr/>
          <a:lstStyle/>
          <a:p>
            <a:r>
              <a:rPr lang="pt-BR"/>
              <a:t>25/07/2024</a:t>
            </a:r>
          </a:p>
        </p:txBody>
      </p:sp>
      <p:sp>
        <p:nvSpPr>
          <p:cNvPr id="6" name="Espaço Reservado para Rodapé 5">
            <a:extLst>
              <a:ext uri="{FF2B5EF4-FFF2-40B4-BE49-F238E27FC236}">
                <a16:creationId xmlns:a16="http://schemas.microsoft.com/office/drawing/2014/main" id="{95F861DB-B126-C096-C0C8-75EA29D0FD61}"/>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9B493C2C-87A8-7ADD-E4C9-5C96068C637B}"/>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4239064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F73ED7-1686-5F8A-10A9-F50F66036FCB}"/>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47DAE2A-0C8E-84B7-FF7F-0075E7B6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8B3C14A8-D0E9-8760-78FF-07B539BD886F}"/>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FE7A9A5-E119-FD4F-CCDF-BB396DFF68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705E3807-E3CF-D08F-555A-BAE67FCDCC91}"/>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4F527B8-39F7-34AC-744A-DB3EAF11ED68}"/>
              </a:ext>
            </a:extLst>
          </p:cNvPr>
          <p:cNvSpPr>
            <a:spLocks noGrp="1"/>
          </p:cNvSpPr>
          <p:nvPr>
            <p:ph type="dt" sz="half" idx="10"/>
          </p:nvPr>
        </p:nvSpPr>
        <p:spPr/>
        <p:txBody>
          <a:bodyPr/>
          <a:lstStyle/>
          <a:p>
            <a:r>
              <a:rPr lang="pt-BR"/>
              <a:t>25/07/2024</a:t>
            </a:r>
          </a:p>
        </p:txBody>
      </p:sp>
      <p:sp>
        <p:nvSpPr>
          <p:cNvPr id="8" name="Espaço Reservado para Rodapé 7">
            <a:extLst>
              <a:ext uri="{FF2B5EF4-FFF2-40B4-BE49-F238E27FC236}">
                <a16:creationId xmlns:a16="http://schemas.microsoft.com/office/drawing/2014/main" id="{1B187CDB-4CAD-C47F-7F68-4B977C131D25}"/>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6B03A58A-4C31-DEDB-994F-3A7473463DE6}"/>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237701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4EEE29-8BDC-371F-1F50-0966199940BB}"/>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63665B26-3B57-E9CD-FEE1-8F12BEB5CA57}"/>
              </a:ext>
            </a:extLst>
          </p:cNvPr>
          <p:cNvSpPr>
            <a:spLocks noGrp="1"/>
          </p:cNvSpPr>
          <p:nvPr>
            <p:ph type="dt" sz="half" idx="10"/>
          </p:nvPr>
        </p:nvSpPr>
        <p:spPr/>
        <p:txBody>
          <a:bodyPr/>
          <a:lstStyle/>
          <a:p>
            <a:r>
              <a:rPr lang="pt-BR"/>
              <a:t>25/07/2024</a:t>
            </a:r>
          </a:p>
        </p:txBody>
      </p:sp>
      <p:sp>
        <p:nvSpPr>
          <p:cNvPr id="4" name="Espaço Reservado para Rodapé 3">
            <a:extLst>
              <a:ext uri="{FF2B5EF4-FFF2-40B4-BE49-F238E27FC236}">
                <a16:creationId xmlns:a16="http://schemas.microsoft.com/office/drawing/2014/main" id="{C6300C64-73E3-2FDB-857F-DD1BF8000CF8}"/>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9C810EA3-9932-5C64-9D4A-2CF0AEFCE972}"/>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2906029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45D1DE8-C2E7-563C-BC88-550A37CDA33B}"/>
              </a:ext>
            </a:extLst>
          </p:cNvPr>
          <p:cNvSpPr>
            <a:spLocks noGrp="1"/>
          </p:cNvSpPr>
          <p:nvPr>
            <p:ph type="dt" sz="half" idx="10"/>
          </p:nvPr>
        </p:nvSpPr>
        <p:spPr/>
        <p:txBody>
          <a:bodyPr/>
          <a:lstStyle/>
          <a:p>
            <a:r>
              <a:rPr lang="pt-BR"/>
              <a:t>25/07/2024</a:t>
            </a:r>
          </a:p>
        </p:txBody>
      </p:sp>
      <p:sp>
        <p:nvSpPr>
          <p:cNvPr id="3" name="Espaço Reservado para Rodapé 2">
            <a:extLst>
              <a:ext uri="{FF2B5EF4-FFF2-40B4-BE49-F238E27FC236}">
                <a16:creationId xmlns:a16="http://schemas.microsoft.com/office/drawing/2014/main" id="{757F044E-5BF1-1E08-B412-3A8E378DF80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7522ECD8-BC8E-75AF-3253-F35E2EC8EE44}"/>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1129410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2A9D38-2472-977E-F0B5-2A8A7C3D51CB}"/>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ACAD1A9-6513-146C-8A98-E6EB5DC7BF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8A800B00-B279-50DA-DBD9-6C613A9D86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E9C20CA-FD74-F909-C6A2-CAFF4EC7C299}"/>
              </a:ext>
            </a:extLst>
          </p:cNvPr>
          <p:cNvSpPr>
            <a:spLocks noGrp="1"/>
          </p:cNvSpPr>
          <p:nvPr>
            <p:ph type="dt" sz="half" idx="10"/>
          </p:nvPr>
        </p:nvSpPr>
        <p:spPr/>
        <p:txBody>
          <a:bodyPr/>
          <a:lstStyle/>
          <a:p>
            <a:r>
              <a:rPr lang="pt-BR"/>
              <a:t>25/07/2024</a:t>
            </a:r>
          </a:p>
        </p:txBody>
      </p:sp>
      <p:sp>
        <p:nvSpPr>
          <p:cNvPr id="6" name="Espaço Reservado para Rodapé 5">
            <a:extLst>
              <a:ext uri="{FF2B5EF4-FFF2-40B4-BE49-F238E27FC236}">
                <a16:creationId xmlns:a16="http://schemas.microsoft.com/office/drawing/2014/main" id="{871E8670-D013-EC8F-D118-AB063F6855D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143CD7B-732D-B650-F141-5F79FB1972A0}"/>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744705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69DBC3-3401-A3D2-B219-259F44F828E6}"/>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9829A8F6-B5A7-41C2-5EDB-B3AC72B593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502B7809-70B0-CFDE-77FE-019E49D817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33D4786D-E5B0-5995-B806-7759C6B7D0A3}"/>
              </a:ext>
            </a:extLst>
          </p:cNvPr>
          <p:cNvSpPr>
            <a:spLocks noGrp="1"/>
          </p:cNvSpPr>
          <p:nvPr>
            <p:ph type="dt" sz="half" idx="10"/>
          </p:nvPr>
        </p:nvSpPr>
        <p:spPr/>
        <p:txBody>
          <a:bodyPr/>
          <a:lstStyle/>
          <a:p>
            <a:r>
              <a:rPr lang="pt-BR"/>
              <a:t>25/07/2024</a:t>
            </a:r>
          </a:p>
        </p:txBody>
      </p:sp>
      <p:sp>
        <p:nvSpPr>
          <p:cNvPr id="6" name="Espaço Reservado para Rodapé 5">
            <a:extLst>
              <a:ext uri="{FF2B5EF4-FFF2-40B4-BE49-F238E27FC236}">
                <a16:creationId xmlns:a16="http://schemas.microsoft.com/office/drawing/2014/main" id="{101C364B-4223-A58F-49EE-FDCB6E1B72BB}"/>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D2DB41AD-07A8-879B-D075-7E057EE04E2C}"/>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1834317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512E53-480A-BCC2-AF43-0C32667B62D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287777D6-06A6-D2A5-0BEA-E9A8A19A010D}"/>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4EFBCF5-1061-4ADF-5028-EB2D4615D4C0}"/>
              </a:ext>
            </a:extLst>
          </p:cNvPr>
          <p:cNvSpPr>
            <a:spLocks noGrp="1"/>
          </p:cNvSpPr>
          <p:nvPr>
            <p:ph type="dt" sz="half" idx="10"/>
          </p:nvPr>
        </p:nvSpPr>
        <p:spPr/>
        <p:txBody>
          <a:bodyPr/>
          <a:lstStyle/>
          <a:p>
            <a:r>
              <a:rPr lang="pt-BR"/>
              <a:t>25/07/2024</a:t>
            </a:r>
          </a:p>
        </p:txBody>
      </p:sp>
      <p:sp>
        <p:nvSpPr>
          <p:cNvPr id="5" name="Espaço Reservado para Rodapé 4">
            <a:extLst>
              <a:ext uri="{FF2B5EF4-FFF2-40B4-BE49-F238E27FC236}">
                <a16:creationId xmlns:a16="http://schemas.microsoft.com/office/drawing/2014/main" id="{EE3448D7-E146-7AC9-3404-C4353F51E73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24F478F-8BE1-E167-FE88-5357CBEB288F}"/>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1808709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0180F69-9B91-0B85-B18D-29C478C3E6C8}"/>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F5CEE54A-78BE-B888-5435-1F4BB92EE5DF}"/>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6309EE3-9541-F7F1-FC4A-5B0F5836D3D0}"/>
              </a:ext>
            </a:extLst>
          </p:cNvPr>
          <p:cNvSpPr>
            <a:spLocks noGrp="1"/>
          </p:cNvSpPr>
          <p:nvPr>
            <p:ph type="dt" sz="half" idx="10"/>
          </p:nvPr>
        </p:nvSpPr>
        <p:spPr/>
        <p:txBody>
          <a:bodyPr/>
          <a:lstStyle/>
          <a:p>
            <a:r>
              <a:rPr lang="pt-BR"/>
              <a:t>25/07/2024</a:t>
            </a:r>
          </a:p>
        </p:txBody>
      </p:sp>
      <p:sp>
        <p:nvSpPr>
          <p:cNvPr id="5" name="Espaço Reservado para Rodapé 4">
            <a:extLst>
              <a:ext uri="{FF2B5EF4-FFF2-40B4-BE49-F238E27FC236}">
                <a16:creationId xmlns:a16="http://schemas.microsoft.com/office/drawing/2014/main" id="{757835FE-3B42-0F74-F3A7-1EC2DE7DC40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8765329-397C-FC63-6BE6-8BC5E6B02BEA}"/>
              </a:ext>
            </a:extLst>
          </p:cNvPr>
          <p:cNvSpPr>
            <a:spLocks noGrp="1"/>
          </p:cNvSpPr>
          <p:nvPr>
            <p:ph type="sldNum" sz="quarter" idx="12"/>
          </p:nvPr>
        </p:nvSpPr>
        <p:spPr/>
        <p:txBody>
          <a:bodyPr/>
          <a:lstStyle/>
          <a:p>
            <a:fld id="{250292FE-8D56-4E3A-9427-CB428FF60A53}" type="slidenum">
              <a:rPr lang="pt-BR" smtClean="0"/>
              <a:t>‹nº›</a:t>
            </a:fld>
            <a:endParaRPr lang="pt-BR"/>
          </a:p>
        </p:txBody>
      </p:sp>
    </p:spTree>
    <p:extLst>
      <p:ext uri="{BB962C8B-B14F-4D97-AF65-F5344CB8AC3E}">
        <p14:creationId xmlns:p14="http://schemas.microsoft.com/office/powerpoint/2010/main" val="282544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A8392734-EB08-7F99-9C05-CEFB6E104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922EE65-2666-D63F-D25E-DE0E33AF86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DCF20C4-E182-7218-6B83-DB95542FC6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pt-BR"/>
              <a:t>25/07/2024</a:t>
            </a:r>
          </a:p>
        </p:txBody>
      </p:sp>
      <p:sp>
        <p:nvSpPr>
          <p:cNvPr id="5" name="Espaço Reservado para Rodapé 4">
            <a:extLst>
              <a:ext uri="{FF2B5EF4-FFF2-40B4-BE49-F238E27FC236}">
                <a16:creationId xmlns:a16="http://schemas.microsoft.com/office/drawing/2014/main" id="{2EB4A0E7-B671-9258-1B0E-12AFF67F15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F0940868-9CE7-5A9C-049A-DF55CBD7E2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0292FE-8D56-4E3A-9427-CB428FF60A53}" type="slidenum">
              <a:rPr lang="pt-BR" smtClean="0"/>
              <a:t>‹nº›</a:t>
            </a:fld>
            <a:endParaRPr lang="pt-BR"/>
          </a:p>
        </p:txBody>
      </p:sp>
    </p:spTree>
    <p:extLst>
      <p:ext uri="{BB962C8B-B14F-4D97-AF65-F5344CB8AC3E}">
        <p14:creationId xmlns:p14="http://schemas.microsoft.com/office/powerpoint/2010/main" val="160170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5A5C6A1B-B42D-97AA-6E2D-CC2DD52BE837}"/>
              </a:ext>
            </a:extLst>
          </p:cNvPr>
          <p:cNvSpPr>
            <a:spLocks noGrp="1"/>
          </p:cNvSpPr>
          <p:nvPr>
            <p:ph type="title"/>
          </p:nvPr>
        </p:nvSpPr>
        <p:spPr>
          <a:xfrm>
            <a:off x="324465" y="365125"/>
            <a:ext cx="11543069" cy="988219"/>
          </a:xfrm>
        </p:spPr>
        <p:txBody>
          <a:bodyPr>
            <a:normAutofit fontScale="90000"/>
          </a:bodyPr>
          <a:lstStyle/>
          <a:p>
            <a:pPr algn="ctr"/>
            <a:r>
              <a:rPr lang="pt-BR" sz="1800" b="1" i="0" u="none" strike="noStrike" baseline="0" dirty="0">
                <a:solidFill>
                  <a:srgbClr val="4F81BC"/>
                </a:solidFill>
                <a:latin typeface="Arial" panose="020B0604020202020204" pitchFamily="34" charset="0"/>
              </a:rPr>
              <a:t>              </a:t>
            </a:r>
            <a:r>
              <a:rPr lang="pt-BR" sz="2400" b="1" i="0" u="none" strike="noStrike" baseline="0" dirty="0">
                <a:solidFill>
                  <a:srgbClr val="4F81BC"/>
                </a:solidFill>
                <a:latin typeface="Arial" panose="020B0604020202020204" pitchFamily="34" charset="0"/>
              </a:rPr>
              <a:t>Centro Federal de Educação Tecnológica Celso Suckow da Fonseca</a:t>
            </a:r>
            <a:br>
              <a:rPr lang="pt-BR" sz="2400" b="0" i="0" u="none" strike="noStrike" baseline="0" dirty="0">
                <a:solidFill>
                  <a:srgbClr val="4F81BC"/>
                </a:solidFill>
                <a:latin typeface="Arial" panose="020B0604020202020204" pitchFamily="34" charset="0"/>
              </a:rPr>
            </a:br>
            <a:r>
              <a:rPr lang="pt-BR" sz="2400" b="1" i="0" u="none" strike="noStrike" baseline="0" dirty="0">
                <a:solidFill>
                  <a:srgbClr val="4F81BC"/>
                </a:solidFill>
                <a:latin typeface="Arial" panose="020B0604020202020204" pitchFamily="34" charset="0"/>
              </a:rPr>
              <a:t>Escola de Informática e Computação</a:t>
            </a:r>
            <a:br>
              <a:rPr lang="pt-BR" sz="2400" b="0" i="0" u="none" strike="noStrike" baseline="0" dirty="0">
                <a:solidFill>
                  <a:srgbClr val="4F81BC"/>
                </a:solidFill>
                <a:latin typeface="Arial" panose="020B0604020202020204" pitchFamily="34" charset="0"/>
              </a:rPr>
            </a:br>
            <a:r>
              <a:rPr lang="pt-BR" sz="2400" b="1" i="0" u="none" strike="noStrike" baseline="0" dirty="0">
                <a:solidFill>
                  <a:srgbClr val="4F81BC"/>
                </a:solidFill>
                <a:latin typeface="Arial" panose="020B0604020202020204" pitchFamily="34" charset="0"/>
              </a:rPr>
              <a:t>Ciência da Computação</a:t>
            </a:r>
            <a:endParaRPr lang="pt-BR" sz="2400" dirty="0"/>
          </a:p>
        </p:txBody>
      </p:sp>
      <p:sp>
        <p:nvSpPr>
          <p:cNvPr id="6" name="Espaço Reservado para Data 5">
            <a:extLst>
              <a:ext uri="{FF2B5EF4-FFF2-40B4-BE49-F238E27FC236}">
                <a16:creationId xmlns:a16="http://schemas.microsoft.com/office/drawing/2014/main" id="{E83F93AE-CC61-84FA-B813-FE5A675C973A}"/>
              </a:ext>
            </a:extLst>
          </p:cNvPr>
          <p:cNvSpPr>
            <a:spLocks noGrp="1"/>
          </p:cNvSpPr>
          <p:nvPr>
            <p:ph type="dt" sz="half" idx="10"/>
          </p:nvPr>
        </p:nvSpPr>
        <p:spPr/>
        <p:txBody>
          <a:bodyPr/>
          <a:lstStyle/>
          <a:p>
            <a:r>
              <a:rPr lang="pt-BR"/>
              <a:t>25/07/2024</a:t>
            </a:r>
          </a:p>
        </p:txBody>
      </p:sp>
      <p:sp>
        <p:nvSpPr>
          <p:cNvPr id="7" name="Espaço Reservado para Rodapé 6">
            <a:extLst>
              <a:ext uri="{FF2B5EF4-FFF2-40B4-BE49-F238E27FC236}">
                <a16:creationId xmlns:a16="http://schemas.microsoft.com/office/drawing/2014/main" id="{BC5ABB53-4A29-DA28-55A7-C099606FE2A1}"/>
              </a:ext>
            </a:extLst>
          </p:cNvPr>
          <p:cNvSpPr>
            <a:spLocks noGrp="1"/>
          </p:cNvSpPr>
          <p:nvPr>
            <p:ph type="ftr" sz="quarter" idx="11"/>
          </p:nvPr>
        </p:nvSpPr>
        <p:spPr>
          <a:xfrm>
            <a:off x="1847948" y="6356349"/>
            <a:ext cx="9284676" cy="365125"/>
          </a:xfrm>
        </p:spPr>
        <p:txBody>
          <a:bodyPr/>
          <a:lstStyle/>
          <a:p>
            <a:endParaRPr lang="pt-BR"/>
          </a:p>
        </p:txBody>
      </p:sp>
      <p:sp>
        <p:nvSpPr>
          <p:cNvPr id="8" name="Espaço Reservado para Número de Slide 7">
            <a:extLst>
              <a:ext uri="{FF2B5EF4-FFF2-40B4-BE49-F238E27FC236}">
                <a16:creationId xmlns:a16="http://schemas.microsoft.com/office/drawing/2014/main" id="{0C0536A0-9280-5193-6FB9-ED255F9D40B4}"/>
              </a:ext>
            </a:extLst>
          </p:cNvPr>
          <p:cNvSpPr>
            <a:spLocks noGrp="1"/>
          </p:cNvSpPr>
          <p:nvPr>
            <p:ph type="sldNum" sz="quarter" idx="12"/>
          </p:nvPr>
        </p:nvSpPr>
        <p:spPr>
          <a:xfrm>
            <a:off x="11531600" y="6356350"/>
            <a:ext cx="421249" cy="365125"/>
          </a:xfrm>
        </p:spPr>
        <p:txBody>
          <a:bodyPr/>
          <a:lstStyle/>
          <a:p>
            <a:pPr algn="r"/>
            <a:fld id="{250292FE-8D56-4E3A-9427-CB428FF60A53}" type="slidenum">
              <a:rPr lang="pt-BR" b="1" smtClean="0">
                <a:solidFill>
                  <a:schemeClr val="tx1"/>
                </a:solidFill>
              </a:rPr>
              <a:pPr algn="r"/>
              <a:t>1</a:t>
            </a:fld>
            <a:endParaRPr lang="pt-BR" b="1" dirty="0">
              <a:solidFill>
                <a:schemeClr val="tx1"/>
              </a:solidFill>
            </a:endParaRPr>
          </a:p>
        </p:txBody>
      </p:sp>
      <p:sp>
        <p:nvSpPr>
          <p:cNvPr id="9" name="CaixaDeTexto 8">
            <a:extLst>
              <a:ext uri="{FF2B5EF4-FFF2-40B4-BE49-F238E27FC236}">
                <a16:creationId xmlns:a16="http://schemas.microsoft.com/office/drawing/2014/main" id="{46FACD24-BD62-72C2-991F-8DBA2BDB6F87}"/>
              </a:ext>
            </a:extLst>
          </p:cNvPr>
          <p:cNvSpPr txBox="1"/>
          <p:nvPr/>
        </p:nvSpPr>
        <p:spPr>
          <a:xfrm>
            <a:off x="1039659" y="2028616"/>
            <a:ext cx="10196187" cy="3539430"/>
          </a:xfrm>
          <a:prstGeom prst="rect">
            <a:avLst/>
          </a:prstGeom>
          <a:noFill/>
        </p:spPr>
        <p:txBody>
          <a:bodyPr wrap="square" rtlCol="0">
            <a:spAutoFit/>
          </a:bodyPr>
          <a:lstStyle/>
          <a:p>
            <a:pPr algn="ctr"/>
            <a:r>
              <a:rPr lang="pt-BR" sz="4000" b="1" i="0" u="none" strike="noStrike" baseline="0" dirty="0">
                <a:latin typeface="Arial" panose="020B0604020202020204" pitchFamily="34" charset="0"/>
                <a:cs typeface="Arial" panose="020B0604020202020204" pitchFamily="34" charset="0"/>
              </a:rPr>
              <a:t>Algoritmos Computacionais e</a:t>
            </a:r>
          </a:p>
          <a:p>
            <a:pPr algn="ctr"/>
            <a:r>
              <a:rPr lang="pt-BR" sz="4000" b="1" i="0" u="none" strike="noStrike" baseline="0" dirty="0">
                <a:latin typeface="Arial" panose="020B0604020202020204" pitchFamily="34" charset="0"/>
                <a:cs typeface="Arial" panose="020B0604020202020204" pitchFamily="34" charset="0"/>
              </a:rPr>
              <a:t>Estrutura de Dados em Python</a:t>
            </a:r>
            <a:r>
              <a:rPr lang="pt-BR" sz="4000" b="1" dirty="0">
                <a:latin typeface="Arial" panose="020B0604020202020204" pitchFamily="34" charset="0"/>
                <a:cs typeface="Arial" panose="020B0604020202020204" pitchFamily="34" charset="0"/>
              </a:rPr>
              <a:t> </a:t>
            </a:r>
          </a:p>
          <a:p>
            <a:pPr algn="ctr"/>
            <a:r>
              <a:rPr lang="pt-BR" sz="4800" b="1">
                <a:latin typeface="Arial" panose="020B0604020202020204" pitchFamily="34" charset="0"/>
                <a:cs typeface="Arial" panose="020B0604020202020204" pitchFamily="34" charset="0"/>
              </a:rPr>
              <a:t>– Cap-11 </a:t>
            </a:r>
            <a:r>
              <a:rPr lang="pt-BR" sz="4800" b="1" dirty="0">
                <a:latin typeface="Arial" panose="020B0604020202020204" pitchFamily="34" charset="0"/>
                <a:cs typeface="Arial" panose="020B0604020202020204" pitchFamily="34" charset="0"/>
              </a:rPr>
              <a:t>–</a:t>
            </a:r>
          </a:p>
          <a:p>
            <a:pPr algn="ctr"/>
            <a:r>
              <a:rPr lang="pt-BR" sz="4400" b="1" dirty="0">
                <a:latin typeface="Arial" panose="020B0604020202020204" pitchFamily="34" charset="0"/>
                <a:cs typeface="Arial" panose="020B0604020202020204" pitchFamily="34" charset="0"/>
              </a:rPr>
              <a:t>Arquivo-Binário</a:t>
            </a:r>
          </a:p>
          <a:p>
            <a:pPr algn="ctr"/>
            <a:endParaRPr lang="pt-BR"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76092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8099886-C3BC-6ADB-B5E3-016F4E40839B}"/>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4578FFCE-1927-DEAB-6222-26D0B4C5F581}"/>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DE87315-5642-5C4A-B8AD-36EA6C3290AF}"/>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2</a:t>
            </a:fld>
            <a:endParaRPr lang="pt-BR" b="1" dirty="0">
              <a:solidFill>
                <a:schemeClr val="tx1"/>
              </a:solidFill>
            </a:endParaRPr>
          </a:p>
        </p:txBody>
      </p:sp>
      <p:sp>
        <p:nvSpPr>
          <p:cNvPr id="5" name="Título 4">
            <a:extLst>
              <a:ext uri="{FF2B5EF4-FFF2-40B4-BE49-F238E27FC236}">
                <a16:creationId xmlns:a16="http://schemas.microsoft.com/office/drawing/2014/main" id="{4C6F2208-6280-6283-87FF-F268200378AC}"/>
              </a:ext>
            </a:extLst>
          </p:cNvPr>
          <p:cNvSpPr>
            <a:spLocks noGrp="1"/>
          </p:cNvSpPr>
          <p:nvPr>
            <p:ph type="title"/>
          </p:nvPr>
        </p:nvSpPr>
        <p:spPr/>
        <p:txBody>
          <a:bodyPr>
            <a:normAutofit/>
          </a:bodyPr>
          <a:lstStyle/>
          <a:p>
            <a:pPr algn="ctr"/>
            <a:r>
              <a:rPr lang="pt-BR" b="1" i="1" u="none" strike="noStrike" baseline="0" dirty="0">
                <a:latin typeface="CIDFont+F1"/>
              </a:rPr>
              <a:t>Motivação</a:t>
            </a:r>
            <a:endParaRPr lang="pt-BR" b="1" i="1" dirty="0"/>
          </a:p>
        </p:txBody>
      </p:sp>
      <p:sp>
        <p:nvSpPr>
          <p:cNvPr id="7" name="CaixaDeTexto 6">
            <a:extLst>
              <a:ext uri="{FF2B5EF4-FFF2-40B4-BE49-F238E27FC236}">
                <a16:creationId xmlns:a16="http://schemas.microsoft.com/office/drawing/2014/main" id="{FF929D9E-97F1-84B2-75EE-A26F17D50957}"/>
              </a:ext>
            </a:extLst>
          </p:cNvPr>
          <p:cNvSpPr txBox="1"/>
          <p:nvPr/>
        </p:nvSpPr>
        <p:spPr>
          <a:xfrm>
            <a:off x="351446" y="1414562"/>
            <a:ext cx="11713697" cy="4739759"/>
          </a:xfrm>
          <a:prstGeom prst="rect">
            <a:avLst/>
          </a:prstGeom>
          <a:noFill/>
        </p:spPr>
        <p:txBody>
          <a:bodyPr wrap="square">
            <a:spAutoFit/>
          </a:bodyPr>
          <a:lstStyle/>
          <a:p>
            <a:pPr algn="l"/>
            <a:r>
              <a:rPr lang="pt-BR" sz="3600" b="0" i="0" u="none" strike="noStrike" baseline="0" dirty="0">
                <a:solidFill>
                  <a:srgbClr val="000000"/>
                </a:solidFill>
                <a:latin typeface="CIDFont+F3"/>
              </a:rPr>
              <a:t>Vamos pensar na seguinte situação:</a:t>
            </a:r>
          </a:p>
          <a:p>
            <a:pPr marL="457200" indent="-457200" algn="l">
              <a:buFont typeface="Arial" panose="020B0604020202020204" pitchFamily="34" charset="0"/>
              <a:buChar char="•"/>
            </a:pPr>
            <a:r>
              <a:rPr lang="pt-BR" sz="2600" dirty="0">
                <a:solidFill>
                  <a:srgbClr val="000000"/>
                </a:solidFill>
                <a:latin typeface="CIDFont+F3"/>
              </a:rPr>
              <a:t>Para representar um número como </a:t>
            </a:r>
            <a:r>
              <a:rPr lang="pt-BR" sz="2600" b="1" dirty="0" err="1">
                <a:solidFill>
                  <a:schemeClr val="bg1"/>
                </a:solidFill>
                <a:highlight>
                  <a:srgbClr val="0079B6"/>
                </a:highlight>
                <a:latin typeface="CIDFont+F3"/>
              </a:rPr>
              <a:t>texto</a:t>
            </a:r>
            <a:r>
              <a:rPr lang="pt-BR" sz="2600" b="1" dirty="0" err="1">
                <a:solidFill>
                  <a:schemeClr val="bg1"/>
                </a:solidFill>
                <a:latin typeface="CIDFont+F3"/>
              </a:rPr>
              <a:t>,</a:t>
            </a:r>
            <a:r>
              <a:rPr lang="pt-BR" sz="2600" dirty="0" err="1">
                <a:solidFill>
                  <a:srgbClr val="000000"/>
                </a:solidFill>
                <a:latin typeface="CIDFont+F3"/>
              </a:rPr>
              <a:t>gastamos</a:t>
            </a:r>
            <a:r>
              <a:rPr lang="pt-BR" sz="2600" dirty="0">
                <a:solidFill>
                  <a:srgbClr val="000000"/>
                </a:solidFill>
                <a:latin typeface="CIDFont+F3"/>
              </a:rPr>
              <a:t> um número </a:t>
            </a:r>
            <a:r>
              <a:rPr lang="pt-BR" sz="2600" b="1" dirty="0">
                <a:solidFill>
                  <a:srgbClr val="000000"/>
                </a:solidFill>
                <a:latin typeface="CIDFont+F3"/>
              </a:rPr>
              <a:t>variável de bytes</a:t>
            </a:r>
            <a:r>
              <a:rPr lang="pt-BR" sz="2600" dirty="0">
                <a:solidFill>
                  <a:srgbClr val="000000"/>
                </a:solidFill>
                <a:latin typeface="CIDFont+F3"/>
              </a:rPr>
              <a:t>:</a:t>
            </a:r>
          </a:p>
          <a:p>
            <a:pPr lvl="1"/>
            <a:r>
              <a:rPr lang="pt-BR" sz="3600" dirty="0">
                <a:solidFill>
                  <a:srgbClr val="000000"/>
                </a:solidFill>
                <a:latin typeface="CIDFont+F3"/>
              </a:rPr>
              <a:t>		</a:t>
            </a:r>
            <a:r>
              <a:rPr lang="pt-BR" sz="2800" dirty="0">
                <a:solidFill>
                  <a:srgbClr val="000000"/>
                </a:solidFill>
                <a:latin typeface="CIDFont+F3"/>
              </a:rPr>
              <a:t>       </a:t>
            </a:r>
            <a:r>
              <a:rPr lang="pt-BR" sz="2600" dirty="0">
                <a:solidFill>
                  <a:srgbClr val="000000"/>
                </a:solidFill>
                <a:latin typeface="CIDFont+F3"/>
              </a:rPr>
              <a:t>número     		             tamanho</a:t>
            </a:r>
          </a:p>
          <a:p>
            <a:pPr lvl="1"/>
            <a:r>
              <a:rPr lang="pt-BR" sz="2600" dirty="0">
                <a:solidFill>
                  <a:srgbClr val="000000"/>
                </a:solidFill>
                <a:latin typeface="CIDFont+F3"/>
              </a:rPr>
              <a:t>			 1</a:t>
            </a:r>
            <a:r>
              <a:rPr lang="pt-BR" sz="2600" b="1" dirty="0">
                <a:solidFill>
                  <a:srgbClr val="000000"/>
                </a:solidFill>
                <a:latin typeface="CIDFont+F3"/>
              </a:rPr>
              <a:t>0			              </a:t>
            </a:r>
            <a:r>
              <a:rPr lang="pt-BR" sz="2600" b="1" dirty="0">
                <a:solidFill>
                  <a:srgbClr val="FF0000"/>
                </a:solidFill>
                <a:latin typeface="CIDFont+F3"/>
              </a:rPr>
              <a:t>2 bytes</a:t>
            </a:r>
          </a:p>
          <a:p>
            <a:pPr lvl="1"/>
            <a:r>
              <a:rPr lang="pt-BR" sz="2600" b="1" dirty="0">
                <a:solidFill>
                  <a:srgbClr val="000000"/>
                </a:solidFill>
                <a:latin typeface="CIDFont+F3"/>
              </a:rPr>
              <a:t>		           1000			              </a:t>
            </a:r>
            <a:r>
              <a:rPr lang="pt-BR" sz="2600" b="1" dirty="0">
                <a:solidFill>
                  <a:srgbClr val="FF0000"/>
                </a:solidFill>
                <a:latin typeface="CIDFont+F3"/>
              </a:rPr>
              <a:t>4 bytes</a:t>
            </a:r>
          </a:p>
          <a:p>
            <a:pPr lvl="1"/>
            <a:r>
              <a:rPr lang="pt-BR" sz="2600" b="1" dirty="0">
                <a:solidFill>
                  <a:srgbClr val="000000"/>
                </a:solidFill>
                <a:latin typeface="CIDFont+F3"/>
              </a:rPr>
              <a:t>		        100000	</a:t>
            </a:r>
            <a:r>
              <a:rPr lang="pt-BR" sz="2600" dirty="0">
                <a:solidFill>
                  <a:srgbClr val="000000"/>
                </a:solidFill>
                <a:latin typeface="CIDFont+F3"/>
              </a:rPr>
              <a:t>		              </a:t>
            </a:r>
            <a:r>
              <a:rPr lang="pt-BR" sz="2600" b="1" dirty="0">
                <a:solidFill>
                  <a:srgbClr val="FF0000"/>
                </a:solidFill>
                <a:latin typeface="CIDFont+F3"/>
              </a:rPr>
              <a:t>6 bytes</a:t>
            </a:r>
          </a:p>
          <a:p>
            <a:pPr lvl="1"/>
            <a:r>
              <a:rPr lang="pt-BR" sz="2600" dirty="0">
                <a:solidFill>
                  <a:srgbClr val="000000"/>
                </a:solidFill>
                <a:latin typeface="CIDFont+F3"/>
              </a:rPr>
              <a:t>			. . .			                  . . .</a:t>
            </a:r>
          </a:p>
          <a:p>
            <a:pPr lvl="1"/>
            <a:r>
              <a:rPr lang="pt-BR" sz="2600" dirty="0">
                <a:solidFill>
                  <a:srgbClr val="000000"/>
                </a:solidFill>
                <a:latin typeface="CIDFont+F3"/>
              </a:rPr>
              <a:t>		   </a:t>
            </a:r>
            <a:r>
              <a:rPr lang="pt-BR" sz="2600" b="1" dirty="0">
                <a:solidFill>
                  <a:srgbClr val="000000"/>
                </a:solidFill>
                <a:highlight>
                  <a:srgbClr val="00FF00"/>
                </a:highlight>
                <a:latin typeface="CIDFont+F3"/>
              </a:rPr>
              <a:t>2147483648</a:t>
            </a:r>
            <a:r>
              <a:rPr lang="pt-BR" sz="2600" dirty="0">
                <a:solidFill>
                  <a:srgbClr val="000000"/>
                </a:solidFill>
                <a:highlight>
                  <a:srgbClr val="00FF00"/>
                </a:highlight>
                <a:latin typeface="CIDFont+F3"/>
              </a:rPr>
              <a:t> </a:t>
            </a:r>
            <a:r>
              <a:rPr lang="pt-BR" sz="2600" dirty="0">
                <a:solidFill>
                  <a:srgbClr val="000000"/>
                </a:solidFill>
                <a:latin typeface="CIDFont+F3"/>
              </a:rPr>
              <a:t>		              </a:t>
            </a:r>
            <a:r>
              <a:rPr lang="pt-BR" sz="2600" b="1" dirty="0">
                <a:solidFill>
                  <a:srgbClr val="FF0000"/>
                </a:solidFill>
                <a:highlight>
                  <a:srgbClr val="00FFFF"/>
                </a:highlight>
                <a:latin typeface="CIDFont+F3"/>
              </a:rPr>
              <a:t>10 bytes</a:t>
            </a:r>
          </a:p>
          <a:p>
            <a:pPr lvl="1"/>
            <a:endParaRPr lang="pt-BR" sz="2000" b="1" dirty="0">
              <a:solidFill>
                <a:srgbClr val="FF0000"/>
              </a:solidFill>
              <a:highlight>
                <a:srgbClr val="00FFFF"/>
              </a:highlight>
              <a:latin typeface="CIDFont+F3"/>
            </a:endParaRPr>
          </a:p>
          <a:p>
            <a:pPr marL="342900" lvl="1" indent="-342900">
              <a:buFont typeface="Arial" panose="020B0604020202020204" pitchFamily="34" charset="0"/>
              <a:buChar char="•"/>
            </a:pPr>
            <a:r>
              <a:rPr lang="pt-BR" sz="2600" dirty="0">
                <a:solidFill>
                  <a:srgbClr val="000000"/>
                </a:solidFill>
                <a:latin typeface="CIDFont+F3"/>
              </a:rPr>
              <a:t>Com arquivos binários podemos armazenar dados em arquivos de </a:t>
            </a:r>
            <a:r>
              <a:rPr lang="pt-BR" sz="2600" b="1" dirty="0">
                <a:solidFill>
                  <a:srgbClr val="000000"/>
                </a:solidFill>
                <a:latin typeface="CIDFont+F3"/>
              </a:rPr>
              <a:t>forma </a:t>
            </a:r>
            <a:r>
              <a:rPr lang="pt-BR" sz="2600" dirty="0">
                <a:solidFill>
                  <a:srgbClr val="000000"/>
                </a:solidFill>
                <a:latin typeface="CIDFont+F3"/>
              </a:rPr>
              <a:t>análoga a utilizar na RAM (</a:t>
            </a:r>
            <a:r>
              <a:rPr lang="pt-BR" sz="2600" b="1" dirty="0">
                <a:solidFill>
                  <a:srgbClr val="FF0000"/>
                </a:solidFill>
                <a:highlight>
                  <a:srgbClr val="FFFF00"/>
                </a:highlight>
                <a:latin typeface="CIDFont+F3"/>
              </a:rPr>
              <a:t>4 bytes</a:t>
            </a:r>
            <a:r>
              <a:rPr lang="pt-BR" sz="2600" dirty="0">
                <a:solidFill>
                  <a:srgbClr val="000000"/>
                </a:solidFill>
                <a:latin typeface="CIDFont+F3"/>
              </a:rPr>
              <a:t> para um </a:t>
            </a:r>
            <a:r>
              <a:rPr lang="pt-BR" sz="2600" dirty="0">
                <a:solidFill>
                  <a:srgbClr val="000000"/>
                </a:solidFill>
                <a:highlight>
                  <a:srgbClr val="00FFFF"/>
                </a:highlight>
                <a:latin typeface="CIDFont+F3"/>
              </a:rPr>
              <a:t>inteiros</a:t>
            </a:r>
            <a:r>
              <a:rPr lang="pt-BR" sz="2600" dirty="0">
                <a:solidFill>
                  <a:srgbClr val="000000"/>
                </a:solidFill>
                <a:latin typeface="CIDFont+F3"/>
              </a:rPr>
              <a:t>).</a:t>
            </a:r>
          </a:p>
        </p:txBody>
      </p:sp>
    </p:spTree>
    <p:extLst>
      <p:ext uri="{BB962C8B-B14F-4D97-AF65-F5344CB8AC3E}">
        <p14:creationId xmlns:p14="http://schemas.microsoft.com/office/powerpoint/2010/main" val="692249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7675EF1-9697-5D03-7504-11374F4A70B2}"/>
              </a:ext>
            </a:extLst>
          </p:cNvPr>
          <p:cNvSpPr>
            <a:spLocks noGrp="1"/>
          </p:cNvSpPr>
          <p:nvPr>
            <p:ph type="dt" sz="half" idx="10"/>
          </p:nvPr>
        </p:nvSpPr>
        <p:spPr/>
        <p:txBody>
          <a:bodyPr/>
          <a:lstStyle/>
          <a:p>
            <a:r>
              <a:rPr lang="pt-BR" dirty="0"/>
              <a:t>25/07/2024</a:t>
            </a:r>
          </a:p>
        </p:txBody>
      </p:sp>
      <p:sp>
        <p:nvSpPr>
          <p:cNvPr id="3" name="Espaço Reservado para Rodapé 2">
            <a:extLst>
              <a:ext uri="{FF2B5EF4-FFF2-40B4-BE49-F238E27FC236}">
                <a16:creationId xmlns:a16="http://schemas.microsoft.com/office/drawing/2014/main" id="{C587E82F-809B-D601-1CAE-722A56158277}"/>
              </a:ext>
            </a:extLst>
          </p:cNvPr>
          <p:cNvSpPr>
            <a:spLocks noGrp="1"/>
          </p:cNvSpPr>
          <p:nvPr>
            <p:ph type="ftr" sz="quarter" idx="1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937DA5F-9C48-430B-E7D9-272209BDDDEB}"/>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a:t>
            </a:fld>
            <a:endParaRPr lang="pt-BR" b="1" dirty="0">
              <a:solidFill>
                <a:schemeClr val="tx1"/>
              </a:solidFill>
            </a:endParaRPr>
          </a:p>
        </p:txBody>
      </p:sp>
      <p:sp>
        <p:nvSpPr>
          <p:cNvPr id="5" name="Título 4">
            <a:extLst>
              <a:ext uri="{FF2B5EF4-FFF2-40B4-BE49-F238E27FC236}">
                <a16:creationId xmlns:a16="http://schemas.microsoft.com/office/drawing/2014/main" id="{017AEBB0-3489-6FC3-73C7-B6B2EFD8219E}"/>
              </a:ext>
            </a:extLst>
          </p:cNvPr>
          <p:cNvSpPr>
            <a:spLocks noGrp="1"/>
          </p:cNvSpPr>
          <p:nvPr>
            <p:ph type="title"/>
          </p:nvPr>
        </p:nvSpPr>
        <p:spPr/>
        <p:txBody>
          <a:bodyPr/>
          <a:lstStyle/>
          <a:p>
            <a:pPr algn="ctr"/>
            <a:r>
              <a:rPr lang="pt-BR" b="1" i="1" dirty="0"/>
              <a:t>Arquivos Binários em Python</a:t>
            </a:r>
          </a:p>
        </p:txBody>
      </p:sp>
      <p:sp>
        <p:nvSpPr>
          <p:cNvPr id="6" name="CaixaDeTexto 5">
            <a:extLst>
              <a:ext uri="{FF2B5EF4-FFF2-40B4-BE49-F238E27FC236}">
                <a16:creationId xmlns:a16="http://schemas.microsoft.com/office/drawing/2014/main" id="{67578BB6-FD06-949F-4B33-64863BDCADB3}"/>
              </a:ext>
            </a:extLst>
          </p:cNvPr>
          <p:cNvSpPr txBox="1"/>
          <p:nvPr/>
        </p:nvSpPr>
        <p:spPr>
          <a:xfrm>
            <a:off x="844061" y="1465545"/>
            <a:ext cx="10905353" cy="4555093"/>
          </a:xfrm>
          <a:prstGeom prst="rect">
            <a:avLst/>
          </a:prstGeom>
          <a:noFill/>
        </p:spPr>
        <p:txBody>
          <a:bodyPr wrap="square">
            <a:spAutoFit/>
          </a:bodyPr>
          <a:lstStyle/>
          <a:p>
            <a:pPr marL="274638" indent="-274638" algn="just"/>
            <a:r>
              <a:rPr lang="pt-BR" sz="3200" b="0" i="0" u="none" strike="noStrike" baseline="0" dirty="0">
                <a:solidFill>
                  <a:srgbClr val="4472C5"/>
                </a:solidFill>
                <a:latin typeface="CIDFont+F3"/>
              </a:rPr>
              <a:t>• Assim como em arquivo texto, também devemos abrir o arquivo binário com a função open()</a:t>
            </a:r>
          </a:p>
          <a:p>
            <a:pPr marL="263525" algn="l"/>
            <a:r>
              <a:rPr lang="pt-BR" sz="2400" b="0" i="0" u="none" strike="noStrike" baseline="0" dirty="0">
                <a:solidFill>
                  <a:srgbClr val="000000"/>
                </a:solidFill>
                <a:latin typeface="CIDFont+F3"/>
              </a:rPr>
              <a:t>• </a:t>
            </a:r>
            <a:r>
              <a:rPr lang="pt-BR" sz="2400" b="0" i="0" u="none" strike="noStrike" baseline="0" dirty="0" err="1">
                <a:solidFill>
                  <a:srgbClr val="000000"/>
                </a:solidFill>
                <a:latin typeface="CIDFont+F3"/>
              </a:rPr>
              <a:t>arq</a:t>
            </a:r>
            <a:r>
              <a:rPr lang="pt-BR" sz="2400" b="0" i="0" u="none" strike="noStrike" baseline="0" dirty="0">
                <a:solidFill>
                  <a:srgbClr val="000000"/>
                </a:solidFill>
                <a:latin typeface="CIDFont+F3"/>
              </a:rPr>
              <a:t> = open(</a:t>
            </a:r>
            <a:r>
              <a:rPr lang="pt-BR" sz="2400" b="0" i="0" u="none" strike="noStrike" baseline="0" dirty="0" err="1">
                <a:solidFill>
                  <a:srgbClr val="000000"/>
                </a:solidFill>
                <a:latin typeface="CIDFont+F3"/>
              </a:rPr>
              <a:t>filename</a:t>
            </a:r>
            <a:r>
              <a:rPr lang="pt-BR" sz="2400" b="0" i="0" u="none" strike="noStrike" baseline="0" dirty="0">
                <a:solidFill>
                  <a:srgbClr val="000000"/>
                </a:solidFill>
                <a:latin typeface="CIDFont+F3"/>
              </a:rPr>
              <a:t>, </a:t>
            </a:r>
            <a:r>
              <a:rPr lang="pt-BR" sz="2400" b="0" i="0" u="none" strike="noStrike" baseline="0" dirty="0" err="1">
                <a:solidFill>
                  <a:srgbClr val="000000"/>
                </a:solidFill>
                <a:latin typeface="CIDFont+F3"/>
              </a:rPr>
              <a:t>mode</a:t>
            </a:r>
            <a:r>
              <a:rPr lang="pt-BR" sz="2400" b="0" i="0" u="none" strike="noStrike" baseline="0" dirty="0">
                <a:solidFill>
                  <a:srgbClr val="000000"/>
                </a:solidFill>
                <a:latin typeface="CIDFont+F3"/>
              </a:rPr>
              <a:t>=‘</a:t>
            </a:r>
            <a:r>
              <a:rPr lang="pt-BR" sz="2400" b="0" i="0" u="none" strike="noStrike" baseline="0" dirty="0" err="1">
                <a:solidFill>
                  <a:srgbClr val="000000"/>
                </a:solidFill>
                <a:latin typeface="CIDFont+F3"/>
              </a:rPr>
              <a:t>rb</a:t>
            </a:r>
            <a:r>
              <a:rPr lang="pt-BR" sz="2400" b="0" i="0" u="none" strike="noStrike" baseline="0" dirty="0">
                <a:solidFill>
                  <a:srgbClr val="000000"/>
                </a:solidFill>
                <a:latin typeface="CIDFont+F3"/>
              </a:rPr>
              <a:t>’)</a:t>
            </a:r>
          </a:p>
          <a:p>
            <a:pPr marL="263525" algn="l"/>
            <a:endParaRPr lang="pt-BR" sz="1800" b="0" i="0" u="none" strike="noStrike" baseline="0" dirty="0">
              <a:solidFill>
                <a:srgbClr val="000000"/>
              </a:solidFill>
              <a:latin typeface="CIDFont+F3"/>
            </a:endParaRPr>
          </a:p>
          <a:p>
            <a:pPr algn="l"/>
            <a:r>
              <a:rPr lang="pt-BR" sz="3200" b="0" i="0" u="none" strike="noStrike" baseline="0" dirty="0">
                <a:solidFill>
                  <a:srgbClr val="4472C5"/>
                </a:solidFill>
                <a:latin typeface="CIDFont+F3"/>
              </a:rPr>
              <a:t>• Modo de abertura de arquivos binário acesso</a:t>
            </a:r>
          </a:p>
          <a:p>
            <a:pPr algn="l"/>
            <a:endParaRPr lang="pt-BR" sz="3200" b="0" i="0" u="none" strike="noStrike" baseline="0" dirty="0">
              <a:solidFill>
                <a:srgbClr val="4472C5"/>
              </a:solidFill>
              <a:latin typeface="CIDFont+F3"/>
            </a:endParaRPr>
          </a:p>
          <a:p>
            <a:pPr algn="l"/>
            <a:endParaRPr lang="pt-BR" sz="3200" dirty="0">
              <a:solidFill>
                <a:srgbClr val="4472C5"/>
              </a:solidFill>
              <a:latin typeface="CIDFont+F3"/>
            </a:endParaRPr>
          </a:p>
          <a:p>
            <a:pPr algn="l"/>
            <a:endParaRPr lang="pt-BR" sz="3200" b="0" i="0" u="none" strike="noStrike" baseline="0" dirty="0">
              <a:solidFill>
                <a:srgbClr val="4472C5"/>
              </a:solidFill>
              <a:latin typeface="CIDFont+F3"/>
            </a:endParaRPr>
          </a:p>
          <a:p>
            <a:pPr marL="263525" algn="l"/>
            <a:endParaRPr lang="pt-BR" sz="2400" b="0" i="0" u="none" strike="noStrike" baseline="0" dirty="0">
              <a:solidFill>
                <a:srgbClr val="000000"/>
              </a:solidFill>
              <a:latin typeface="CIDFont+F3"/>
            </a:endParaRPr>
          </a:p>
          <a:p>
            <a:pPr marL="357188" algn="l"/>
            <a:r>
              <a:rPr lang="pt-BR" sz="3200" b="1" dirty="0">
                <a:solidFill>
                  <a:srgbClr val="FF0000"/>
                </a:solidFill>
              </a:rPr>
              <a:t>“b” – indica binário</a:t>
            </a:r>
          </a:p>
        </p:txBody>
      </p:sp>
      <p:graphicFrame>
        <p:nvGraphicFramePr>
          <p:cNvPr id="7" name="Tabela 6">
            <a:extLst>
              <a:ext uri="{FF2B5EF4-FFF2-40B4-BE49-F238E27FC236}">
                <a16:creationId xmlns:a16="http://schemas.microsoft.com/office/drawing/2014/main" id="{918CCB7E-A2F8-3EC4-B16C-7DAF163529F4}"/>
              </a:ext>
            </a:extLst>
          </p:cNvPr>
          <p:cNvGraphicFramePr>
            <a:graphicFrameLocks noGrp="1"/>
          </p:cNvGraphicFramePr>
          <p:nvPr>
            <p:extLst>
              <p:ext uri="{D42A27DB-BD31-4B8C-83A1-F6EECF244321}">
                <p14:modId xmlns:p14="http://schemas.microsoft.com/office/powerpoint/2010/main" val="4157623697"/>
              </p:ext>
            </p:extLst>
          </p:nvPr>
        </p:nvGraphicFramePr>
        <p:xfrm>
          <a:off x="1311812" y="3755464"/>
          <a:ext cx="8568168" cy="1508760"/>
        </p:xfrm>
        <a:graphic>
          <a:graphicData uri="http://schemas.openxmlformats.org/drawingml/2006/table">
            <a:tbl>
              <a:tblPr firstRow="1" bandRow="1">
                <a:tableStyleId>{5C22544A-7EE6-4342-B048-85BDC9FD1C3A}</a:tableStyleId>
              </a:tblPr>
              <a:tblGrid>
                <a:gridCol w="1278988">
                  <a:extLst>
                    <a:ext uri="{9D8B030D-6E8A-4147-A177-3AD203B41FA5}">
                      <a16:colId xmlns:a16="http://schemas.microsoft.com/office/drawing/2014/main" val="577705099"/>
                    </a:ext>
                  </a:extLst>
                </a:gridCol>
                <a:gridCol w="2392680">
                  <a:extLst>
                    <a:ext uri="{9D8B030D-6E8A-4147-A177-3AD203B41FA5}">
                      <a16:colId xmlns:a16="http://schemas.microsoft.com/office/drawing/2014/main" val="3387185342"/>
                    </a:ext>
                  </a:extLst>
                </a:gridCol>
                <a:gridCol w="4896500">
                  <a:extLst>
                    <a:ext uri="{9D8B030D-6E8A-4147-A177-3AD203B41FA5}">
                      <a16:colId xmlns:a16="http://schemas.microsoft.com/office/drawing/2014/main" val="3349799975"/>
                    </a:ext>
                  </a:extLst>
                </a:gridCol>
              </a:tblGrid>
              <a:tr h="370840">
                <a:tc>
                  <a:txBody>
                    <a:bodyPr/>
                    <a:lstStyle/>
                    <a:p>
                      <a:pPr algn="ctr"/>
                      <a:r>
                        <a:rPr lang="pt-BR" sz="2000" dirty="0"/>
                        <a:t>Modos</a:t>
                      </a:r>
                    </a:p>
                  </a:txBody>
                  <a:tcPr/>
                </a:tc>
                <a:tc>
                  <a:txBody>
                    <a:bodyPr/>
                    <a:lstStyle/>
                    <a:p>
                      <a:pPr algn="ctr"/>
                      <a:r>
                        <a:rPr lang="pt-BR" sz="2000" dirty="0"/>
                        <a:t>Operações</a:t>
                      </a:r>
                    </a:p>
                  </a:txBody>
                  <a:tcPr/>
                </a:tc>
                <a:tc>
                  <a:txBody>
                    <a:bodyPr/>
                    <a:lstStyle/>
                    <a:p>
                      <a:pPr algn="ctr"/>
                      <a:r>
                        <a:rPr lang="pt-BR" sz="2000" dirty="0"/>
                        <a:t>Observações</a:t>
                      </a:r>
                    </a:p>
                  </a:txBody>
                  <a:tcPr/>
                </a:tc>
                <a:extLst>
                  <a:ext uri="{0D108BD9-81ED-4DB2-BD59-A6C34878D82A}">
                    <a16:rowId xmlns:a16="http://schemas.microsoft.com/office/drawing/2014/main" val="535690438"/>
                  </a:ext>
                </a:extLst>
              </a:tr>
              <a:tr h="370840">
                <a:tc>
                  <a:txBody>
                    <a:bodyPr/>
                    <a:lstStyle/>
                    <a:p>
                      <a:pPr algn="ctr"/>
                      <a:r>
                        <a:rPr lang="pt-BR" b="1" dirty="0"/>
                        <a:t>“</a:t>
                      </a:r>
                      <a:r>
                        <a:rPr lang="pt-BR" b="1" dirty="0" err="1"/>
                        <a:t>rb</a:t>
                      </a:r>
                      <a:r>
                        <a:rPr lang="pt-BR" b="1" dirty="0"/>
                        <a:t>”</a:t>
                      </a:r>
                    </a:p>
                  </a:txBody>
                  <a:tcPr/>
                </a:tc>
                <a:tc>
                  <a:txBody>
                    <a:bodyPr/>
                    <a:lstStyle/>
                    <a:p>
                      <a:pPr algn="ctr"/>
                      <a:r>
                        <a:rPr lang="pt-BR" b="1" dirty="0"/>
                        <a:t>leitura</a:t>
                      </a:r>
                    </a:p>
                  </a:txBody>
                  <a:tcPr/>
                </a:tc>
                <a:tc>
                  <a:txBody>
                    <a:bodyPr/>
                    <a:lstStyle/>
                    <a:p>
                      <a:pPr algn="ctr"/>
                      <a:r>
                        <a:rPr lang="pt-BR" b="1" dirty="0"/>
                        <a:t>(arquivo deve existir)</a:t>
                      </a:r>
                    </a:p>
                  </a:txBody>
                  <a:tcPr/>
                </a:tc>
                <a:extLst>
                  <a:ext uri="{0D108BD9-81ED-4DB2-BD59-A6C34878D82A}">
                    <a16:rowId xmlns:a16="http://schemas.microsoft.com/office/drawing/2014/main" val="382761981"/>
                  </a:ext>
                </a:extLst>
              </a:tr>
              <a:tr h="370840">
                <a:tc>
                  <a:txBody>
                    <a:bodyPr/>
                    <a:lstStyle/>
                    <a:p>
                      <a:pPr algn="ctr"/>
                      <a:r>
                        <a:rPr lang="pt-BR" b="1" dirty="0"/>
                        <a:t>“</a:t>
                      </a:r>
                      <a:r>
                        <a:rPr lang="pt-BR" b="1" dirty="0" err="1"/>
                        <a:t>r+b</a:t>
                      </a:r>
                      <a:endParaRPr lang="pt-BR" b="1" dirty="0"/>
                    </a:p>
                  </a:txBody>
                  <a:tcPr/>
                </a:tc>
                <a:tc>
                  <a:txBody>
                    <a:bodyPr/>
                    <a:lstStyle/>
                    <a:p>
                      <a:pPr algn="ctr"/>
                      <a:r>
                        <a:rPr lang="pt-BR" b="1" dirty="0"/>
                        <a:t>escrita e leitura</a:t>
                      </a:r>
                    </a:p>
                  </a:txBody>
                  <a:tcPr/>
                </a:tc>
                <a:tc>
                  <a:txBody>
                    <a:bodyPr/>
                    <a:lstStyle/>
                    <a:p>
                      <a:pPr algn="ctr"/>
                      <a:r>
                        <a:rPr lang="pt-BR" b="1" dirty="0"/>
                        <a:t>(arquivo deve existir)</a:t>
                      </a:r>
                    </a:p>
                  </a:txBody>
                  <a:tcPr/>
                </a:tc>
                <a:extLst>
                  <a:ext uri="{0D108BD9-81ED-4DB2-BD59-A6C34878D82A}">
                    <a16:rowId xmlns:a16="http://schemas.microsoft.com/office/drawing/2014/main" val="3142386439"/>
                  </a:ext>
                </a:extLst>
              </a:tr>
              <a:tr h="370840">
                <a:tc>
                  <a:txBody>
                    <a:bodyPr/>
                    <a:lstStyle/>
                    <a:p>
                      <a:pPr algn="ctr"/>
                      <a:r>
                        <a:rPr lang="pt-BR" b="1" dirty="0"/>
                        <a:t>“</a:t>
                      </a:r>
                      <a:r>
                        <a:rPr lang="pt-BR" b="1" dirty="0" err="1"/>
                        <a:t>wb</a:t>
                      </a:r>
                      <a:r>
                        <a:rPr lang="pt-BR" b="1" dirty="0"/>
                        <a:t>”</a:t>
                      </a:r>
                    </a:p>
                  </a:txBody>
                  <a:tcPr/>
                </a:tc>
                <a:tc>
                  <a:txBody>
                    <a:bodyPr/>
                    <a:lstStyle/>
                    <a:p>
                      <a:pPr algn="ctr"/>
                      <a:r>
                        <a:rPr lang="pt-BR" b="1" dirty="0"/>
                        <a:t>escrita</a:t>
                      </a:r>
                    </a:p>
                  </a:txBody>
                  <a:tcPr/>
                </a:tc>
                <a:tc>
                  <a:txBody>
                    <a:bodyPr/>
                    <a:lstStyle/>
                    <a:p>
                      <a:pPr algn="ctr"/>
                      <a:r>
                        <a:rPr lang="pt-BR" b="1" dirty="0"/>
                        <a:t>(sobrescrever o arquivo, se  existir)</a:t>
                      </a:r>
                    </a:p>
                  </a:txBody>
                  <a:tcPr/>
                </a:tc>
                <a:extLst>
                  <a:ext uri="{0D108BD9-81ED-4DB2-BD59-A6C34878D82A}">
                    <a16:rowId xmlns:a16="http://schemas.microsoft.com/office/drawing/2014/main" val="943263602"/>
                  </a:ext>
                </a:extLst>
              </a:tr>
            </a:tbl>
          </a:graphicData>
        </a:graphic>
      </p:graphicFrame>
    </p:spTree>
    <p:extLst>
      <p:ext uri="{BB962C8B-B14F-4D97-AF65-F5344CB8AC3E}">
        <p14:creationId xmlns:p14="http://schemas.microsoft.com/office/powerpoint/2010/main" val="383456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1C2D043-EA8B-3083-D1D0-121ECEA3B3C9}"/>
              </a:ext>
            </a:extLst>
          </p:cNvPr>
          <p:cNvSpPr>
            <a:spLocks noGrp="1"/>
          </p:cNvSpPr>
          <p:nvPr>
            <p:ph type="dt" sz="half" idx="10"/>
          </p:nvPr>
        </p:nvSpPr>
        <p:spPr/>
        <p:txBody>
          <a:bodyPr/>
          <a:lstStyle/>
          <a:p>
            <a:r>
              <a:rPr lang="pt-BR" dirty="0"/>
              <a:t>25/07/2024</a:t>
            </a:r>
          </a:p>
        </p:txBody>
      </p:sp>
      <p:sp>
        <p:nvSpPr>
          <p:cNvPr id="3" name="Espaço Reservado para Rodapé 2">
            <a:extLst>
              <a:ext uri="{FF2B5EF4-FFF2-40B4-BE49-F238E27FC236}">
                <a16:creationId xmlns:a16="http://schemas.microsoft.com/office/drawing/2014/main" id="{546166E9-23CD-FC80-3141-65FD99F8199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8AEFEE3-6208-BE31-57F7-1DFE9B1E3740}"/>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a:t>
            </a:fld>
            <a:endParaRPr lang="pt-BR" b="1" dirty="0">
              <a:solidFill>
                <a:schemeClr val="tx1"/>
              </a:solidFill>
            </a:endParaRPr>
          </a:p>
        </p:txBody>
      </p:sp>
      <p:sp>
        <p:nvSpPr>
          <p:cNvPr id="5" name="Título 4">
            <a:extLst>
              <a:ext uri="{FF2B5EF4-FFF2-40B4-BE49-F238E27FC236}">
                <a16:creationId xmlns:a16="http://schemas.microsoft.com/office/drawing/2014/main" id="{497EEB59-D89A-77EF-A473-6CD9F6FA707B}"/>
              </a:ext>
            </a:extLst>
          </p:cNvPr>
          <p:cNvSpPr>
            <a:spLocks noGrp="1"/>
          </p:cNvSpPr>
          <p:nvPr>
            <p:ph type="title"/>
          </p:nvPr>
        </p:nvSpPr>
        <p:spPr/>
        <p:txBody>
          <a:bodyPr>
            <a:normAutofit/>
          </a:bodyPr>
          <a:lstStyle/>
          <a:p>
            <a:pPr algn="ctr"/>
            <a:r>
              <a:rPr lang="pt-BR" b="1" i="1" u="none" strike="noStrike" baseline="0" dirty="0">
                <a:latin typeface="CIDFont+F1"/>
              </a:rPr>
              <a:t>Operações Básicas</a:t>
            </a:r>
            <a:endParaRPr lang="pt-BR" b="1" i="1" dirty="0"/>
          </a:p>
        </p:txBody>
      </p:sp>
      <p:sp>
        <p:nvSpPr>
          <p:cNvPr id="7" name="CaixaDeTexto 6">
            <a:extLst>
              <a:ext uri="{FF2B5EF4-FFF2-40B4-BE49-F238E27FC236}">
                <a16:creationId xmlns:a16="http://schemas.microsoft.com/office/drawing/2014/main" id="{6C08DF42-DF73-D96D-D141-9E80108CE01E}"/>
              </a:ext>
            </a:extLst>
          </p:cNvPr>
          <p:cNvSpPr txBox="1"/>
          <p:nvPr/>
        </p:nvSpPr>
        <p:spPr>
          <a:xfrm>
            <a:off x="545433" y="1465545"/>
            <a:ext cx="11203982" cy="4893647"/>
          </a:xfrm>
          <a:prstGeom prst="rect">
            <a:avLst/>
          </a:prstGeom>
          <a:noFill/>
        </p:spPr>
        <p:txBody>
          <a:bodyPr wrap="square">
            <a:spAutoFit/>
          </a:bodyPr>
          <a:lstStyle/>
          <a:p>
            <a:pPr marL="457200" indent="-457200" algn="l">
              <a:buFont typeface="Arial" panose="020B0604020202020204" pitchFamily="34" charset="0"/>
              <a:buChar char="•"/>
            </a:pPr>
            <a:r>
              <a:rPr lang="pt-BR" sz="2400" b="1" dirty="0"/>
              <a:t>Podemos usar os métodos vistos anteriormente para manipular arquivos binários.</a:t>
            </a:r>
          </a:p>
          <a:p>
            <a:pPr marL="457200" indent="-457200" algn="l">
              <a:buFontTx/>
              <a:buChar char="-"/>
            </a:pPr>
            <a:r>
              <a:rPr lang="pt-BR" sz="2400" dirty="0"/>
              <a:t>No entanto precisamos converter os dados para bytes</a:t>
            </a:r>
            <a:r>
              <a:rPr lang="pt-BR" sz="1600" dirty="0"/>
              <a:t>.</a:t>
            </a:r>
          </a:p>
          <a:p>
            <a:pPr algn="l"/>
            <a:r>
              <a:rPr lang="pt-BR" sz="2000" b="1" dirty="0"/>
              <a:t>&gt;&gt;&gt; try:</a:t>
            </a:r>
          </a:p>
          <a:p>
            <a:pPr algn="l"/>
            <a:r>
              <a:rPr lang="pt-BR" sz="2000" b="1" dirty="0"/>
              <a:t>...        </a:t>
            </a:r>
            <a:r>
              <a:rPr lang="pt-BR" sz="2000" b="1" dirty="0" err="1"/>
              <a:t>arq</a:t>
            </a:r>
            <a:r>
              <a:rPr lang="pt-BR" sz="2000" b="1" dirty="0"/>
              <a:t>= open("teste.bin","</a:t>
            </a:r>
            <a:r>
              <a:rPr lang="pt-BR" sz="2000" b="1" dirty="0" err="1"/>
              <a:t>wb</a:t>
            </a:r>
            <a:r>
              <a:rPr lang="pt-BR" sz="2000" b="1" dirty="0"/>
              <a:t>")</a:t>
            </a:r>
          </a:p>
          <a:p>
            <a:pPr algn="l"/>
            <a:r>
              <a:rPr lang="pt-BR" sz="2000" b="1" dirty="0"/>
              <a:t>... except</a:t>
            </a:r>
            <a:r>
              <a:rPr lang="pt-BR" sz="2000" dirty="0"/>
              <a:t>:</a:t>
            </a:r>
          </a:p>
          <a:p>
            <a:pPr algn="l"/>
            <a:r>
              <a:rPr lang="pt-BR" sz="2000" dirty="0"/>
              <a:t>...         print("Não é </a:t>
            </a:r>
            <a:r>
              <a:rPr lang="pt-BR" sz="2000" dirty="0" err="1"/>
              <a:t>possíivel</a:t>
            </a:r>
            <a:r>
              <a:rPr lang="pt-BR" sz="2000" dirty="0"/>
              <a:t> abrir o arquivo")</a:t>
            </a:r>
          </a:p>
          <a:p>
            <a:pPr algn="l"/>
            <a:r>
              <a:rPr lang="pt-BR" sz="2000" dirty="0"/>
              <a:t>...</a:t>
            </a:r>
          </a:p>
          <a:p>
            <a:pPr algn="l"/>
            <a:r>
              <a:rPr lang="pt-BR" sz="2000" dirty="0"/>
              <a:t>&gt;&gt;&gt; numero = 10000</a:t>
            </a:r>
          </a:p>
          <a:p>
            <a:pPr algn="l"/>
            <a:r>
              <a:rPr lang="pt-BR" sz="2000" dirty="0"/>
              <a:t>&gt;&gt;&gt;</a:t>
            </a:r>
          </a:p>
          <a:p>
            <a:pPr algn="l"/>
            <a:r>
              <a:rPr lang="pt-BR" sz="2000" dirty="0"/>
              <a:t>&gt;&gt;&gt; </a:t>
            </a:r>
            <a:r>
              <a:rPr lang="pt-BR" sz="2000" dirty="0" err="1"/>
              <a:t>arq.write</a:t>
            </a:r>
            <a:r>
              <a:rPr lang="pt-BR" sz="2000" dirty="0"/>
              <a:t>(numero)</a:t>
            </a:r>
          </a:p>
          <a:p>
            <a:pPr algn="l"/>
            <a:r>
              <a:rPr lang="pt-BR" sz="2000" dirty="0" err="1"/>
              <a:t>Traceback</a:t>
            </a:r>
            <a:r>
              <a:rPr lang="pt-BR" sz="2000" dirty="0"/>
              <a:t> (</a:t>
            </a:r>
            <a:r>
              <a:rPr lang="pt-BR" sz="2000" dirty="0" err="1"/>
              <a:t>most</a:t>
            </a:r>
            <a:r>
              <a:rPr lang="pt-BR" sz="2000" dirty="0"/>
              <a:t> </a:t>
            </a:r>
            <a:r>
              <a:rPr lang="pt-BR" sz="2000" dirty="0" err="1"/>
              <a:t>recent</a:t>
            </a:r>
            <a:r>
              <a:rPr lang="pt-BR" sz="2000" dirty="0"/>
              <a:t> </a:t>
            </a:r>
            <a:r>
              <a:rPr lang="pt-BR" sz="2000" dirty="0" err="1"/>
              <a:t>call</a:t>
            </a:r>
            <a:r>
              <a:rPr lang="pt-BR" sz="2000" dirty="0"/>
              <a:t> </a:t>
            </a:r>
            <a:r>
              <a:rPr lang="pt-BR" sz="2000" dirty="0" err="1"/>
              <a:t>last</a:t>
            </a:r>
            <a:r>
              <a:rPr lang="pt-BR" sz="2000" dirty="0"/>
              <a:t>):</a:t>
            </a:r>
          </a:p>
          <a:p>
            <a:pPr algn="l"/>
            <a:r>
              <a:rPr lang="pt-BR" sz="2000" dirty="0"/>
              <a:t>  File "&lt;</a:t>
            </a:r>
            <a:r>
              <a:rPr lang="pt-BR" sz="2000" dirty="0" err="1"/>
              <a:t>stdin</a:t>
            </a:r>
            <a:r>
              <a:rPr lang="pt-BR" sz="2000" dirty="0"/>
              <a:t>&gt;", </a:t>
            </a:r>
            <a:r>
              <a:rPr lang="pt-BR" sz="2000" dirty="0" err="1"/>
              <a:t>line</a:t>
            </a:r>
            <a:r>
              <a:rPr lang="pt-BR" sz="2000" dirty="0"/>
              <a:t> 1, in &lt;module&gt;</a:t>
            </a:r>
          </a:p>
          <a:p>
            <a:pPr algn="l"/>
            <a:r>
              <a:rPr lang="pt-BR" sz="2000" dirty="0" err="1"/>
              <a:t>TypeError</a:t>
            </a:r>
            <a:r>
              <a:rPr lang="pt-BR" sz="2000" dirty="0"/>
              <a:t>: a bytes-like object is </a:t>
            </a:r>
            <a:r>
              <a:rPr lang="pt-BR" sz="2000" dirty="0" err="1"/>
              <a:t>required</a:t>
            </a:r>
            <a:r>
              <a:rPr lang="pt-BR" sz="2000" dirty="0"/>
              <a:t>, not 'int'</a:t>
            </a:r>
          </a:p>
          <a:p>
            <a:pPr algn="l"/>
            <a:r>
              <a:rPr lang="pt-BR" sz="2000" dirty="0"/>
              <a:t>&gt;&gt;&gt;</a:t>
            </a:r>
            <a:endParaRPr lang="pt-BR" sz="3200" dirty="0"/>
          </a:p>
        </p:txBody>
      </p:sp>
    </p:spTree>
    <p:extLst>
      <p:ext uri="{BB962C8B-B14F-4D97-AF65-F5344CB8AC3E}">
        <p14:creationId xmlns:p14="http://schemas.microsoft.com/office/powerpoint/2010/main" val="1945230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138FAC7-897F-BECA-1188-0622BE13A455}"/>
              </a:ext>
            </a:extLst>
          </p:cNvPr>
          <p:cNvSpPr>
            <a:spLocks noGrp="1"/>
          </p:cNvSpPr>
          <p:nvPr>
            <p:ph type="dt" sz="half" idx="10"/>
          </p:nvPr>
        </p:nvSpPr>
        <p:spPr/>
        <p:txBody>
          <a:bodyPr/>
          <a:lstStyle/>
          <a:p>
            <a:r>
              <a:rPr lang="pt-BR" dirty="0"/>
              <a:t>25/07/2024</a:t>
            </a:r>
          </a:p>
        </p:txBody>
      </p:sp>
      <p:sp>
        <p:nvSpPr>
          <p:cNvPr id="3" name="Espaço Reservado para Rodapé 2">
            <a:extLst>
              <a:ext uri="{FF2B5EF4-FFF2-40B4-BE49-F238E27FC236}">
                <a16:creationId xmlns:a16="http://schemas.microsoft.com/office/drawing/2014/main" id="{0AEFD906-A569-5556-19DB-2EF90DA2E3A9}"/>
              </a:ext>
            </a:extLst>
          </p:cNvPr>
          <p:cNvSpPr>
            <a:spLocks noGrp="1"/>
          </p:cNvSpPr>
          <p:nvPr>
            <p:ph type="ftr" sz="quarter" idx="11"/>
          </p:nvPr>
        </p:nvSpPr>
        <p:spPr/>
        <p:txBody>
          <a:bodyPr/>
          <a:lstStyle/>
          <a:p>
            <a:endParaRPr lang="pt-BR" sz="1600" b="1" dirty="0"/>
          </a:p>
        </p:txBody>
      </p:sp>
      <p:sp>
        <p:nvSpPr>
          <p:cNvPr id="4" name="Espaço Reservado para Número de Slide 3">
            <a:extLst>
              <a:ext uri="{FF2B5EF4-FFF2-40B4-BE49-F238E27FC236}">
                <a16:creationId xmlns:a16="http://schemas.microsoft.com/office/drawing/2014/main" id="{6D0E87EF-9471-66FD-E183-ACFE080954D3}"/>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5</a:t>
            </a:fld>
            <a:endParaRPr lang="pt-BR" b="1" dirty="0">
              <a:solidFill>
                <a:schemeClr val="tx1"/>
              </a:solidFill>
            </a:endParaRPr>
          </a:p>
        </p:txBody>
      </p:sp>
      <p:sp>
        <p:nvSpPr>
          <p:cNvPr id="14" name="Título 13">
            <a:extLst>
              <a:ext uri="{FF2B5EF4-FFF2-40B4-BE49-F238E27FC236}">
                <a16:creationId xmlns:a16="http://schemas.microsoft.com/office/drawing/2014/main" id="{2182A553-5E22-CD90-20F2-71145E8A2FE1}"/>
              </a:ext>
            </a:extLst>
          </p:cNvPr>
          <p:cNvSpPr>
            <a:spLocks noGrp="1"/>
          </p:cNvSpPr>
          <p:nvPr>
            <p:ph type="title"/>
          </p:nvPr>
        </p:nvSpPr>
        <p:spPr>
          <a:xfrm>
            <a:off x="2090847" y="320041"/>
            <a:ext cx="9862002" cy="996246"/>
          </a:xfrm>
        </p:spPr>
        <p:txBody>
          <a:bodyPr>
            <a:normAutofit/>
          </a:bodyPr>
          <a:lstStyle/>
          <a:p>
            <a:pPr algn="ctr"/>
            <a:r>
              <a:rPr lang="pt-BR" sz="4400" b="1" i="1" dirty="0">
                <a:solidFill>
                  <a:srgbClr val="222A48"/>
                </a:solidFill>
                <a:effectLst/>
                <a:latin typeface="Euclid Circular A"/>
              </a:rPr>
              <a:t>O módulo de pickle</a:t>
            </a:r>
            <a:endParaRPr lang="pt-BR" i="1" dirty="0"/>
          </a:p>
        </p:txBody>
      </p:sp>
      <p:sp>
        <p:nvSpPr>
          <p:cNvPr id="15" name="CaixaDeTexto 14">
            <a:extLst>
              <a:ext uri="{FF2B5EF4-FFF2-40B4-BE49-F238E27FC236}">
                <a16:creationId xmlns:a16="http://schemas.microsoft.com/office/drawing/2014/main" id="{859702F1-F5C8-6A3D-061C-CE40B15F1E07}"/>
              </a:ext>
            </a:extLst>
          </p:cNvPr>
          <p:cNvSpPr txBox="1"/>
          <p:nvPr/>
        </p:nvSpPr>
        <p:spPr>
          <a:xfrm>
            <a:off x="237670" y="2421705"/>
            <a:ext cx="11713698" cy="3939540"/>
          </a:xfrm>
          <a:prstGeom prst="rect">
            <a:avLst/>
          </a:prstGeom>
          <a:noFill/>
        </p:spPr>
        <p:txBody>
          <a:bodyPr wrap="square" rtlCol="0">
            <a:spAutoFit/>
          </a:bodyPr>
          <a:lstStyle/>
          <a:p>
            <a:pPr marL="2332038" indent="-2332038" algn="just">
              <a:spcBef>
                <a:spcPts val="1875"/>
              </a:spcBef>
              <a:buNone/>
            </a:pPr>
            <a:r>
              <a:rPr lang="pt-BR" sz="2400" b="0" i="0" dirty="0">
                <a:solidFill>
                  <a:srgbClr val="265CB3"/>
                </a:solidFill>
                <a:effectLst/>
                <a:latin typeface="Euclid Circular A"/>
              </a:rPr>
              <a:t>Método </a:t>
            </a:r>
            <a:r>
              <a:rPr lang="pt-BR" sz="2400" b="0" i="0" dirty="0" err="1">
                <a:solidFill>
                  <a:srgbClr val="265CB3"/>
                </a:solidFill>
                <a:effectLst/>
                <a:latin typeface="Euclid Circular A"/>
              </a:rPr>
              <a:t>dumps</a:t>
            </a:r>
            <a:r>
              <a:rPr lang="pt-BR" sz="2400" dirty="0">
                <a:solidFill>
                  <a:srgbClr val="265CB3"/>
                </a:solidFill>
                <a:latin typeface="Euclid Circular A"/>
              </a:rPr>
              <a:t>() - </a:t>
            </a:r>
            <a:r>
              <a:rPr lang="pt-BR" sz="2400" b="0" i="0" dirty="0">
                <a:solidFill>
                  <a:srgbClr val="5D6769"/>
                </a:solidFill>
                <a:effectLst/>
                <a:latin typeface="Euclid Circular A"/>
              </a:rPr>
              <a:t>O método </a:t>
            </a:r>
            <a:r>
              <a:rPr lang="pt-BR" sz="2400" b="0" i="0" dirty="0" err="1">
                <a:solidFill>
                  <a:srgbClr val="265CB3"/>
                </a:solidFill>
                <a:effectLst/>
                <a:latin typeface="Euclid Circular A"/>
              </a:rPr>
              <a:t>dumps</a:t>
            </a:r>
            <a:r>
              <a:rPr lang="pt-BR" sz="2400" b="0" i="0" dirty="0">
                <a:solidFill>
                  <a:srgbClr val="265CB3"/>
                </a:solidFill>
                <a:effectLst/>
                <a:latin typeface="Euclid Circular A"/>
              </a:rPr>
              <a:t>()</a:t>
            </a:r>
            <a:r>
              <a:rPr lang="pt-BR" sz="2400" b="0" i="0" dirty="0">
                <a:solidFill>
                  <a:srgbClr val="5D6769"/>
                </a:solidFill>
                <a:effectLst/>
                <a:latin typeface="Euclid Circular A"/>
              </a:rPr>
              <a:t> apenas converte os objetos Python em uma string de bytes e os retorna como um objeto byte. Este método em si não grava o objeto byte em um arquivo binário. Precisamos usar o método </a:t>
            </a:r>
            <a:r>
              <a:rPr lang="pt-BR" sz="2400" b="0" i="0" dirty="0" err="1">
                <a:solidFill>
                  <a:srgbClr val="265CB3"/>
                </a:solidFill>
                <a:effectLst/>
                <a:latin typeface="Euclid Circular A"/>
              </a:rPr>
              <a:t>write</a:t>
            </a:r>
            <a:r>
              <a:rPr lang="pt-BR" sz="2400" b="0" i="0" dirty="0">
                <a:solidFill>
                  <a:srgbClr val="265CB3"/>
                </a:solidFill>
                <a:effectLst/>
                <a:latin typeface="Euclid Circular A"/>
              </a:rPr>
              <a:t>()</a:t>
            </a:r>
            <a:r>
              <a:rPr lang="pt-BR" sz="2400" b="0" i="0" dirty="0">
                <a:solidFill>
                  <a:srgbClr val="5D6769"/>
                </a:solidFill>
                <a:effectLst/>
                <a:latin typeface="Euclid Circular A"/>
              </a:rPr>
              <a:t> do objeto file para gravá-lo em um arquivo binário. Este método é útil quando queremos apenas o resultado da serialização de um objeto Python para que possamos transferi-lo por uma rede ou outro processo.</a:t>
            </a:r>
          </a:p>
          <a:p>
            <a:pPr marL="2332038" indent="-2332038" algn="just"/>
            <a:r>
              <a:rPr lang="pt-BR" sz="2400" b="0" i="0" dirty="0">
                <a:solidFill>
                  <a:srgbClr val="265CB3"/>
                </a:solidFill>
                <a:effectLst/>
                <a:latin typeface="Euclid Circular A"/>
              </a:rPr>
              <a:t>Método dump</a:t>
            </a:r>
            <a:r>
              <a:rPr lang="pt-BR" sz="2400" dirty="0">
                <a:solidFill>
                  <a:srgbClr val="265CB3"/>
                </a:solidFill>
                <a:latin typeface="Euclid Circular A"/>
              </a:rPr>
              <a:t>() – </a:t>
            </a:r>
            <a:r>
              <a:rPr lang="pt-BR" sz="2400" b="0" i="0" dirty="0">
                <a:solidFill>
                  <a:srgbClr val="5D6769"/>
                </a:solidFill>
                <a:effectLst/>
                <a:latin typeface="Euclid Circular A"/>
              </a:rPr>
              <a:t>O método </a:t>
            </a:r>
            <a:r>
              <a:rPr lang="pt-BR" sz="2400" b="0" i="0" dirty="0">
                <a:solidFill>
                  <a:srgbClr val="265CB3"/>
                </a:solidFill>
                <a:effectLst/>
                <a:latin typeface="Euclid Circular A"/>
              </a:rPr>
              <a:t>dump()</a:t>
            </a:r>
            <a:r>
              <a:rPr lang="pt-BR" sz="2400" b="0" i="0" dirty="0">
                <a:solidFill>
                  <a:srgbClr val="5D6769"/>
                </a:solidFill>
                <a:effectLst/>
                <a:latin typeface="Euclid Circular A"/>
              </a:rPr>
              <a:t> converte os objetos </a:t>
            </a:r>
            <a:r>
              <a:rPr lang="pt-BR" sz="2400" b="0" i="0" dirty="0" err="1">
                <a:solidFill>
                  <a:srgbClr val="5D6769"/>
                </a:solidFill>
                <a:effectLst/>
                <a:latin typeface="Euclid Circular A"/>
              </a:rPr>
              <a:t>python</a:t>
            </a:r>
            <a:r>
              <a:rPr lang="pt-BR" sz="2400" b="0" i="0" dirty="0">
                <a:solidFill>
                  <a:srgbClr val="5D6769"/>
                </a:solidFill>
                <a:effectLst/>
                <a:latin typeface="Euclid Circular A"/>
              </a:rPr>
              <a:t> em fluxos de bytes e os grava imediatamente em um arquivo binário.</a:t>
            </a:r>
          </a:p>
          <a:p>
            <a:pPr algn="just"/>
            <a:endParaRPr lang="en-US" sz="1000" b="0" i="0" dirty="0">
              <a:solidFill>
                <a:srgbClr val="5D6769"/>
              </a:solidFill>
              <a:effectLst/>
              <a:latin typeface="Euclid Circular A"/>
            </a:endParaRPr>
          </a:p>
          <a:p>
            <a:pPr algn="just"/>
            <a:r>
              <a:rPr lang="en-US" sz="2400" b="0" i="0" dirty="0">
                <a:solidFill>
                  <a:srgbClr val="5D6769"/>
                </a:solidFill>
                <a:effectLst/>
                <a:latin typeface="Euclid Circular A"/>
              </a:rPr>
              <a:t>São </a:t>
            </a:r>
            <a:r>
              <a:rPr lang="en-US" sz="2400" b="0" i="0" dirty="0" err="1">
                <a:solidFill>
                  <a:srgbClr val="5D6769"/>
                </a:solidFill>
                <a:effectLst/>
                <a:latin typeface="Euclid Circular A"/>
              </a:rPr>
              <a:t>usados</a:t>
            </a:r>
            <a:r>
              <a:rPr lang="en-US" sz="2400" b="0" i="0" dirty="0">
                <a:solidFill>
                  <a:srgbClr val="5D6769"/>
                </a:solidFill>
                <a:effectLst/>
                <a:latin typeface="Euclid Circular A"/>
              </a:rPr>
              <a:t> para </a:t>
            </a:r>
            <a:r>
              <a:rPr lang="en-US" sz="2400" b="0" i="0" dirty="0" err="1">
                <a:solidFill>
                  <a:srgbClr val="5D6769"/>
                </a:solidFill>
                <a:effectLst/>
                <a:latin typeface="Euclid Circular A"/>
              </a:rPr>
              <a:t>serialização</a:t>
            </a:r>
            <a:r>
              <a:rPr lang="en-US" sz="2400" b="0" i="0" dirty="0">
                <a:solidFill>
                  <a:srgbClr val="5D6769"/>
                </a:solidFill>
                <a:effectLst/>
                <a:latin typeface="Euclid Circular A"/>
              </a:rPr>
              <a:t> </a:t>
            </a:r>
            <a:r>
              <a:rPr lang="en-US" sz="2400" b="0" i="0" dirty="0" err="1">
                <a:solidFill>
                  <a:srgbClr val="5D6769"/>
                </a:solidFill>
                <a:effectLst/>
                <a:latin typeface="Euclid Circular A"/>
              </a:rPr>
              <a:t>ou</a:t>
            </a:r>
            <a:r>
              <a:rPr lang="en-US" sz="2400" b="0" i="0" dirty="0">
                <a:solidFill>
                  <a:srgbClr val="5D6769"/>
                </a:solidFill>
                <a:effectLst/>
                <a:latin typeface="Euclid Circular A"/>
              </a:rPr>
              <a:t> a </a:t>
            </a:r>
            <a:r>
              <a:rPr lang="en-US" sz="2400" b="0" i="0" dirty="0" err="1">
                <a:solidFill>
                  <a:srgbClr val="5D6769"/>
                </a:solidFill>
                <a:effectLst/>
                <a:latin typeface="Euclid Circular A"/>
              </a:rPr>
              <a:t>conversão</a:t>
            </a:r>
            <a:r>
              <a:rPr lang="en-US" sz="2400" b="0" i="0" dirty="0">
                <a:solidFill>
                  <a:srgbClr val="5D6769"/>
                </a:solidFill>
                <a:effectLst/>
                <a:latin typeface="Euclid Circular A"/>
              </a:rPr>
              <a:t> de um </a:t>
            </a:r>
            <a:r>
              <a:rPr lang="en-US" sz="2400" b="0" i="0" dirty="0" err="1">
                <a:solidFill>
                  <a:srgbClr val="5D6769"/>
                </a:solidFill>
                <a:effectLst/>
                <a:latin typeface="Euclid Circular A"/>
              </a:rPr>
              <a:t>objeto</a:t>
            </a:r>
            <a:r>
              <a:rPr lang="en-US" sz="2400" b="0" i="0" dirty="0">
                <a:solidFill>
                  <a:srgbClr val="5D6769"/>
                </a:solidFill>
                <a:effectLst/>
                <a:latin typeface="Euclid Circular A"/>
              </a:rPr>
              <a:t> python </a:t>
            </a:r>
            <a:r>
              <a:rPr lang="en-US" sz="2400" b="0" i="0" dirty="0" err="1">
                <a:solidFill>
                  <a:srgbClr val="5D6769"/>
                </a:solidFill>
                <a:effectLst/>
                <a:latin typeface="Euclid Circular A"/>
              </a:rPr>
              <a:t>em</a:t>
            </a:r>
            <a:r>
              <a:rPr lang="en-US" sz="2400" b="0" i="0" dirty="0">
                <a:solidFill>
                  <a:srgbClr val="5D6769"/>
                </a:solidFill>
                <a:effectLst/>
                <a:latin typeface="Euclid Circular A"/>
              </a:rPr>
              <a:t> um </a:t>
            </a:r>
            <a:r>
              <a:rPr lang="en-US" sz="2400" b="0" i="0" dirty="0" err="1">
                <a:solidFill>
                  <a:srgbClr val="5D6769"/>
                </a:solidFill>
                <a:effectLst/>
                <a:latin typeface="Euclid Circular A"/>
              </a:rPr>
              <a:t>fluxo</a:t>
            </a:r>
            <a:r>
              <a:rPr lang="en-US" sz="2400" b="0" i="0" dirty="0">
                <a:solidFill>
                  <a:srgbClr val="5D6769"/>
                </a:solidFill>
                <a:effectLst/>
                <a:latin typeface="Euclid Circular A"/>
              </a:rPr>
              <a:t> de bytes, que </a:t>
            </a:r>
            <a:r>
              <a:rPr lang="en-US" sz="2400" b="0" i="0" dirty="0" err="1">
                <a:solidFill>
                  <a:srgbClr val="5D6769"/>
                </a:solidFill>
                <a:effectLst/>
                <a:latin typeface="Euclid Circular A"/>
              </a:rPr>
              <a:t>pode</a:t>
            </a:r>
            <a:r>
              <a:rPr lang="en-US" sz="2400" b="0" i="0" dirty="0">
                <a:solidFill>
                  <a:srgbClr val="5D6769"/>
                </a:solidFill>
                <a:effectLst/>
                <a:latin typeface="Euclid Circular A"/>
              </a:rPr>
              <a:t> ser </a:t>
            </a:r>
            <a:r>
              <a:rPr lang="en-US" sz="2400" b="0" i="0" dirty="0" err="1">
                <a:solidFill>
                  <a:srgbClr val="5D6769"/>
                </a:solidFill>
                <a:effectLst/>
                <a:latin typeface="Euclid Circular A"/>
              </a:rPr>
              <a:t>armazenado</a:t>
            </a:r>
            <a:r>
              <a:rPr lang="en-US" sz="2400" b="0" i="0" dirty="0">
                <a:solidFill>
                  <a:srgbClr val="5D6769"/>
                </a:solidFill>
                <a:effectLst/>
                <a:latin typeface="Euclid Circular A"/>
              </a:rPr>
              <a:t> </a:t>
            </a:r>
            <a:r>
              <a:rPr lang="en-US" sz="2400" b="0" i="0" dirty="0" err="1">
                <a:solidFill>
                  <a:srgbClr val="5D6769"/>
                </a:solidFill>
                <a:effectLst/>
                <a:latin typeface="Euclid Circular A"/>
              </a:rPr>
              <a:t>em</a:t>
            </a:r>
            <a:r>
              <a:rPr lang="en-US" sz="2400" b="0" i="0" dirty="0">
                <a:solidFill>
                  <a:srgbClr val="5D6769"/>
                </a:solidFill>
                <a:effectLst/>
                <a:latin typeface="Euclid Circular A"/>
              </a:rPr>
              <a:t> um </a:t>
            </a:r>
            <a:r>
              <a:rPr lang="en-US" sz="2400" b="0" i="0" dirty="0" err="1">
                <a:solidFill>
                  <a:srgbClr val="5D6769"/>
                </a:solidFill>
                <a:effectLst/>
                <a:latin typeface="Euclid Circular A"/>
              </a:rPr>
              <a:t>arquivo</a:t>
            </a:r>
            <a:r>
              <a:rPr lang="en-US" sz="2400" b="0" i="0" dirty="0">
                <a:solidFill>
                  <a:srgbClr val="5D6769"/>
                </a:solidFill>
                <a:effectLst/>
                <a:latin typeface="Euclid Circular A"/>
              </a:rPr>
              <a:t> </a:t>
            </a:r>
            <a:r>
              <a:rPr lang="en-US" sz="2400" b="0" i="0" dirty="0" err="1">
                <a:solidFill>
                  <a:srgbClr val="5D6769"/>
                </a:solidFill>
                <a:effectLst/>
                <a:latin typeface="Euclid Circular A"/>
              </a:rPr>
              <a:t>ou</a:t>
            </a:r>
            <a:r>
              <a:rPr lang="en-US" sz="2400" b="0" i="0" dirty="0">
                <a:solidFill>
                  <a:srgbClr val="5D6769"/>
                </a:solidFill>
                <a:effectLst/>
                <a:latin typeface="Euclid Circular A"/>
              </a:rPr>
              <a:t> </a:t>
            </a:r>
            <a:r>
              <a:rPr lang="en-US" sz="2400" b="0" i="0" dirty="0" err="1">
                <a:solidFill>
                  <a:srgbClr val="5D6769"/>
                </a:solidFill>
                <a:effectLst/>
                <a:latin typeface="Euclid Circular A"/>
              </a:rPr>
              <a:t>transferido</a:t>
            </a:r>
            <a:r>
              <a:rPr lang="en-US" sz="2400" b="0" i="0" dirty="0">
                <a:solidFill>
                  <a:srgbClr val="5D6769"/>
                </a:solidFill>
                <a:effectLst/>
                <a:latin typeface="Euclid Circular A"/>
              </a:rPr>
              <a:t> pela rede</a:t>
            </a:r>
            <a:endParaRPr lang="pt-BR" sz="2400" b="0" i="0" dirty="0">
              <a:solidFill>
                <a:srgbClr val="5D6769"/>
              </a:solidFill>
              <a:effectLst/>
              <a:latin typeface="Euclid Circular A"/>
            </a:endParaRPr>
          </a:p>
        </p:txBody>
      </p:sp>
      <p:sp>
        <p:nvSpPr>
          <p:cNvPr id="16" name="CaixaDeTexto 15">
            <a:extLst>
              <a:ext uri="{FF2B5EF4-FFF2-40B4-BE49-F238E27FC236}">
                <a16:creationId xmlns:a16="http://schemas.microsoft.com/office/drawing/2014/main" id="{A028D33A-F163-EA41-47C3-53B2516E947D}"/>
              </a:ext>
            </a:extLst>
          </p:cNvPr>
          <p:cNvSpPr txBox="1"/>
          <p:nvPr/>
        </p:nvSpPr>
        <p:spPr>
          <a:xfrm>
            <a:off x="239151" y="1422080"/>
            <a:ext cx="11713698" cy="954107"/>
          </a:xfrm>
          <a:prstGeom prst="rect">
            <a:avLst/>
          </a:prstGeom>
          <a:noFill/>
        </p:spPr>
        <p:txBody>
          <a:bodyPr wrap="square" rtlCol="0">
            <a:spAutoFit/>
          </a:bodyPr>
          <a:lstStyle/>
          <a:p>
            <a:pPr marL="571500" indent="-571500" algn="just">
              <a:buFont typeface="Arial" panose="020B0604020202020204" pitchFamily="34" charset="0"/>
              <a:buChar char="•"/>
            </a:pPr>
            <a:r>
              <a:rPr lang="pt-BR" sz="2800" b="0" i="0" dirty="0">
                <a:solidFill>
                  <a:srgbClr val="5D6769"/>
                </a:solidFill>
                <a:effectLst/>
                <a:latin typeface="Euclid Circular A"/>
              </a:rPr>
              <a:t>O módulo </a:t>
            </a:r>
            <a:r>
              <a:rPr lang="pt-BR" sz="2800" b="0" i="0" dirty="0">
                <a:solidFill>
                  <a:srgbClr val="265CB3"/>
                </a:solidFill>
                <a:effectLst/>
                <a:latin typeface="Euclid Circular A"/>
              </a:rPr>
              <a:t>pickle</a:t>
            </a:r>
            <a:r>
              <a:rPr lang="pt-BR" sz="2800" b="0" i="0" dirty="0">
                <a:solidFill>
                  <a:srgbClr val="5D6769"/>
                </a:solidFill>
                <a:effectLst/>
                <a:latin typeface="Euclid Circular A"/>
              </a:rPr>
              <a:t> fornece métodos para serialização e de </a:t>
            </a:r>
            <a:r>
              <a:rPr lang="pt-BR" sz="2800" b="0" i="0" dirty="0" err="1">
                <a:solidFill>
                  <a:srgbClr val="5D6769"/>
                </a:solidFill>
                <a:effectLst/>
                <a:latin typeface="Euclid Circular A"/>
              </a:rPr>
              <a:t>desserialização</a:t>
            </a:r>
            <a:r>
              <a:rPr lang="pt-BR" sz="2800" b="0" i="0" dirty="0">
                <a:solidFill>
                  <a:srgbClr val="5D6769"/>
                </a:solidFill>
                <a:effectLst/>
                <a:latin typeface="Euclid Circular A"/>
              </a:rPr>
              <a:t> de objetos Python. Há quatro métodos disponíveis no módulo pickle, que são:</a:t>
            </a:r>
          </a:p>
        </p:txBody>
      </p:sp>
    </p:spTree>
    <p:extLst>
      <p:ext uri="{BB962C8B-B14F-4D97-AF65-F5344CB8AC3E}">
        <p14:creationId xmlns:p14="http://schemas.microsoft.com/office/powerpoint/2010/main" val="1406849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81621-4EFA-4272-847F-8769825E277E}"/>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0C80013-37CF-7270-44BE-8DE1389ED91F}"/>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007C5807-E88F-0968-3E02-4EB68D77BF6C}"/>
              </a:ext>
            </a:extLst>
          </p:cNvPr>
          <p:cNvSpPr>
            <a:spLocks noGrp="1"/>
          </p:cNvSpPr>
          <p:nvPr>
            <p:ph type="ftr" sz="quarter" idx="11"/>
          </p:nvPr>
        </p:nvSpPr>
        <p:spPr/>
        <p:txBody>
          <a:bodyPr/>
          <a:lstStyle/>
          <a:p>
            <a:endParaRPr lang="pt-BR" sz="1600" b="1" dirty="0"/>
          </a:p>
        </p:txBody>
      </p:sp>
      <p:sp>
        <p:nvSpPr>
          <p:cNvPr id="4" name="Espaço Reservado para Número de Slide 3">
            <a:extLst>
              <a:ext uri="{FF2B5EF4-FFF2-40B4-BE49-F238E27FC236}">
                <a16:creationId xmlns:a16="http://schemas.microsoft.com/office/drawing/2014/main" id="{C04FF6EE-B9B3-EE34-03AA-5EEA280DA970}"/>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6</a:t>
            </a:fld>
            <a:endParaRPr lang="pt-BR" b="1" dirty="0">
              <a:solidFill>
                <a:schemeClr val="tx1"/>
              </a:solidFill>
            </a:endParaRPr>
          </a:p>
        </p:txBody>
      </p:sp>
      <p:sp>
        <p:nvSpPr>
          <p:cNvPr id="14" name="Título 13">
            <a:extLst>
              <a:ext uri="{FF2B5EF4-FFF2-40B4-BE49-F238E27FC236}">
                <a16:creationId xmlns:a16="http://schemas.microsoft.com/office/drawing/2014/main" id="{194D0407-40ED-1BA1-8D74-1F5A4254DE09}"/>
              </a:ext>
            </a:extLst>
          </p:cNvPr>
          <p:cNvSpPr>
            <a:spLocks noGrp="1"/>
          </p:cNvSpPr>
          <p:nvPr>
            <p:ph type="title"/>
          </p:nvPr>
        </p:nvSpPr>
        <p:spPr>
          <a:xfrm>
            <a:off x="2090847" y="320041"/>
            <a:ext cx="9862002" cy="996246"/>
          </a:xfrm>
        </p:spPr>
        <p:txBody>
          <a:bodyPr>
            <a:normAutofit/>
          </a:bodyPr>
          <a:lstStyle/>
          <a:p>
            <a:pPr algn="ctr"/>
            <a:r>
              <a:rPr lang="pt-BR" sz="4400" b="1" i="1" dirty="0">
                <a:solidFill>
                  <a:srgbClr val="222A48"/>
                </a:solidFill>
                <a:effectLst/>
                <a:latin typeface="Euclid Circular A"/>
              </a:rPr>
              <a:t>O módulo de pickle</a:t>
            </a:r>
            <a:endParaRPr lang="pt-BR" i="1" dirty="0"/>
          </a:p>
        </p:txBody>
      </p:sp>
      <p:sp>
        <p:nvSpPr>
          <p:cNvPr id="15" name="CaixaDeTexto 14">
            <a:extLst>
              <a:ext uri="{FF2B5EF4-FFF2-40B4-BE49-F238E27FC236}">
                <a16:creationId xmlns:a16="http://schemas.microsoft.com/office/drawing/2014/main" id="{10B6B6DA-C292-3ECF-1D4D-D063CD81B50A}"/>
              </a:ext>
            </a:extLst>
          </p:cNvPr>
          <p:cNvSpPr txBox="1"/>
          <p:nvPr/>
        </p:nvSpPr>
        <p:spPr>
          <a:xfrm>
            <a:off x="424998" y="1514500"/>
            <a:ext cx="11264082" cy="1938992"/>
          </a:xfrm>
          <a:prstGeom prst="rect">
            <a:avLst/>
          </a:prstGeom>
          <a:noFill/>
        </p:spPr>
        <p:txBody>
          <a:bodyPr wrap="square" rtlCol="0">
            <a:spAutoFit/>
          </a:bodyPr>
          <a:lstStyle/>
          <a:p>
            <a:pPr marL="2149475" indent="-2149475" algn="just">
              <a:spcBef>
                <a:spcPts val="1875"/>
              </a:spcBef>
              <a:buNone/>
            </a:pPr>
            <a:r>
              <a:rPr lang="pt-BR" sz="2400" b="0" i="0" dirty="0">
                <a:solidFill>
                  <a:srgbClr val="265CB3"/>
                </a:solidFill>
                <a:effectLst/>
                <a:latin typeface="Euclid Circular A"/>
              </a:rPr>
              <a:t>Método load</a:t>
            </a:r>
            <a:r>
              <a:rPr lang="pt-BR" sz="2400" dirty="0">
                <a:solidFill>
                  <a:srgbClr val="265CB3"/>
                </a:solidFill>
                <a:latin typeface="Euclid Circular A"/>
              </a:rPr>
              <a:t>() – </a:t>
            </a:r>
            <a:r>
              <a:rPr lang="pt-BR" sz="2400" b="0" i="0" dirty="0">
                <a:solidFill>
                  <a:srgbClr val="5D6769"/>
                </a:solidFill>
                <a:effectLst/>
                <a:latin typeface="Euclid Circular A"/>
              </a:rPr>
              <a:t>O método </a:t>
            </a:r>
            <a:r>
              <a:rPr lang="pt-BR" sz="2400" b="0" i="0" dirty="0">
                <a:solidFill>
                  <a:srgbClr val="265CB3"/>
                </a:solidFill>
                <a:effectLst/>
                <a:latin typeface="Euclid Circular A"/>
              </a:rPr>
              <a:t>load()</a:t>
            </a:r>
            <a:r>
              <a:rPr lang="pt-BR" sz="2400" b="0" i="0" dirty="0">
                <a:solidFill>
                  <a:srgbClr val="5D6769"/>
                </a:solidFill>
                <a:effectLst/>
                <a:latin typeface="Euclid Circular A"/>
              </a:rPr>
              <a:t> lê o fluxo de bytes de um ou mais objetos Python de um arquivo binário e reconstrói a réplica do objeto Python original.</a:t>
            </a:r>
          </a:p>
          <a:p>
            <a:pPr marL="2332038" indent="-2332038" algn="just"/>
            <a:endParaRPr lang="pt-BR" sz="2400" b="0" i="0" dirty="0">
              <a:solidFill>
                <a:srgbClr val="265CB3"/>
              </a:solidFill>
              <a:effectLst/>
              <a:latin typeface="Euclid Circular A"/>
            </a:endParaRPr>
          </a:p>
          <a:p>
            <a:pPr marL="2332038" indent="-2332038" algn="just"/>
            <a:r>
              <a:rPr lang="pt-BR" sz="2400" b="0" i="0" dirty="0">
                <a:solidFill>
                  <a:srgbClr val="265CB3"/>
                </a:solidFill>
                <a:effectLst/>
                <a:latin typeface="Euclid Circular A"/>
              </a:rPr>
              <a:t>Método loads</a:t>
            </a:r>
            <a:r>
              <a:rPr lang="pt-BR" sz="2400" dirty="0">
                <a:solidFill>
                  <a:srgbClr val="265CB3"/>
                </a:solidFill>
                <a:latin typeface="Euclid Circular A"/>
              </a:rPr>
              <a:t>() – </a:t>
            </a:r>
            <a:r>
              <a:rPr lang="pt-BR" sz="2400" b="0" i="0" dirty="0">
                <a:solidFill>
                  <a:srgbClr val="5D6769"/>
                </a:solidFill>
                <a:effectLst/>
                <a:latin typeface="Euclid Circular A"/>
              </a:rPr>
              <a:t>O método </a:t>
            </a:r>
            <a:r>
              <a:rPr lang="pt-BR" sz="2400" b="0" i="0" dirty="0">
                <a:solidFill>
                  <a:srgbClr val="265CB3"/>
                </a:solidFill>
                <a:effectLst/>
                <a:latin typeface="Euclid Circular A"/>
              </a:rPr>
              <a:t>loads()</a:t>
            </a:r>
            <a:r>
              <a:rPr lang="pt-BR" sz="2400" b="0" i="0" dirty="0">
                <a:solidFill>
                  <a:srgbClr val="5D6769"/>
                </a:solidFill>
                <a:effectLst/>
                <a:latin typeface="Euclid Circular A"/>
              </a:rPr>
              <a:t> lê a sequência de bytes e reconstrói a réplica do objeto </a:t>
            </a:r>
            <a:r>
              <a:rPr lang="pt-BR" sz="2400" b="0" i="0" dirty="0" err="1">
                <a:solidFill>
                  <a:srgbClr val="5D6769"/>
                </a:solidFill>
                <a:effectLst/>
                <a:latin typeface="Euclid Circular A"/>
              </a:rPr>
              <a:t>python</a:t>
            </a:r>
            <a:r>
              <a:rPr lang="pt-BR" sz="2400" b="0" i="0" dirty="0">
                <a:solidFill>
                  <a:srgbClr val="5D6769"/>
                </a:solidFill>
                <a:effectLst/>
                <a:latin typeface="Euclid Circular A"/>
              </a:rPr>
              <a:t> original.</a:t>
            </a:r>
          </a:p>
        </p:txBody>
      </p:sp>
      <p:sp>
        <p:nvSpPr>
          <p:cNvPr id="5" name="CaixaDeTexto 4">
            <a:extLst>
              <a:ext uri="{FF2B5EF4-FFF2-40B4-BE49-F238E27FC236}">
                <a16:creationId xmlns:a16="http://schemas.microsoft.com/office/drawing/2014/main" id="{11D4CB32-4926-9AB6-0A42-ED1591FE6E67}"/>
              </a:ext>
            </a:extLst>
          </p:cNvPr>
          <p:cNvSpPr txBox="1"/>
          <p:nvPr/>
        </p:nvSpPr>
        <p:spPr>
          <a:xfrm>
            <a:off x="512239" y="3538405"/>
            <a:ext cx="11089599" cy="2677656"/>
          </a:xfrm>
          <a:prstGeom prst="rect">
            <a:avLst/>
          </a:prstGeom>
          <a:noFill/>
        </p:spPr>
        <p:txBody>
          <a:bodyPr wrap="square" rtlCol="0">
            <a:spAutoFit/>
          </a:bodyPr>
          <a:lstStyle/>
          <a:p>
            <a:pPr marL="342900" indent="-342900">
              <a:buFont typeface="Arial" panose="020B0604020202020204" pitchFamily="34" charset="0"/>
              <a:buChar char="•"/>
            </a:pPr>
            <a:r>
              <a:rPr lang="pt-BR" sz="2400" dirty="0">
                <a:solidFill>
                  <a:srgbClr val="5D6769"/>
                </a:solidFill>
                <a:latin typeface="Euclid Circular A"/>
              </a:rPr>
              <a:t>Podemos dizer que load() trabalha com um objeto bytes de arquivo (</a:t>
            </a:r>
            <a:r>
              <a:rPr lang="pt-BR" sz="2400" dirty="0" err="1">
                <a:solidFill>
                  <a:srgbClr val="5D6769"/>
                </a:solidFill>
                <a:latin typeface="Euclid Circular A"/>
              </a:rPr>
              <a:t>stream</a:t>
            </a:r>
            <a:r>
              <a:rPr lang="pt-BR" sz="2400" dirty="0">
                <a:solidFill>
                  <a:srgbClr val="5D6769"/>
                </a:solidFill>
                <a:latin typeface="Euclid Circular A"/>
              </a:rPr>
              <a:t> binário), enquanto </a:t>
            </a:r>
            <a:r>
              <a:rPr lang="pt-BR" sz="2400" dirty="0" err="1">
                <a:solidFill>
                  <a:srgbClr val="5D6769"/>
                </a:solidFill>
                <a:latin typeface="Euclid Circular A"/>
              </a:rPr>
              <a:t>loads</a:t>
            </a:r>
            <a:r>
              <a:rPr lang="pt-BR" sz="2400" dirty="0">
                <a:solidFill>
                  <a:srgbClr val="5D6769"/>
                </a:solidFill>
                <a:latin typeface="Euclid Circular A"/>
              </a:rPr>
              <a:t>() trabalha com um objeto bytes (string binária).</a:t>
            </a:r>
          </a:p>
          <a:p>
            <a:pPr marL="342900" indent="-342900">
              <a:buFont typeface="Arial" panose="020B0604020202020204" pitchFamily="34" charset="0"/>
              <a:buChar char="•"/>
            </a:pPr>
            <a:endParaRPr lang="pt-BR" sz="2400" dirty="0">
              <a:solidFill>
                <a:srgbClr val="5D6769"/>
              </a:solidFill>
              <a:latin typeface="Euclid Circular A"/>
            </a:endParaRPr>
          </a:p>
          <a:p>
            <a:pPr marL="342900" indent="-342900">
              <a:buFont typeface="Arial" panose="020B0604020202020204" pitchFamily="34" charset="0"/>
              <a:buChar char="•"/>
            </a:pPr>
            <a:r>
              <a:rPr lang="pt-BR" sz="2400" dirty="0">
                <a:solidFill>
                  <a:srgbClr val="5D6769"/>
                </a:solidFill>
                <a:latin typeface="Euclid Circular A"/>
              </a:rPr>
              <a:t>Use load() quando você tem um arquivo contendo dados serializados com pickle;</a:t>
            </a:r>
          </a:p>
          <a:p>
            <a:pPr marL="342900" indent="-342900">
              <a:buFont typeface="Arial" panose="020B0604020202020204" pitchFamily="34" charset="0"/>
              <a:buChar char="•"/>
            </a:pPr>
            <a:endParaRPr lang="pt-BR" sz="2400" dirty="0">
              <a:solidFill>
                <a:srgbClr val="5D6769"/>
              </a:solidFill>
              <a:latin typeface="Euclid Circular A"/>
            </a:endParaRPr>
          </a:p>
          <a:p>
            <a:pPr marL="342900" indent="-342900">
              <a:buFont typeface="Arial" panose="020B0604020202020204" pitchFamily="34" charset="0"/>
              <a:buChar char="•"/>
            </a:pPr>
            <a:r>
              <a:rPr lang="pt-BR" sz="2400" dirty="0">
                <a:solidFill>
                  <a:srgbClr val="5D6769"/>
                </a:solidFill>
                <a:latin typeface="Euclid Circular A"/>
              </a:rPr>
              <a:t>Use loads() quando você tem os dados serializados armazenados em uma string de bytes (</a:t>
            </a:r>
            <a:r>
              <a:rPr lang="pt-BR" sz="2400" dirty="0" err="1">
                <a:solidFill>
                  <a:srgbClr val="5D6769"/>
                </a:solidFill>
                <a:latin typeface="Euclid Circular A"/>
              </a:rPr>
              <a:t>ex</a:t>
            </a:r>
            <a:r>
              <a:rPr lang="pt-BR" sz="2400" dirty="0">
                <a:solidFill>
                  <a:srgbClr val="5D6769"/>
                </a:solidFill>
                <a:latin typeface="Euclid Circular A"/>
              </a:rPr>
              <a:t>: após uma operação de </a:t>
            </a:r>
            <a:r>
              <a:rPr lang="pt-BR" sz="2400" dirty="0" err="1">
                <a:solidFill>
                  <a:srgbClr val="5D6769"/>
                </a:solidFill>
                <a:latin typeface="Euclid Circular A"/>
              </a:rPr>
              <a:t>dumps</a:t>
            </a:r>
            <a:r>
              <a:rPr lang="pt-BR" sz="2400" dirty="0">
                <a:solidFill>
                  <a:srgbClr val="5D6769"/>
                </a:solidFill>
                <a:latin typeface="Euclid Circular A"/>
              </a:rPr>
              <a:t>() ou recebidos de um socket)</a:t>
            </a:r>
          </a:p>
        </p:txBody>
      </p:sp>
    </p:spTree>
    <p:extLst>
      <p:ext uri="{BB962C8B-B14F-4D97-AF65-F5344CB8AC3E}">
        <p14:creationId xmlns:p14="http://schemas.microsoft.com/office/powerpoint/2010/main" val="1217481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5ED0CB5-A994-35B1-E885-3B9FD11D7A8E}"/>
              </a:ext>
            </a:extLst>
          </p:cNvPr>
          <p:cNvSpPr>
            <a:spLocks noGrp="1"/>
          </p:cNvSpPr>
          <p:nvPr>
            <p:ph type="dt" sz="half" idx="10"/>
          </p:nvPr>
        </p:nvSpPr>
        <p:spPr/>
        <p:txBody>
          <a:bodyPr/>
          <a:lstStyle/>
          <a:p>
            <a:r>
              <a:rPr lang="pt-BR" dirty="0"/>
              <a:t>25/07/2024</a:t>
            </a:r>
          </a:p>
        </p:txBody>
      </p:sp>
      <p:sp>
        <p:nvSpPr>
          <p:cNvPr id="3" name="Espaço Reservado para Rodapé 2">
            <a:extLst>
              <a:ext uri="{FF2B5EF4-FFF2-40B4-BE49-F238E27FC236}">
                <a16:creationId xmlns:a16="http://schemas.microsoft.com/office/drawing/2014/main" id="{87F4A2A7-5B26-186C-E794-6B72FC39C705}"/>
              </a:ext>
            </a:extLst>
          </p:cNvPr>
          <p:cNvSpPr>
            <a:spLocks noGrp="1"/>
          </p:cNvSpPr>
          <p:nvPr>
            <p:ph type="ftr" sz="quarter" idx="11"/>
          </p:nvPr>
        </p:nvSpPr>
        <p:spPr/>
        <p:txBody>
          <a:bodyPr/>
          <a:lstStyle/>
          <a:p>
            <a:r>
              <a:rPr lang="pt-BR" sz="1400" b="1" dirty="0"/>
              <a:t>Cap11b-Exem00a - Cap11b-Exem00b</a:t>
            </a:r>
          </a:p>
        </p:txBody>
      </p:sp>
      <p:sp>
        <p:nvSpPr>
          <p:cNvPr id="4" name="Espaço Reservado para Número de Slide 3">
            <a:extLst>
              <a:ext uri="{FF2B5EF4-FFF2-40B4-BE49-F238E27FC236}">
                <a16:creationId xmlns:a16="http://schemas.microsoft.com/office/drawing/2014/main" id="{D5D1A3F8-8FF2-9400-ECAC-E5A76D431831}"/>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7</a:t>
            </a:fld>
            <a:endParaRPr lang="pt-BR" b="1" dirty="0">
              <a:solidFill>
                <a:schemeClr val="tx1"/>
              </a:solidFill>
            </a:endParaRPr>
          </a:p>
        </p:txBody>
      </p:sp>
      <p:sp>
        <p:nvSpPr>
          <p:cNvPr id="5" name="Título 4">
            <a:extLst>
              <a:ext uri="{FF2B5EF4-FFF2-40B4-BE49-F238E27FC236}">
                <a16:creationId xmlns:a16="http://schemas.microsoft.com/office/drawing/2014/main" id="{64C2418C-7607-E951-86DE-DDF28D65761F}"/>
              </a:ext>
            </a:extLst>
          </p:cNvPr>
          <p:cNvSpPr>
            <a:spLocks noGrp="1"/>
          </p:cNvSpPr>
          <p:nvPr>
            <p:ph type="title"/>
          </p:nvPr>
        </p:nvSpPr>
        <p:spPr/>
        <p:txBody>
          <a:bodyPr/>
          <a:lstStyle/>
          <a:p>
            <a:pPr algn="ctr"/>
            <a:r>
              <a:rPr lang="pt-BR" b="1" i="1" dirty="0"/>
              <a:t>Exemplos load()  e loads()</a:t>
            </a:r>
          </a:p>
        </p:txBody>
      </p:sp>
      <p:sp>
        <p:nvSpPr>
          <p:cNvPr id="6" name="CaixaDeTexto 5">
            <a:extLst>
              <a:ext uri="{FF2B5EF4-FFF2-40B4-BE49-F238E27FC236}">
                <a16:creationId xmlns:a16="http://schemas.microsoft.com/office/drawing/2014/main" id="{A9D4438C-75DA-0BD4-DDF5-84486F1105E8}"/>
              </a:ext>
            </a:extLst>
          </p:cNvPr>
          <p:cNvSpPr txBox="1"/>
          <p:nvPr/>
        </p:nvSpPr>
        <p:spPr>
          <a:xfrm>
            <a:off x="0" y="1581241"/>
            <a:ext cx="6261525" cy="4493538"/>
          </a:xfrm>
          <a:prstGeom prst="rect">
            <a:avLst/>
          </a:prstGeom>
          <a:noFill/>
        </p:spPr>
        <p:txBody>
          <a:bodyPr wrap="square" rtlCol="0">
            <a:spAutoFit/>
          </a:bodyPr>
          <a:lstStyle/>
          <a:p>
            <a:r>
              <a:rPr lang="pt-BR" sz="2200" dirty="0"/>
              <a:t># Usando load() para carregar dados de uma string de bytes</a:t>
            </a:r>
          </a:p>
          <a:p>
            <a:r>
              <a:rPr lang="pt-BR" sz="2200" dirty="0" err="1"/>
              <a:t>import</a:t>
            </a:r>
            <a:r>
              <a:rPr lang="pt-BR" sz="2200" dirty="0"/>
              <a:t> pickle</a:t>
            </a:r>
          </a:p>
          <a:p>
            <a:endParaRPr lang="pt-BR" sz="2200" dirty="0"/>
          </a:p>
          <a:p>
            <a:r>
              <a:rPr lang="pt-BR" sz="2200" dirty="0"/>
              <a:t>#     Cria um arquivo com dados serializados</a:t>
            </a:r>
          </a:p>
          <a:p>
            <a:r>
              <a:rPr lang="pt-BR" sz="2200" dirty="0"/>
              <a:t>with open ("</a:t>
            </a:r>
            <a:r>
              <a:rPr lang="pt-BR" sz="2200" dirty="0" err="1"/>
              <a:t>meu_arq.pkl</a:t>
            </a:r>
            <a:r>
              <a:rPr lang="pt-BR" sz="2200" dirty="0"/>
              <a:t>", "</a:t>
            </a:r>
            <a:r>
              <a:rPr lang="pt-BR" sz="2200" dirty="0" err="1"/>
              <a:t>wb</a:t>
            </a:r>
            <a:r>
              <a:rPr lang="pt-BR" sz="2200" dirty="0"/>
              <a:t>") as file:</a:t>
            </a:r>
          </a:p>
          <a:p>
            <a:r>
              <a:rPr lang="pt-BR" sz="2200" dirty="0"/>
              <a:t>         data = {"a": 1, "b": [2, 3]}</a:t>
            </a:r>
          </a:p>
          <a:p>
            <a:r>
              <a:rPr lang="pt-BR" sz="2200" dirty="0"/>
              <a:t>         </a:t>
            </a:r>
            <a:r>
              <a:rPr lang="pt-BR" sz="2200" dirty="0" err="1"/>
              <a:t>pickle.dump</a:t>
            </a:r>
            <a:r>
              <a:rPr lang="pt-BR" sz="2200" dirty="0"/>
              <a:t>(data, file)</a:t>
            </a:r>
          </a:p>
          <a:p>
            <a:endParaRPr lang="pt-BR" sz="2200" dirty="0"/>
          </a:p>
          <a:p>
            <a:r>
              <a:rPr lang="pt-BR" sz="2200" dirty="0"/>
              <a:t># Carrega os dados do arquivo</a:t>
            </a:r>
          </a:p>
          <a:p>
            <a:r>
              <a:rPr lang="pt-BR" sz="2200" dirty="0"/>
              <a:t>with open("</a:t>
            </a:r>
            <a:r>
              <a:rPr lang="pt-BR" sz="2200" dirty="0" err="1"/>
              <a:t>meu_arq.pkl</a:t>
            </a:r>
            <a:r>
              <a:rPr lang="pt-BR" sz="2200" dirty="0"/>
              <a:t>", "</a:t>
            </a:r>
            <a:r>
              <a:rPr lang="pt-BR" sz="2200" dirty="0" err="1"/>
              <a:t>rb</a:t>
            </a:r>
            <a:r>
              <a:rPr lang="pt-BR" sz="2200" dirty="0"/>
              <a:t>") as file:</a:t>
            </a:r>
          </a:p>
          <a:p>
            <a:r>
              <a:rPr lang="pt-BR" sz="2200" dirty="0"/>
              <a:t>     </a:t>
            </a:r>
            <a:r>
              <a:rPr lang="pt-BR" sz="2200" dirty="0" err="1"/>
              <a:t>loaded_data</a:t>
            </a:r>
            <a:r>
              <a:rPr lang="pt-BR" sz="2200" dirty="0"/>
              <a:t> = </a:t>
            </a:r>
            <a:r>
              <a:rPr lang="pt-BR" sz="2200" dirty="0" err="1"/>
              <a:t>pickle.load</a:t>
            </a:r>
            <a:r>
              <a:rPr lang="pt-BR" sz="2200" dirty="0"/>
              <a:t>(file)</a:t>
            </a:r>
          </a:p>
          <a:p>
            <a:r>
              <a:rPr lang="pt-BR" sz="2200" dirty="0"/>
              <a:t>     print(</a:t>
            </a:r>
            <a:r>
              <a:rPr lang="pt-BR" sz="2200" dirty="0" err="1"/>
              <a:t>loaded_data</a:t>
            </a:r>
            <a:r>
              <a:rPr lang="pt-BR" sz="2200" dirty="0"/>
              <a:t>)      </a:t>
            </a:r>
            <a:r>
              <a:rPr lang="pt-BR" sz="2200" dirty="0">
                <a:highlight>
                  <a:srgbClr val="FFFF00"/>
                </a:highlight>
              </a:rPr>
              <a:t>#  Saída : {‘a’, : 1, ‘b’ : [2, 3]}</a:t>
            </a:r>
          </a:p>
        </p:txBody>
      </p:sp>
      <p:sp>
        <p:nvSpPr>
          <p:cNvPr id="7" name="CaixaDeTexto 6">
            <a:extLst>
              <a:ext uri="{FF2B5EF4-FFF2-40B4-BE49-F238E27FC236}">
                <a16:creationId xmlns:a16="http://schemas.microsoft.com/office/drawing/2014/main" id="{376B1F00-C1F3-8B3B-F141-58D58D311FB2}"/>
              </a:ext>
            </a:extLst>
          </p:cNvPr>
          <p:cNvSpPr txBox="1"/>
          <p:nvPr/>
        </p:nvSpPr>
        <p:spPr>
          <a:xfrm>
            <a:off x="6201365" y="1581241"/>
            <a:ext cx="6022717" cy="4739759"/>
          </a:xfrm>
          <a:prstGeom prst="rect">
            <a:avLst/>
          </a:prstGeom>
          <a:noFill/>
        </p:spPr>
        <p:txBody>
          <a:bodyPr wrap="square" rtlCol="0">
            <a:spAutoFit/>
          </a:bodyPr>
          <a:lstStyle/>
          <a:p>
            <a:r>
              <a:rPr lang="pt-BR" sz="2200" dirty="0"/>
              <a:t># Usando loads() para carregar dados de uma string de bytes</a:t>
            </a:r>
          </a:p>
          <a:p>
            <a:r>
              <a:rPr lang="pt-BR" sz="2200" dirty="0" err="1"/>
              <a:t>import</a:t>
            </a:r>
            <a:r>
              <a:rPr lang="pt-BR" sz="2200" dirty="0"/>
              <a:t> pickle</a:t>
            </a:r>
          </a:p>
          <a:p>
            <a:endParaRPr lang="pt-BR" sz="2200" dirty="0"/>
          </a:p>
          <a:p>
            <a:r>
              <a:rPr lang="pt-BR" sz="2200" dirty="0"/>
              <a:t>#Serrializa dados para uma string de bytes</a:t>
            </a:r>
          </a:p>
          <a:p>
            <a:r>
              <a:rPr lang="pt-BR" sz="2200" dirty="0"/>
              <a:t>data = {"a": 1, "b": [2, 3]}    # data é um objeto</a:t>
            </a:r>
          </a:p>
          <a:p>
            <a:r>
              <a:rPr lang="pt-BR" sz="2200" dirty="0" err="1"/>
              <a:t>obj_serializado</a:t>
            </a:r>
            <a:r>
              <a:rPr lang="pt-BR" sz="2200" dirty="0"/>
              <a:t> = </a:t>
            </a:r>
            <a:r>
              <a:rPr lang="pt-BR" sz="2200" dirty="0" err="1"/>
              <a:t>pickle.dumps</a:t>
            </a:r>
            <a:r>
              <a:rPr lang="pt-BR" sz="2200" dirty="0"/>
              <a:t>(data)</a:t>
            </a:r>
          </a:p>
          <a:p>
            <a:endParaRPr lang="pt-BR" sz="2200" dirty="0"/>
          </a:p>
          <a:p>
            <a:endParaRPr lang="pt-BR" sz="2200" dirty="0"/>
          </a:p>
          <a:p>
            <a:r>
              <a:rPr lang="pt-BR" sz="2200" dirty="0"/>
              <a:t>#Desserializa a string de bytes para um objeto</a:t>
            </a:r>
          </a:p>
          <a:p>
            <a:r>
              <a:rPr lang="pt-BR" sz="2200" dirty="0" err="1"/>
              <a:t>loaded_data</a:t>
            </a:r>
            <a:r>
              <a:rPr lang="pt-BR" sz="2200" dirty="0"/>
              <a:t> = </a:t>
            </a:r>
            <a:r>
              <a:rPr lang="pt-BR" sz="2200" dirty="0" err="1"/>
              <a:t>pickle.loads</a:t>
            </a:r>
            <a:r>
              <a:rPr lang="pt-BR" sz="2200" dirty="0"/>
              <a:t>(</a:t>
            </a:r>
            <a:r>
              <a:rPr lang="pt-BR" sz="2200" dirty="0" err="1"/>
              <a:t>obj_serializado</a:t>
            </a:r>
            <a:r>
              <a:rPr lang="pt-BR" sz="2200" dirty="0"/>
              <a:t>)</a:t>
            </a:r>
          </a:p>
          <a:p>
            <a:r>
              <a:rPr lang="pt-BR" sz="2200" dirty="0"/>
              <a:t>print(</a:t>
            </a:r>
            <a:r>
              <a:rPr lang="pt-BR" sz="2200" dirty="0" err="1"/>
              <a:t>loaded_data</a:t>
            </a:r>
            <a:r>
              <a:rPr lang="pt-BR" sz="2200" dirty="0"/>
              <a:t>)       </a:t>
            </a:r>
            <a:r>
              <a:rPr lang="pt-BR" sz="2200" dirty="0">
                <a:highlight>
                  <a:srgbClr val="FFFF00"/>
                </a:highlight>
              </a:rPr>
              <a:t>#  Saída : {‘a’, : 1, ‘b’ : [2, 3]}</a:t>
            </a:r>
          </a:p>
          <a:p>
            <a:r>
              <a:rPr lang="pt-BR" sz="2200" dirty="0"/>
              <a:t> </a:t>
            </a:r>
          </a:p>
          <a:p>
            <a:endParaRPr lang="pt-BR" sz="1600" dirty="0"/>
          </a:p>
        </p:txBody>
      </p:sp>
    </p:spTree>
    <p:extLst>
      <p:ext uri="{BB962C8B-B14F-4D97-AF65-F5344CB8AC3E}">
        <p14:creationId xmlns:p14="http://schemas.microsoft.com/office/powerpoint/2010/main" val="3096522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85BC-A5B6-C6ED-44C9-B0EC3A019C66}"/>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DD10497-7E57-5A18-D816-DA82023388E7}"/>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5E25E36-A667-E76E-DAC0-4069DB0E9447}"/>
              </a:ext>
            </a:extLst>
          </p:cNvPr>
          <p:cNvSpPr>
            <a:spLocks noGrp="1"/>
          </p:cNvSpPr>
          <p:nvPr>
            <p:ph type="ftr" sz="quarter" idx="11"/>
          </p:nvPr>
        </p:nvSpPr>
        <p:spPr/>
        <p:txBody>
          <a:bodyPr/>
          <a:lstStyle/>
          <a:p>
            <a:r>
              <a:rPr lang="pt-BR" sz="1600" b="1" dirty="0"/>
              <a:t>Cap11b-Exem02</a:t>
            </a:r>
          </a:p>
        </p:txBody>
      </p:sp>
      <p:sp>
        <p:nvSpPr>
          <p:cNvPr id="4" name="Espaço Reservado para Número de Slide 3">
            <a:extLst>
              <a:ext uri="{FF2B5EF4-FFF2-40B4-BE49-F238E27FC236}">
                <a16:creationId xmlns:a16="http://schemas.microsoft.com/office/drawing/2014/main" id="{F221B6D9-3C2B-F1AA-6691-9E8828721229}"/>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8</a:t>
            </a:fld>
            <a:endParaRPr lang="pt-BR" b="1" dirty="0">
              <a:solidFill>
                <a:schemeClr val="tx1"/>
              </a:solidFill>
            </a:endParaRPr>
          </a:p>
        </p:txBody>
      </p:sp>
      <p:sp>
        <p:nvSpPr>
          <p:cNvPr id="5" name="Título 4">
            <a:extLst>
              <a:ext uri="{FF2B5EF4-FFF2-40B4-BE49-F238E27FC236}">
                <a16:creationId xmlns:a16="http://schemas.microsoft.com/office/drawing/2014/main" id="{2B1E7D4D-3BE1-15D3-E899-2EDECFEE6857}"/>
              </a:ext>
            </a:extLst>
          </p:cNvPr>
          <p:cNvSpPr>
            <a:spLocks noGrp="1"/>
          </p:cNvSpPr>
          <p:nvPr>
            <p:ph type="title"/>
          </p:nvPr>
        </p:nvSpPr>
        <p:spPr/>
        <p:txBody>
          <a:bodyPr>
            <a:normAutofit/>
          </a:bodyPr>
          <a:lstStyle/>
          <a:p>
            <a:pPr marL="533400" algn="ctr"/>
            <a:r>
              <a:rPr lang="pt-BR" sz="4400" b="1" i="1" dirty="0">
                <a:solidFill>
                  <a:srgbClr val="222A48"/>
                </a:solidFill>
                <a:effectLst/>
                <a:latin typeface="Euclid Circular A"/>
              </a:rPr>
              <a:t>Sintaxe do método </a:t>
            </a:r>
            <a:r>
              <a:rPr lang="pt-BR" sz="4400" b="1" i="1" dirty="0" err="1">
                <a:solidFill>
                  <a:srgbClr val="222A48"/>
                </a:solidFill>
                <a:effectLst/>
                <a:latin typeface="Euclid Circular A"/>
              </a:rPr>
              <a:t>load</a:t>
            </a:r>
            <a:r>
              <a:rPr lang="pt-BR" sz="4400" b="1" i="1" dirty="0">
                <a:solidFill>
                  <a:srgbClr val="222A48"/>
                </a:solidFill>
                <a:effectLst/>
                <a:latin typeface="Euclid Circular A"/>
              </a:rPr>
              <a:t>()</a:t>
            </a:r>
          </a:p>
        </p:txBody>
      </p:sp>
      <p:sp>
        <p:nvSpPr>
          <p:cNvPr id="9" name="CaixaDeTexto 8">
            <a:extLst>
              <a:ext uri="{FF2B5EF4-FFF2-40B4-BE49-F238E27FC236}">
                <a16:creationId xmlns:a16="http://schemas.microsoft.com/office/drawing/2014/main" id="{F43B9CC6-7B9A-76B6-550D-C5B58293E63A}"/>
              </a:ext>
            </a:extLst>
          </p:cNvPr>
          <p:cNvSpPr txBox="1"/>
          <p:nvPr/>
        </p:nvSpPr>
        <p:spPr>
          <a:xfrm>
            <a:off x="844061" y="1353344"/>
            <a:ext cx="8539375" cy="523220"/>
          </a:xfrm>
          <a:prstGeom prst="rect">
            <a:avLst/>
          </a:prstGeom>
          <a:noFill/>
        </p:spPr>
        <p:txBody>
          <a:bodyPr wrap="square">
            <a:spAutoFit/>
          </a:bodyPr>
          <a:lstStyle/>
          <a:p>
            <a:pPr marL="457200" indent="-457200" algn="just">
              <a:buFont typeface="Wingdings" panose="05000000000000000000" pitchFamily="2" charset="2"/>
              <a:buChar char="§"/>
            </a:pPr>
            <a:r>
              <a:rPr lang="pt-BR" sz="2800" b="1" i="0" u="none" strike="noStrike" baseline="0" dirty="0" err="1">
                <a:latin typeface="CIDFont+F1"/>
              </a:rPr>
              <a:t>obj</a:t>
            </a:r>
            <a:r>
              <a:rPr lang="pt-BR" sz="2800" b="1" i="0" u="none" strike="noStrike" baseline="0" dirty="0">
                <a:latin typeface="CIDFont+F1"/>
              </a:rPr>
              <a:t> = </a:t>
            </a:r>
            <a:r>
              <a:rPr lang="pt-BR" sz="2800" b="1" i="0" u="none" strike="noStrike" baseline="0" dirty="0" err="1">
                <a:latin typeface="CIDFont+F1"/>
              </a:rPr>
              <a:t>pickle.load</a:t>
            </a:r>
            <a:r>
              <a:rPr lang="pt-BR" sz="2800" b="1" i="0" u="none" strike="noStrike" baseline="0" dirty="0">
                <a:latin typeface="CIDFont+F1"/>
              </a:rPr>
              <a:t>(file)</a:t>
            </a:r>
            <a:endParaRPr lang="pt-BR" sz="2800" dirty="0"/>
          </a:p>
        </p:txBody>
      </p:sp>
      <p:sp>
        <p:nvSpPr>
          <p:cNvPr id="10" name="CaixaDeTexto 9">
            <a:extLst>
              <a:ext uri="{FF2B5EF4-FFF2-40B4-BE49-F238E27FC236}">
                <a16:creationId xmlns:a16="http://schemas.microsoft.com/office/drawing/2014/main" id="{D93514B7-B5E8-4BC6-7A70-2A7273039557}"/>
              </a:ext>
            </a:extLst>
          </p:cNvPr>
          <p:cNvSpPr txBox="1"/>
          <p:nvPr/>
        </p:nvSpPr>
        <p:spPr>
          <a:xfrm>
            <a:off x="239151" y="1903094"/>
            <a:ext cx="9450566" cy="4708981"/>
          </a:xfrm>
          <a:prstGeom prst="rect">
            <a:avLst/>
          </a:prstGeom>
          <a:noFill/>
        </p:spPr>
        <p:txBody>
          <a:bodyPr wrap="square">
            <a:spAutoFit/>
          </a:bodyPr>
          <a:lstStyle/>
          <a:p>
            <a:r>
              <a:rPr lang="en-US" sz="2000" dirty="0"/>
              <a:t>import pickle</a:t>
            </a:r>
          </a:p>
          <a:p>
            <a:endParaRPr lang="en-US" sz="2000" dirty="0"/>
          </a:p>
          <a:p>
            <a:r>
              <a:rPr lang="en-US" sz="2000" dirty="0"/>
              <a:t># </a:t>
            </a:r>
            <a:r>
              <a:rPr lang="en-US" sz="2000" dirty="0" err="1"/>
              <a:t>lê</a:t>
            </a:r>
            <a:r>
              <a:rPr lang="en-US" sz="2000" dirty="0"/>
              <a:t> </a:t>
            </a:r>
            <a:r>
              <a:rPr lang="en-US" sz="2000" dirty="0" err="1"/>
              <a:t>uma</a:t>
            </a:r>
            <a:r>
              <a:rPr lang="en-US" sz="2000" dirty="0"/>
              <a:t> </a:t>
            </a:r>
            <a:r>
              <a:rPr lang="en-US" sz="2000" dirty="0" err="1"/>
              <a:t>lista</a:t>
            </a:r>
            <a:r>
              <a:rPr lang="en-US" sz="2000" dirty="0"/>
              <a:t> de 5 </a:t>
            </a:r>
            <a:r>
              <a:rPr lang="en-US" sz="2000" dirty="0" err="1"/>
              <a:t>nomes</a:t>
            </a:r>
            <a:r>
              <a:rPr lang="en-US" sz="2000" dirty="0"/>
              <a:t> de </a:t>
            </a:r>
            <a:r>
              <a:rPr lang="en-US" sz="2000" dirty="0" err="1"/>
              <a:t>estudantes</a:t>
            </a:r>
            <a:r>
              <a:rPr lang="en-US" sz="2000" dirty="0"/>
              <a:t> de um </a:t>
            </a:r>
            <a:r>
              <a:rPr lang="en-US" sz="2000" dirty="0" err="1"/>
              <a:t>arquivo</a:t>
            </a:r>
            <a:r>
              <a:rPr lang="en-US" sz="2000" dirty="0"/>
              <a:t> </a:t>
            </a:r>
            <a:r>
              <a:rPr lang="en-US" sz="2000" dirty="0" err="1"/>
              <a:t>binário</a:t>
            </a:r>
            <a:r>
              <a:rPr lang="en-US" sz="2000" dirty="0"/>
              <a:t> </a:t>
            </a:r>
            <a:r>
              <a:rPr lang="en-US" sz="2000" dirty="0" err="1"/>
              <a:t>record.bin</a:t>
            </a:r>
            <a:r>
              <a:rPr lang="en-US" sz="2000" dirty="0"/>
              <a:t> (</a:t>
            </a:r>
            <a:r>
              <a:rPr lang="en-US" sz="2000" dirty="0" err="1"/>
              <a:t>arq-físico</a:t>
            </a:r>
            <a:r>
              <a:rPr lang="en-US" sz="2000" dirty="0"/>
              <a:t>)</a:t>
            </a:r>
          </a:p>
          <a:p>
            <a:endParaRPr lang="en-US" sz="2000" dirty="0"/>
          </a:p>
          <a:p>
            <a:r>
              <a:rPr lang="en-US" sz="2000" dirty="0"/>
              <a:t>with open('</a:t>
            </a:r>
            <a:r>
              <a:rPr lang="en-US" sz="2000" dirty="0" err="1"/>
              <a:t>record.bin</a:t>
            </a:r>
            <a:r>
              <a:rPr lang="en-US" sz="2000" dirty="0"/>
              <a:t>', '</a:t>
            </a:r>
            <a:r>
              <a:rPr lang="en-US" sz="2000" dirty="0" err="1"/>
              <a:t>rb</a:t>
            </a:r>
            <a:r>
              <a:rPr lang="en-US" sz="2000" dirty="0"/>
              <a:t>') as </a:t>
            </a:r>
            <a:r>
              <a:rPr lang="en-US" sz="2000" dirty="0" err="1"/>
              <a:t>arq_log</a:t>
            </a:r>
            <a:r>
              <a:rPr lang="en-US" sz="2000" dirty="0"/>
              <a:t>:</a:t>
            </a:r>
          </a:p>
          <a:p>
            <a:endParaRPr lang="en-US" sz="2000" dirty="0"/>
          </a:p>
          <a:p>
            <a:r>
              <a:rPr lang="en-US" sz="2000" dirty="0"/>
              <a:t> while True:</a:t>
            </a:r>
          </a:p>
          <a:p>
            <a:r>
              <a:rPr lang="en-US" sz="2000" dirty="0"/>
              <a:t>        try:                               # </a:t>
            </a:r>
            <a:r>
              <a:rPr lang="en-US" sz="2000" dirty="0" err="1"/>
              <a:t>carrega</a:t>
            </a:r>
            <a:r>
              <a:rPr lang="en-US" sz="2000" dirty="0"/>
              <a:t> </a:t>
            </a:r>
            <a:r>
              <a:rPr lang="en-US" sz="2000" dirty="0" err="1"/>
              <a:t>individualmente</a:t>
            </a:r>
            <a:r>
              <a:rPr lang="en-US" sz="2000" dirty="0"/>
              <a:t> a </a:t>
            </a:r>
            <a:r>
              <a:rPr lang="en-US" sz="2000" dirty="0" err="1"/>
              <a:t>lista</a:t>
            </a:r>
            <a:r>
              <a:rPr lang="en-US" sz="2000" dirty="0"/>
              <a:t> de </a:t>
            </a:r>
            <a:r>
              <a:rPr lang="en-US" sz="2000" dirty="0" err="1"/>
              <a:t>estudantes</a:t>
            </a:r>
            <a:endParaRPr lang="en-US" sz="2000" dirty="0"/>
          </a:p>
          <a:p>
            <a:r>
              <a:rPr lang="en-US" sz="2000" dirty="0"/>
              <a:t>                                              # </a:t>
            </a:r>
            <a:r>
              <a:rPr lang="en-US" sz="2000" dirty="0" err="1"/>
              <a:t>dentro</a:t>
            </a:r>
            <a:r>
              <a:rPr lang="en-US" sz="2000" dirty="0"/>
              <a:t> data </a:t>
            </a:r>
            <a:r>
              <a:rPr lang="en-US" sz="2000" dirty="0" err="1"/>
              <a:t>usando</a:t>
            </a:r>
            <a:r>
              <a:rPr lang="en-US" sz="2000" dirty="0"/>
              <a:t> o </a:t>
            </a:r>
            <a:r>
              <a:rPr lang="en-US" sz="2000" dirty="0" err="1"/>
              <a:t>método</a:t>
            </a:r>
            <a:r>
              <a:rPr lang="en-US" sz="2000" dirty="0"/>
              <a:t>  load()</a:t>
            </a:r>
          </a:p>
          <a:p>
            <a:r>
              <a:rPr lang="en-US" sz="2000" dirty="0"/>
              <a:t>            data = </a:t>
            </a:r>
            <a:r>
              <a:rPr lang="en-US" sz="2000" dirty="0" err="1"/>
              <a:t>pickle.load</a:t>
            </a:r>
            <a:r>
              <a:rPr lang="en-US" sz="2000" dirty="0"/>
              <a:t>(</a:t>
            </a:r>
            <a:r>
              <a:rPr lang="en-US" sz="2000" dirty="0" err="1"/>
              <a:t>arq_log</a:t>
            </a:r>
            <a:r>
              <a:rPr lang="en-US" sz="2000" dirty="0"/>
              <a:t>)</a:t>
            </a:r>
          </a:p>
          <a:p>
            <a:r>
              <a:rPr lang="en-US" sz="2000" dirty="0"/>
              <a:t>            print('Nº da </a:t>
            </a:r>
            <a:r>
              <a:rPr lang="en-US" sz="2000" dirty="0" err="1"/>
              <a:t>chamada</a:t>
            </a:r>
            <a:r>
              <a:rPr lang="en-US" sz="2000" dirty="0"/>
              <a:t> :  %d' %(data[0]))</a:t>
            </a:r>
          </a:p>
          <a:p>
            <a:r>
              <a:rPr lang="en-US" sz="2000" dirty="0"/>
              <a:t>            print('Nome : %s' %(data[1]))</a:t>
            </a:r>
          </a:p>
          <a:p>
            <a:endParaRPr lang="en-US" sz="1000" dirty="0"/>
          </a:p>
          <a:p>
            <a:r>
              <a:rPr lang="en-US" sz="2000" dirty="0"/>
              <a:t>        except </a:t>
            </a:r>
            <a:r>
              <a:rPr lang="en-US" sz="2000" dirty="0" err="1"/>
              <a:t>EOFError</a:t>
            </a:r>
            <a:r>
              <a:rPr lang="en-US" sz="2000" dirty="0"/>
              <a:t>:</a:t>
            </a:r>
          </a:p>
          <a:p>
            <a:r>
              <a:rPr lang="en-US" sz="2000" dirty="0"/>
              <a:t>            break</a:t>
            </a:r>
          </a:p>
        </p:txBody>
      </p:sp>
      <p:sp>
        <p:nvSpPr>
          <p:cNvPr id="7" name="CaixaDeTexto 6">
            <a:extLst>
              <a:ext uri="{FF2B5EF4-FFF2-40B4-BE49-F238E27FC236}">
                <a16:creationId xmlns:a16="http://schemas.microsoft.com/office/drawing/2014/main" id="{3E40BE56-103E-B627-7A47-0A050B8E1A18}"/>
              </a:ext>
            </a:extLst>
          </p:cNvPr>
          <p:cNvSpPr txBox="1"/>
          <p:nvPr/>
        </p:nvSpPr>
        <p:spPr>
          <a:xfrm>
            <a:off x="9689717" y="3219153"/>
            <a:ext cx="2263132" cy="2862322"/>
          </a:xfrm>
          <a:prstGeom prst="rect">
            <a:avLst/>
          </a:prstGeom>
          <a:solidFill>
            <a:srgbClr val="FFFF00"/>
          </a:solidFill>
        </p:spPr>
        <p:txBody>
          <a:bodyPr wrap="square">
            <a:spAutoFit/>
          </a:bodyPr>
          <a:lstStyle/>
          <a:p>
            <a:r>
              <a:rPr lang="pt-BR" b="1" dirty="0">
                <a:highlight>
                  <a:srgbClr val="FFFF00"/>
                </a:highlight>
              </a:rPr>
              <a:t>Nº na chamada :  1</a:t>
            </a:r>
          </a:p>
          <a:p>
            <a:r>
              <a:rPr lang="pt-BR" b="1" dirty="0">
                <a:highlight>
                  <a:srgbClr val="FFFF00"/>
                </a:highlight>
              </a:rPr>
              <a:t>Nome : </a:t>
            </a:r>
            <a:r>
              <a:rPr lang="pt-BR" b="1" dirty="0" err="1">
                <a:highlight>
                  <a:srgbClr val="FFFF00"/>
                </a:highlight>
              </a:rPr>
              <a:t>ze</a:t>
            </a:r>
            <a:endParaRPr lang="pt-BR" b="1" dirty="0">
              <a:highlight>
                <a:srgbClr val="FFFF00"/>
              </a:highlight>
            </a:endParaRPr>
          </a:p>
          <a:p>
            <a:r>
              <a:rPr lang="pt-BR" b="1" dirty="0">
                <a:highlight>
                  <a:srgbClr val="FFFF00"/>
                </a:highlight>
              </a:rPr>
              <a:t>Nº na chamada :  2</a:t>
            </a:r>
          </a:p>
          <a:p>
            <a:r>
              <a:rPr lang="pt-BR" b="1" dirty="0">
                <a:highlight>
                  <a:srgbClr val="FFFF00"/>
                </a:highlight>
              </a:rPr>
              <a:t>Nome : mane</a:t>
            </a:r>
          </a:p>
          <a:p>
            <a:r>
              <a:rPr lang="pt-BR" b="1" dirty="0">
                <a:highlight>
                  <a:srgbClr val="FFFF00"/>
                </a:highlight>
              </a:rPr>
              <a:t>Nº na chamada :  3</a:t>
            </a:r>
          </a:p>
          <a:p>
            <a:r>
              <a:rPr lang="pt-BR" b="1" dirty="0">
                <a:highlight>
                  <a:srgbClr val="FFFF00"/>
                </a:highlight>
              </a:rPr>
              <a:t>Nome : </a:t>
            </a:r>
            <a:r>
              <a:rPr lang="pt-BR" b="1" dirty="0" err="1">
                <a:highlight>
                  <a:srgbClr val="FFFF00"/>
                </a:highlight>
              </a:rPr>
              <a:t>almir</a:t>
            </a:r>
            <a:endParaRPr lang="pt-BR" b="1" dirty="0">
              <a:highlight>
                <a:srgbClr val="FFFF00"/>
              </a:highlight>
            </a:endParaRPr>
          </a:p>
          <a:p>
            <a:r>
              <a:rPr lang="pt-BR" b="1" dirty="0">
                <a:highlight>
                  <a:srgbClr val="FFFF00"/>
                </a:highlight>
              </a:rPr>
              <a:t>Nº na chamada :  4</a:t>
            </a:r>
          </a:p>
          <a:p>
            <a:r>
              <a:rPr lang="pt-BR" b="1" dirty="0">
                <a:highlight>
                  <a:srgbClr val="FFFF00"/>
                </a:highlight>
              </a:rPr>
              <a:t>Nome : </a:t>
            </a:r>
            <a:r>
              <a:rPr lang="pt-BR" b="1" dirty="0" err="1">
                <a:highlight>
                  <a:srgbClr val="FFFF00"/>
                </a:highlight>
              </a:rPr>
              <a:t>karla</a:t>
            </a:r>
            <a:endParaRPr lang="pt-BR" b="1" dirty="0">
              <a:highlight>
                <a:srgbClr val="FFFF00"/>
              </a:highlight>
            </a:endParaRPr>
          </a:p>
          <a:p>
            <a:r>
              <a:rPr lang="pt-BR" b="1" dirty="0">
                <a:highlight>
                  <a:srgbClr val="FFFF00"/>
                </a:highlight>
              </a:rPr>
              <a:t>Nº na chamada :  5</a:t>
            </a:r>
          </a:p>
          <a:p>
            <a:r>
              <a:rPr lang="pt-BR" b="1" dirty="0">
                <a:highlight>
                  <a:srgbClr val="FFFF00"/>
                </a:highlight>
              </a:rPr>
              <a:t>Nome : </a:t>
            </a:r>
            <a:r>
              <a:rPr lang="pt-BR" b="1" dirty="0" err="1">
                <a:highlight>
                  <a:srgbClr val="FFFF00"/>
                </a:highlight>
              </a:rPr>
              <a:t>duff</a:t>
            </a:r>
            <a:endParaRPr lang="pt-BR" b="1" dirty="0">
              <a:highlight>
                <a:srgbClr val="FFFF00"/>
              </a:highlight>
            </a:endParaRPr>
          </a:p>
        </p:txBody>
      </p:sp>
    </p:spTree>
    <p:extLst>
      <p:ext uri="{BB962C8B-B14F-4D97-AF65-F5344CB8AC3E}">
        <p14:creationId xmlns:p14="http://schemas.microsoft.com/office/powerpoint/2010/main" val="1499311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6D4C6-A626-57D7-65DE-33BC09092CF1}"/>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80579516-FC16-3C10-4764-AA40E1F7B114}"/>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DA60160-C22B-0C1A-0A03-BCD670CA918E}"/>
              </a:ext>
            </a:extLst>
          </p:cNvPr>
          <p:cNvSpPr>
            <a:spLocks noGrp="1"/>
          </p:cNvSpPr>
          <p:nvPr>
            <p:ph type="ftr" sz="quarter" idx="11"/>
          </p:nvPr>
        </p:nvSpPr>
        <p:spPr/>
        <p:txBody>
          <a:bodyPr/>
          <a:lstStyle/>
          <a:p>
            <a:r>
              <a:rPr lang="pt-BR" sz="1600" b="1" dirty="0"/>
              <a:t>Cap11b-Exem0x</a:t>
            </a:r>
          </a:p>
        </p:txBody>
      </p:sp>
      <p:sp>
        <p:nvSpPr>
          <p:cNvPr id="4" name="Espaço Reservado para Número de Slide 3">
            <a:extLst>
              <a:ext uri="{FF2B5EF4-FFF2-40B4-BE49-F238E27FC236}">
                <a16:creationId xmlns:a16="http://schemas.microsoft.com/office/drawing/2014/main" id="{3C52C09B-DD63-8E7D-62B6-8CE7EFFFBAD6}"/>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9</a:t>
            </a:fld>
            <a:endParaRPr lang="pt-BR" b="1" dirty="0">
              <a:solidFill>
                <a:schemeClr val="tx1"/>
              </a:solidFill>
            </a:endParaRPr>
          </a:p>
        </p:txBody>
      </p:sp>
      <p:sp>
        <p:nvSpPr>
          <p:cNvPr id="5" name="Título 4">
            <a:extLst>
              <a:ext uri="{FF2B5EF4-FFF2-40B4-BE49-F238E27FC236}">
                <a16:creationId xmlns:a16="http://schemas.microsoft.com/office/drawing/2014/main" id="{7889DA83-E828-9854-694A-F4E0AEE9A217}"/>
              </a:ext>
            </a:extLst>
          </p:cNvPr>
          <p:cNvSpPr>
            <a:spLocks noGrp="1"/>
          </p:cNvSpPr>
          <p:nvPr>
            <p:ph type="title"/>
          </p:nvPr>
        </p:nvSpPr>
        <p:spPr/>
        <p:txBody>
          <a:bodyPr>
            <a:normAutofit/>
          </a:bodyPr>
          <a:lstStyle/>
          <a:p>
            <a:pPr marL="533400" algn="ctr"/>
            <a:r>
              <a:rPr lang="pt-BR" sz="4400" b="1" i="1" dirty="0">
                <a:solidFill>
                  <a:srgbClr val="222A48"/>
                </a:solidFill>
                <a:effectLst/>
                <a:latin typeface="Euclid Circular A"/>
              </a:rPr>
              <a:t>Sintaxe do método </a:t>
            </a:r>
            <a:r>
              <a:rPr lang="pt-BR" sz="4400" b="1" i="1" dirty="0" err="1">
                <a:solidFill>
                  <a:srgbClr val="222A48"/>
                </a:solidFill>
                <a:effectLst/>
                <a:latin typeface="Euclid Circular A"/>
              </a:rPr>
              <a:t>loads</a:t>
            </a:r>
            <a:r>
              <a:rPr lang="pt-BR" sz="4400" b="1" i="1" dirty="0">
                <a:solidFill>
                  <a:srgbClr val="222A48"/>
                </a:solidFill>
                <a:effectLst/>
                <a:latin typeface="Euclid Circular A"/>
              </a:rPr>
              <a:t>()</a:t>
            </a:r>
          </a:p>
        </p:txBody>
      </p:sp>
      <p:sp>
        <p:nvSpPr>
          <p:cNvPr id="9" name="CaixaDeTexto 8">
            <a:extLst>
              <a:ext uri="{FF2B5EF4-FFF2-40B4-BE49-F238E27FC236}">
                <a16:creationId xmlns:a16="http://schemas.microsoft.com/office/drawing/2014/main" id="{92E3FEBA-D85D-7CFF-A2AC-E867921DED84}"/>
              </a:ext>
            </a:extLst>
          </p:cNvPr>
          <p:cNvSpPr txBox="1"/>
          <p:nvPr/>
        </p:nvSpPr>
        <p:spPr>
          <a:xfrm>
            <a:off x="844061" y="1353344"/>
            <a:ext cx="8539375" cy="523220"/>
          </a:xfrm>
          <a:prstGeom prst="rect">
            <a:avLst/>
          </a:prstGeom>
          <a:noFill/>
        </p:spPr>
        <p:txBody>
          <a:bodyPr wrap="square">
            <a:spAutoFit/>
          </a:bodyPr>
          <a:lstStyle/>
          <a:p>
            <a:pPr marL="457200" indent="-457200" algn="just">
              <a:buFont typeface="Wingdings" panose="05000000000000000000" pitchFamily="2" charset="2"/>
              <a:buChar char="§"/>
            </a:pPr>
            <a:r>
              <a:rPr lang="pt-BR" sz="2800" b="1" i="0" u="none" strike="noStrike" baseline="0" dirty="0" err="1">
                <a:latin typeface="CIDFont+F1"/>
              </a:rPr>
              <a:t>obj</a:t>
            </a:r>
            <a:r>
              <a:rPr lang="pt-BR" sz="2800" b="1" i="0" u="none" strike="noStrike" baseline="0" dirty="0">
                <a:latin typeface="CIDFont+F1"/>
              </a:rPr>
              <a:t> = </a:t>
            </a:r>
            <a:r>
              <a:rPr lang="pt-BR" sz="2800" b="1" i="0" u="none" strike="noStrike" baseline="0" dirty="0" err="1">
                <a:latin typeface="CIDFont+F1"/>
              </a:rPr>
              <a:t>pickle.loads</a:t>
            </a:r>
            <a:r>
              <a:rPr lang="pt-BR" sz="2800" b="1" i="0" u="none" strike="noStrike" baseline="0" dirty="0">
                <a:latin typeface="CIDFont+F1"/>
              </a:rPr>
              <a:t>(</a:t>
            </a:r>
            <a:r>
              <a:rPr lang="pt-BR" sz="2800" b="1" i="0" u="none" strike="noStrike" baseline="0" dirty="0" err="1">
                <a:latin typeface="CIDFont+F1"/>
              </a:rPr>
              <a:t>byteobj</a:t>
            </a:r>
            <a:r>
              <a:rPr lang="pt-BR" sz="2800" b="1" i="0" u="none" strike="noStrike" baseline="0" dirty="0">
                <a:latin typeface="CIDFont+F1"/>
              </a:rPr>
              <a:t>)</a:t>
            </a:r>
            <a:endParaRPr lang="pt-BR" sz="2800" dirty="0"/>
          </a:p>
        </p:txBody>
      </p:sp>
      <p:sp>
        <p:nvSpPr>
          <p:cNvPr id="10" name="CaixaDeTexto 9">
            <a:extLst>
              <a:ext uri="{FF2B5EF4-FFF2-40B4-BE49-F238E27FC236}">
                <a16:creationId xmlns:a16="http://schemas.microsoft.com/office/drawing/2014/main" id="{3B6344DC-EBCD-46DB-3F30-625F0DCCC9DD}"/>
              </a:ext>
            </a:extLst>
          </p:cNvPr>
          <p:cNvSpPr txBox="1"/>
          <p:nvPr/>
        </p:nvSpPr>
        <p:spPr>
          <a:xfrm>
            <a:off x="844061" y="2131298"/>
            <a:ext cx="10929156" cy="2554545"/>
          </a:xfrm>
          <a:prstGeom prst="rect">
            <a:avLst/>
          </a:prstGeom>
          <a:noFill/>
        </p:spPr>
        <p:txBody>
          <a:bodyPr wrap="square">
            <a:spAutoFit/>
          </a:bodyPr>
          <a:lstStyle/>
          <a:p>
            <a:r>
              <a:rPr lang="en-US" sz="2000" dirty="0"/>
              <a:t>import pickle</a:t>
            </a:r>
          </a:p>
          <a:p>
            <a:endParaRPr lang="en-US" sz="2000" dirty="0"/>
          </a:p>
          <a:p>
            <a:r>
              <a:rPr lang="en-US" sz="2000" dirty="0"/>
              <a:t># </a:t>
            </a:r>
            <a:r>
              <a:rPr lang="en-US" sz="2000" dirty="0" err="1"/>
              <a:t>converte</a:t>
            </a:r>
            <a:r>
              <a:rPr lang="en-US" sz="2000" dirty="0"/>
              <a:t> </a:t>
            </a:r>
            <a:r>
              <a:rPr lang="en-US" sz="2000" dirty="0" err="1"/>
              <a:t>uma</a:t>
            </a:r>
            <a:r>
              <a:rPr lang="en-US" sz="2000" dirty="0"/>
              <a:t> string de bytes </a:t>
            </a:r>
            <a:r>
              <a:rPr lang="en-US" sz="2000" dirty="0" err="1"/>
              <a:t>dentro</a:t>
            </a:r>
            <a:r>
              <a:rPr lang="en-US" sz="2000" dirty="0"/>
              <a:t> de um </a:t>
            </a:r>
            <a:r>
              <a:rPr lang="en-US" sz="2000" dirty="0" err="1"/>
              <a:t>objeto</a:t>
            </a:r>
            <a:r>
              <a:rPr lang="en-US" sz="2000" dirty="0"/>
              <a:t> python e </a:t>
            </a:r>
            <a:r>
              <a:rPr lang="en-US" sz="2000" dirty="0" err="1"/>
              <a:t>mostra</a:t>
            </a:r>
            <a:r>
              <a:rPr lang="en-US" sz="2000" dirty="0"/>
              <a:t> </a:t>
            </a:r>
            <a:r>
              <a:rPr lang="en-US" sz="2000" dirty="0" err="1"/>
              <a:t>na</a:t>
            </a:r>
            <a:r>
              <a:rPr lang="en-US" sz="2000" dirty="0"/>
              <a:t> </a:t>
            </a:r>
            <a:r>
              <a:rPr lang="en-US" sz="2000" dirty="0" err="1"/>
              <a:t>tela</a:t>
            </a:r>
            <a:r>
              <a:rPr lang="en-US" sz="2000" dirty="0"/>
              <a:t> </a:t>
            </a:r>
          </a:p>
          <a:p>
            <a:endParaRPr lang="en-US" sz="2000" dirty="0"/>
          </a:p>
          <a:p>
            <a:r>
              <a:rPr lang="en-US" sz="2000" dirty="0"/>
              <a:t>data = b'\x80\x04\x95\r\x00\x00\x00\x00\x00\x00\x00\x8c\</a:t>
            </a:r>
            <a:r>
              <a:rPr lang="en-US" sz="2000" dirty="0" err="1"/>
              <a:t>tAeroplano</a:t>
            </a:r>
            <a:r>
              <a:rPr lang="en-US" sz="2000" dirty="0"/>
              <a:t>\x94.'</a:t>
            </a:r>
          </a:p>
          <a:p>
            <a:r>
              <a:rPr lang="en-US" sz="2000" dirty="0"/>
              <a:t>print(data)</a:t>
            </a:r>
          </a:p>
          <a:p>
            <a:r>
              <a:rPr lang="en-US" sz="2000" dirty="0"/>
              <a:t>obj = </a:t>
            </a:r>
            <a:r>
              <a:rPr lang="en-US" sz="2000" dirty="0" err="1"/>
              <a:t>pickle.loads</a:t>
            </a:r>
            <a:r>
              <a:rPr lang="en-US" sz="2000" dirty="0"/>
              <a:t>(data)</a:t>
            </a:r>
          </a:p>
          <a:p>
            <a:r>
              <a:rPr lang="en-US" sz="2000" dirty="0"/>
              <a:t>print(obj)</a:t>
            </a:r>
          </a:p>
        </p:txBody>
      </p:sp>
      <p:sp>
        <p:nvSpPr>
          <p:cNvPr id="6" name="Rectangle 1">
            <a:extLst>
              <a:ext uri="{FF2B5EF4-FFF2-40B4-BE49-F238E27FC236}">
                <a16:creationId xmlns:a16="http://schemas.microsoft.com/office/drawing/2014/main" id="{C8CD204D-7055-E636-18F8-D67D514820E5}"/>
              </a:ext>
            </a:extLst>
          </p:cNvPr>
          <p:cNvSpPr>
            <a:spLocks noChangeArrowheads="1"/>
          </p:cNvSpPr>
          <p:nvPr/>
        </p:nvSpPr>
        <p:spPr bwMode="auto">
          <a:xfrm>
            <a:off x="844060" y="5279131"/>
            <a:ext cx="109291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1" i="0" u="none" strike="noStrike" cap="none" normalizeH="0" baseline="0" dirty="0">
                <a:ln>
                  <a:noFill/>
                </a:ln>
                <a:effectLst/>
                <a:highlight>
                  <a:srgbClr val="FFFF00"/>
                </a:highlight>
                <a:latin typeface="Consolas" panose="020B0609020204030204" pitchFamily="49" charset="0"/>
              </a:rPr>
              <a:t>b'\</a:t>
            </a:r>
            <a:r>
              <a:rPr kumimoji="0" lang="pt-BR" altLang="pt-BR" sz="2000" b="1" i="0" u="none" strike="noStrike" cap="none" normalizeH="0" baseline="0" dirty="0">
                <a:ln>
                  <a:noFill/>
                </a:ln>
                <a:effectLst/>
                <a:highlight>
                  <a:srgbClr val="FFFF00"/>
                </a:highlight>
                <a:latin typeface="Consolas" panose="020B0609020204030204" pitchFamily="49" charset="0"/>
              </a:rPr>
              <a:t>x80\x04\x95\r\x00\x00\x00\x00\x00\x00\x00\x8c\</a:t>
            </a:r>
            <a:r>
              <a:rPr kumimoji="0" lang="pt-BR" altLang="pt-BR" sz="2000" b="1" i="0" u="none" strike="noStrike" cap="none" normalizeH="0" baseline="0" dirty="0" err="1">
                <a:ln>
                  <a:noFill/>
                </a:ln>
                <a:effectLst/>
                <a:highlight>
                  <a:srgbClr val="FFFF00"/>
                </a:highlight>
                <a:latin typeface="Consolas" panose="020B0609020204030204" pitchFamily="49" charset="0"/>
              </a:rPr>
              <a:t>tAeroplane</a:t>
            </a:r>
            <a:r>
              <a:rPr kumimoji="0" lang="pt-BR" altLang="pt-BR" sz="2000" b="1" i="0" u="none" strike="noStrike" cap="none" normalizeH="0" baseline="0" dirty="0">
                <a:ln>
                  <a:noFill/>
                </a:ln>
                <a:effectLst/>
                <a:highlight>
                  <a:srgbClr val="FFFF00"/>
                </a:highlight>
                <a:latin typeface="Consolas" panose="020B0609020204030204" pitchFamily="49" charset="0"/>
              </a:rPr>
              <a:t>\x94.' Aeroplano</a:t>
            </a:r>
            <a:r>
              <a:rPr kumimoji="0" lang="pt-BR" altLang="pt-BR" sz="2000" b="1" i="0" u="none" strike="noStrike" cap="none" normalizeH="0" baseline="0" dirty="0">
                <a:ln>
                  <a:noFill/>
                </a:ln>
                <a:effectLst/>
                <a:highlight>
                  <a:srgbClr val="FFFF00"/>
                </a:highlight>
              </a:rPr>
              <a:t> </a:t>
            </a:r>
            <a:endParaRPr kumimoji="0" lang="pt-BR" altLang="pt-BR" sz="2000" b="1" i="0" u="none" strike="noStrike" cap="none" normalizeH="0" baseline="0" dirty="0">
              <a:ln>
                <a:noFill/>
              </a:ln>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188675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EF383-FDB6-2ED2-018C-7B26609968B5}"/>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1EC927E-0A52-92C6-A610-2712060E6E31}"/>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DE25FDC8-36A1-5C0F-87AD-779238ED678D}"/>
              </a:ext>
            </a:extLst>
          </p:cNvPr>
          <p:cNvSpPr>
            <a:spLocks noGrp="1"/>
          </p:cNvSpPr>
          <p:nvPr>
            <p:ph type="ftr" sz="quarter" idx="11"/>
          </p:nvPr>
        </p:nvSpPr>
        <p:spPr/>
        <p:txBody>
          <a:bodyPr/>
          <a:lstStyle/>
          <a:p>
            <a:r>
              <a:rPr lang="pt-BR" sz="1600" b="1"/>
              <a:t>Cap11b-Exem01</a:t>
            </a:r>
            <a:endParaRPr lang="pt-BR" sz="1600" b="1" dirty="0"/>
          </a:p>
        </p:txBody>
      </p:sp>
      <p:sp>
        <p:nvSpPr>
          <p:cNvPr id="4" name="Espaço Reservado para Número de Slide 3">
            <a:extLst>
              <a:ext uri="{FF2B5EF4-FFF2-40B4-BE49-F238E27FC236}">
                <a16:creationId xmlns:a16="http://schemas.microsoft.com/office/drawing/2014/main" id="{136ECB19-48CC-D020-56DD-23F25F2B0FD6}"/>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10</a:t>
            </a:fld>
            <a:endParaRPr lang="pt-BR" b="1" dirty="0">
              <a:solidFill>
                <a:schemeClr val="tx1"/>
              </a:solidFill>
            </a:endParaRPr>
          </a:p>
        </p:txBody>
      </p:sp>
      <p:sp>
        <p:nvSpPr>
          <p:cNvPr id="5" name="Título 4">
            <a:extLst>
              <a:ext uri="{FF2B5EF4-FFF2-40B4-BE49-F238E27FC236}">
                <a16:creationId xmlns:a16="http://schemas.microsoft.com/office/drawing/2014/main" id="{A046B6FD-0F30-AF5B-B234-8D5C8EF5AD86}"/>
              </a:ext>
            </a:extLst>
          </p:cNvPr>
          <p:cNvSpPr>
            <a:spLocks noGrp="1"/>
          </p:cNvSpPr>
          <p:nvPr>
            <p:ph type="title"/>
          </p:nvPr>
        </p:nvSpPr>
        <p:spPr/>
        <p:txBody>
          <a:bodyPr>
            <a:normAutofit/>
          </a:bodyPr>
          <a:lstStyle/>
          <a:p>
            <a:pPr marL="533400" algn="ctr"/>
            <a:r>
              <a:rPr lang="pt-BR" sz="4400" b="1" i="1" dirty="0">
                <a:solidFill>
                  <a:srgbClr val="222A48"/>
                </a:solidFill>
                <a:effectLst/>
                <a:latin typeface="Euclid Circular A"/>
              </a:rPr>
              <a:t>Sintaxe do método dump()</a:t>
            </a:r>
          </a:p>
        </p:txBody>
      </p:sp>
      <p:sp>
        <p:nvSpPr>
          <p:cNvPr id="9" name="CaixaDeTexto 8">
            <a:extLst>
              <a:ext uri="{FF2B5EF4-FFF2-40B4-BE49-F238E27FC236}">
                <a16:creationId xmlns:a16="http://schemas.microsoft.com/office/drawing/2014/main" id="{D676F59F-2CB2-66D7-B730-1468AEE4027E}"/>
              </a:ext>
            </a:extLst>
          </p:cNvPr>
          <p:cNvSpPr txBox="1"/>
          <p:nvPr/>
        </p:nvSpPr>
        <p:spPr>
          <a:xfrm>
            <a:off x="844061" y="1353344"/>
            <a:ext cx="8539375" cy="523220"/>
          </a:xfrm>
          <a:prstGeom prst="rect">
            <a:avLst/>
          </a:prstGeom>
          <a:noFill/>
        </p:spPr>
        <p:txBody>
          <a:bodyPr wrap="square">
            <a:spAutoFit/>
          </a:bodyPr>
          <a:lstStyle/>
          <a:p>
            <a:pPr marL="457200" indent="-457200" algn="just">
              <a:buFont typeface="Wingdings" panose="05000000000000000000" pitchFamily="2" charset="2"/>
              <a:buChar char="§"/>
            </a:pPr>
            <a:r>
              <a:rPr lang="pt-BR" sz="2800" b="1" i="0" u="none" strike="noStrike" baseline="0" dirty="0" err="1">
                <a:latin typeface="CIDFont+F1"/>
              </a:rPr>
              <a:t>pickle.dump</a:t>
            </a:r>
            <a:r>
              <a:rPr lang="pt-BR" sz="2800" b="1" i="0" u="none" strike="noStrike" baseline="0" dirty="0">
                <a:latin typeface="CIDFont+F1"/>
              </a:rPr>
              <a:t>(</a:t>
            </a:r>
            <a:r>
              <a:rPr lang="pt-BR" sz="2800" b="1" i="0" u="none" strike="noStrike" baseline="0" dirty="0" err="1">
                <a:latin typeface="CIDFont+F1"/>
              </a:rPr>
              <a:t>obj</a:t>
            </a:r>
            <a:r>
              <a:rPr lang="pt-BR" sz="2800" b="1" i="0" u="none" strike="noStrike" baseline="0" dirty="0">
                <a:latin typeface="CIDFont+F1"/>
              </a:rPr>
              <a:t>, file)</a:t>
            </a:r>
            <a:endParaRPr lang="pt-BR" sz="2800" dirty="0"/>
          </a:p>
        </p:txBody>
      </p:sp>
      <p:sp>
        <p:nvSpPr>
          <p:cNvPr id="10" name="CaixaDeTexto 9">
            <a:extLst>
              <a:ext uri="{FF2B5EF4-FFF2-40B4-BE49-F238E27FC236}">
                <a16:creationId xmlns:a16="http://schemas.microsoft.com/office/drawing/2014/main" id="{C2EC4619-3567-B0BF-9217-F3E79A81FE02}"/>
              </a:ext>
            </a:extLst>
          </p:cNvPr>
          <p:cNvSpPr txBox="1"/>
          <p:nvPr/>
        </p:nvSpPr>
        <p:spPr>
          <a:xfrm>
            <a:off x="1262844" y="1864462"/>
            <a:ext cx="10078924" cy="4401205"/>
          </a:xfrm>
          <a:prstGeom prst="rect">
            <a:avLst/>
          </a:prstGeom>
          <a:noFill/>
        </p:spPr>
        <p:txBody>
          <a:bodyPr wrap="square">
            <a:spAutoFit/>
          </a:bodyPr>
          <a:lstStyle/>
          <a:p>
            <a:r>
              <a:rPr lang="pt-BR" sz="2000" dirty="0" err="1"/>
              <a:t>import</a:t>
            </a:r>
            <a:r>
              <a:rPr lang="pt-BR" sz="2000" dirty="0"/>
              <a:t> </a:t>
            </a:r>
            <a:r>
              <a:rPr lang="pt-BR" sz="2000" dirty="0" err="1"/>
              <a:t>pickle</a:t>
            </a:r>
            <a:endParaRPr lang="pt-BR" sz="2000" dirty="0"/>
          </a:p>
          <a:p>
            <a:endParaRPr lang="pt-BR" sz="2000" dirty="0"/>
          </a:p>
          <a:p>
            <a:r>
              <a:rPr lang="pt-BR" sz="2000" dirty="0"/>
              <a:t># armazena numa lista com o nº do aluno e o nome em um arquivo binário </a:t>
            </a:r>
            <a:r>
              <a:rPr lang="pt-BR" sz="2000" dirty="0" err="1"/>
              <a:t>record.bin</a:t>
            </a:r>
            <a:endParaRPr lang="pt-BR" sz="2000" dirty="0"/>
          </a:p>
          <a:p>
            <a:r>
              <a:rPr lang="pt-BR" sz="2000" dirty="0"/>
              <a:t>with open('</a:t>
            </a:r>
            <a:r>
              <a:rPr lang="pt-BR" sz="2000" dirty="0" err="1"/>
              <a:t>record.bin</a:t>
            </a:r>
            <a:r>
              <a:rPr lang="pt-BR" sz="2000" dirty="0"/>
              <a:t>', '</a:t>
            </a:r>
            <a:r>
              <a:rPr lang="pt-BR" sz="2000" dirty="0" err="1"/>
              <a:t>ab</a:t>
            </a:r>
            <a:r>
              <a:rPr lang="pt-BR" sz="2000" dirty="0"/>
              <a:t>+') as </a:t>
            </a:r>
            <a:r>
              <a:rPr lang="pt-BR" sz="2000" dirty="0" err="1"/>
              <a:t>fileobj</a:t>
            </a:r>
            <a:r>
              <a:rPr lang="pt-BR" sz="2000" dirty="0"/>
              <a:t>:</a:t>
            </a:r>
          </a:p>
          <a:p>
            <a:endParaRPr lang="pt-BR" sz="2000" dirty="0"/>
          </a:p>
          <a:p>
            <a:r>
              <a:rPr lang="pt-BR" sz="2000" dirty="0"/>
              <a:t>    print('\</a:t>
            </a:r>
            <a:r>
              <a:rPr lang="pt-BR" sz="2000" dirty="0" err="1"/>
              <a:t>nEntre</a:t>
            </a:r>
            <a:r>
              <a:rPr lang="pt-BR" sz="2000" dirty="0"/>
              <a:t> o número do aluno e o nome de um estudante \n')</a:t>
            </a:r>
          </a:p>
          <a:p>
            <a:r>
              <a:rPr lang="pt-BR" sz="2000" dirty="0"/>
              <a:t>    for i in range(5):</a:t>
            </a:r>
          </a:p>
          <a:p>
            <a:r>
              <a:rPr lang="pt-BR" sz="2000" dirty="0"/>
              <a:t>        </a:t>
            </a:r>
            <a:r>
              <a:rPr lang="pt-BR" sz="2000" dirty="0" err="1"/>
              <a:t>roll</a:t>
            </a:r>
            <a:r>
              <a:rPr lang="pt-BR" sz="2000" dirty="0"/>
              <a:t> = </a:t>
            </a:r>
            <a:r>
              <a:rPr lang="pt-BR" sz="2000" dirty="0" err="1"/>
              <a:t>int</a:t>
            </a:r>
            <a:r>
              <a:rPr lang="pt-BR" sz="2000" dirty="0"/>
              <a:t>(input('Nº na chamada : '))</a:t>
            </a:r>
          </a:p>
          <a:p>
            <a:r>
              <a:rPr lang="pt-BR" sz="2000" dirty="0"/>
              <a:t>        </a:t>
            </a:r>
            <a:r>
              <a:rPr lang="pt-BR" sz="2000" dirty="0" err="1"/>
              <a:t>name</a:t>
            </a:r>
            <a:r>
              <a:rPr lang="pt-BR" sz="2000" dirty="0"/>
              <a:t> = input('Nome do Aluno(a) : ')</a:t>
            </a:r>
          </a:p>
          <a:p>
            <a:r>
              <a:rPr lang="pt-BR" sz="2000" dirty="0"/>
              <a:t>        data = [</a:t>
            </a:r>
            <a:r>
              <a:rPr lang="pt-BR" sz="2000" dirty="0" err="1"/>
              <a:t>roll</a:t>
            </a:r>
            <a:r>
              <a:rPr lang="pt-BR" sz="2000" dirty="0"/>
              <a:t>, </a:t>
            </a:r>
            <a:r>
              <a:rPr lang="pt-BR" sz="2000" dirty="0" err="1"/>
              <a:t>name</a:t>
            </a:r>
            <a:r>
              <a:rPr lang="pt-BR" sz="2000" dirty="0"/>
              <a:t>]</a:t>
            </a:r>
          </a:p>
          <a:p>
            <a:endParaRPr lang="pt-BR" sz="2000" dirty="0"/>
          </a:p>
          <a:p>
            <a:r>
              <a:rPr lang="pt-BR" sz="2000" dirty="0"/>
              <a:t># escreve o objeto dentro de um arquivo binário usando o método dump()         </a:t>
            </a:r>
            <a:r>
              <a:rPr lang="pt-BR" sz="2000" dirty="0" err="1"/>
              <a:t>pickle.dump</a:t>
            </a:r>
            <a:r>
              <a:rPr lang="pt-BR" sz="2000" dirty="0"/>
              <a:t>(data, fileobj)</a:t>
            </a:r>
          </a:p>
          <a:p>
            <a:r>
              <a:rPr lang="pt-BR" sz="2000" dirty="0"/>
              <a:t>print('Todos os dados foram armazenados com sucesso')</a:t>
            </a:r>
          </a:p>
        </p:txBody>
      </p:sp>
    </p:spTree>
    <p:extLst>
      <p:ext uri="{BB962C8B-B14F-4D97-AF65-F5344CB8AC3E}">
        <p14:creationId xmlns:p14="http://schemas.microsoft.com/office/powerpoint/2010/main" val="949024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DA95D-CAAA-3686-85DA-5B3346F8B3CA}"/>
            </a:ext>
          </a:extLst>
        </p:cNvPr>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B98429D-BE5B-F582-3942-590AF8EEC6DC}"/>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1285A4F-42D9-D393-F007-FFB5DE1D822C}"/>
              </a:ext>
            </a:extLst>
          </p:cNvPr>
          <p:cNvSpPr>
            <a:spLocks noGrp="1"/>
          </p:cNvSpPr>
          <p:nvPr>
            <p:ph type="ftr" sz="quarter" idx="11"/>
          </p:nvPr>
        </p:nvSpPr>
        <p:spPr/>
        <p:txBody>
          <a:bodyPr/>
          <a:lstStyle/>
          <a:p>
            <a:r>
              <a:rPr lang="pt-BR" sz="1600" b="1" dirty="0"/>
              <a:t>Cap11b-Exem03</a:t>
            </a:r>
          </a:p>
        </p:txBody>
      </p:sp>
      <p:sp>
        <p:nvSpPr>
          <p:cNvPr id="4" name="Espaço Reservado para Número de Slide 3">
            <a:extLst>
              <a:ext uri="{FF2B5EF4-FFF2-40B4-BE49-F238E27FC236}">
                <a16:creationId xmlns:a16="http://schemas.microsoft.com/office/drawing/2014/main" id="{C6A15D80-4399-3A6C-5E96-AF6205D61712}"/>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11</a:t>
            </a:fld>
            <a:endParaRPr lang="pt-BR" b="1" dirty="0">
              <a:solidFill>
                <a:schemeClr val="tx1"/>
              </a:solidFill>
            </a:endParaRPr>
          </a:p>
        </p:txBody>
      </p:sp>
      <p:sp>
        <p:nvSpPr>
          <p:cNvPr id="5" name="Título 4">
            <a:extLst>
              <a:ext uri="{FF2B5EF4-FFF2-40B4-BE49-F238E27FC236}">
                <a16:creationId xmlns:a16="http://schemas.microsoft.com/office/drawing/2014/main" id="{DEFBBE0E-44E9-CAD3-013D-9CE49E06833E}"/>
              </a:ext>
            </a:extLst>
          </p:cNvPr>
          <p:cNvSpPr>
            <a:spLocks noGrp="1"/>
          </p:cNvSpPr>
          <p:nvPr>
            <p:ph type="title"/>
          </p:nvPr>
        </p:nvSpPr>
        <p:spPr/>
        <p:txBody>
          <a:bodyPr>
            <a:normAutofit/>
          </a:bodyPr>
          <a:lstStyle/>
          <a:p>
            <a:pPr marL="533400" algn="ctr"/>
            <a:r>
              <a:rPr lang="pt-BR" sz="4400" b="1" i="1" dirty="0">
                <a:solidFill>
                  <a:srgbClr val="222A48"/>
                </a:solidFill>
                <a:effectLst/>
                <a:latin typeface="Euclid Circular A"/>
              </a:rPr>
              <a:t>Sintaxe do método </a:t>
            </a:r>
            <a:r>
              <a:rPr lang="pt-BR" sz="4400" b="1" i="1" dirty="0" err="1">
                <a:solidFill>
                  <a:srgbClr val="222A48"/>
                </a:solidFill>
                <a:effectLst/>
                <a:latin typeface="Euclid Circular A"/>
              </a:rPr>
              <a:t>dumps</a:t>
            </a:r>
            <a:r>
              <a:rPr lang="pt-BR" sz="4400" b="1" i="1" dirty="0">
                <a:solidFill>
                  <a:srgbClr val="222A48"/>
                </a:solidFill>
                <a:effectLst/>
                <a:latin typeface="Euclid Circular A"/>
              </a:rPr>
              <a:t>()</a:t>
            </a:r>
          </a:p>
        </p:txBody>
      </p:sp>
      <p:sp>
        <p:nvSpPr>
          <p:cNvPr id="9" name="CaixaDeTexto 8">
            <a:extLst>
              <a:ext uri="{FF2B5EF4-FFF2-40B4-BE49-F238E27FC236}">
                <a16:creationId xmlns:a16="http://schemas.microsoft.com/office/drawing/2014/main" id="{5126A3CD-89F1-E53D-AE60-4796B47F87BE}"/>
              </a:ext>
            </a:extLst>
          </p:cNvPr>
          <p:cNvSpPr txBox="1"/>
          <p:nvPr/>
        </p:nvSpPr>
        <p:spPr>
          <a:xfrm>
            <a:off x="844061" y="1353344"/>
            <a:ext cx="8539375" cy="523220"/>
          </a:xfrm>
          <a:prstGeom prst="rect">
            <a:avLst/>
          </a:prstGeom>
          <a:noFill/>
        </p:spPr>
        <p:txBody>
          <a:bodyPr wrap="square">
            <a:spAutoFit/>
          </a:bodyPr>
          <a:lstStyle/>
          <a:p>
            <a:pPr marL="457200" indent="-457200" algn="just">
              <a:buFont typeface="Wingdings" panose="05000000000000000000" pitchFamily="2" charset="2"/>
              <a:buChar char="§"/>
            </a:pPr>
            <a:r>
              <a:rPr lang="pt-BR" sz="2800" b="1" i="0" u="none" strike="noStrike" baseline="0" dirty="0" err="1">
                <a:latin typeface="CIDFont+F1"/>
              </a:rPr>
              <a:t>byteobj</a:t>
            </a:r>
            <a:r>
              <a:rPr lang="pt-BR" sz="2800" b="1" i="0" u="none" strike="noStrike" baseline="0" dirty="0">
                <a:latin typeface="CIDFont+F1"/>
              </a:rPr>
              <a:t> = </a:t>
            </a:r>
            <a:r>
              <a:rPr lang="pt-BR" sz="2800" b="1" i="0" u="none" strike="noStrike" baseline="0" dirty="0" err="1">
                <a:latin typeface="CIDFont+F1"/>
              </a:rPr>
              <a:t>pickle.dumps</a:t>
            </a:r>
            <a:r>
              <a:rPr lang="pt-BR" sz="2800" b="1" i="0" u="none" strike="noStrike" baseline="0" dirty="0">
                <a:latin typeface="CIDFont+F1"/>
              </a:rPr>
              <a:t>(</a:t>
            </a:r>
            <a:r>
              <a:rPr lang="pt-BR" sz="2800" b="1" i="0" u="none" strike="noStrike" baseline="0" dirty="0" err="1">
                <a:latin typeface="CIDFont+F1"/>
              </a:rPr>
              <a:t>obj</a:t>
            </a:r>
            <a:r>
              <a:rPr lang="pt-BR" sz="2800" b="1" i="0" u="none" strike="noStrike" baseline="0" dirty="0">
                <a:latin typeface="CIDFont+F1"/>
              </a:rPr>
              <a:t>)</a:t>
            </a:r>
            <a:endParaRPr lang="pt-BR" sz="2800" dirty="0"/>
          </a:p>
        </p:txBody>
      </p:sp>
      <p:sp>
        <p:nvSpPr>
          <p:cNvPr id="10" name="CaixaDeTexto 9">
            <a:extLst>
              <a:ext uri="{FF2B5EF4-FFF2-40B4-BE49-F238E27FC236}">
                <a16:creationId xmlns:a16="http://schemas.microsoft.com/office/drawing/2014/main" id="{151F34D6-2319-9A7E-961B-00F94AEFA2CF}"/>
              </a:ext>
            </a:extLst>
          </p:cNvPr>
          <p:cNvSpPr txBox="1"/>
          <p:nvPr/>
        </p:nvSpPr>
        <p:spPr>
          <a:xfrm>
            <a:off x="1262844" y="1992798"/>
            <a:ext cx="9667753" cy="2677656"/>
          </a:xfrm>
          <a:prstGeom prst="rect">
            <a:avLst/>
          </a:prstGeom>
          <a:noFill/>
        </p:spPr>
        <p:txBody>
          <a:bodyPr wrap="square">
            <a:spAutoFit/>
          </a:bodyPr>
          <a:lstStyle/>
          <a:p>
            <a:r>
              <a:rPr lang="en-US" sz="2400" dirty="0"/>
              <a:t>import pickle</a:t>
            </a:r>
          </a:p>
          <a:p>
            <a:endParaRPr lang="en-US" sz="2400" dirty="0"/>
          </a:p>
          <a:p>
            <a:r>
              <a:rPr lang="en-US" sz="2400" dirty="0"/>
              <a:t># </a:t>
            </a:r>
            <a:r>
              <a:rPr lang="en-US" sz="2400" dirty="0" err="1"/>
              <a:t>Converte</a:t>
            </a:r>
            <a:r>
              <a:rPr lang="en-US" sz="2400" dirty="0"/>
              <a:t> </a:t>
            </a:r>
            <a:r>
              <a:rPr lang="en-US" sz="2400" dirty="0" err="1"/>
              <a:t>uma</a:t>
            </a:r>
            <a:r>
              <a:rPr lang="en-US" sz="2400" dirty="0"/>
              <a:t> string  </a:t>
            </a:r>
            <a:r>
              <a:rPr lang="en-US" sz="2400" dirty="0" err="1"/>
              <a:t>em</a:t>
            </a:r>
            <a:r>
              <a:rPr lang="en-US" sz="2400" dirty="0"/>
              <a:t> </a:t>
            </a:r>
            <a:r>
              <a:rPr lang="en-US" sz="2400" dirty="0" err="1"/>
              <a:t>uma</a:t>
            </a:r>
            <a:r>
              <a:rPr lang="en-US" sz="2400" dirty="0"/>
              <a:t> string de bytes e </a:t>
            </a:r>
            <a:r>
              <a:rPr lang="en-US" sz="2400" dirty="0" err="1"/>
              <a:t>mostra</a:t>
            </a:r>
            <a:r>
              <a:rPr lang="en-US" sz="2400" dirty="0"/>
              <a:t> </a:t>
            </a:r>
            <a:r>
              <a:rPr lang="en-US" sz="2400" dirty="0" err="1"/>
              <a:t>na</a:t>
            </a:r>
            <a:r>
              <a:rPr lang="en-US" sz="2400" dirty="0"/>
              <a:t> </a:t>
            </a:r>
            <a:r>
              <a:rPr lang="en-US" sz="2400" dirty="0" err="1"/>
              <a:t>tela</a:t>
            </a:r>
            <a:endParaRPr lang="en-US" sz="2400" dirty="0"/>
          </a:p>
          <a:p>
            <a:endParaRPr lang="en-US" sz="2400" dirty="0"/>
          </a:p>
          <a:p>
            <a:r>
              <a:rPr lang="en-US" sz="2400" dirty="0"/>
              <a:t>data = input(‘Entre com </a:t>
            </a:r>
            <a:r>
              <a:rPr lang="en-US" sz="2400" dirty="0" err="1"/>
              <a:t>uma</a:t>
            </a:r>
            <a:r>
              <a:rPr lang="en-US" sz="2400" dirty="0"/>
              <a:t> string: ')</a:t>
            </a:r>
          </a:p>
          <a:p>
            <a:r>
              <a:rPr lang="en-US" sz="2400" dirty="0" err="1"/>
              <a:t>byteobj</a:t>
            </a:r>
            <a:r>
              <a:rPr lang="en-US" sz="2400" dirty="0"/>
              <a:t> = </a:t>
            </a:r>
            <a:r>
              <a:rPr lang="en-US" sz="2400" dirty="0" err="1"/>
              <a:t>pickle.dumps</a:t>
            </a:r>
            <a:r>
              <a:rPr lang="en-US" sz="2400" dirty="0"/>
              <a:t>(data)</a:t>
            </a:r>
          </a:p>
          <a:p>
            <a:r>
              <a:rPr lang="en-US" sz="2400" dirty="0"/>
              <a:t>print(</a:t>
            </a:r>
            <a:r>
              <a:rPr lang="en-US" sz="2400" dirty="0" err="1"/>
              <a:t>byteobj</a:t>
            </a:r>
            <a:r>
              <a:rPr lang="en-US" sz="2400" dirty="0"/>
              <a:t>)</a:t>
            </a:r>
            <a:endParaRPr lang="pt-BR" sz="2400" dirty="0"/>
          </a:p>
        </p:txBody>
      </p:sp>
      <p:sp>
        <p:nvSpPr>
          <p:cNvPr id="6" name="Rectangle 1">
            <a:extLst>
              <a:ext uri="{FF2B5EF4-FFF2-40B4-BE49-F238E27FC236}">
                <a16:creationId xmlns:a16="http://schemas.microsoft.com/office/drawing/2014/main" id="{D5101DDF-EACC-CDA5-4774-9A4253D74B5B}"/>
              </a:ext>
            </a:extLst>
          </p:cNvPr>
          <p:cNvSpPr>
            <a:spLocks noChangeArrowheads="1"/>
          </p:cNvSpPr>
          <p:nvPr/>
        </p:nvSpPr>
        <p:spPr bwMode="auto">
          <a:xfrm>
            <a:off x="1262844" y="5071983"/>
            <a:ext cx="944221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b="1" dirty="0">
                <a:highlight>
                  <a:srgbClr val="FFFF00"/>
                </a:highlight>
              </a:rPr>
              <a:t>Entre com </a:t>
            </a:r>
            <a:r>
              <a:rPr lang="en-US" sz="2000" b="1" dirty="0" err="1">
                <a:highlight>
                  <a:srgbClr val="FFFF00"/>
                </a:highlight>
              </a:rPr>
              <a:t>uma</a:t>
            </a:r>
            <a:r>
              <a:rPr lang="en-US" sz="2000" b="1" dirty="0">
                <a:highlight>
                  <a:srgbClr val="FFFF00"/>
                </a:highlight>
              </a:rPr>
              <a:t> string: </a:t>
            </a:r>
            <a:r>
              <a:rPr kumimoji="0" lang="pt-BR" altLang="pt-BR" sz="2000" b="1" i="0" u="none" strike="noStrike" cap="none" normalizeH="0" baseline="0" dirty="0">
                <a:ln>
                  <a:noFill/>
                </a:ln>
                <a:effectLst/>
                <a:highlight>
                  <a:srgbClr val="FFFF00"/>
                </a:highlight>
                <a:latin typeface="Consolas" panose="020B0609020204030204" pitchFamily="49" charset="0"/>
              </a:rPr>
              <a:t>Aeroplane b'\x80\x04\x95\r\x00\x00\x00\x00\x00\x00\x00\x8c\</a:t>
            </a:r>
            <a:r>
              <a:rPr kumimoji="0" lang="pt-BR" altLang="pt-BR" sz="2000" b="1" i="0" u="none" strike="noStrike" cap="none" normalizeH="0" baseline="0" dirty="0" err="1">
                <a:ln>
                  <a:noFill/>
                </a:ln>
                <a:effectLst/>
                <a:highlight>
                  <a:srgbClr val="FFFF00"/>
                </a:highlight>
                <a:latin typeface="Consolas" panose="020B0609020204030204" pitchFamily="49" charset="0"/>
              </a:rPr>
              <a:t>tAeroplane</a:t>
            </a:r>
            <a:r>
              <a:rPr kumimoji="0" lang="pt-BR" altLang="pt-BR" sz="2000" b="1" i="0" u="none" strike="noStrike" cap="none" normalizeH="0" baseline="0" dirty="0">
                <a:ln>
                  <a:noFill/>
                </a:ln>
                <a:effectLst/>
                <a:highlight>
                  <a:srgbClr val="FFFF00"/>
                </a:highlight>
                <a:latin typeface="Consolas" panose="020B0609020204030204" pitchFamily="49" charset="0"/>
              </a:rPr>
              <a:t>\x94.'</a:t>
            </a:r>
            <a:r>
              <a:rPr kumimoji="0" lang="pt-BR" altLang="pt-BR" sz="2000" b="1" i="0" u="none" strike="noStrike" cap="none" normalizeH="0" baseline="0" dirty="0">
                <a:ln>
                  <a:noFill/>
                </a:ln>
                <a:effectLst/>
                <a:highlight>
                  <a:srgbClr val="FFFF00"/>
                </a:highlight>
              </a:rPr>
              <a:t> </a:t>
            </a:r>
            <a:endParaRPr kumimoji="0" lang="pt-BR" altLang="pt-BR" sz="2000" b="1" i="0" u="none" strike="noStrike" cap="none" normalizeH="0" baseline="0" dirty="0">
              <a:ln>
                <a:noFill/>
              </a:ln>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382419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7C2B64D-E42B-5122-EF86-7D992C2BAD73}"/>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8C3AA690-3FB7-DC33-F276-6313CBC65B65}"/>
              </a:ext>
            </a:extLst>
          </p:cNvPr>
          <p:cNvSpPr>
            <a:spLocks noGrp="1"/>
          </p:cNvSpPr>
          <p:nvPr>
            <p:ph type="ftr" sz="quarter" idx="11"/>
          </p:nvPr>
        </p:nvSpPr>
        <p:spPr/>
        <p:txBody>
          <a:bodyPr/>
          <a:lstStyle/>
          <a:p>
            <a:r>
              <a:rPr lang="pt-BR" sz="1600" b="1" dirty="0"/>
              <a:t>Cap11b-Exem05</a:t>
            </a:r>
          </a:p>
        </p:txBody>
      </p:sp>
      <p:sp>
        <p:nvSpPr>
          <p:cNvPr id="4" name="Espaço Reservado para Número de Slide 3">
            <a:extLst>
              <a:ext uri="{FF2B5EF4-FFF2-40B4-BE49-F238E27FC236}">
                <a16:creationId xmlns:a16="http://schemas.microsoft.com/office/drawing/2014/main" id="{E8CF68A4-AFD2-D102-8820-48B74AA847E3}"/>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12</a:t>
            </a:fld>
            <a:endParaRPr lang="pt-BR" b="1" dirty="0">
              <a:solidFill>
                <a:schemeClr val="tx1"/>
              </a:solidFill>
            </a:endParaRPr>
          </a:p>
        </p:txBody>
      </p:sp>
      <p:sp>
        <p:nvSpPr>
          <p:cNvPr id="5" name="Título 4">
            <a:extLst>
              <a:ext uri="{FF2B5EF4-FFF2-40B4-BE49-F238E27FC236}">
                <a16:creationId xmlns:a16="http://schemas.microsoft.com/office/drawing/2014/main" id="{CD1DD306-7C68-A39F-6E41-0B7ED8A5F125}"/>
              </a:ext>
            </a:extLst>
          </p:cNvPr>
          <p:cNvSpPr>
            <a:spLocks noGrp="1"/>
          </p:cNvSpPr>
          <p:nvPr>
            <p:ph type="title"/>
          </p:nvPr>
        </p:nvSpPr>
        <p:spPr/>
        <p:txBody>
          <a:bodyPr>
            <a:normAutofit/>
          </a:bodyPr>
          <a:lstStyle/>
          <a:p>
            <a:pPr algn="ctr"/>
            <a:r>
              <a:rPr lang="pt-BR" b="1" i="1" dirty="0"/>
              <a:t>Arquivos binários - escrita</a:t>
            </a:r>
          </a:p>
        </p:txBody>
      </p:sp>
      <p:sp>
        <p:nvSpPr>
          <p:cNvPr id="6" name="CaixaDeTexto 5">
            <a:extLst>
              <a:ext uri="{FF2B5EF4-FFF2-40B4-BE49-F238E27FC236}">
                <a16:creationId xmlns:a16="http://schemas.microsoft.com/office/drawing/2014/main" id="{AF48B3B0-B5BB-58DA-DA11-D34EA2AAAD24}"/>
              </a:ext>
            </a:extLst>
          </p:cNvPr>
          <p:cNvSpPr txBox="1"/>
          <p:nvPr/>
        </p:nvSpPr>
        <p:spPr>
          <a:xfrm>
            <a:off x="239148" y="1719104"/>
            <a:ext cx="7827165" cy="4401205"/>
          </a:xfrm>
          <a:prstGeom prst="rect">
            <a:avLst/>
          </a:prstGeom>
          <a:noFill/>
        </p:spPr>
        <p:txBody>
          <a:bodyPr wrap="square" rtlCol="0">
            <a:spAutoFit/>
          </a:bodyPr>
          <a:lstStyle/>
          <a:p>
            <a:r>
              <a:rPr lang="pt-BR" sz="2800" b="1" dirty="0" err="1"/>
              <a:t>import</a:t>
            </a:r>
            <a:r>
              <a:rPr lang="pt-BR" sz="2800" b="1" dirty="0"/>
              <a:t> pickle</a:t>
            </a:r>
          </a:p>
          <a:p>
            <a:endParaRPr lang="pt-BR" sz="2800" b="1" dirty="0"/>
          </a:p>
          <a:p>
            <a:r>
              <a:rPr lang="pt-BR" sz="2800" b="1" dirty="0" err="1"/>
              <a:t>arq</a:t>
            </a:r>
            <a:r>
              <a:rPr lang="pt-BR" sz="2800" b="1" dirty="0"/>
              <a:t> = open("arq.</a:t>
            </a:r>
            <a:r>
              <a:rPr lang="pt-BR" sz="2800" b="1" dirty="0" err="1"/>
              <a:t>dat</a:t>
            </a:r>
            <a:r>
              <a:rPr lang="pt-BR" sz="2800" b="1" dirty="0"/>
              <a:t>","</a:t>
            </a:r>
            <a:r>
              <a:rPr lang="pt-BR" sz="2800" b="1" dirty="0" err="1"/>
              <a:t>wb</a:t>
            </a:r>
            <a:r>
              <a:rPr lang="pt-BR" sz="2800" b="1" dirty="0"/>
              <a:t>")</a:t>
            </a:r>
          </a:p>
          <a:p>
            <a:r>
              <a:rPr lang="pt-BR" sz="2800" b="1" dirty="0"/>
              <a:t>soma = 0</a:t>
            </a:r>
          </a:p>
          <a:p>
            <a:r>
              <a:rPr lang="pt-BR" sz="2800" b="1" dirty="0"/>
              <a:t>for i in range(10):</a:t>
            </a:r>
          </a:p>
          <a:p>
            <a:r>
              <a:rPr lang="pt-BR" sz="2800" b="1" dirty="0"/>
              <a:t>     </a:t>
            </a:r>
            <a:r>
              <a:rPr lang="pt-BR" sz="2800" b="1" dirty="0" err="1"/>
              <a:t>pickle.dump</a:t>
            </a:r>
            <a:r>
              <a:rPr lang="pt-BR" sz="2800" b="1" dirty="0"/>
              <a:t>(i, </a:t>
            </a:r>
            <a:r>
              <a:rPr lang="pt-BR" sz="2800" b="1" dirty="0" err="1"/>
              <a:t>arq</a:t>
            </a:r>
            <a:r>
              <a:rPr lang="pt-BR" sz="2800" b="1" dirty="0"/>
              <a:t>)  # </a:t>
            </a:r>
            <a:r>
              <a:rPr lang="pt-BR" sz="2800" b="1" dirty="0">
                <a:highlight>
                  <a:srgbClr val="FFFF00"/>
                </a:highlight>
              </a:rPr>
              <a:t>0 1 2 3 4 5 6 7 8 9 </a:t>
            </a:r>
          </a:p>
          <a:p>
            <a:r>
              <a:rPr lang="pt-BR" sz="2800" b="1" dirty="0"/>
              <a:t>     soma += i                       # </a:t>
            </a:r>
            <a:r>
              <a:rPr lang="pt-BR" sz="2800" b="1" dirty="0">
                <a:highlight>
                  <a:srgbClr val="FFFF00"/>
                </a:highlight>
              </a:rPr>
              <a:t>0+1+2+3+4+5+6+7+8+9</a:t>
            </a:r>
          </a:p>
          <a:p>
            <a:pPr marL="2057400" indent="-2057400"/>
            <a:r>
              <a:rPr lang="pt-BR" sz="2800" b="1" dirty="0" err="1"/>
              <a:t>arq.close</a:t>
            </a:r>
            <a:r>
              <a:rPr lang="pt-BR" sz="2800" b="1" dirty="0"/>
              <a:t>() # foi gravado a soma de todos os valores de 0 a 9 </a:t>
            </a:r>
          </a:p>
          <a:p>
            <a:r>
              <a:rPr lang="pt-BR" sz="2800" b="1" dirty="0"/>
              <a:t>print(" soma = ",soma)   # </a:t>
            </a:r>
            <a:r>
              <a:rPr lang="pt-BR" sz="2800" b="1" dirty="0">
                <a:highlight>
                  <a:srgbClr val="FFFF00"/>
                </a:highlight>
              </a:rPr>
              <a:t>45</a:t>
            </a:r>
          </a:p>
        </p:txBody>
      </p:sp>
      <p:sp>
        <p:nvSpPr>
          <p:cNvPr id="7" name="CaixaDeTexto 6">
            <a:extLst>
              <a:ext uri="{FF2B5EF4-FFF2-40B4-BE49-F238E27FC236}">
                <a16:creationId xmlns:a16="http://schemas.microsoft.com/office/drawing/2014/main" id="{C76EC81D-2922-85E3-2FC5-94497E050CD1}"/>
              </a:ext>
            </a:extLst>
          </p:cNvPr>
          <p:cNvSpPr txBox="1"/>
          <p:nvPr/>
        </p:nvSpPr>
        <p:spPr>
          <a:xfrm>
            <a:off x="8376557" y="1719104"/>
            <a:ext cx="3347357" cy="4401205"/>
          </a:xfrm>
          <a:prstGeom prst="rect">
            <a:avLst/>
          </a:prstGeom>
          <a:noFill/>
        </p:spPr>
        <p:txBody>
          <a:bodyPr wrap="square" rtlCol="0">
            <a:spAutoFit/>
          </a:bodyPr>
          <a:lstStyle/>
          <a:p>
            <a:pPr marL="457200" indent="-457200">
              <a:buFont typeface="Arial" panose="020B0604020202020204" pitchFamily="34" charset="0"/>
              <a:buChar char="•"/>
            </a:pPr>
            <a:r>
              <a:rPr lang="pt-BR" sz="2800" b="1" dirty="0"/>
              <a:t>O arquivo foi aberto com </a:t>
            </a:r>
            <a:r>
              <a:rPr lang="pt-BR" sz="2800" b="1" dirty="0">
                <a:solidFill>
                  <a:srgbClr val="0070C0"/>
                </a:solidFill>
              </a:rPr>
              <a:t>w</a:t>
            </a:r>
            <a:r>
              <a:rPr lang="pt-BR" sz="2800" b="1" dirty="0"/>
              <a:t> (</a:t>
            </a:r>
            <a:r>
              <a:rPr lang="pt-BR" sz="2800" b="1" dirty="0" err="1">
                <a:solidFill>
                  <a:srgbClr val="FF0000"/>
                </a:solidFill>
              </a:rPr>
              <a:t>write</a:t>
            </a:r>
            <a:r>
              <a:rPr lang="pt-BR" sz="2800" b="1" dirty="0"/>
              <a:t>) e </a:t>
            </a:r>
            <a:r>
              <a:rPr lang="pt-BR" sz="2800" b="1" dirty="0">
                <a:solidFill>
                  <a:srgbClr val="0070C0"/>
                </a:solidFill>
              </a:rPr>
              <a:t>b</a:t>
            </a:r>
            <a:r>
              <a:rPr lang="pt-BR" sz="2800" b="1" dirty="0"/>
              <a:t> (</a:t>
            </a:r>
            <a:r>
              <a:rPr lang="pt-BR" sz="2800" b="1" dirty="0">
                <a:solidFill>
                  <a:srgbClr val="FF0000"/>
                </a:solidFill>
              </a:rPr>
              <a:t>binário</a:t>
            </a:r>
            <a:r>
              <a:rPr lang="pt-BR" sz="2800" b="1" dirty="0"/>
              <a:t>)</a:t>
            </a:r>
          </a:p>
          <a:p>
            <a:endParaRPr lang="pt-BR" sz="2800" b="1" dirty="0"/>
          </a:p>
          <a:p>
            <a:pPr marL="457200" indent="-457200">
              <a:buFont typeface="Arial" panose="020B0604020202020204" pitchFamily="34" charset="0"/>
              <a:buChar char="•"/>
            </a:pPr>
            <a:r>
              <a:rPr lang="pt-BR" sz="2800" b="1" dirty="0"/>
              <a:t>Foi usada a função </a:t>
            </a:r>
            <a:r>
              <a:rPr lang="pt-BR" sz="2800" b="1" dirty="0">
                <a:solidFill>
                  <a:srgbClr val="FF0000"/>
                </a:solidFill>
              </a:rPr>
              <a:t>dump</a:t>
            </a:r>
            <a:r>
              <a:rPr lang="pt-BR" sz="2800" b="1" dirty="0"/>
              <a:t> do pacote </a:t>
            </a:r>
            <a:r>
              <a:rPr lang="pt-BR" sz="2800" b="1" dirty="0">
                <a:solidFill>
                  <a:srgbClr val="FF0000"/>
                </a:solidFill>
              </a:rPr>
              <a:t>pickle</a:t>
            </a:r>
            <a:r>
              <a:rPr lang="pt-BR" sz="2800" b="1" dirty="0"/>
              <a:t> para preservar o tipo de dados</a:t>
            </a:r>
          </a:p>
        </p:txBody>
      </p:sp>
    </p:spTree>
    <p:extLst>
      <p:ext uri="{BB962C8B-B14F-4D97-AF65-F5344CB8AC3E}">
        <p14:creationId xmlns:p14="http://schemas.microsoft.com/office/powerpoint/2010/main" val="3326411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C75C911-CFDF-911D-08E1-2BF8BFA9D791}"/>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4932C3F6-5AEB-5B06-EA6B-20F0DB1CDFEC}"/>
              </a:ext>
            </a:extLst>
          </p:cNvPr>
          <p:cNvSpPr>
            <a:spLocks noGrp="1"/>
          </p:cNvSpPr>
          <p:nvPr>
            <p:ph type="ftr" sz="quarter" idx="11"/>
          </p:nvPr>
        </p:nvSpPr>
        <p:spPr/>
        <p:txBody>
          <a:bodyPr/>
          <a:lstStyle/>
          <a:p>
            <a:r>
              <a:rPr lang="pt-BR" sz="1600" b="1" dirty="0"/>
              <a:t>Cap11b-Exem07</a:t>
            </a:r>
          </a:p>
        </p:txBody>
      </p:sp>
      <p:sp>
        <p:nvSpPr>
          <p:cNvPr id="4" name="Espaço Reservado para Número de Slide 3">
            <a:extLst>
              <a:ext uri="{FF2B5EF4-FFF2-40B4-BE49-F238E27FC236}">
                <a16:creationId xmlns:a16="http://schemas.microsoft.com/office/drawing/2014/main" id="{65FDC6A0-AECA-225C-F85A-94BF7717157A}"/>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13</a:t>
            </a:fld>
            <a:endParaRPr lang="pt-BR" b="1" dirty="0">
              <a:solidFill>
                <a:schemeClr val="tx1"/>
              </a:solidFill>
            </a:endParaRPr>
          </a:p>
        </p:txBody>
      </p:sp>
      <p:sp>
        <p:nvSpPr>
          <p:cNvPr id="5" name="Título 4">
            <a:extLst>
              <a:ext uri="{FF2B5EF4-FFF2-40B4-BE49-F238E27FC236}">
                <a16:creationId xmlns:a16="http://schemas.microsoft.com/office/drawing/2014/main" id="{64077020-CA21-082D-86C3-8F83645ADB2B}"/>
              </a:ext>
            </a:extLst>
          </p:cNvPr>
          <p:cNvSpPr>
            <a:spLocks noGrp="1"/>
          </p:cNvSpPr>
          <p:nvPr>
            <p:ph type="title"/>
          </p:nvPr>
        </p:nvSpPr>
        <p:spPr/>
        <p:txBody>
          <a:bodyPr>
            <a:normAutofit/>
          </a:bodyPr>
          <a:lstStyle/>
          <a:p>
            <a:pPr algn="ctr"/>
            <a:r>
              <a:rPr lang="pt-BR" b="1" i="1" dirty="0"/>
              <a:t>Arquivos binários - leitura</a:t>
            </a:r>
          </a:p>
        </p:txBody>
      </p:sp>
      <p:sp>
        <p:nvSpPr>
          <p:cNvPr id="6" name="CaixaDeTexto 5">
            <a:extLst>
              <a:ext uri="{FF2B5EF4-FFF2-40B4-BE49-F238E27FC236}">
                <a16:creationId xmlns:a16="http://schemas.microsoft.com/office/drawing/2014/main" id="{964B9B52-54D3-6B32-BDA8-AD9080215CA5}"/>
              </a:ext>
            </a:extLst>
          </p:cNvPr>
          <p:cNvSpPr txBox="1"/>
          <p:nvPr/>
        </p:nvSpPr>
        <p:spPr>
          <a:xfrm>
            <a:off x="7592785" y="1897636"/>
            <a:ext cx="4360063" cy="3108543"/>
          </a:xfrm>
          <a:prstGeom prst="rect">
            <a:avLst/>
          </a:prstGeom>
          <a:noFill/>
        </p:spPr>
        <p:txBody>
          <a:bodyPr wrap="square" rtlCol="0">
            <a:spAutoFit/>
          </a:bodyPr>
          <a:lstStyle/>
          <a:p>
            <a:pPr marL="457200" indent="-457200">
              <a:buFont typeface="Arial" panose="020B0604020202020204" pitchFamily="34" charset="0"/>
              <a:buChar char="•"/>
            </a:pPr>
            <a:r>
              <a:rPr lang="pt-BR" sz="2800" b="0" i="0" u="none" strike="noStrike" baseline="0" dirty="0">
                <a:solidFill>
                  <a:srgbClr val="000000"/>
                </a:solidFill>
                <a:latin typeface="CIDFont+F2"/>
              </a:rPr>
              <a:t>Vamos agora fazer a leitura</a:t>
            </a:r>
          </a:p>
          <a:p>
            <a:endParaRPr lang="pt-BR" sz="2800" b="0" i="0" u="none" strike="noStrike" baseline="0" dirty="0">
              <a:solidFill>
                <a:srgbClr val="000000"/>
              </a:solidFill>
              <a:latin typeface="CIDFont+F2"/>
            </a:endParaRPr>
          </a:p>
          <a:p>
            <a:pPr marL="457200" indent="-457200">
              <a:buFont typeface="Arial" panose="020B0604020202020204" pitchFamily="34" charset="0"/>
              <a:buChar char="•"/>
            </a:pPr>
            <a:r>
              <a:rPr lang="pt-BR" sz="2800" dirty="0">
                <a:solidFill>
                  <a:srgbClr val="000000"/>
                </a:solidFill>
                <a:latin typeface="CIDFont+F2"/>
              </a:rPr>
              <a:t>Veja que a leitura foi feita com a função load do pacote pickle, mas o tipo (</a:t>
            </a:r>
            <a:r>
              <a:rPr lang="pt-BR" sz="2800" dirty="0" err="1">
                <a:solidFill>
                  <a:srgbClr val="000000"/>
                </a:solidFill>
                <a:latin typeface="CIDFont+F2"/>
              </a:rPr>
              <a:t>int</a:t>
            </a:r>
            <a:r>
              <a:rPr lang="pt-BR" sz="2800" dirty="0">
                <a:solidFill>
                  <a:srgbClr val="000000"/>
                </a:solidFill>
                <a:latin typeface="CIDFont+F2"/>
              </a:rPr>
              <a:t>) foi preservado</a:t>
            </a:r>
            <a:endParaRPr lang="pt-BR" sz="2800" dirty="0"/>
          </a:p>
        </p:txBody>
      </p:sp>
      <p:sp>
        <p:nvSpPr>
          <p:cNvPr id="7" name="CaixaDeTexto 6">
            <a:extLst>
              <a:ext uri="{FF2B5EF4-FFF2-40B4-BE49-F238E27FC236}">
                <a16:creationId xmlns:a16="http://schemas.microsoft.com/office/drawing/2014/main" id="{CEE114F2-7D57-8D48-22E3-C27554285E03}"/>
              </a:ext>
            </a:extLst>
          </p:cNvPr>
          <p:cNvSpPr txBox="1"/>
          <p:nvPr/>
        </p:nvSpPr>
        <p:spPr>
          <a:xfrm>
            <a:off x="445512" y="1767007"/>
            <a:ext cx="6755388" cy="3816429"/>
          </a:xfrm>
          <a:prstGeom prst="rect">
            <a:avLst/>
          </a:prstGeom>
          <a:noFill/>
        </p:spPr>
        <p:txBody>
          <a:bodyPr wrap="square" rtlCol="0">
            <a:spAutoFit/>
          </a:bodyPr>
          <a:lstStyle/>
          <a:p>
            <a:r>
              <a:rPr lang="pt-BR" sz="2800" b="1" dirty="0" err="1"/>
              <a:t>import</a:t>
            </a:r>
            <a:r>
              <a:rPr lang="pt-BR" sz="2800" b="1" dirty="0"/>
              <a:t> pickle</a:t>
            </a:r>
          </a:p>
          <a:p>
            <a:r>
              <a:rPr lang="pt-BR" sz="2800" b="1" dirty="0" err="1"/>
              <a:t>arq</a:t>
            </a:r>
            <a:r>
              <a:rPr lang="pt-BR" sz="2800" b="1" dirty="0"/>
              <a:t> = open(“arq.dat”, “</a:t>
            </a:r>
            <a:r>
              <a:rPr lang="pt-BR" sz="2800" b="1" dirty="0" err="1"/>
              <a:t>rb</a:t>
            </a:r>
            <a:r>
              <a:rPr lang="pt-BR" sz="2800" b="1" dirty="0"/>
              <a:t>”)</a:t>
            </a:r>
          </a:p>
          <a:p>
            <a:r>
              <a:rPr lang="pt-BR" sz="2800" b="1" dirty="0"/>
              <a:t>soma = 0</a:t>
            </a:r>
          </a:p>
          <a:p>
            <a:r>
              <a:rPr lang="pt-BR" sz="2800" b="1" dirty="0"/>
              <a:t>for i in range(10):</a:t>
            </a:r>
          </a:p>
          <a:p>
            <a:r>
              <a:rPr lang="pt-BR" sz="2800" b="1" dirty="0"/>
              <a:t>       n = </a:t>
            </a:r>
            <a:r>
              <a:rPr lang="pt-BR" sz="2800" b="1" dirty="0" err="1"/>
              <a:t>pickle.load</a:t>
            </a:r>
            <a:r>
              <a:rPr lang="pt-BR" sz="2800" b="1" dirty="0"/>
              <a:t>(</a:t>
            </a:r>
            <a:r>
              <a:rPr lang="pt-BR" sz="2800" b="1" dirty="0" err="1"/>
              <a:t>arq</a:t>
            </a:r>
            <a:r>
              <a:rPr lang="pt-BR" sz="2800" b="1" dirty="0"/>
              <a:t>)</a:t>
            </a:r>
          </a:p>
          <a:p>
            <a:r>
              <a:rPr lang="pt-BR" sz="2800" b="1" dirty="0"/>
              <a:t>       soma += n  </a:t>
            </a:r>
            <a:r>
              <a:rPr lang="pt-BR" sz="2800" b="1" dirty="0">
                <a:highlight>
                  <a:srgbClr val="FFFF00"/>
                </a:highlight>
              </a:rPr>
              <a:t># 0+1+2+3+4+5+6+7+8+9</a:t>
            </a:r>
          </a:p>
          <a:p>
            <a:r>
              <a:rPr lang="pt-BR" sz="2800" b="1" dirty="0"/>
              <a:t>print (soma)  </a:t>
            </a:r>
            <a:r>
              <a:rPr lang="pt-BR" sz="2800" b="1" dirty="0">
                <a:highlight>
                  <a:srgbClr val="FFFF00"/>
                </a:highlight>
              </a:rPr>
              <a:t># 45</a:t>
            </a:r>
          </a:p>
          <a:p>
            <a:r>
              <a:rPr lang="pt-BR" sz="2800" b="1" dirty="0" err="1"/>
              <a:t>arq.close</a:t>
            </a:r>
            <a:r>
              <a:rPr lang="pt-BR" sz="2800" b="1" dirty="0"/>
              <a:t>()</a:t>
            </a:r>
          </a:p>
          <a:p>
            <a:endParaRPr lang="pt-BR" dirty="0"/>
          </a:p>
        </p:txBody>
      </p:sp>
    </p:spTree>
    <p:extLst>
      <p:ext uri="{BB962C8B-B14F-4D97-AF65-F5344CB8AC3E}">
        <p14:creationId xmlns:p14="http://schemas.microsoft.com/office/powerpoint/2010/main" val="148894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C11115C-933A-2C4A-0925-9A1E1061D27F}"/>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6FFDE1CF-794F-BD10-375A-998923DBB4D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CCADB2B1-208F-9CBF-9AC5-8D59317BF6DC}"/>
              </a:ext>
            </a:extLst>
          </p:cNvPr>
          <p:cNvSpPr>
            <a:spLocks noGrp="1"/>
          </p:cNvSpPr>
          <p:nvPr>
            <p:ph type="sldNum" sz="quarter" idx="12"/>
          </p:nvPr>
        </p:nvSpPr>
        <p:spPr/>
        <p:txBody>
          <a:bodyPr/>
          <a:lstStyle/>
          <a:p>
            <a:pPr algn="r"/>
            <a:fld id="{250292FE-8D56-4E3A-9427-CB428FF60A53}" type="slidenum">
              <a:rPr lang="pt-BR" b="1" smtClean="0"/>
              <a:pPr algn="r"/>
              <a:t>14</a:t>
            </a:fld>
            <a:endParaRPr lang="pt-BR" b="1" dirty="0"/>
          </a:p>
        </p:txBody>
      </p:sp>
      <p:sp>
        <p:nvSpPr>
          <p:cNvPr id="5" name="Título 4">
            <a:extLst>
              <a:ext uri="{FF2B5EF4-FFF2-40B4-BE49-F238E27FC236}">
                <a16:creationId xmlns:a16="http://schemas.microsoft.com/office/drawing/2014/main" id="{5D63DECA-012F-711A-4CE8-79D8A5FED537}"/>
              </a:ext>
            </a:extLst>
          </p:cNvPr>
          <p:cNvSpPr>
            <a:spLocks noGrp="1"/>
          </p:cNvSpPr>
          <p:nvPr>
            <p:ph type="title"/>
          </p:nvPr>
        </p:nvSpPr>
        <p:spPr/>
        <p:txBody>
          <a:bodyPr>
            <a:normAutofit/>
          </a:bodyPr>
          <a:lstStyle/>
          <a:p>
            <a:pPr algn="ctr"/>
            <a:r>
              <a:rPr lang="pt-BR" b="1" i="1" dirty="0"/>
              <a:t>O que é o módulo </a:t>
            </a:r>
            <a:r>
              <a:rPr lang="pt-BR" b="1" i="1" dirty="0">
                <a:latin typeface="Courier New" panose="02070309020205020404" pitchFamily="49" charset="0"/>
              </a:rPr>
              <a:t>pickle</a:t>
            </a:r>
            <a:r>
              <a:rPr lang="pt-BR" b="1" i="1" dirty="0"/>
              <a:t>?</a:t>
            </a:r>
            <a:endParaRPr lang="pt-BR" i="1" dirty="0"/>
          </a:p>
        </p:txBody>
      </p:sp>
      <p:sp>
        <p:nvSpPr>
          <p:cNvPr id="7" name="CaixaDeTexto 6">
            <a:extLst>
              <a:ext uri="{FF2B5EF4-FFF2-40B4-BE49-F238E27FC236}">
                <a16:creationId xmlns:a16="http://schemas.microsoft.com/office/drawing/2014/main" id="{D31F425F-4F4B-DD65-3D2B-F07CE9B08BAE}"/>
              </a:ext>
            </a:extLst>
          </p:cNvPr>
          <p:cNvSpPr txBox="1"/>
          <p:nvPr/>
        </p:nvSpPr>
        <p:spPr>
          <a:xfrm>
            <a:off x="239151" y="1493259"/>
            <a:ext cx="11713698" cy="1938992"/>
          </a:xfrm>
          <a:prstGeom prst="rect">
            <a:avLst/>
          </a:prstGeom>
          <a:noFill/>
        </p:spPr>
        <p:txBody>
          <a:bodyPr wrap="square">
            <a:spAutoFit/>
          </a:bodyPr>
          <a:lstStyle/>
          <a:p>
            <a:pPr>
              <a:buNone/>
            </a:pPr>
            <a:r>
              <a:rPr lang="pt-BR" sz="2400" dirty="0"/>
              <a:t>O módulo </a:t>
            </a:r>
            <a:r>
              <a:rPr lang="pt-BR" sz="2400" b="1" dirty="0">
                <a:latin typeface="Courier New" panose="02070309020205020404" pitchFamily="49" charset="0"/>
              </a:rPr>
              <a:t>pickle</a:t>
            </a:r>
            <a:r>
              <a:rPr lang="pt-BR" sz="2400" dirty="0"/>
              <a:t> serve para </a:t>
            </a:r>
            <a:r>
              <a:rPr lang="pt-BR" sz="2400" b="1" dirty="0"/>
              <a:t>salvar e recuperar objetos Python</a:t>
            </a:r>
            <a:r>
              <a:rPr lang="pt-BR" sz="2400" dirty="0"/>
              <a:t> em </a:t>
            </a:r>
            <a:r>
              <a:rPr lang="pt-BR" sz="2400" b="1" dirty="0"/>
              <a:t>formato binário</a:t>
            </a:r>
            <a:r>
              <a:rPr lang="pt-BR" sz="2400" dirty="0"/>
              <a:t>.</a:t>
            </a:r>
          </a:p>
          <a:p>
            <a:pPr>
              <a:buNone/>
            </a:pPr>
            <a:br>
              <a:rPr lang="pt-BR" sz="2400" dirty="0"/>
            </a:br>
            <a:r>
              <a:rPr lang="pt-BR" sz="2400" dirty="0"/>
              <a:t>👉 É como “guardar” uma variável num arquivo, e depois “carregá-la” de volta — </a:t>
            </a:r>
            <a:r>
              <a:rPr lang="pt-BR" sz="2400" b="1" dirty="0"/>
              <a:t>com tudo igual</a:t>
            </a:r>
            <a:r>
              <a:rPr lang="pt-BR" sz="2400" dirty="0"/>
              <a:t> (tipo, valores, estrutura). Isso é chamado de </a:t>
            </a:r>
            <a:r>
              <a:rPr lang="pt-BR" sz="2400" b="1" dirty="0"/>
              <a:t>serialização</a:t>
            </a:r>
            <a:r>
              <a:rPr lang="pt-BR" sz="2400" dirty="0"/>
              <a:t> (converter o objeto em bytes) e </a:t>
            </a:r>
            <a:r>
              <a:rPr lang="pt-BR" sz="2400" b="1" dirty="0" err="1"/>
              <a:t>desserialização</a:t>
            </a:r>
            <a:r>
              <a:rPr lang="pt-BR" sz="2400" dirty="0"/>
              <a:t> (reconstruir o objeto).</a:t>
            </a:r>
          </a:p>
        </p:txBody>
      </p:sp>
      <p:graphicFrame>
        <p:nvGraphicFramePr>
          <p:cNvPr id="8" name="Tabela 7">
            <a:extLst>
              <a:ext uri="{FF2B5EF4-FFF2-40B4-BE49-F238E27FC236}">
                <a16:creationId xmlns:a16="http://schemas.microsoft.com/office/drawing/2014/main" id="{BC04D369-E179-1EDF-5BE0-1458281B9632}"/>
              </a:ext>
            </a:extLst>
          </p:cNvPr>
          <p:cNvGraphicFramePr>
            <a:graphicFrameLocks noGrp="1"/>
          </p:cNvGraphicFramePr>
          <p:nvPr>
            <p:extLst>
              <p:ext uri="{D42A27DB-BD31-4B8C-83A1-F6EECF244321}">
                <p14:modId xmlns:p14="http://schemas.microsoft.com/office/powerpoint/2010/main" val="2312201342"/>
              </p:ext>
            </p:extLst>
          </p:nvPr>
        </p:nvGraphicFramePr>
        <p:xfrm>
          <a:off x="299160" y="4252839"/>
          <a:ext cx="11002253" cy="1889760"/>
        </p:xfrm>
        <a:graphic>
          <a:graphicData uri="http://schemas.openxmlformats.org/drawingml/2006/table">
            <a:tbl>
              <a:tblPr/>
              <a:tblGrid>
                <a:gridCol w="2286878">
                  <a:extLst>
                    <a:ext uri="{9D8B030D-6E8A-4147-A177-3AD203B41FA5}">
                      <a16:colId xmlns:a16="http://schemas.microsoft.com/office/drawing/2014/main" val="2420158818"/>
                    </a:ext>
                  </a:extLst>
                </a:gridCol>
                <a:gridCol w="3274000">
                  <a:extLst>
                    <a:ext uri="{9D8B030D-6E8A-4147-A177-3AD203B41FA5}">
                      <a16:colId xmlns:a16="http://schemas.microsoft.com/office/drawing/2014/main" val="1583751093"/>
                    </a:ext>
                  </a:extLst>
                </a:gridCol>
                <a:gridCol w="5441375">
                  <a:extLst>
                    <a:ext uri="{9D8B030D-6E8A-4147-A177-3AD203B41FA5}">
                      <a16:colId xmlns:a16="http://schemas.microsoft.com/office/drawing/2014/main" val="4057720221"/>
                    </a:ext>
                  </a:extLst>
                </a:gridCol>
              </a:tblGrid>
              <a:tr h="0">
                <a:tc>
                  <a:txBody>
                    <a:bodyPr/>
                    <a:lstStyle/>
                    <a:p>
                      <a:pPr>
                        <a:buNone/>
                      </a:pPr>
                      <a:r>
                        <a:rPr lang="pt-BR" sz="2200" b="1" dirty="0"/>
                        <a:t>Função</a:t>
                      </a:r>
                    </a:p>
                  </a:txBody>
                  <a:tcPr anchor="ctr">
                    <a:lnL>
                      <a:noFill/>
                    </a:lnL>
                    <a:lnR>
                      <a:noFill/>
                    </a:lnR>
                    <a:lnT>
                      <a:noFill/>
                    </a:lnT>
                    <a:lnB>
                      <a:noFill/>
                    </a:lnB>
                    <a:noFill/>
                  </a:tcPr>
                </a:tc>
                <a:tc>
                  <a:txBody>
                    <a:bodyPr/>
                    <a:lstStyle/>
                    <a:p>
                      <a:pPr>
                        <a:buNone/>
                      </a:pPr>
                      <a:r>
                        <a:rPr lang="pt-BR" sz="2200" b="1"/>
                        <a:t>Trabalha com</a:t>
                      </a:r>
                    </a:p>
                  </a:txBody>
                  <a:tcPr anchor="ctr">
                    <a:lnL>
                      <a:noFill/>
                    </a:lnL>
                    <a:lnR>
                      <a:noFill/>
                    </a:lnR>
                    <a:lnT>
                      <a:noFill/>
                    </a:lnT>
                    <a:lnB>
                      <a:noFill/>
                    </a:lnB>
                    <a:noFill/>
                  </a:tcPr>
                </a:tc>
                <a:tc>
                  <a:txBody>
                    <a:bodyPr/>
                    <a:lstStyle/>
                    <a:p>
                      <a:pPr>
                        <a:buNone/>
                      </a:pPr>
                      <a:r>
                        <a:rPr lang="pt-BR" sz="2200" b="1" dirty="0"/>
                        <a:t>Faz o quê</a:t>
                      </a:r>
                    </a:p>
                  </a:txBody>
                  <a:tcPr anchor="ctr">
                    <a:lnL>
                      <a:noFill/>
                    </a:lnL>
                    <a:lnR>
                      <a:noFill/>
                    </a:lnR>
                    <a:lnT>
                      <a:noFill/>
                    </a:lnT>
                    <a:lnB>
                      <a:noFill/>
                    </a:lnB>
                    <a:noFill/>
                  </a:tcPr>
                </a:tc>
                <a:extLst>
                  <a:ext uri="{0D108BD9-81ED-4DB2-BD59-A6C34878D82A}">
                    <a16:rowId xmlns:a16="http://schemas.microsoft.com/office/drawing/2014/main" val="2974939864"/>
                  </a:ext>
                </a:extLst>
              </a:tr>
              <a:tr h="0">
                <a:tc>
                  <a:txBody>
                    <a:bodyPr/>
                    <a:lstStyle/>
                    <a:p>
                      <a:pPr>
                        <a:buNone/>
                      </a:pPr>
                      <a:r>
                        <a:rPr lang="pt-BR">
                          <a:latin typeface="Courier New" panose="02070309020205020404" pitchFamily="49" charset="0"/>
                        </a:rPr>
                        <a:t>dump()</a:t>
                      </a:r>
                      <a:endParaRPr lang="pt-BR"/>
                    </a:p>
                  </a:txBody>
                  <a:tcPr anchor="ctr">
                    <a:lnL>
                      <a:noFill/>
                    </a:lnL>
                    <a:lnR>
                      <a:noFill/>
                    </a:lnR>
                    <a:lnT>
                      <a:noFill/>
                    </a:lnT>
                    <a:lnB>
                      <a:noFill/>
                    </a:lnB>
                    <a:noFill/>
                  </a:tcPr>
                </a:tc>
                <a:tc>
                  <a:txBody>
                    <a:bodyPr/>
                    <a:lstStyle/>
                    <a:p>
                      <a:pPr>
                        <a:buNone/>
                      </a:pPr>
                      <a:r>
                        <a:rPr lang="pt-BR" dirty="0"/>
                        <a:t>Arquivo</a:t>
                      </a:r>
                    </a:p>
                  </a:txBody>
                  <a:tcPr anchor="ctr">
                    <a:lnL>
                      <a:noFill/>
                    </a:lnL>
                    <a:lnR>
                      <a:noFill/>
                    </a:lnR>
                    <a:lnT>
                      <a:noFill/>
                    </a:lnT>
                    <a:lnB>
                      <a:noFill/>
                    </a:lnB>
                    <a:noFill/>
                  </a:tcPr>
                </a:tc>
                <a:tc>
                  <a:txBody>
                    <a:bodyPr/>
                    <a:lstStyle/>
                    <a:p>
                      <a:pPr>
                        <a:buNone/>
                      </a:pPr>
                      <a:r>
                        <a:rPr lang="pt-BR" dirty="0"/>
                        <a:t>Grava objeto Python em arquivo binário</a:t>
                      </a:r>
                    </a:p>
                  </a:txBody>
                  <a:tcPr anchor="ctr">
                    <a:lnL>
                      <a:noFill/>
                    </a:lnL>
                    <a:lnR>
                      <a:noFill/>
                    </a:lnR>
                    <a:lnT>
                      <a:noFill/>
                    </a:lnT>
                    <a:lnB>
                      <a:noFill/>
                    </a:lnB>
                    <a:noFill/>
                  </a:tcPr>
                </a:tc>
                <a:extLst>
                  <a:ext uri="{0D108BD9-81ED-4DB2-BD59-A6C34878D82A}">
                    <a16:rowId xmlns:a16="http://schemas.microsoft.com/office/drawing/2014/main" val="4215765013"/>
                  </a:ext>
                </a:extLst>
              </a:tr>
              <a:tr h="0">
                <a:tc>
                  <a:txBody>
                    <a:bodyPr/>
                    <a:lstStyle/>
                    <a:p>
                      <a:pPr>
                        <a:buNone/>
                      </a:pPr>
                      <a:r>
                        <a:rPr lang="pt-BR" dirty="0">
                          <a:latin typeface="Courier New" panose="02070309020205020404" pitchFamily="49" charset="0"/>
                        </a:rPr>
                        <a:t>dumps()</a:t>
                      </a:r>
                      <a:endParaRPr lang="pt-BR" dirty="0"/>
                    </a:p>
                  </a:txBody>
                  <a:tcPr anchor="ctr">
                    <a:lnL>
                      <a:noFill/>
                    </a:lnL>
                    <a:lnR>
                      <a:noFill/>
                    </a:lnR>
                    <a:lnT>
                      <a:noFill/>
                    </a:lnT>
                    <a:lnB>
                      <a:noFill/>
                    </a:lnB>
                    <a:noFill/>
                  </a:tcPr>
                </a:tc>
                <a:tc>
                  <a:txBody>
                    <a:bodyPr/>
                    <a:lstStyle/>
                    <a:p>
                      <a:pPr>
                        <a:buNone/>
                      </a:pPr>
                      <a:r>
                        <a:rPr lang="pt-BR" dirty="0"/>
                        <a:t>Bytes</a:t>
                      </a:r>
                    </a:p>
                  </a:txBody>
                  <a:tcPr anchor="ctr">
                    <a:lnL>
                      <a:noFill/>
                    </a:lnL>
                    <a:lnR>
                      <a:noFill/>
                    </a:lnR>
                    <a:lnT>
                      <a:noFill/>
                    </a:lnT>
                    <a:lnB>
                      <a:noFill/>
                    </a:lnB>
                    <a:noFill/>
                  </a:tcPr>
                </a:tc>
                <a:tc>
                  <a:txBody>
                    <a:bodyPr/>
                    <a:lstStyle/>
                    <a:p>
                      <a:pPr>
                        <a:buNone/>
                      </a:pPr>
                      <a:r>
                        <a:rPr lang="pt-BR" dirty="0"/>
                        <a:t>Converte objeto Python em sequência de bytes</a:t>
                      </a:r>
                    </a:p>
                  </a:txBody>
                  <a:tcPr anchor="ctr">
                    <a:lnL>
                      <a:noFill/>
                    </a:lnL>
                    <a:lnR>
                      <a:noFill/>
                    </a:lnR>
                    <a:lnT>
                      <a:noFill/>
                    </a:lnT>
                    <a:lnB>
                      <a:noFill/>
                    </a:lnB>
                    <a:noFill/>
                  </a:tcPr>
                </a:tc>
                <a:extLst>
                  <a:ext uri="{0D108BD9-81ED-4DB2-BD59-A6C34878D82A}">
                    <a16:rowId xmlns:a16="http://schemas.microsoft.com/office/drawing/2014/main" val="2936306811"/>
                  </a:ext>
                </a:extLst>
              </a:tr>
              <a:tr h="0">
                <a:tc>
                  <a:txBody>
                    <a:bodyPr/>
                    <a:lstStyle/>
                    <a:p>
                      <a:pPr>
                        <a:buNone/>
                      </a:pPr>
                      <a:r>
                        <a:rPr lang="pt-BR">
                          <a:latin typeface="Courier New" panose="02070309020205020404" pitchFamily="49" charset="0"/>
                        </a:rPr>
                        <a:t>load()</a:t>
                      </a:r>
                      <a:endParaRPr lang="pt-BR"/>
                    </a:p>
                  </a:txBody>
                  <a:tcPr anchor="ctr">
                    <a:lnL>
                      <a:noFill/>
                    </a:lnL>
                    <a:lnR>
                      <a:noFill/>
                    </a:lnR>
                    <a:lnT>
                      <a:noFill/>
                    </a:lnT>
                    <a:lnB>
                      <a:noFill/>
                    </a:lnB>
                    <a:noFill/>
                  </a:tcPr>
                </a:tc>
                <a:tc>
                  <a:txBody>
                    <a:bodyPr/>
                    <a:lstStyle/>
                    <a:p>
                      <a:pPr>
                        <a:buNone/>
                      </a:pPr>
                      <a:r>
                        <a:rPr lang="pt-BR"/>
                        <a:t>Arquivo</a:t>
                      </a:r>
                    </a:p>
                  </a:txBody>
                  <a:tcPr anchor="ctr">
                    <a:lnL>
                      <a:noFill/>
                    </a:lnL>
                    <a:lnR>
                      <a:noFill/>
                    </a:lnR>
                    <a:lnT>
                      <a:noFill/>
                    </a:lnT>
                    <a:lnB>
                      <a:noFill/>
                    </a:lnB>
                    <a:noFill/>
                  </a:tcPr>
                </a:tc>
                <a:tc>
                  <a:txBody>
                    <a:bodyPr/>
                    <a:lstStyle/>
                    <a:p>
                      <a:pPr>
                        <a:buNone/>
                      </a:pPr>
                      <a:r>
                        <a:rPr lang="pt-BR" dirty="0"/>
                        <a:t>Lê objeto Python de um arquivo binário</a:t>
                      </a:r>
                    </a:p>
                  </a:txBody>
                  <a:tcPr anchor="ctr">
                    <a:lnL>
                      <a:noFill/>
                    </a:lnL>
                    <a:lnR>
                      <a:noFill/>
                    </a:lnR>
                    <a:lnT>
                      <a:noFill/>
                    </a:lnT>
                    <a:lnB>
                      <a:noFill/>
                    </a:lnB>
                    <a:noFill/>
                  </a:tcPr>
                </a:tc>
                <a:extLst>
                  <a:ext uri="{0D108BD9-81ED-4DB2-BD59-A6C34878D82A}">
                    <a16:rowId xmlns:a16="http://schemas.microsoft.com/office/drawing/2014/main" val="3569507626"/>
                  </a:ext>
                </a:extLst>
              </a:tr>
              <a:tr h="0">
                <a:tc>
                  <a:txBody>
                    <a:bodyPr/>
                    <a:lstStyle/>
                    <a:p>
                      <a:pPr>
                        <a:buNone/>
                      </a:pPr>
                      <a:r>
                        <a:rPr lang="pt-BR" dirty="0">
                          <a:latin typeface="Courier New" panose="02070309020205020404" pitchFamily="49" charset="0"/>
                        </a:rPr>
                        <a:t>loads()</a:t>
                      </a:r>
                      <a:endParaRPr lang="pt-BR" dirty="0"/>
                    </a:p>
                  </a:txBody>
                  <a:tcPr anchor="ctr">
                    <a:lnL>
                      <a:noFill/>
                    </a:lnL>
                    <a:lnR>
                      <a:noFill/>
                    </a:lnR>
                    <a:lnT>
                      <a:noFill/>
                    </a:lnT>
                    <a:lnB>
                      <a:noFill/>
                    </a:lnB>
                    <a:noFill/>
                  </a:tcPr>
                </a:tc>
                <a:tc>
                  <a:txBody>
                    <a:bodyPr/>
                    <a:lstStyle/>
                    <a:p>
                      <a:pPr>
                        <a:buNone/>
                      </a:pPr>
                      <a:r>
                        <a:rPr lang="pt-BR" dirty="0"/>
                        <a:t>Bytes</a:t>
                      </a:r>
                    </a:p>
                  </a:txBody>
                  <a:tcPr anchor="ctr">
                    <a:lnL>
                      <a:noFill/>
                    </a:lnL>
                    <a:lnR>
                      <a:noFill/>
                    </a:lnR>
                    <a:lnT>
                      <a:noFill/>
                    </a:lnT>
                    <a:lnB>
                      <a:noFill/>
                    </a:lnB>
                    <a:noFill/>
                  </a:tcPr>
                </a:tc>
                <a:tc>
                  <a:txBody>
                    <a:bodyPr/>
                    <a:lstStyle/>
                    <a:p>
                      <a:pPr>
                        <a:buNone/>
                      </a:pPr>
                      <a:r>
                        <a:rPr lang="pt-BR" dirty="0"/>
                        <a:t>Lê objeto Python a partir de bytes</a:t>
                      </a:r>
                    </a:p>
                  </a:txBody>
                  <a:tcPr anchor="ctr">
                    <a:lnL>
                      <a:noFill/>
                    </a:lnL>
                    <a:lnR>
                      <a:noFill/>
                    </a:lnR>
                    <a:lnT>
                      <a:noFill/>
                    </a:lnT>
                    <a:lnB>
                      <a:noFill/>
                    </a:lnB>
                    <a:noFill/>
                  </a:tcPr>
                </a:tc>
                <a:extLst>
                  <a:ext uri="{0D108BD9-81ED-4DB2-BD59-A6C34878D82A}">
                    <a16:rowId xmlns:a16="http://schemas.microsoft.com/office/drawing/2014/main" val="973747601"/>
                  </a:ext>
                </a:extLst>
              </a:tr>
            </a:tbl>
          </a:graphicData>
        </a:graphic>
      </p:graphicFrame>
      <p:sp>
        <p:nvSpPr>
          <p:cNvPr id="9" name="Rectangle 1">
            <a:extLst>
              <a:ext uri="{FF2B5EF4-FFF2-40B4-BE49-F238E27FC236}">
                <a16:creationId xmlns:a16="http://schemas.microsoft.com/office/drawing/2014/main" id="{2349924A-BB49-E2E6-7229-3E12CDD57B7D}"/>
              </a:ext>
            </a:extLst>
          </p:cNvPr>
          <p:cNvSpPr>
            <a:spLocks noChangeArrowheads="1"/>
          </p:cNvSpPr>
          <p:nvPr/>
        </p:nvSpPr>
        <p:spPr bwMode="auto">
          <a:xfrm>
            <a:off x="299159" y="3605238"/>
            <a:ext cx="377277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1" i="0" u="none" strike="noStrike" cap="none" normalizeH="0" baseline="0" dirty="0">
                <a:ln>
                  <a:noFill/>
                </a:ln>
                <a:solidFill>
                  <a:schemeClr val="tx1"/>
                </a:solidFill>
                <a:effectLst/>
                <a:latin typeface="Arial" panose="020B0604020202020204" pitchFamily="34" charset="0"/>
              </a:rPr>
              <a:t>🔹 Principais funções</a:t>
            </a:r>
          </a:p>
        </p:txBody>
      </p:sp>
    </p:spTree>
    <p:extLst>
      <p:ext uri="{BB962C8B-B14F-4D97-AF65-F5344CB8AC3E}">
        <p14:creationId xmlns:p14="http://schemas.microsoft.com/office/powerpoint/2010/main" val="1281044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751F60E-30D5-8269-75D8-171AAACB6BE6}"/>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53E5993-3704-9F2B-C3A3-ACB1C814765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F9DB123-909D-FC7A-D88A-866DAEA67A99}"/>
              </a:ext>
            </a:extLst>
          </p:cNvPr>
          <p:cNvSpPr>
            <a:spLocks noGrp="1"/>
          </p:cNvSpPr>
          <p:nvPr>
            <p:ph type="sldNum" sz="quarter" idx="12"/>
          </p:nvPr>
        </p:nvSpPr>
        <p:spPr/>
        <p:txBody>
          <a:bodyPr/>
          <a:lstStyle/>
          <a:p>
            <a:pPr algn="r"/>
            <a:fld id="{250292FE-8D56-4E3A-9427-CB428FF60A53}" type="slidenum">
              <a:rPr lang="pt-BR" b="1" smtClean="0"/>
              <a:pPr algn="r"/>
              <a:t>15</a:t>
            </a:fld>
            <a:endParaRPr lang="pt-BR" b="1" dirty="0"/>
          </a:p>
        </p:txBody>
      </p:sp>
      <p:sp>
        <p:nvSpPr>
          <p:cNvPr id="5" name="Título 4">
            <a:extLst>
              <a:ext uri="{FF2B5EF4-FFF2-40B4-BE49-F238E27FC236}">
                <a16:creationId xmlns:a16="http://schemas.microsoft.com/office/drawing/2014/main" id="{AB295582-5D6C-E9B9-2794-801BB48406B8}"/>
              </a:ext>
            </a:extLst>
          </p:cNvPr>
          <p:cNvSpPr>
            <a:spLocks noGrp="1"/>
          </p:cNvSpPr>
          <p:nvPr>
            <p:ph type="title"/>
          </p:nvPr>
        </p:nvSpPr>
        <p:spPr/>
        <p:txBody>
          <a:bodyPr>
            <a:normAutofit fontScale="90000"/>
          </a:bodyPr>
          <a:lstStyle/>
          <a:p>
            <a:r>
              <a:rPr lang="pt-BR" b="1" i="1" dirty="0"/>
              <a:t>Exemplo 1 — dump() e load() (com arquivo)</a:t>
            </a:r>
          </a:p>
        </p:txBody>
      </p:sp>
      <p:sp>
        <p:nvSpPr>
          <p:cNvPr id="7" name="CaixaDeTexto 6">
            <a:extLst>
              <a:ext uri="{FF2B5EF4-FFF2-40B4-BE49-F238E27FC236}">
                <a16:creationId xmlns:a16="http://schemas.microsoft.com/office/drawing/2014/main" id="{8DD45627-7070-53AA-8ACC-3B9F9F950B12}"/>
              </a:ext>
            </a:extLst>
          </p:cNvPr>
          <p:cNvSpPr txBox="1"/>
          <p:nvPr/>
        </p:nvSpPr>
        <p:spPr>
          <a:xfrm>
            <a:off x="239151" y="1353344"/>
            <a:ext cx="6161649" cy="5016758"/>
          </a:xfrm>
          <a:prstGeom prst="rect">
            <a:avLst/>
          </a:prstGeom>
          <a:noFill/>
        </p:spPr>
        <p:txBody>
          <a:bodyPr wrap="square">
            <a:spAutoFit/>
          </a:bodyPr>
          <a:lstStyle/>
          <a:p>
            <a:r>
              <a:rPr lang="pt-BR" sz="2000" dirty="0" err="1"/>
              <a:t>import</a:t>
            </a:r>
            <a:r>
              <a:rPr lang="pt-BR" sz="2000" dirty="0"/>
              <a:t> pickle</a:t>
            </a:r>
          </a:p>
          <a:p>
            <a:endParaRPr lang="pt-BR" sz="2000" dirty="0"/>
          </a:p>
          <a:p>
            <a:r>
              <a:rPr lang="pt-BR" sz="2000" dirty="0"/>
              <a:t># Objeto Python</a:t>
            </a:r>
          </a:p>
          <a:p>
            <a:r>
              <a:rPr lang="pt-BR" sz="2000" dirty="0"/>
              <a:t>pessoa = {"nome": "Maria", "idade": 25, "ativo": True}</a:t>
            </a:r>
          </a:p>
          <a:p>
            <a:endParaRPr lang="pt-BR" sz="2000" dirty="0"/>
          </a:p>
          <a:p>
            <a:r>
              <a:rPr lang="pt-BR" sz="2000" dirty="0"/>
              <a:t># 1️⃣ Salva o objeto no arquivo binário</a:t>
            </a:r>
          </a:p>
          <a:p>
            <a:r>
              <a:rPr lang="pt-BR" sz="2000" dirty="0"/>
              <a:t>with open("</a:t>
            </a:r>
            <a:r>
              <a:rPr lang="pt-BR" sz="2000" dirty="0" err="1"/>
              <a:t>pessoa.pkl</a:t>
            </a:r>
            <a:r>
              <a:rPr lang="pt-BR" sz="2000" dirty="0"/>
              <a:t>", "</a:t>
            </a:r>
            <a:r>
              <a:rPr lang="pt-BR" sz="2000" dirty="0" err="1"/>
              <a:t>wb</a:t>
            </a:r>
            <a:r>
              <a:rPr lang="pt-BR" sz="2000" dirty="0"/>
              <a:t>") as arquivo:</a:t>
            </a:r>
          </a:p>
          <a:p>
            <a:r>
              <a:rPr lang="pt-BR" sz="2000" dirty="0"/>
              <a:t>    </a:t>
            </a:r>
            <a:r>
              <a:rPr lang="pt-BR" sz="2000" dirty="0" err="1"/>
              <a:t>pickle.dump</a:t>
            </a:r>
            <a:r>
              <a:rPr lang="pt-BR" sz="2000" dirty="0"/>
              <a:t>(pessoa, arquivo)</a:t>
            </a:r>
          </a:p>
          <a:p>
            <a:endParaRPr lang="pt-BR" sz="2000" dirty="0"/>
          </a:p>
          <a:p>
            <a:r>
              <a:rPr lang="pt-BR" sz="2000" dirty="0"/>
              <a:t>print("Objeto salvo no arquivo '</a:t>
            </a:r>
            <a:r>
              <a:rPr lang="pt-BR" sz="2000" dirty="0" err="1"/>
              <a:t>pessoa.pkl</a:t>
            </a:r>
            <a:r>
              <a:rPr lang="pt-BR" sz="2000" dirty="0"/>
              <a:t>'.")</a:t>
            </a:r>
          </a:p>
          <a:p>
            <a:endParaRPr lang="pt-BR" sz="2000" dirty="0"/>
          </a:p>
          <a:p>
            <a:r>
              <a:rPr lang="pt-BR" sz="2000" dirty="0"/>
              <a:t># 2️⃣ Lê o objeto de volta do arquivo</a:t>
            </a:r>
          </a:p>
          <a:p>
            <a:r>
              <a:rPr lang="pt-BR" sz="2000" dirty="0"/>
              <a:t>with open("</a:t>
            </a:r>
            <a:r>
              <a:rPr lang="pt-BR" sz="2000" dirty="0" err="1"/>
              <a:t>pessoa.pkl</a:t>
            </a:r>
            <a:r>
              <a:rPr lang="pt-BR" sz="2000" dirty="0"/>
              <a:t>", "</a:t>
            </a:r>
            <a:r>
              <a:rPr lang="pt-BR" sz="2000" dirty="0" err="1"/>
              <a:t>rb</a:t>
            </a:r>
            <a:r>
              <a:rPr lang="pt-BR" sz="2000" dirty="0"/>
              <a:t>") as arquivo:</a:t>
            </a:r>
          </a:p>
          <a:p>
            <a:r>
              <a:rPr lang="pt-BR" sz="2000" dirty="0"/>
              <a:t>    </a:t>
            </a:r>
            <a:r>
              <a:rPr lang="pt-BR" sz="2000" dirty="0" err="1"/>
              <a:t>pessoa_carregada</a:t>
            </a:r>
            <a:r>
              <a:rPr lang="pt-BR" sz="2000" dirty="0"/>
              <a:t> = </a:t>
            </a:r>
            <a:r>
              <a:rPr lang="pt-BR" sz="2000" dirty="0" err="1"/>
              <a:t>pickle.load</a:t>
            </a:r>
            <a:r>
              <a:rPr lang="pt-BR" sz="2000" dirty="0"/>
              <a:t>(arquivo)</a:t>
            </a:r>
          </a:p>
          <a:p>
            <a:endParaRPr lang="pt-BR" sz="2000" dirty="0"/>
          </a:p>
          <a:p>
            <a:r>
              <a:rPr lang="pt-BR" sz="2000" dirty="0"/>
              <a:t>print("Objeto carregado:", </a:t>
            </a:r>
            <a:r>
              <a:rPr lang="pt-BR" sz="2000" dirty="0" err="1"/>
              <a:t>pessoa_carregada</a:t>
            </a:r>
            <a:r>
              <a:rPr lang="pt-BR" sz="2000" dirty="0"/>
              <a:t>)</a:t>
            </a:r>
          </a:p>
        </p:txBody>
      </p:sp>
      <p:sp>
        <p:nvSpPr>
          <p:cNvPr id="11" name="CaixaDeTexto 10">
            <a:extLst>
              <a:ext uri="{FF2B5EF4-FFF2-40B4-BE49-F238E27FC236}">
                <a16:creationId xmlns:a16="http://schemas.microsoft.com/office/drawing/2014/main" id="{BD35FFDD-1062-FC74-76A6-629F281013A0}"/>
              </a:ext>
            </a:extLst>
          </p:cNvPr>
          <p:cNvSpPr txBox="1"/>
          <p:nvPr/>
        </p:nvSpPr>
        <p:spPr>
          <a:xfrm>
            <a:off x="6288259" y="1695231"/>
            <a:ext cx="5903741" cy="646331"/>
          </a:xfrm>
          <a:prstGeom prst="rect">
            <a:avLst/>
          </a:prstGeom>
          <a:noFill/>
        </p:spPr>
        <p:txBody>
          <a:bodyPr wrap="square">
            <a:spAutoFit/>
          </a:bodyPr>
          <a:lstStyle/>
          <a:p>
            <a:r>
              <a:rPr lang="pt-BR" dirty="0"/>
              <a:t>Objeto salvo no arquivo '</a:t>
            </a:r>
            <a:r>
              <a:rPr lang="pt-BR" dirty="0" err="1"/>
              <a:t>pessoa.pkl</a:t>
            </a:r>
            <a:r>
              <a:rPr lang="pt-BR" dirty="0"/>
              <a:t>'.</a:t>
            </a:r>
          </a:p>
          <a:p>
            <a:r>
              <a:rPr lang="pt-BR" dirty="0"/>
              <a:t>Objeto carregado: {'nome': 'Maria', 'idade': 25, 'ativo': True}</a:t>
            </a:r>
          </a:p>
        </p:txBody>
      </p:sp>
      <p:sp>
        <p:nvSpPr>
          <p:cNvPr id="12" name="Rectangle 1">
            <a:extLst>
              <a:ext uri="{FF2B5EF4-FFF2-40B4-BE49-F238E27FC236}">
                <a16:creationId xmlns:a16="http://schemas.microsoft.com/office/drawing/2014/main" id="{B168FAD4-D103-ADBB-E8FF-515DA7D760BD}"/>
              </a:ext>
            </a:extLst>
          </p:cNvPr>
          <p:cNvSpPr>
            <a:spLocks noChangeArrowheads="1"/>
          </p:cNvSpPr>
          <p:nvPr/>
        </p:nvSpPr>
        <p:spPr bwMode="auto">
          <a:xfrm rot="10800000" flipV="1">
            <a:off x="6400800" y="2391241"/>
            <a:ext cx="384766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latin typeface="Arial Unicode MS" panose="020B0604020202020204" pitchFamily="34" charset="-128"/>
              </a:rPr>
              <a:t> </a:t>
            </a:r>
            <a:r>
              <a:rPr kumimoji="0" lang="pt-BR" altLang="pt-BR" b="0" i="0" u="none" strike="noStrike" cap="none" normalizeH="0" baseline="0" dirty="0" err="1">
                <a:ln>
                  <a:noFill/>
                </a:ln>
                <a:solidFill>
                  <a:schemeClr val="tx1"/>
                </a:solidFill>
                <a:effectLst/>
                <a:latin typeface="Arial Unicode MS" panose="020B0604020202020204" pitchFamily="34" charset="-128"/>
              </a:rPr>
              <a:t>wb</a:t>
            </a:r>
            <a:r>
              <a:rPr kumimoji="0" lang="pt-BR" altLang="pt-BR" b="0" i="0" u="none" strike="noStrike" cap="none" normalizeH="0" baseline="0" dirty="0">
                <a:ln>
                  <a:noFill/>
                </a:ln>
                <a:solidFill>
                  <a:schemeClr val="tx1"/>
                </a:solidFill>
                <a:effectLst/>
              </a:rPr>
              <a:t> → </a:t>
            </a:r>
            <a:r>
              <a:rPr kumimoji="0" lang="pt-BR" altLang="pt-BR" b="0" i="0" u="none" strike="noStrike" cap="none" normalizeH="0" baseline="0" dirty="0" err="1">
                <a:ln>
                  <a:noFill/>
                </a:ln>
                <a:solidFill>
                  <a:schemeClr val="tx1"/>
                </a:solidFill>
                <a:effectLst/>
              </a:rPr>
              <a:t>write</a:t>
            </a:r>
            <a:r>
              <a:rPr kumimoji="0" lang="pt-BR" altLang="pt-BR" b="0" i="0" u="none" strike="noStrike" cap="none" normalizeH="0" baseline="0" dirty="0">
                <a:ln>
                  <a:noFill/>
                </a:ln>
                <a:solidFill>
                  <a:schemeClr val="tx1"/>
                </a:solidFill>
                <a:effectLst/>
              </a:rPr>
              <a:t> binary (escrita binária)</a:t>
            </a:r>
            <a:endParaRPr kumimoji="0" lang="pt-BR" altLang="pt-BR"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b="0" i="0" u="none" strike="noStrike" cap="none" normalizeH="0" baseline="0" dirty="0">
                <a:ln>
                  <a:noFill/>
                </a:ln>
                <a:solidFill>
                  <a:schemeClr val="tx1"/>
                </a:solidFill>
                <a:effectLst/>
                <a:latin typeface="Arial Unicode MS" panose="020B0604020202020204" pitchFamily="34" charset="-128"/>
              </a:rPr>
              <a:t> </a:t>
            </a:r>
            <a:r>
              <a:rPr kumimoji="0" lang="pt-BR" altLang="pt-BR" b="0" i="0" u="none" strike="noStrike" cap="none" normalizeH="0" baseline="0" dirty="0" err="1">
                <a:ln>
                  <a:noFill/>
                </a:ln>
                <a:solidFill>
                  <a:schemeClr val="tx1"/>
                </a:solidFill>
                <a:effectLst/>
                <a:latin typeface="Arial Unicode MS" panose="020B0604020202020204" pitchFamily="34" charset="-128"/>
              </a:rPr>
              <a:t>rb</a:t>
            </a:r>
            <a:r>
              <a:rPr kumimoji="0" lang="pt-BR" altLang="pt-BR" b="0" i="0" u="none" strike="noStrike" cap="none" normalizeH="0" baseline="0" dirty="0">
                <a:ln>
                  <a:noFill/>
                </a:ln>
                <a:solidFill>
                  <a:schemeClr val="tx1"/>
                </a:solidFill>
                <a:effectLst/>
              </a:rPr>
              <a:t> → </a:t>
            </a:r>
            <a:r>
              <a:rPr kumimoji="0" lang="pt-BR" altLang="pt-BR" b="0" i="0" u="none" strike="noStrike" cap="none" normalizeH="0" baseline="0" dirty="0" err="1">
                <a:ln>
                  <a:noFill/>
                </a:ln>
                <a:solidFill>
                  <a:schemeClr val="tx1"/>
                </a:solidFill>
                <a:effectLst/>
              </a:rPr>
              <a:t>read</a:t>
            </a:r>
            <a:r>
              <a:rPr kumimoji="0" lang="pt-BR" altLang="pt-BR" b="0" i="0" u="none" strike="noStrike" cap="none" normalizeH="0" baseline="0" dirty="0">
                <a:ln>
                  <a:noFill/>
                </a:ln>
                <a:solidFill>
                  <a:schemeClr val="tx1"/>
                </a:solidFill>
                <a:effectLst/>
              </a:rPr>
              <a:t> binary (leitura binária</a:t>
            </a:r>
            <a:endParaRPr kumimoji="0" lang="pt-BR" altLang="pt-BR"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51091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1B0E3810-C602-18D1-2358-87902750C612}"/>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3E1CA771-EC8B-0B37-1DD8-5B58CF7958EF}"/>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1F840CB-9B19-A83F-C4DA-08218032A67E}"/>
              </a:ext>
            </a:extLst>
          </p:cNvPr>
          <p:cNvSpPr>
            <a:spLocks noGrp="1"/>
          </p:cNvSpPr>
          <p:nvPr>
            <p:ph type="sldNum" sz="quarter" idx="12"/>
          </p:nvPr>
        </p:nvSpPr>
        <p:spPr/>
        <p:txBody>
          <a:bodyPr/>
          <a:lstStyle/>
          <a:p>
            <a:pPr algn="r"/>
            <a:fld id="{250292FE-8D56-4E3A-9427-CB428FF60A53}" type="slidenum">
              <a:rPr lang="pt-BR" b="1" smtClean="0"/>
              <a:pPr algn="r"/>
              <a:t>16</a:t>
            </a:fld>
            <a:endParaRPr lang="pt-BR" b="1" dirty="0"/>
          </a:p>
        </p:txBody>
      </p:sp>
      <p:sp>
        <p:nvSpPr>
          <p:cNvPr id="5" name="Título 4">
            <a:extLst>
              <a:ext uri="{FF2B5EF4-FFF2-40B4-BE49-F238E27FC236}">
                <a16:creationId xmlns:a16="http://schemas.microsoft.com/office/drawing/2014/main" id="{EA075C09-52C0-C12A-3A79-AA6E62668C59}"/>
              </a:ext>
            </a:extLst>
          </p:cNvPr>
          <p:cNvSpPr>
            <a:spLocks noGrp="1"/>
          </p:cNvSpPr>
          <p:nvPr>
            <p:ph type="title"/>
          </p:nvPr>
        </p:nvSpPr>
        <p:spPr>
          <a:xfrm>
            <a:off x="2005532" y="365125"/>
            <a:ext cx="10186468" cy="988219"/>
          </a:xfrm>
        </p:spPr>
        <p:txBody>
          <a:bodyPr>
            <a:normAutofit fontScale="90000"/>
          </a:bodyPr>
          <a:lstStyle/>
          <a:p>
            <a:r>
              <a:rPr lang="pt-BR" b="1" i="1" dirty="0"/>
              <a:t>Exemplo 2 — dumps() e loads() (sem arquivo)</a:t>
            </a:r>
          </a:p>
        </p:txBody>
      </p:sp>
      <p:sp>
        <p:nvSpPr>
          <p:cNvPr id="7" name="CaixaDeTexto 6">
            <a:extLst>
              <a:ext uri="{FF2B5EF4-FFF2-40B4-BE49-F238E27FC236}">
                <a16:creationId xmlns:a16="http://schemas.microsoft.com/office/drawing/2014/main" id="{B89401C9-1076-1944-2A5E-664F1195F1AE}"/>
              </a:ext>
            </a:extLst>
          </p:cNvPr>
          <p:cNvSpPr txBox="1"/>
          <p:nvPr/>
        </p:nvSpPr>
        <p:spPr>
          <a:xfrm>
            <a:off x="385763" y="1363640"/>
            <a:ext cx="5857875" cy="4616648"/>
          </a:xfrm>
          <a:prstGeom prst="rect">
            <a:avLst/>
          </a:prstGeom>
          <a:noFill/>
        </p:spPr>
        <p:txBody>
          <a:bodyPr wrap="square">
            <a:spAutoFit/>
          </a:bodyPr>
          <a:lstStyle/>
          <a:p>
            <a:r>
              <a:rPr lang="pt-BR" sz="2200" dirty="0" err="1"/>
              <a:t>import</a:t>
            </a:r>
            <a:r>
              <a:rPr lang="pt-BR" sz="2200" dirty="0"/>
              <a:t> pickle</a:t>
            </a:r>
          </a:p>
          <a:p>
            <a:endParaRPr lang="pt-BR" sz="1000" dirty="0"/>
          </a:p>
          <a:p>
            <a:r>
              <a:rPr lang="pt-BR" sz="2200" dirty="0"/>
              <a:t># Objeto Python</a:t>
            </a:r>
          </a:p>
          <a:p>
            <a:r>
              <a:rPr lang="pt-BR" sz="2200" dirty="0"/>
              <a:t>dados = {"curso": "Python", "alunos": 35}</a:t>
            </a:r>
          </a:p>
          <a:p>
            <a:endParaRPr lang="pt-BR" sz="1000" dirty="0"/>
          </a:p>
          <a:p>
            <a:r>
              <a:rPr lang="pt-BR" sz="2200" dirty="0"/>
              <a:t># 1️⃣ Converte o objeto para bytes</a:t>
            </a:r>
          </a:p>
          <a:p>
            <a:r>
              <a:rPr lang="pt-BR" sz="2200" dirty="0" err="1"/>
              <a:t>dados_bytes</a:t>
            </a:r>
            <a:r>
              <a:rPr lang="pt-BR" sz="2200" dirty="0"/>
              <a:t> = </a:t>
            </a:r>
            <a:r>
              <a:rPr lang="pt-BR" sz="2200" dirty="0" err="1"/>
              <a:t>pickle.dumps</a:t>
            </a:r>
            <a:r>
              <a:rPr lang="pt-BR" sz="2200" dirty="0"/>
              <a:t>(dados)</a:t>
            </a:r>
          </a:p>
          <a:p>
            <a:r>
              <a:rPr lang="pt-BR" sz="2200" dirty="0"/>
              <a:t>print("Em bytes:", </a:t>
            </a:r>
            <a:r>
              <a:rPr lang="pt-BR" sz="2200" dirty="0" err="1"/>
              <a:t>dados_bytes</a:t>
            </a:r>
            <a:r>
              <a:rPr lang="pt-BR" sz="2200" dirty="0"/>
              <a:t>)</a:t>
            </a:r>
          </a:p>
          <a:p>
            <a:endParaRPr lang="pt-BR" sz="1000" dirty="0"/>
          </a:p>
          <a:p>
            <a:r>
              <a:rPr lang="pt-BR" sz="2200" dirty="0"/>
              <a:t># 2️⃣ Reverte os bytes de volta para objeto Python</a:t>
            </a:r>
          </a:p>
          <a:p>
            <a:r>
              <a:rPr lang="pt-BR" sz="2200" dirty="0" err="1"/>
              <a:t>dados_recarregados</a:t>
            </a:r>
            <a:r>
              <a:rPr lang="pt-BR" sz="2200" dirty="0"/>
              <a:t> = </a:t>
            </a:r>
            <a:r>
              <a:rPr lang="pt-BR" sz="2200" dirty="0" err="1"/>
              <a:t>pickle.loads</a:t>
            </a:r>
            <a:r>
              <a:rPr lang="pt-BR" sz="2200" dirty="0"/>
              <a:t>(</a:t>
            </a:r>
            <a:r>
              <a:rPr lang="pt-BR" sz="2200" dirty="0" err="1"/>
              <a:t>dados_bytes</a:t>
            </a:r>
            <a:r>
              <a:rPr lang="pt-BR" sz="2200" dirty="0"/>
              <a:t>)</a:t>
            </a:r>
          </a:p>
          <a:p>
            <a:r>
              <a:rPr lang="pt-BR" sz="2200" dirty="0"/>
              <a:t>print("De volta ao Python:", </a:t>
            </a:r>
            <a:r>
              <a:rPr lang="pt-BR" sz="2200" dirty="0" err="1"/>
              <a:t>dados_recarregados</a:t>
            </a:r>
            <a:r>
              <a:rPr lang="pt-BR" sz="2200" dirty="0"/>
              <a:t>)</a:t>
            </a:r>
          </a:p>
        </p:txBody>
      </p:sp>
      <p:sp>
        <p:nvSpPr>
          <p:cNvPr id="9" name="CaixaDeTexto 8">
            <a:extLst>
              <a:ext uri="{FF2B5EF4-FFF2-40B4-BE49-F238E27FC236}">
                <a16:creationId xmlns:a16="http://schemas.microsoft.com/office/drawing/2014/main" id="{258F4A97-D4C1-2CCE-C0A7-C8249DF748ED}"/>
              </a:ext>
            </a:extLst>
          </p:cNvPr>
          <p:cNvSpPr txBox="1"/>
          <p:nvPr/>
        </p:nvSpPr>
        <p:spPr>
          <a:xfrm>
            <a:off x="5743575" y="1831039"/>
            <a:ext cx="6343655" cy="1107996"/>
          </a:xfrm>
          <a:prstGeom prst="rect">
            <a:avLst/>
          </a:prstGeom>
          <a:noFill/>
        </p:spPr>
        <p:txBody>
          <a:bodyPr wrap="square">
            <a:spAutoFit/>
          </a:bodyPr>
          <a:lstStyle/>
          <a:p>
            <a:r>
              <a:rPr lang="pt-BR" sz="2200" b="1" dirty="0"/>
              <a:t>Saída : </a:t>
            </a:r>
          </a:p>
          <a:p>
            <a:r>
              <a:rPr lang="pt-BR" sz="2200" dirty="0"/>
              <a:t>Em bytes: b'\x80\x04\x95...'</a:t>
            </a:r>
          </a:p>
          <a:p>
            <a:r>
              <a:rPr lang="pt-BR" sz="2200" dirty="0"/>
              <a:t>De volta ao Python: {'curso': 'Python', 'alunos': 35}</a:t>
            </a:r>
          </a:p>
        </p:txBody>
      </p:sp>
      <p:sp>
        <p:nvSpPr>
          <p:cNvPr id="11" name="CaixaDeTexto 10">
            <a:extLst>
              <a:ext uri="{FF2B5EF4-FFF2-40B4-BE49-F238E27FC236}">
                <a16:creationId xmlns:a16="http://schemas.microsoft.com/office/drawing/2014/main" id="{026E0EE4-EDA1-9A51-C4E5-E8E397847FB5}"/>
              </a:ext>
            </a:extLst>
          </p:cNvPr>
          <p:cNvSpPr txBox="1"/>
          <p:nvPr/>
        </p:nvSpPr>
        <p:spPr>
          <a:xfrm>
            <a:off x="5743575" y="3539696"/>
            <a:ext cx="6062662" cy="769441"/>
          </a:xfrm>
          <a:prstGeom prst="rect">
            <a:avLst/>
          </a:prstGeom>
          <a:noFill/>
        </p:spPr>
        <p:txBody>
          <a:bodyPr wrap="square">
            <a:spAutoFit/>
          </a:bodyPr>
          <a:lstStyle/>
          <a:p>
            <a:r>
              <a:rPr lang="pt-BR" sz="2200" dirty="0">
                <a:latin typeface="Courier New" panose="02070309020205020404" pitchFamily="49" charset="0"/>
              </a:rPr>
              <a:t>pickle</a:t>
            </a:r>
            <a:r>
              <a:rPr lang="pt-BR" sz="2200" dirty="0"/>
              <a:t> transforma o objeto em bytes (</a:t>
            </a:r>
            <a:r>
              <a:rPr lang="pt-BR" sz="2200" dirty="0">
                <a:latin typeface="Courier New" panose="02070309020205020404" pitchFamily="49" charset="0"/>
              </a:rPr>
              <a:t>b'...'</a:t>
            </a:r>
            <a:r>
              <a:rPr lang="pt-BR" sz="2200" dirty="0"/>
              <a:t>) — ideal para salvar, enviar por rede, etc.</a:t>
            </a:r>
          </a:p>
        </p:txBody>
      </p:sp>
    </p:spTree>
    <p:extLst>
      <p:ext uri="{BB962C8B-B14F-4D97-AF65-F5344CB8AC3E}">
        <p14:creationId xmlns:p14="http://schemas.microsoft.com/office/powerpoint/2010/main" val="1459161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3F0B362-FD38-6E4A-4BFE-59328F082AAE}"/>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E5CDBE7-5268-3EDD-4A9D-8BDA77D008DF}"/>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C5DBBADC-606A-AA11-A344-95671924EA98}"/>
              </a:ext>
            </a:extLst>
          </p:cNvPr>
          <p:cNvSpPr>
            <a:spLocks noGrp="1"/>
          </p:cNvSpPr>
          <p:nvPr>
            <p:ph type="sldNum" sz="quarter" idx="12"/>
          </p:nvPr>
        </p:nvSpPr>
        <p:spPr/>
        <p:txBody>
          <a:bodyPr/>
          <a:lstStyle/>
          <a:p>
            <a:pPr algn="r"/>
            <a:fld id="{250292FE-8D56-4E3A-9427-CB428FF60A53}" type="slidenum">
              <a:rPr lang="pt-BR" b="1" smtClean="0"/>
              <a:pPr algn="r"/>
              <a:t>17</a:t>
            </a:fld>
            <a:endParaRPr lang="pt-BR" b="1" dirty="0"/>
          </a:p>
        </p:txBody>
      </p:sp>
      <p:sp>
        <p:nvSpPr>
          <p:cNvPr id="13" name="Título 12">
            <a:extLst>
              <a:ext uri="{FF2B5EF4-FFF2-40B4-BE49-F238E27FC236}">
                <a16:creationId xmlns:a16="http://schemas.microsoft.com/office/drawing/2014/main" id="{C2854088-D198-919D-080A-05FA2518FF93}"/>
              </a:ext>
            </a:extLst>
          </p:cNvPr>
          <p:cNvSpPr txBox="1">
            <a:spLocks noGrp="1"/>
          </p:cNvSpPr>
          <p:nvPr>
            <p:ph type="title"/>
          </p:nvPr>
        </p:nvSpPr>
        <p:spPr>
          <a:xfrm>
            <a:off x="2005013" y="506810"/>
            <a:ext cx="9863137" cy="705642"/>
          </a:xfrm>
          <a:prstGeom prst="rect">
            <a:avLst/>
          </a:prstGeom>
          <a:noFill/>
        </p:spPr>
        <p:txBody>
          <a:bodyPr wrap="square">
            <a:spAutoFit/>
          </a:bodyPr>
          <a:lstStyle/>
          <a:p>
            <a:pPr algn="ctr"/>
            <a:r>
              <a:rPr lang="pt-BR" b="1" i="1" dirty="0"/>
              <a:t>Observações importantes</a:t>
            </a:r>
          </a:p>
        </p:txBody>
      </p:sp>
      <p:sp>
        <p:nvSpPr>
          <p:cNvPr id="14" name="Rectangle 1">
            <a:extLst>
              <a:ext uri="{FF2B5EF4-FFF2-40B4-BE49-F238E27FC236}">
                <a16:creationId xmlns:a16="http://schemas.microsoft.com/office/drawing/2014/main" id="{70F0FDEA-B79E-8926-2D27-766F383A34A5}"/>
              </a:ext>
            </a:extLst>
          </p:cNvPr>
          <p:cNvSpPr>
            <a:spLocks noChangeArrowheads="1"/>
          </p:cNvSpPr>
          <p:nvPr/>
        </p:nvSpPr>
        <p:spPr bwMode="auto">
          <a:xfrm>
            <a:off x="20065" y="1437237"/>
            <a:ext cx="1238148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pt-BR" altLang="pt-BR" sz="2200" b="1" i="0" u="none" strike="noStrike" cap="none" normalizeH="0" baseline="0" dirty="0">
                <a:ln>
                  <a:noFill/>
                </a:ln>
                <a:solidFill>
                  <a:schemeClr val="tx1"/>
                </a:solidFill>
                <a:effectLst/>
                <a:latin typeface="Arial" panose="020B0604020202020204" pitchFamily="34" charset="0"/>
              </a:rPr>
              <a:t> Arquivos “</a:t>
            </a:r>
            <a:r>
              <a:rPr kumimoji="0" lang="pt-BR" altLang="pt-BR" sz="2200" b="1" i="0" u="none" strike="noStrike" cap="none" normalizeH="0" baseline="0" dirty="0">
                <a:ln>
                  <a:noFill/>
                </a:ln>
                <a:solidFill>
                  <a:schemeClr val="tx1"/>
                </a:solidFill>
                <a:effectLst/>
                <a:latin typeface="Arial Unicode MS" panose="020B0604020202020204" pitchFamily="34" charset="-128"/>
              </a:rPr>
              <a:t>.</a:t>
            </a:r>
            <a:r>
              <a:rPr kumimoji="0" lang="pt-BR" altLang="pt-BR" sz="2200" b="1" i="0" u="none" strike="noStrike" cap="none" normalizeH="0" baseline="0" dirty="0" err="1">
                <a:ln>
                  <a:noFill/>
                </a:ln>
                <a:solidFill>
                  <a:schemeClr val="tx1"/>
                </a:solidFill>
                <a:effectLst/>
                <a:latin typeface="Arial Unicode MS" panose="020B0604020202020204" pitchFamily="34" charset="-128"/>
              </a:rPr>
              <a:t>pkl</a:t>
            </a:r>
            <a:r>
              <a:rPr kumimoji="0" lang="pt-BR" altLang="pt-BR" sz="2200" b="1" i="0" u="none" strike="noStrike" cap="none" normalizeH="0" baseline="0" dirty="0">
                <a:ln>
                  <a:noFill/>
                </a:ln>
                <a:solidFill>
                  <a:schemeClr val="tx1"/>
                </a:solidFill>
                <a:effectLst/>
                <a:latin typeface="Arial Unicode MS" panose="020B0604020202020204" pitchFamily="34" charset="-128"/>
              </a:rPr>
              <a:t>”</a:t>
            </a:r>
            <a:r>
              <a:rPr kumimoji="0" lang="pt-BR" altLang="pt-BR" sz="2200" b="1" i="0" u="none" strike="noStrike" cap="none" normalizeH="0" baseline="0" dirty="0">
                <a:ln>
                  <a:noFill/>
                </a:ln>
                <a:solidFill>
                  <a:schemeClr val="tx1"/>
                </a:solidFill>
                <a:effectLst/>
              </a:rPr>
              <a:t> são </a:t>
            </a:r>
            <a:r>
              <a:rPr kumimoji="0" lang="pt-BR" altLang="pt-BR" sz="2200" b="1" i="0" u="none" strike="noStrike" cap="none" normalizeH="0" baseline="0" dirty="0">
                <a:ln>
                  <a:noFill/>
                </a:ln>
                <a:solidFill>
                  <a:schemeClr val="tx1"/>
                </a:solidFill>
                <a:effectLst/>
                <a:latin typeface="Arial" panose="020B0604020202020204" pitchFamily="34" charset="0"/>
              </a:rPr>
              <a:t>binários, não abra com o bloco de notas.</a:t>
            </a:r>
          </a:p>
          <a:p>
            <a:pPr marL="0" marR="0" lvl="0" indent="0" algn="l" defTabSz="914400" rtl="0" eaLnBrk="0" fontAlgn="base" latinLnBrk="0" hangingPunct="0">
              <a:lnSpc>
                <a:spcPct val="100000"/>
              </a:lnSpc>
              <a:spcBef>
                <a:spcPct val="0"/>
              </a:spcBef>
              <a:spcAft>
                <a:spcPct val="0"/>
              </a:spcAft>
              <a:buClrTx/>
              <a:buSzTx/>
              <a:tabLst/>
            </a:pPr>
            <a:endParaRPr kumimoji="0" lang="pt-BR" altLang="pt-BR" sz="2200" b="1" i="0" u="none" strike="noStrike" cap="none" normalizeH="0" baseline="0" dirty="0">
              <a:ln>
                <a:noFill/>
              </a:ln>
              <a:solidFill>
                <a:schemeClr val="tx1"/>
              </a:solidFill>
              <a:effectLst/>
              <a:latin typeface="Arial" panose="020B0604020202020204" pitchFamily="34" charset="0"/>
            </a:endParaRPr>
          </a:p>
          <a:p>
            <a:pPr marL="185738" marR="0" lvl="0" indent="-185738" algn="l" defTabSz="914400" rtl="0" eaLnBrk="0" fontAlgn="base" latinLnBrk="0" hangingPunct="0">
              <a:lnSpc>
                <a:spcPct val="100000"/>
              </a:lnSpc>
              <a:spcBef>
                <a:spcPct val="0"/>
              </a:spcBef>
              <a:spcAft>
                <a:spcPct val="0"/>
              </a:spcAft>
              <a:buClrTx/>
              <a:buSzTx/>
              <a:buFontTx/>
              <a:buChar char="•"/>
              <a:tabLst/>
            </a:pPr>
            <a:r>
              <a:rPr kumimoji="0" lang="pt-BR" altLang="pt-BR" sz="2200" b="1" i="0" u="none" strike="noStrike" cap="none" normalizeH="0" baseline="0" dirty="0">
                <a:ln>
                  <a:noFill/>
                </a:ln>
                <a:solidFill>
                  <a:schemeClr val="tx1"/>
                </a:solidFill>
                <a:effectLst/>
                <a:latin typeface="Arial" panose="020B0604020202020204" pitchFamily="34" charset="0"/>
              </a:rPr>
              <a:t>Não use </a:t>
            </a:r>
            <a:r>
              <a:rPr kumimoji="0" lang="pt-BR" altLang="pt-BR" sz="2200" b="1" i="0" u="none" strike="noStrike" cap="none" normalizeH="0" baseline="0" dirty="0">
                <a:ln>
                  <a:noFill/>
                </a:ln>
                <a:solidFill>
                  <a:schemeClr val="tx1"/>
                </a:solidFill>
                <a:effectLst/>
                <a:latin typeface="Arial Unicode MS" panose="020B0604020202020204" pitchFamily="34" charset="-128"/>
              </a:rPr>
              <a:t>pickle</a:t>
            </a:r>
            <a:r>
              <a:rPr kumimoji="0" lang="pt-BR" altLang="pt-BR" sz="2200" b="1" i="0" u="none" strike="noStrike" cap="none" normalizeH="0" baseline="0" dirty="0">
                <a:ln>
                  <a:noFill/>
                </a:ln>
                <a:solidFill>
                  <a:schemeClr val="tx1"/>
                </a:solidFill>
                <a:effectLst/>
              </a:rPr>
              <a:t> para dados vindos de fontes desconhecidas</a:t>
            </a:r>
            <a:r>
              <a:rPr kumimoji="0" lang="pt-BR" altLang="pt-BR" sz="2200" b="1" i="0" u="none" strike="noStrike" cap="none" normalizeH="0" baseline="0" dirty="0">
                <a:ln>
                  <a:noFill/>
                </a:ln>
                <a:solidFill>
                  <a:schemeClr val="tx1"/>
                </a:solidFill>
                <a:effectLst/>
                <a:latin typeface="Arial" panose="020B0604020202020204" pitchFamily="34" charset="0"/>
              </a:rPr>
              <a:t> — ele pode executar código malicioso.</a:t>
            </a:r>
          </a:p>
          <a:p>
            <a:pPr marL="0" marR="0" lvl="0" indent="0" algn="l" defTabSz="914400" rtl="0" eaLnBrk="0" fontAlgn="base" latinLnBrk="0" hangingPunct="0">
              <a:lnSpc>
                <a:spcPct val="100000"/>
              </a:lnSpc>
              <a:spcBef>
                <a:spcPct val="0"/>
              </a:spcBef>
              <a:spcAft>
                <a:spcPct val="0"/>
              </a:spcAft>
              <a:buClrTx/>
              <a:buSzTx/>
              <a:tabLst/>
            </a:pPr>
            <a:endParaRPr kumimoji="0" lang="pt-BR" altLang="pt-BR" sz="2200" b="1" i="0" u="none" strike="noStrike" cap="none" normalizeH="0" baseline="0" dirty="0">
              <a:ln>
                <a:noFill/>
              </a:ln>
              <a:solidFill>
                <a:schemeClr val="tx1"/>
              </a:solidFill>
              <a:effectLst/>
              <a:latin typeface="Arial" panose="020B0604020202020204" pitchFamily="34" charset="0"/>
            </a:endParaRPr>
          </a:p>
          <a:p>
            <a:pPr marL="185738" marR="0" lvl="0" indent="-185738" algn="l" defTabSz="914400" rtl="0" eaLnBrk="0" fontAlgn="base" latinLnBrk="0" hangingPunct="0">
              <a:lnSpc>
                <a:spcPct val="100000"/>
              </a:lnSpc>
              <a:spcBef>
                <a:spcPct val="0"/>
              </a:spcBef>
              <a:spcAft>
                <a:spcPct val="0"/>
              </a:spcAft>
              <a:buClrTx/>
              <a:buSzTx/>
              <a:buFontTx/>
              <a:buChar char="•"/>
              <a:tabLst/>
            </a:pPr>
            <a:r>
              <a:rPr kumimoji="0" lang="pt-BR" altLang="pt-BR" sz="2200" b="1" i="0" u="none" strike="noStrike" cap="none" normalizeH="0" baseline="0" dirty="0">
                <a:ln>
                  <a:noFill/>
                </a:ln>
                <a:solidFill>
                  <a:schemeClr val="tx1"/>
                </a:solidFill>
                <a:effectLst/>
                <a:latin typeface="Arial" panose="020B0604020202020204" pitchFamily="34" charset="0"/>
              </a:rPr>
              <a:t> É ótimo para guardar estruturas Python complexas, como listas de objetos, classes, etc.</a:t>
            </a:r>
          </a:p>
        </p:txBody>
      </p:sp>
      <p:sp>
        <p:nvSpPr>
          <p:cNvPr id="16" name="CaixaDeTexto 15">
            <a:extLst>
              <a:ext uri="{FF2B5EF4-FFF2-40B4-BE49-F238E27FC236}">
                <a16:creationId xmlns:a16="http://schemas.microsoft.com/office/drawing/2014/main" id="{5DC5DDED-CE7D-96C3-963A-7F811C488190}"/>
              </a:ext>
            </a:extLst>
          </p:cNvPr>
          <p:cNvSpPr txBox="1"/>
          <p:nvPr/>
        </p:nvSpPr>
        <p:spPr>
          <a:xfrm>
            <a:off x="277250" y="3615582"/>
            <a:ext cx="1890712" cy="430887"/>
          </a:xfrm>
          <a:prstGeom prst="rect">
            <a:avLst/>
          </a:prstGeom>
          <a:noFill/>
        </p:spPr>
        <p:txBody>
          <a:bodyPr wrap="square">
            <a:spAutoFit/>
          </a:bodyPr>
          <a:lstStyle/>
          <a:p>
            <a:r>
              <a:rPr lang="pt-BR" sz="2200" b="1" dirty="0"/>
              <a:t>Resumo final</a:t>
            </a:r>
          </a:p>
        </p:txBody>
      </p:sp>
      <p:graphicFrame>
        <p:nvGraphicFramePr>
          <p:cNvPr id="22" name="Tabela 21">
            <a:extLst>
              <a:ext uri="{FF2B5EF4-FFF2-40B4-BE49-F238E27FC236}">
                <a16:creationId xmlns:a16="http://schemas.microsoft.com/office/drawing/2014/main" id="{CA086FE0-AA5A-9AF6-4F44-F6FBD9662760}"/>
              </a:ext>
            </a:extLst>
          </p:cNvPr>
          <p:cNvGraphicFramePr>
            <a:graphicFrameLocks noGrp="1"/>
          </p:cNvGraphicFramePr>
          <p:nvPr>
            <p:extLst>
              <p:ext uri="{D42A27DB-BD31-4B8C-83A1-F6EECF244321}">
                <p14:modId xmlns:p14="http://schemas.microsoft.com/office/powerpoint/2010/main" val="3637286878"/>
              </p:ext>
            </p:extLst>
          </p:nvPr>
        </p:nvGraphicFramePr>
        <p:xfrm>
          <a:off x="239151" y="4006047"/>
          <a:ext cx="11862581" cy="2133600"/>
        </p:xfrm>
        <a:graphic>
          <a:graphicData uri="http://schemas.openxmlformats.org/drawingml/2006/table">
            <a:tbl>
              <a:tblPr/>
              <a:tblGrid>
                <a:gridCol w="3971763">
                  <a:extLst>
                    <a:ext uri="{9D8B030D-6E8A-4147-A177-3AD203B41FA5}">
                      <a16:colId xmlns:a16="http://schemas.microsoft.com/office/drawing/2014/main" val="3527567136"/>
                    </a:ext>
                  </a:extLst>
                </a:gridCol>
                <a:gridCol w="2257682">
                  <a:extLst>
                    <a:ext uri="{9D8B030D-6E8A-4147-A177-3AD203B41FA5}">
                      <a16:colId xmlns:a16="http://schemas.microsoft.com/office/drawing/2014/main" val="3699841365"/>
                    </a:ext>
                  </a:extLst>
                </a:gridCol>
                <a:gridCol w="5633136">
                  <a:extLst>
                    <a:ext uri="{9D8B030D-6E8A-4147-A177-3AD203B41FA5}">
                      <a16:colId xmlns:a16="http://schemas.microsoft.com/office/drawing/2014/main" val="2405400336"/>
                    </a:ext>
                  </a:extLst>
                </a:gridCol>
              </a:tblGrid>
              <a:tr h="0">
                <a:tc>
                  <a:txBody>
                    <a:bodyPr/>
                    <a:lstStyle/>
                    <a:p>
                      <a:pPr algn="l">
                        <a:buNone/>
                      </a:pPr>
                      <a:r>
                        <a:rPr lang="pt-BR" sz="2200" b="1" dirty="0"/>
                        <a:t>Função</a:t>
                      </a:r>
                    </a:p>
                  </a:txBody>
                  <a:tcPr anchor="ctr">
                    <a:lnL>
                      <a:noFill/>
                    </a:lnL>
                    <a:lnR>
                      <a:noFill/>
                    </a:lnR>
                    <a:lnT>
                      <a:noFill/>
                    </a:lnT>
                    <a:lnB>
                      <a:noFill/>
                    </a:lnB>
                    <a:noFill/>
                  </a:tcPr>
                </a:tc>
                <a:tc>
                  <a:txBody>
                    <a:bodyPr/>
                    <a:lstStyle/>
                    <a:p>
                      <a:pPr algn="l">
                        <a:buNone/>
                      </a:pPr>
                      <a:r>
                        <a:rPr lang="pt-BR" sz="2200" b="1" dirty="0"/>
                        <a:t>Tipo de uso</a:t>
                      </a:r>
                    </a:p>
                  </a:txBody>
                  <a:tcPr anchor="ctr">
                    <a:lnL>
                      <a:noFill/>
                    </a:lnL>
                    <a:lnR>
                      <a:noFill/>
                    </a:lnR>
                    <a:lnT>
                      <a:noFill/>
                    </a:lnT>
                    <a:lnB>
                      <a:noFill/>
                    </a:lnB>
                    <a:noFill/>
                  </a:tcPr>
                </a:tc>
                <a:tc>
                  <a:txBody>
                    <a:bodyPr/>
                    <a:lstStyle/>
                    <a:p>
                      <a:pPr algn="l">
                        <a:buNone/>
                      </a:pPr>
                      <a:r>
                        <a:rPr lang="pt-BR" sz="2200" b="1" dirty="0"/>
                        <a:t>Descrição</a:t>
                      </a:r>
                    </a:p>
                  </a:txBody>
                  <a:tcPr anchor="ctr">
                    <a:lnL>
                      <a:noFill/>
                    </a:lnL>
                    <a:lnR>
                      <a:noFill/>
                    </a:lnR>
                    <a:lnT>
                      <a:noFill/>
                    </a:lnT>
                    <a:lnB>
                      <a:noFill/>
                    </a:lnB>
                    <a:noFill/>
                  </a:tcPr>
                </a:tc>
                <a:extLst>
                  <a:ext uri="{0D108BD9-81ED-4DB2-BD59-A6C34878D82A}">
                    <a16:rowId xmlns:a16="http://schemas.microsoft.com/office/drawing/2014/main" val="4234008614"/>
                  </a:ext>
                </a:extLst>
              </a:tr>
              <a:tr h="0">
                <a:tc>
                  <a:txBody>
                    <a:bodyPr/>
                    <a:lstStyle/>
                    <a:p>
                      <a:pPr algn="l">
                        <a:buNone/>
                      </a:pPr>
                      <a:r>
                        <a:rPr lang="pt-BR" sz="2200" dirty="0" err="1">
                          <a:latin typeface="Courier New" panose="02070309020205020404" pitchFamily="49" charset="0"/>
                        </a:rPr>
                        <a:t>pickle.dump</a:t>
                      </a:r>
                      <a:r>
                        <a:rPr lang="pt-BR" sz="2200" dirty="0">
                          <a:latin typeface="Courier New" panose="02070309020205020404" pitchFamily="49" charset="0"/>
                        </a:rPr>
                        <a:t>(</a:t>
                      </a:r>
                      <a:r>
                        <a:rPr lang="pt-BR" sz="2200" dirty="0" err="1">
                          <a:latin typeface="Courier New" panose="02070309020205020404" pitchFamily="49" charset="0"/>
                        </a:rPr>
                        <a:t>obj</a:t>
                      </a:r>
                      <a:r>
                        <a:rPr lang="pt-BR" sz="2200" dirty="0">
                          <a:latin typeface="Courier New" panose="02070309020205020404" pitchFamily="49" charset="0"/>
                        </a:rPr>
                        <a:t>, file)</a:t>
                      </a:r>
                      <a:endParaRPr lang="pt-BR" sz="2200" dirty="0"/>
                    </a:p>
                  </a:txBody>
                  <a:tcPr anchor="ctr">
                    <a:lnL>
                      <a:noFill/>
                    </a:lnL>
                    <a:lnR>
                      <a:noFill/>
                    </a:lnR>
                    <a:lnT>
                      <a:noFill/>
                    </a:lnT>
                    <a:lnB>
                      <a:noFill/>
                    </a:lnB>
                    <a:noFill/>
                  </a:tcPr>
                </a:tc>
                <a:tc>
                  <a:txBody>
                    <a:bodyPr/>
                    <a:lstStyle/>
                    <a:p>
                      <a:pPr algn="l">
                        <a:buNone/>
                      </a:pPr>
                      <a:r>
                        <a:rPr lang="pt-BR" sz="2200" dirty="0"/>
                        <a:t>Arquivo</a:t>
                      </a:r>
                    </a:p>
                  </a:txBody>
                  <a:tcPr anchor="ctr">
                    <a:lnL>
                      <a:noFill/>
                    </a:lnL>
                    <a:lnR>
                      <a:noFill/>
                    </a:lnR>
                    <a:lnT>
                      <a:noFill/>
                    </a:lnT>
                    <a:lnB>
                      <a:noFill/>
                    </a:lnB>
                    <a:noFill/>
                  </a:tcPr>
                </a:tc>
                <a:tc>
                  <a:txBody>
                    <a:bodyPr/>
                    <a:lstStyle/>
                    <a:p>
                      <a:pPr algn="l">
                        <a:buNone/>
                      </a:pPr>
                      <a:r>
                        <a:rPr lang="pt-BR" sz="2200" dirty="0"/>
                        <a:t>Salva </a:t>
                      </a:r>
                      <a:r>
                        <a:rPr lang="pt-BR" sz="2200" dirty="0" err="1">
                          <a:latin typeface="Courier New" panose="02070309020205020404" pitchFamily="49" charset="0"/>
                        </a:rPr>
                        <a:t>obj</a:t>
                      </a:r>
                      <a:r>
                        <a:rPr lang="pt-BR" sz="2200" dirty="0"/>
                        <a:t> em um arquivo binário</a:t>
                      </a:r>
                    </a:p>
                  </a:txBody>
                  <a:tcPr anchor="ctr">
                    <a:lnL>
                      <a:noFill/>
                    </a:lnL>
                    <a:lnR>
                      <a:noFill/>
                    </a:lnR>
                    <a:lnT>
                      <a:noFill/>
                    </a:lnT>
                    <a:lnB>
                      <a:noFill/>
                    </a:lnB>
                    <a:noFill/>
                  </a:tcPr>
                </a:tc>
                <a:extLst>
                  <a:ext uri="{0D108BD9-81ED-4DB2-BD59-A6C34878D82A}">
                    <a16:rowId xmlns:a16="http://schemas.microsoft.com/office/drawing/2014/main" val="3751182901"/>
                  </a:ext>
                </a:extLst>
              </a:tr>
              <a:tr h="0">
                <a:tc>
                  <a:txBody>
                    <a:bodyPr/>
                    <a:lstStyle/>
                    <a:p>
                      <a:pPr algn="l">
                        <a:buNone/>
                      </a:pPr>
                      <a:r>
                        <a:rPr lang="pt-BR" sz="2200" dirty="0" err="1">
                          <a:latin typeface="Courier New" panose="02070309020205020404" pitchFamily="49" charset="0"/>
                        </a:rPr>
                        <a:t>pickle.dumps</a:t>
                      </a:r>
                      <a:r>
                        <a:rPr lang="pt-BR" sz="2200" dirty="0">
                          <a:latin typeface="Courier New" panose="02070309020205020404" pitchFamily="49" charset="0"/>
                        </a:rPr>
                        <a:t>(</a:t>
                      </a:r>
                      <a:r>
                        <a:rPr lang="pt-BR" sz="2200" dirty="0" err="1">
                          <a:latin typeface="Courier New" panose="02070309020205020404" pitchFamily="49" charset="0"/>
                        </a:rPr>
                        <a:t>obj</a:t>
                      </a:r>
                      <a:r>
                        <a:rPr lang="pt-BR" sz="2200" dirty="0">
                          <a:latin typeface="Courier New" panose="02070309020205020404" pitchFamily="49" charset="0"/>
                        </a:rPr>
                        <a:t>)</a:t>
                      </a:r>
                      <a:endParaRPr lang="pt-BR" sz="2200" dirty="0"/>
                    </a:p>
                  </a:txBody>
                  <a:tcPr anchor="ctr">
                    <a:lnL>
                      <a:noFill/>
                    </a:lnL>
                    <a:lnR>
                      <a:noFill/>
                    </a:lnR>
                    <a:lnT>
                      <a:noFill/>
                    </a:lnT>
                    <a:lnB>
                      <a:noFill/>
                    </a:lnB>
                    <a:noFill/>
                  </a:tcPr>
                </a:tc>
                <a:tc>
                  <a:txBody>
                    <a:bodyPr/>
                    <a:lstStyle/>
                    <a:p>
                      <a:pPr algn="l">
                        <a:buNone/>
                      </a:pPr>
                      <a:r>
                        <a:rPr lang="pt-BR" sz="2200"/>
                        <a:t>Bytes</a:t>
                      </a:r>
                    </a:p>
                  </a:txBody>
                  <a:tcPr anchor="ctr">
                    <a:lnL>
                      <a:noFill/>
                    </a:lnL>
                    <a:lnR>
                      <a:noFill/>
                    </a:lnR>
                    <a:lnT>
                      <a:noFill/>
                    </a:lnT>
                    <a:lnB>
                      <a:noFill/>
                    </a:lnB>
                    <a:noFill/>
                  </a:tcPr>
                </a:tc>
                <a:tc>
                  <a:txBody>
                    <a:bodyPr/>
                    <a:lstStyle/>
                    <a:p>
                      <a:pPr algn="l">
                        <a:buNone/>
                      </a:pPr>
                      <a:r>
                        <a:rPr lang="pt-BR" sz="2200"/>
                        <a:t>Converte </a:t>
                      </a:r>
                      <a:r>
                        <a:rPr lang="pt-BR" sz="2200">
                          <a:latin typeface="Courier New" panose="02070309020205020404" pitchFamily="49" charset="0"/>
                        </a:rPr>
                        <a:t>obj</a:t>
                      </a:r>
                      <a:r>
                        <a:rPr lang="pt-BR" sz="2200"/>
                        <a:t> em sequência de bytes</a:t>
                      </a:r>
                    </a:p>
                  </a:txBody>
                  <a:tcPr anchor="ctr">
                    <a:lnL>
                      <a:noFill/>
                    </a:lnL>
                    <a:lnR>
                      <a:noFill/>
                    </a:lnR>
                    <a:lnT>
                      <a:noFill/>
                    </a:lnT>
                    <a:lnB>
                      <a:noFill/>
                    </a:lnB>
                    <a:noFill/>
                  </a:tcPr>
                </a:tc>
                <a:extLst>
                  <a:ext uri="{0D108BD9-81ED-4DB2-BD59-A6C34878D82A}">
                    <a16:rowId xmlns:a16="http://schemas.microsoft.com/office/drawing/2014/main" val="477384588"/>
                  </a:ext>
                </a:extLst>
              </a:tr>
              <a:tr h="0">
                <a:tc>
                  <a:txBody>
                    <a:bodyPr/>
                    <a:lstStyle/>
                    <a:p>
                      <a:pPr algn="l">
                        <a:buNone/>
                      </a:pPr>
                      <a:r>
                        <a:rPr lang="pt-BR" sz="2200" dirty="0" err="1">
                          <a:latin typeface="Courier New" panose="02070309020205020404" pitchFamily="49" charset="0"/>
                        </a:rPr>
                        <a:t>pickle.load</a:t>
                      </a:r>
                      <a:r>
                        <a:rPr lang="pt-BR" sz="2200" dirty="0">
                          <a:latin typeface="Courier New" panose="02070309020205020404" pitchFamily="49" charset="0"/>
                        </a:rPr>
                        <a:t>(file)</a:t>
                      </a:r>
                      <a:endParaRPr lang="pt-BR" sz="2200" dirty="0"/>
                    </a:p>
                  </a:txBody>
                  <a:tcPr anchor="ctr">
                    <a:lnL>
                      <a:noFill/>
                    </a:lnL>
                    <a:lnR>
                      <a:noFill/>
                    </a:lnR>
                    <a:lnT>
                      <a:noFill/>
                    </a:lnT>
                    <a:lnB>
                      <a:noFill/>
                    </a:lnB>
                    <a:noFill/>
                  </a:tcPr>
                </a:tc>
                <a:tc>
                  <a:txBody>
                    <a:bodyPr/>
                    <a:lstStyle/>
                    <a:p>
                      <a:pPr algn="l">
                        <a:buNone/>
                      </a:pPr>
                      <a:r>
                        <a:rPr lang="pt-BR" sz="2200"/>
                        <a:t>Arquivo</a:t>
                      </a:r>
                    </a:p>
                  </a:txBody>
                  <a:tcPr anchor="ctr">
                    <a:lnL>
                      <a:noFill/>
                    </a:lnL>
                    <a:lnR>
                      <a:noFill/>
                    </a:lnR>
                    <a:lnT>
                      <a:noFill/>
                    </a:lnT>
                    <a:lnB>
                      <a:noFill/>
                    </a:lnB>
                    <a:noFill/>
                  </a:tcPr>
                </a:tc>
                <a:tc>
                  <a:txBody>
                    <a:bodyPr/>
                    <a:lstStyle/>
                    <a:p>
                      <a:pPr algn="l">
                        <a:buNone/>
                      </a:pPr>
                      <a:r>
                        <a:rPr lang="pt-BR" sz="2200"/>
                        <a:t>Lê e reconstrói o objeto de um arquivo</a:t>
                      </a:r>
                    </a:p>
                  </a:txBody>
                  <a:tcPr anchor="ctr">
                    <a:lnL>
                      <a:noFill/>
                    </a:lnL>
                    <a:lnR>
                      <a:noFill/>
                    </a:lnR>
                    <a:lnT>
                      <a:noFill/>
                    </a:lnT>
                    <a:lnB>
                      <a:noFill/>
                    </a:lnB>
                    <a:noFill/>
                  </a:tcPr>
                </a:tc>
                <a:extLst>
                  <a:ext uri="{0D108BD9-81ED-4DB2-BD59-A6C34878D82A}">
                    <a16:rowId xmlns:a16="http://schemas.microsoft.com/office/drawing/2014/main" val="1956081985"/>
                  </a:ext>
                </a:extLst>
              </a:tr>
              <a:tr h="0">
                <a:tc>
                  <a:txBody>
                    <a:bodyPr/>
                    <a:lstStyle/>
                    <a:p>
                      <a:pPr algn="l">
                        <a:buNone/>
                      </a:pPr>
                      <a:r>
                        <a:rPr lang="pt-BR" sz="2200" dirty="0" err="1">
                          <a:latin typeface="Courier New" panose="02070309020205020404" pitchFamily="49" charset="0"/>
                        </a:rPr>
                        <a:t>pickle.loads</a:t>
                      </a:r>
                      <a:r>
                        <a:rPr lang="pt-BR" sz="2200" dirty="0">
                          <a:latin typeface="Courier New" panose="02070309020205020404" pitchFamily="49" charset="0"/>
                        </a:rPr>
                        <a:t>(bytes)</a:t>
                      </a:r>
                      <a:endParaRPr lang="pt-BR" sz="2200" dirty="0"/>
                    </a:p>
                  </a:txBody>
                  <a:tcPr anchor="ctr">
                    <a:lnL>
                      <a:noFill/>
                    </a:lnL>
                    <a:lnR>
                      <a:noFill/>
                    </a:lnR>
                    <a:lnT>
                      <a:noFill/>
                    </a:lnT>
                    <a:lnB>
                      <a:noFill/>
                    </a:lnB>
                    <a:noFill/>
                  </a:tcPr>
                </a:tc>
                <a:tc>
                  <a:txBody>
                    <a:bodyPr/>
                    <a:lstStyle/>
                    <a:p>
                      <a:pPr algn="l">
                        <a:buNone/>
                      </a:pPr>
                      <a:r>
                        <a:rPr lang="pt-BR" sz="2200" dirty="0"/>
                        <a:t>Bytes</a:t>
                      </a:r>
                    </a:p>
                  </a:txBody>
                  <a:tcPr anchor="ctr">
                    <a:lnL>
                      <a:noFill/>
                    </a:lnL>
                    <a:lnR>
                      <a:noFill/>
                    </a:lnR>
                    <a:lnT>
                      <a:noFill/>
                    </a:lnT>
                    <a:lnB>
                      <a:noFill/>
                    </a:lnB>
                    <a:noFill/>
                  </a:tcPr>
                </a:tc>
                <a:tc>
                  <a:txBody>
                    <a:bodyPr/>
                    <a:lstStyle/>
                    <a:p>
                      <a:pPr algn="l">
                        <a:buNone/>
                      </a:pPr>
                      <a:r>
                        <a:rPr lang="pt-BR" sz="2200" dirty="0"/>
                        <a:t>Lê e reconstrói o objeto a partir de bytes</a:t>
                      </a:r>
                    </a:p>
                  </a:txBody>
                  <a:tcPr anchor="ctr">
                    <a:lnL>
                      <a:noFill/>
                    </a:lnL>
                    <a:lnR>
                      <a:noFill/>
                    </a:lnR>
                    <a:lnT>
                      <a:noFill/>
                    </a:lnT>
                    <a:lnB>
                      <a:noFill/>
                    </a:lnB>
                    <a:noFill/>
                  </a:tcPr>
                </a:tc>
                <a:extLst>
                  <a:ext uri="{0D108BD9-81ED-4DB2-BD59-A6C34878D82A}">
                    <a16:rowId xmlns:a16="http://schemas.microsoft.com/office/drawing/2014/main" val="3886116245"/>
                  </a:ext>
                </a:extLst>
              </a:tr>
            </a:tbl>
          </a:graphicData>
        </a:graphic>
      </p:graphicFrame>
    </p:spTree>
    <p:extLst>
      <p:ext uri="{BB962C8B-B14F-4D97-AF65-F5344CB8AC3E}">
        <p14:creationId xmlns:p14="http://schemas.microsoft.com/office/powerpoint/2010/main" val="4628222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366EDF2-382A-FE6E-5423-F99F2B097C1E}"/>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559AF5C1-261C-8ADE-0405-087B1A76858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5A398CF-E9A7-5EEB-554F-577394440238}"/>
              </a:ext>
            </a:extLst>
          </p:cNvPr>
          <p:cNvSpPr>
            <a:spLocks noGrp="1"/>
          </p:cNvSpPr>
          <p:nvPr>
            <p:ph type="sldNum" sz="quarter" idx="12"/>
          </p:nvPr>
        </p:nvSpPr>
        <p:spPr/>
        <p:txBody>
          <a:bodyPr/>
          <a:lstStyle/>
          <a:p>
            <a:pPr algn="r"/>
            <a:fld id="{250292FE-8D56-4E3A-9427-CB428FF60A53}" type="slidenum">
              <a:rPr lang="pt-BR" b="1" smtClean="0"/>
              <a:pPr algn="r"/>
              <a:t>18</a:t>
            </a:fld>
            <a:endParaRPr lang="pt-BR" b="1" dirty="0"/>
          </a:p>
        </p:txBody>
      </p:sp>
      <p:sp>
        <p:nvSpPr>
          <p:cNvPr id="5" name="Título 4">
            <a:extLst>
              <a:ext uri="{FF2B5EF4-FFF2-40B4-BE49-F238E27FC236}">
                <a16:creationId xmlns:a16="http://schemas.microsoft.com/office/drawing/2014/main" id="{20EB4B19-407A-A240-D2AB-BFC86C0D8599}"/>
              </a:ext>
            </a:extLst>
          </p:cNvPr>
          <p:cNvSpPr>
            <a:spLocks noGrp="1"/>
          </p:cNvSpPr>
          <p:nvPr>
            <p:ph type="title"/>
          </p:nvPr>
        </p:nvSpPr>
        <p:spPr/>
        <p:txBody>
          <a:bodyPr>
            <a:normAutofit fontScale="90000"/>
          </a:bodyPr>
          <a:lstStyle/>
          <a:p>
            <a:pPr algn="ctr"/>
            <a:r>
              <a:rPr lang="pt-BR" b="1" i="1" dirty="0"/>
              <a:t>Salvando uma lista de dicionários com pickle</a:t>
            </a:r>
          </a:p>
        </p:txBody>
      </p:sp>
      <p:sp>
        <p:nvSpPr>
          <p:cNvPr id="7" name="CaixaDeTexto 6">
            <a:extLst>
              <a:ext uri="{FF2B5EF4-FFF2-40B4-BE49-F238E27FC236}">
                <a16:creationId xmlns:a16="http://schemas.microsoft.com/office/drawing/2014/main" id="{F1137DDC-9C15-BF7C-41C2-8949E384F4D3}"/>
              </a:ext>
            </a:extLst>
          </p:cNvPr>
          <p:cNvSpPr txBox="1"/>
          <p:nvPr/>
        </p:nvSpPr>
        <p:spPr>
          <a:xfrm>
            <a:off x="317890" y="1542958"/>
            <a:ext cx="11363900" cy="707886"/>
          </a:xfrm>
          <a:prstGeom prst="rect">
            <a:avLst/>
          </a:prstGeom>
          <a:noFill/>
        </p:spPr>
        <p:txBody>
          <a:bodyPr wrap="square">
            <a:spAutoFit/>
          </a:bodyPr>
          <a:lstStyle/>
          <a:p>
            <a:pPr>
              <a:buNone/>
            </a:pPr>
            <a:r>
              <a:rPr lang="pt-BR" sz="2000" b="1" dirty="0"/>
              <a:t>Um exemplo realista do módulo </a:t>
            </a:r>
            <a:r>
              <a:rPr lang="pt-BR" sz="2000" b="1" dirty="0">
                <a:latin typeface="Courier New" panose="02070309020205020404" pitchFamily="49" charset="0"/>
              </a:rPr>
              <a:t>pickle</a:t>
            </a:r>
            <a:r>
              <a:rPr lang="pt-BR" sz="2000" dirty="0"/>
              <a:t>, salvando e lendo </a:t>
            </a:r>
            <a:r>
              <a:rPr lang="pt-BR" sz="2000" b="1" dirty="0"/>
              <a:t>uma lista de dicionários</a:t>
            </a:r>
            <a:r>
              <a:rPr lang="pt-BR" sz="2000" dirty="0"/>
              <a:t> e também </a:t>
            </a:r>
            <a:r>
              <a:rPr lang="pt-BR" sz="2000" b="1" dirty="0"/>
              <a:t>um objeto de classe</a:t>
            </a:r>
            <a:r>
              <a:rPr lang="pt-BR" sz="2000" dirty="0"/>
              <a:t>. Esses são casos muito comuns na prática.</a:t>
            </a:r>
          </a:p>
        </p:txBody>
      </p:sp>
      <p:sp>
        <p:nvSpPr>
          <p:cNvPr id="9" name="CaixaDeTexto 8">
            <a:extLst>
              <a:ext uri="{FF2B5EF4-FFF2-40B4-BE49-F238E27FC236}">
                <a16:creationId xmlns:a16="http://schemas.microsoft.com/office/drawing/2014/main" id="{C01E142A-672A-3D38-543D-AC6211DB0B68}"/>
              </a:ext>
            </a:extLst>
          </p:cNvPr>
          <p:cNvSpPr txBox="1"/>
          <p:nvPr/>
        </p:nvSpPr>
        <p:spPr>
          <a:xfrm>
            <a:off x="324467" y="2245558"/>
            <a:ext cx="5333384" cy="3970318"/>
          </a:xfrm>
          <a:prstGeom prst="rect">
            <a:avLst/>
          </a:prstGeom>
          <a:noFill/>
        </p:spPr>
        <p:txBody>
          <a:bodyPr wrap="square">
            <a:spAutoFit/>
          </a:bodyPr>
          <a:lstStyle/>
          <a:p>
            <a:r>
              <a:rPr lang="pt-BR" dirty="0" err="1"/>
              <a:t>import</a:t>
            </a:r>
            <a:r>
              <a:rPr lang="pt-BR" dirty="0"/>
              <a:t> pickle</a:t>
            </a:r>
          </a:p>
          <a:p>
            <a:endParaRPr lang="pt-BR" dirty="0"/>
          </a:p>
          <a:p>
            <a:r>
              <a:rPr lang="pt-BR" dirty="0"/>
              <a:t># Lista de dicionários (exemplo de alunos)</a:t>
            </a:r>
          </a:p>
          <a:p>
            <a:r>
              <a:rPr lang="pt-BR" dirty="0"/>
              <a:t>alunos = [</a:t>
            </a:r>
          </a:p>
          <a:p>
            <a:r>
              <a:rPr lang="pt-BR" dirty="0"/>
              <a:t>    {"nome": "Ana", "nota": 9.0},</a:t>
            </a:r>
          </a:p>
          <a:p>
            <a:r>
              <a:rPr lang="pt-BR" dirty="0"/>
              <a:t>    {"nome": "Bruno", "nota": 7.5},</a:t>
            </a:r>
          </a:p>
          <a:p>
            <a:r>
              <a:rPr lang="pt-BR" dirty="0"/>
              <a:t>    {"nome": "Clara", "nota": 8.3} ]</a:t>
            </a:r>
          </a:p>
          <a:p>
            <a:endParaRPr lang="pt-BR" dirty="0"/>
          </a:p>
          <a:p>
            <a:r>
              <a:rPr lang="pt-BR" dirty="0"/>
              <a:t># --- SALVAR EM ARQUIVO BINÁRIO ---</a:t>
            </a:r>
          </a:p>
          <a:p>
            <a:r>
              <a:rPr lang="pt-BR" dirty="0"/>
              <a:t>with open("</a:t>
            </a:r>
            <a:r>
              <a:rPr lang="pt-BR" dirty="0" err="1"/>
              <a:t>alunos.pkl</a:t>
            </a:r>
            <a:r>
              <a:rPr lang="pt-BR" dirty="0"/>
              <a:t>", "</a:t>
            </a:r>
            <a:r>
              <a:rPr lang="pt-BR" dirty="0" err="1"/>
              <a:t>wb</a:t>
            </a:r>
            <a:r>
              <a:rPr lang="pt-BR" dirty="0"/>
              <a:t>") as arquivo:</a:t>
            </a:r>
          </a:p>
          <a:p>
            <a:r>
              <a:rPr lang="pt-BR" dirty="0"/>
              <a:t>    </a:t>
            </a:r>
            <a:r>
              <a:rPr lang="pt-BR" dirty="0" err="1"/>
              <a:t>pickle.dump</a:t>
            </a:r>
            <a:r>
              <a:rPr lang="pt-BR" dirty="0"/>
              <a:t>(alunos, arquivo)</a:t>
            </a:r>
          </a:p>
          <a:p>
            <a:endParaRPr lang="pt-BR" dirty="0"/>
          </a:p>
          <a:p>
            <a:r>
              <a:rPr lang="pt-BR" dirty="0"/>
              <a:t>print("Lista de alunos salva com sucesso!")</a:t>
            </a:r>
          </a:p>
          <a:p>
            <a:endParaRPr lang="pt-BR" dirty="0"/>
          </a:p>
        </p:txBody>
      </p:sp>
      <p:sp>
        <p:nvSpPr>
          <p:cNvPr id="11" name="CaixaDeTexto 10">
            <a:extLst>
              <a:ext uri="{FF2B5EF4-FFF2-40B4-BE49-F238E27FC236}">
                <a16:creationId xmlns:a16="http://schemas.microsoft.com/office/drawing/2014/main" id="{5AEEBBD1-807C-711F-9895-063599D346EE}"/>
              </a:ext>
            </a:extLst>
          </p:cNvPr>
          <p:cNvSpPr txBox="1"/>
          <p:nvPr/>
        </p:nvSpPr>
        <p:spPr>
          <a:xfrm>
            <a:off x="5859231" y="2325162"/>
            <a:ext cx="5220249" cy="2031325"/>
          </a:xfrm>
          <a:prstGeom prst="rect">
            <a:avLst/>
          </a:prstGeom>
          <a:noFill/>
        </p:spPr>
        <p:txBody>
          <a:bodyPr wrap="square">
            <a:spAutoFit/>
          </a:bodyPr>
          <a:lstStyle/>
          <a:p>
            <a:r>
              <a:rPr lang="pt-BR" dirty="0"/>
              <a:t># --- LER DO ARQUIVO BINÁRIO ---</a:t>
            </a:r>
          </a:p>
          <a:p>
            <a:r>
              <a:rPr lang="pt-BR" dirty="0"/>
              <a:t>with open("</a:t>
            </a:r>
            <a:r>
              <a:rPr lang="pt-BR" dirty="0" err="1"/>
              <a:t>alunos.pkl</a:t>
            </a:r>
            <a:r>
              <a:rPr lang="pt-BR" dirty="0"/>
              <a:t>", "</a:t>
            </a:r>
            <a:r>
              <a:rPr lang="pt-BR" dirty="0" err="1"/>
              <a:t>rb</a:t>
            </a:r>
            <a:r>
              <a:rPr lang="pt-BR" dirty="0"/>
              <a:t>") as arquivo:</a:t>
            </a:r>
          </a:p>
          <a:p>
            <a:r>
              <a:rPr lang="pt-BR" dirty="0"/>
              <a:t>    </a:t>
            </a:r>
            <a:r>
              <a:rPr lang="pt-BR" dirty="0" err="1"/>
              <a:t>lista_carregada</a:t>
            </a:r>
            <a:r>
              <a:rPr lang="pt-BR" dirty="0"/>
              <a:t> = </a:t>
            </a:r>
            <a:r>
              <a:rPr lang="pt-BR" dirty="0" err="1"/>
              <a:t>pickle.load</a:t>
            </a:r>
            <a:r>
              <a:rPr lang="pt-BR" dirty="0"/>
              <a:t>(arquivo)</a:t>
            </a:r>
          </a:p>
          <a:p>
            <a:endParaRPr lang="pt-BR" dirty="0"/>
          </a:p>
          <a:p>
            <a:r>
              <a:rPr lang="pt-BR" dirty="0"/>
              <a:t>print("\</a:t>
            </a:r>
            <a:r>
              <a:rPr lang="pt-BR" dirty="0" err="1"/>
              <a:t>nLista</a:t>
            </a:r>
            <a:r>
              <a:rPr lang="pt-BR" dirty="0"/>
              <a:t> carregada do arquivo:")</a:t>
            </a:r>
          </a:p>
          <a:p>
            <a:r>
              <a:rPr lang="pt-BR" dirty="0"/>
              <a:t>for aluno in </a:t>
            </a:r>
            <a:r>
              <a:rPr lang="pt-BR" dirty="0" err="1"/>
              <a:t>lista_carregada</a:t>
            </a:r>
            <a:r>
              <a:rPr lang="pt-BR" dirty="0"/>
              <a:t>:</a:t>
            </a:r>
          </a:p>
          <a:p>
            <a:r>
              <a:rPr lang="pt-BR" dirty="0"/>
              <a:t>    print(aluno)</a:t>
            </a:r>
          </a:p>
        </p:txBody>
      </p:sp>
      <p:sp>
        <p:nvSpPr>
          <p:cNvPr id="13" name="CaixaDeTexto 12">
            <a:extLst>
              <a:ext uri="{FF2B5EF4-FFF2-40B4-BE49-F238E27FC236}">
                <a16:creationId xmlns:a16="http://schemas.microsoft.com/office/drawing/2014/main" id="{883A1461-E6A3-A5F4-C668-CCA5FB32AE18}"/>
              </a:ext>
            </a:extLst>
          </p:cNvPr>
          <p:cNvSpPr txBox="1"/>
          <p:nvPr/>
        </p:nvSpPr>
        <p:spPr>
          <a:xfrm>
            <a:off x="5999840" y="4543551"/>
            <a:ext cx="6093618" cy="1785104"/>
          </a:xfrm>
          <a:prstGeom prst="rect">
            <a:avLst/>
          </a:prstGeom>
          <a:noFill/>
        </p:spPr>
        <p:txBody>
          <a:bodyPr wrap="square">
            <a:spAutoFit/>
          </a:bodyPr>
          <a:lstStyle/>
          <a:p>
            <a:r>
              <a:rPr lang="pt-BR" sz="2000" b="1" dirty="0"/>
              <a:t>Saída: Lista de alunos salva com sucesso!</a:t>
            </a:r>
          </a:p>
          <a:p>
            <a:endParaRPr lang="pt-BR" b="1" dirty="0"/>
          </a:p>
          <a:p>
            <a:r>
              <a:rPr lang="pt-BR" dirty="0"/>
              <a:t>Lista carregada do arquivo:</a:t>
            </a:r>
          </a:p>
          <a:p>
            <a:r>
              <a:rPr lang="pt-BR" dirty="0"/>
              <a:t>{'nome': 'Ana', 'nota': 9.0}</a:t>
            </a:r>
          </a:p>
          <a:p>
            <a:r>
              <a:rPr lang="pt-BR" dirty="0"/>
              <a:t>{'nome': 'Bruno', 'nota': 7.5}</a:t>
            </a:r>
          </a:p>
          <a:p>
            <a:r>
              <a:rPr lang="pt-BR" dirty="0"/>
              <a:t>{'nome': 'Clara', 'nota': 8.3}</a:t>
            </a:r>
          </a:p>
        </p:txBody>
      </p:sp>
    </p:spTree>
    <p:extLst>
      <p:ext uri="{BB962C8B-B14F-4D97-AF65-F5344CB8AC3E}">
        <p14:creationId xmlns:p14="http://schemas.microsoft.com/office/powerpoint/2010/main" val="1939454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62E4BF9-D7BF-D4D2-BB92-552C2EF1CF0C}"/>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F562AE08-D123-4489-AE85-0AAABF26E6C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FEF60796-191A-47E5-B633-7FCFC15BA4C7}"/>
              </a:ext>
            </a:extLst>
          </p:cNvPr>
          <p:cNvSpPr>
            <a:spLocks noGrp="1"/>
          </p:cNvSpPr>
          <p:nvPr>
            <p:ph type="sldNum" sz="quarter" idx="12"/>
          </p:nvPr>
        </p:nvSpPr>
        <p:spPr/>
        <p:txBody>
          <a:bodyPr/>
          <a:lstStyle/>
          <a:p>
            <a:pPr algn="r"/>
            <a:fld id="{250292FE-8D56-4E3A-9427-CB428FF60A53}" type="slidenum">
              <a:rPr lang="pt-BR" b="1" smtClean="0"/>
              <a:pPr algn="r"/>
              <a:t>19</a:t>
            </a:fld>
            <a:endParaRPr lang="pt-BR" b="1" dirty="0"/>
          </a:p>
        </p:txBody>
      </p:sp>
      <p:sp>
        <p:nvSpPr>
          <p:cNvPr id="5" name="Título 4">
            <a:extLst>
              <a:ext uri="{FF2B5EF4-FFF2-40B4-BE49-F238E27FC236}">
                <a16:creationId xmlns:a16="http://schemas.microsoft.com/office/drawing/2014/main" id="{498CD477-72C6-0CE9-D04D-05B2CF9AB462}"/>
              </a:ext>
            </a:extLst>
          </p:cNvPr>
          <p:cNvSpPr>
            <a:spLocks noGrp="1"/>
          </p:cNvSpPr>
          <p:nvPr>
            <p:ph type="title"/>
          </p:nvPr>
        </p:nvSpPr>
        <p:spPr/>
        <p:txBody>
          <a:bodyPr>
            <a:normAutofit fontScale="90000"/>
          </a:bodyPr>
          <a:lstStyle/>
          <a:p>
            <a:r>
              <a:rPr lang="pt-BR" i="1" dirty="0"/>
              <a:t>Exemplo 2 — Salvando um </a:t>
            </a:r>
            <a:r>
              <a:rPr lang="pt-BR" b="1" i="1" dirty="0"/>
              <a:t>objeto de classe</a:t>
            </a:r>
            <a:endParaRPr lang="pt-BR" i="1" dirty="0"/>
          </a:p>
        </p:txBody>
      </p:sp>
      <p:sp>
        <p:nvSpPr>
          <p:cNvPr id="9" name="CaixaDeTexto 8">
            <a:extLst>
              <a:ext uri="{FF2B5EF4-FFF2-40B4-BE49-F238E27FC236}">
                <a16:creationId xmlns:a16="http://schemas.microsoft.com/office/drawing/2014/main" id="{8C6ABC5F-C6BF-7D52-704B-B3E54982193D}"/>
              </a:ext>
            </a:extLst>
          </p:cNvPr>
          <p:cNvSpPr txBox="1"/>
          <p:nvPr/>
        </p:nvSpPr>
        <p:spPr>
          <a:xfrm>
            <a:off x="375046" y="1401242"/>
            <a:ext cx="11254979" cy="830997"/>
          </a:xfrm>
          <a:prstGeom prst="rect">
            <a:avLst/>
          </a:prstGeom>
          <a:noFill/>
        </p:spPr>
        <p:txBody>
          <a:bodyPr wrap="square">
            <a:spAutoFit/>
          </a:bodyPr>
          <a:lstStyle/>
          <a:p>
            <a:r>
              <a:rPr lang="pt-BR" sz="2400" b="1" dirty="0"/>
              <a:t>Agora, imagine que queremos salvar um objeto completo (como um aluno com métodos e atributos).</a:t>
            </a:r>
          </a:p>
        </p:txBody>
      </p:sp>
      <p:sp>
        <p:nvSpPr>
          <p:cNvPr id="11" name="CaixaDeTexto 10">
            <a:extLst>
              <a:ext uri="{FF2B5EF4-FFF2-40B4-BE49-F238E27FC236}">
                <a16:creationId xmlns:a16="http://schemas.microsoft.com/office/drawing/2014/main" id="{C91411A6-7E45-DD53-77C8-B523342D34EA}"/>
              </a:ext>
            </a:extLst>
          </p:cNvPr>
          <p:cNvSpPr txBox="1"/>
          <p:nvPr/>
        </p:nvSpPr>
        <p:spPr>
          <a:xfrm>
            <a:off x="153423" y="2349778"/>
            <a:ext cx="3389877" cy="3693319"/>
          </a:xfrm>
          <a:prstGeom prst="rect">
            <a:avLst/>
          </a:prstGeom>
          <a:noFill/>
        </p:spPr>
        <p:txBody>
          <a:bodyPr wrap="square">
            <a:spAutoFit/>
          </a:bodyPr>
          <a:lstStyle/>
          <a:p>
            <a:r>
              <a:rPr lang="pt-BR" dirty="0" err="1"/>
              <a:t>import</a:t>
            </a:r>
            <a:r>
              <a:rPr lang="pt-BR" dirty="0"/>
              <a:t> pickle</a:t>
            </a:r>
          </a:p>
          <a:p>
            <a:endParaRPr lang="pt-BR" dirty="0"/>
          </a:p>
          <a:p>
            <a:r>
              <a:rPr lang="pt-BR" dirty="0"/>
              <a:t># Definição da classe</a:t>
            </a:r>
          </a:p>
          <a:p>
            <a:r>
              <a:rPr lang="pt-BR" dirty="0" err="1"/>
              <a:t>class</a:t>
            </a:r>
            <a:r>
              <a:rPr lang="pt-BR" dirty="0"/>
              <a:t> Aluno:</a:t>
            </a:r>
          </a:p>
          <a:p>
            <a:r>
              <a:rPr lang="pt-BR" dirty="0"/>
              <a:t>    </a:t>
            </a:r>
            <a:r>
              <a:rPr lang="pt-BR" dirty="0" err="1"/>
              <a:t>def</a:t>
            </a:r>
            <a:r>
              <a:rPr lang="pt-BR" dirty="0"/>
              <a:t> __</a:t>
            </a:r>
            <a:r>
              <a:rPr lang="pt-BR" dirty="0" err="1"/>
              <a:t>init</a:t>
            </a:r>
            <a:r>
              <a:rPr lang="pt-BR" dirty="0"/>
              <a:t>__(self, nome, nota):</a:t>
            </a:r>
          </a:p>
          <a:p>
            <a:r>
              <a:rPr lang="pt-BR" dirty="0"/>
              <a:t>        </a:t>
            </a:r>
            <a:r>
              <a:rPr lang="pt-BR" dirty="0" err="1"/>
              <a:t>self.nome</a:t>
            </a:r>
            <a:r>
              <a:rPr lang="pt-BR" dirty="0"/>
              <a:t> = nome</a:t>
            </a:r>
          </a:p>
          <a:p>
            <a:r>
              <a:rPr lang="pt-BR" dirty="0"/>
              <a:t>        </a:t>
            </a:r>
            <a:r>
              <a:rPr lang="pt-BR" dirty="0" err="1"/>
              <a:t>self.nota</a:t>
            </a:r>
            <a:r>
              <a:rPr lang="pt-BR" dirty="0"/>
              <a:t> = nota</a:t>
            </a:r>
          </a:p>
          <a:p>
            <a:endParaRPr lang="pt-BR" dirty="0"/>
          </a:p>
          <a:p>
            <a:r>
              <a:rPr lang="pt-BR" dirty="0"/>
              <a:t>    </a:t>
            </a:r>
            <a:r>
              <a:rPr lang="pt-BR" dirty="0" err="1"/>
              <a:t>def</a:t>
            </a:r>
            <a:r>
              <a:rPr lang="pt-BR" dirty="0"/>
              <a:t> aprovado(self):</a:t>
            </a:r>
          </a:p>
          <a:p>
            <a:r>
              <a:rPr lang="pt-BR" dirty="0"/>
              <a:t>        </a:t>
            </a:r>
            <a:r>
              <a:rPr lang="pt-BR" dirty="0" err="1"/>
              <a:t>return</a:t>
            </a:r>
            <a:r>
              <a:rPr lang="pt-BR" dirty="0"/>
              <a:t> </a:t>
            </a:r>
            <a:r>
              <a:rPr lang="pt-BR" dirty="0" err="1"/>
              <a:t>self.nota</a:t>
            </a:r>
            <a:r>
              <a:rPr lang="pt-BR" dirty="0"/>
              <a:t> &gt;= 7</a:t>
            </a:r>
          </a:p>
          <a:p>
            <a:endParaRPr lang="pt-BR" dirty="0"/>
          </a:p>
          <a:p>
            <a:r>
              <a:rPr lang="pt-BR" dirty="0"/>
              <a:t># Criando um objeto da classe</a:t>
            </a:r>
          </a:p>
          <a:p>
            <a:r>
              <a:rPr lang="pt-BR" dirty="0"/>
              <a:t>aluno1 = Aluno("Daniel", 8.5)</a:t>
            </a:r>
          </a:p>
        </p:txBody>
      </p:sp>
      <p:sp>
        <p:nvSpPr>
          <p:cNvPr id="13" name="CaixaDeTexto 12">
            <a:extLst>
              <a:ext uri="{FF2B5EF4-FFF2-40B4-BE49-F238E27FC236}">
                <a16:creationId xmlns:a16="http://schemas.microsoft.com/office/drawing/2014/main" id="{3CF18F5A-A009-AF25-1893-43A78A57D42F}"/>
              </a:ext>
            </a:extLst>
          </p:cNvPr>
          <p:cNvSpPr txBox="1"/>
          <p:nvPr/>
        </p:nvSpPr>
        <p:spPr>
          <a:xfrm>
            <a:off x="3502212" y="2218536"/>
            <a:ext cx="5084566" cy="3970318"/>
          </a:xfrm>
          <a:prstGeom prst="rect">
            <a:avLst/>
          </a:prstGeom>
          <a:noFill/>
        </p:spPr>
        <p:txBody>
          <a:bodyPr wrap="square">
            <a:spAutoFit/>
          </a:bodyPr>
          <a:lstStyle/>
          <a:p>
            <a:r>
              <a:rPr lang="pt-BR" dirty="0"/>
              <a:t># --- SALVAR OBJETO ---</a:t>
            </a:r>
          </a:p>
          <a:p>
            <a:r>
              <a:rPr lang="pt-BR" dirty="0"/>
              <a:t>with open("</a:t>
            </a:r>
            <a:r>
              <a:rPr lang="pt-BR" dirty="0" err="1"/>
              <a:t>aluno.pkl</a:t>
            </a:r>
            <a:r>
              <a:rPr lang="pt-BR" dirty="0"/>
              <a:t>", "</a:t>
            </a:r>
            <a:r>
              <a:rPr lang="pt-BR" dirty="0" err="1"/>
              <a:t>wb</a:t>
            </a:r>
            <a:r>
              <a:rPr lang="pt-BR" dirty="0"/>
              <a:t>") as arquivo:</a:t>
            </a:r>
          </a:p>
          <a:p>
            <a:r>
              <a:rPr lang="pt-BR" dirty="0"/>
              <a:t>    </a:t>
            </a:r>
            <a:r>
              <a:rPr lang="pt-BR" dirty="0" err="1"/>
              <a:t>pickle.dump</a:t>
            </a:r>
            <a:r>
              <a:rPr lang="pt-BR" dirty="0"/>
              <a:t>(aluno1, arquivo)</a:t>
            </a:r>
          </a:p>
          <a:p>
            <a:endParaRPr lang="pt-BR" dirty="0"/>
          </a:p>
          <a:p>
            <a:r>
              <a:rPr lang="pt-BR" dirty="0"/>
              <a:t>print("Objeto 'Aluno' salvo com sucesso!")</a:t>
            </a:r>
          </a:p>
          <a:p>
            <a:endParaRPr lang="pt-BR" dirty="0"/>
          </a:p>
          <a:p>
            <a:r>
              <a:rPr lang="pt-BR" dirty="0"/>
              <a:t># --- LER OBJETO DE VOLTA ---</a:t>
            </a:r>
          </a:p>
          <a:p>
            <a:r>
              <a:rPr lang="pt-BR" dirty="0"/>
              <a:t>with open("</a:t>
            </a:r>
            <a:r>
              <a:rPr lang="pt-BR" dirty="0" err="1"/>
              <a:t>aluno.pkl</a:t>
            </a:r>
            <a:r>
              <a:rPr lang="pt-BR" dirty="0"/>
              <a:t>", "</a:t>
            </a:r>
            <a:r>
              <a:rPr lang="pt-BR" dirty="0" err="1"/>
              <a:t>rb</a:t>
            </a:r>
            <a:r>
              <a:rPr lang="pt-BR" dirty="0"/>
              <a:t>") as arquivo:</a:t>
            </a:r>
          </a:p>
          <a:p>
            <a:r>
              <a:rPr lang="pt-BR" dirty="0"/>
              <a:t>    </a:t>
            </a:r>
            <a:r>
              <a:rPr lang="pt-BR" dirty="0" err="1"/>
              <a:t>aluno_carregado</a:t>
            </a:r>
            <a:r>
              <a:rPr lang="pt-BR" dirty="0"/>
              <a:t> = </a:t>
            </a:r>
            <a:r>
              <a:rPr lang="pt-BR" dirty="0" err="1"/>
              <a:t>pickle.load</a:t>
            </a:r>
            <a:r>
              <a:rPr lang="pt-BR" dirty="0"/>
              <a:t>(arquivo)</a:t>
            </a:r>
          </a:p>
          <a:p>
            <a:endParaRPr lang="pt-BR" dirty="0"/>
          </a:p>
          <a:p>
            <a:r>
              <a:rPr lang="pt-BR" dirty="0"/>
              <a:t>print("\</a:t>
            </a:r>
            <a:r>
              <a:rPr lang="pt-BR" dirty="0" err="1"/>
              <a:t>nAluno</a:t>
            </a:r>
            <a:r>
              <a:rPr lang="pt-BR" dirty="0"/>
              <a:t> carregado do arquivo:")</a:t>
            </a:r>
          </a:p>
          <a:p>
            <a:r>
              <a:rPr lang="pt-BR" dirty="0"/>
              <a:t>print(</a:t>
            </a:r>
            <a:r>
              <a:rPr lang="pt-BR" dirty="0" err="1"/>
              <a:t>f"Nome</a:t>
            </a:r>
            <a:r>
              <a:rPr lang="pt-BR" dirty="0"/>
              <a:t>: {</a:t>
            </a:r>
            <a:r>
              <a:rPr lang="pt-BR" dirty="0" err="1"/>
              <a:t>aluno_carregado.nome</a:t>
            </a:r>
            <a:r>
              <a:rPr lang="pt-BR" dirty="0"/>
              <a:t>}")</a:t>
            </a:r>
          </a:p>
          <a:p>
            <a:r>
              <a:rPr lang="pt-BR" dirty="0"/>
              <a:t>print(</a:t>
            </a:r>
            <a:r>
              <a:rPr lang="pt-BR" dirty="0" err="1"/>
              <a:t>f"Nota</a:t>
            </a:r>
            <a:r>
              <a:rPr lang="pt-BR" dirty="0"/>
              <a:t>: {</a:t>
            </a:r>
            <a:r>
              <a:rPr lang="pt-BR" dirty="0" err="1"/>
              <a:t>aluno_carregado.nota</a:t>
            </a:r>
            <a:r>
              <a:rPr lang="pt-BR" dirty="0"/>
              <a:t>}")</a:t>
            </a:r>
          </a:p>
          <a:p>
            <a:r>
              <a:rPr lang="pt-BR" dirty="0"/>
              <a:t>print(</a:t>
            </a:r>
            <a:r>
              <a:rPr lang="pt-BR" dirty="0" err="1"/>
              <a:t>f"Aprovado</a:t>
            </a:r>
            <a:r>
              <a:rPr lang="pt-BR" dirty="0"/>
              <a:t>: {</a:t>
            </a:r>
            <a:r>
              <a:rPr lang="pt-BR" dirty="0" err="1"/>
              <a:t>aluno_carregado.aprovado</a:t>
            </a:r>
            <a:r>
              <a:rPr lang="pt-BR" dirty="0"/>
              <a:t>()}")</a:t>
            </a:r>
          </a:p>
        </p:txBody>
      </p:sp>
      <p:sp>
        <p:nvSpPr>
          <p:cNvPr id="15" name="CaixaDeTexto 14">
            <a:extLst>
              <a:ext uri="{FF2B5EF4-FFF2-40B4-BE49-F238E27FC236}">
                <a16:creationId xmlns:a16="http://schemas.microsoft.com/office/drawing/2014/main" id="{56AAF3FE-F4D7-73DB-AC1F-1307D910FBE9}"/>
              </a:ext>
            </a:extLst>
          </p:cNvPr>
          <p:cNvSpPr txBox="1"/>
          <p:nvPr/>
        </p:nvSpPr>
        <p:spPr>
          <a:xfrm>
            <a:off x="7918837" y="2257689"/>
            <a:ext cx="3496876" cy="2031325"/>
          </a:xfrm>
          <a:prstGeom prst="rect">
            <a:avLst/>
          </a:prstGeom>
          <a:noFill/>
        </p:spPr>
        <p:txBody>
          <a:bodyPr wrap="square">
            <a:spAutoFit/>
          </a:bodyPr>
          <a:lstStyle/>
          <a:p>
            <a:pPr marL="714375" indent="-714375"/>
            <a:r>
              <a:rPr lang="pt-BR" b="1" dirty="0"/>
              <a:t>Saída: Objeto 'Aluno' salvo com sucesso!</a:t>
            </a:r>
          </a:p>
          <a:p>
            <a:endParaRPr lang="pt-BR" b="1" dirty="0"/>
          </a:p>
          <a:p>
            <a:r>
              <a:rPr lang="pt-BR" dirty="0"/>
              <a:t>Aluno carregado do arquivo:</a:t>
            </a:r>
          </a:p>
          <a:p>
            <a:r>
              <a:rPr lang="pt-BR" dirty="0"/>
              <a:t>Nome: Daniel</a:t>
            </a:r>
          </a:p>
          <a:p>
            <a:r>
              <a:rPr lang="pt-BR" dirty="0"/>
              <a:t>Nota: 8.5</a:t>
            </a:r>
          </a:p>
          <a:p>
            <a:r>
              <a:rPr lang="pt-BR" dirty="0"/>
              <a:t>Aprovado: True</a:t>
            </a:r>
          </a:p>
        </p:txBody>
      </p:sp>
      <p:sp>
        <p:nvSpPr>
          <p:cNvPr id="17" name="CaixaDeTexto 16">
            <a:extLst>
              <a:ext uri="{FF2B5EF4-FFF2-40B4-BE49-F238E27FC236}">
                <a16:creationId xmlns:a16="http://schemas.microsoft.com/office/drawing/2014/main" id="{5DEE1C43-A3C0-621F-72C0-3C3674E20BC3}"/>
              </a:ext>
            </a:extLst>
          </p:cNvPr>
          <p:cNvSpPr txBox="1"/>
          <p:nvPr/>
        </p:nvSpPr>
        <p:spPr>
          <a:xfrm>
            <a:off x="7940940" y="4807757"/>
            <a:ext cx="4069061" cy="923330"/>
          </a:xfrm>
          <a:prstGeom prst="rect">
            <a:avLst/>
          </a:prstGeom>
          <a:noFill/>
        </p:spPr>
        <p:txBody>
          <a:bodyPr wrap="square">
            <a:spAutoFit/>
          </a:bodyPr>
          <a:lstStyle/>
          <a:p>
            <a:pPr marL="357188" indent="-357188" algn="just"/>
            <a:r>
              <a:rPr lang="pt-BR" dirty="0"/>
              <a:t>💡 Mesmo após fechar o programa e abrir de novo, o objeto “Daniel” é recriado exatamente igual</a:t>
            </a:r>
          </a:p>
        </p:txBody>
      </p:sp>
    </p:spTree>
    <p:extLst>
      <p:ext uri="{BB962C8B-B14F-4D97-AF65-F5344CB8AC3E}">
        <p14:creationId xmlns:p14="http://schemas.microsoft.com/office/powerpoint/2010/main" val="3222118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7626CDFE-C057-CCCA-61F4-1957FDCDA8A0}"/>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93EF23DA-4F1D-F613-F4B0-CC0F30E3A8F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5D09C3C-B9CA-613B-9B1B-A491649D0B1A}"/>
              </a:ext>
            </a:extLst>
          </p:cNvPr>
          <p:cNvSpPr>
            <a:spLocks noGrp="1"/>
          </p:cNvSpPr>
          <p:nvPr>
            <p:ph type="sldNum" sz="quarter" idx="12"/>
          </p:nvPr>
        </p:nvSpPr>
        <p:spPr/>
        <p:txBody>
          <a:bodyPr/>
          <a:lstStyle/>
          <a:p>
            <a:pPr algn="r"/>
            <a:fld id="{250292FE-8D56-4E3A-9427-CB428FF60A53}" type="slidenum">
              <a:rPr lang="pt-BR" b="1" smtClean="0"/>
              <a:pPr algn="r"/>
              <a:t>20</a:t>
            </a:fld>
            <a:endParaRPr lang="pt-BR" b="1" dirty="0"/>
          </a:p>
        </p:txBody>
      </p:sp>
      <p:sp>
        <p:nvSpPr>
          <p:cNvPr id="5" name="Título 4">
            <a:extLst>
              <a:ext uri="{FF2B5EF4-FFF2-40B4-BE49-F238E27FC236}">
                <a16:creationId xmlns:a16="http://schemas.microsoft.com/office/drawing/2014/main" id="{D6EB7F34-26F2-7BAC-8585-DDB3AE47BAB1}"/>
              </a:ext>
            </a:extLst>
          </p:cNvPr>
          <p:cNvSpPr>
            <a:spLocks noGrp="1"/>
          </p:cNvSpPr>
          <p:nvPr>
            <p:ph type="title"/>
          </p:nvPr>
        </p:nvSpPr>
        <p:spPr/>
        <p:txBody>
          <a:bodyPr/>
          <a:lstStyle/>
          <a:p>
            <a:pPr algn="ctr"/>
            <a:r>
              <a:rPr lang="pt-BR" b="1" i="1" dirty="0"/>
              <a:t>Dicas importantes</a:t>
            </a:r>
          </a:p>
        </p:txBody>
      </p:sp>
      <p:sp>
        <p:nvSpPr>
          <p:cNvPr id="7" name="CaixaDeTexto 6">
            <a:extLst>
              <a:ext uri="{FF2B5EF4-FFF2-40B4-BE49-F238E27FC236}">
                <a16:creationId xmlns:a16="http://schemas.microsoft.com/office/drawing/2014/main" id="{797F49C8-5EFA-6DF3-8A0B-4D6BCBA51FA3}"/>
              </a:ext>
            </a:extLst>
          </p:cNvPr>
          <p:cNvSpPr txBox="1"/>
          <p:nvPr/>
        </p:nvSpPr>
        <p:spPr>
          <a:xfrm>
            <a:off x="375047" y="1638855"/>
            <a:ext cx="11577802" cy="2677656"/>
          </a:xfrm>
          <a:prstGeom prst="rect">
            <a:avLst/>
          </a:prstGeom>
          <a:noFill/>
        </p:spPr>
        <p:txBody>
          <a:bodyPr wrap="square">
            <a:spAutoFit/>
          </a:bodyPr>
          <a:lstStyle/>
          <a:p>
            <a:r>
              <a:rPr lang="pt-BR" sz="2400" dirty="0"/>
              <a:t>✅ Use </a:t>
            </a:r>
            <a:r>
              <a:rPr lang="pt-BR" sz="2400" dirty="0" err="1">
                <a:latin typeface="Courier New" panose="02070309020205020404" pitchFamily="49" charset="0"/>
              </a:rPr>
              <a:t>wb</a:t>
            </a:r>
            <a:r>
              <a:rPr lang="pt-BR" sz="2400" dirty="0"/>
              <a:t> e </a:t>
            </a:r>
            <a:r>
              <a:rPr lang="pt-BR" sz="2400" dirty="0" err="1">
                <a:latin typeface="Courier New" panose="02070309020205020404" pitchFamily="49" charset="0"/>
              </a:rPr>
              <a:t>rb</a:t>
            </a:r>
            <a:r>
              <a:rPr lang="pt-BR" sz="2400" dirty="0"/>
              <a:t> para arquivos binários.</a:t>
            </a:r>
          </a:p>
          <a:p>
            <a:br>
              <a:rPr lang="pt-BR" sz="2400" dirty="0"/>
            </a:br>
            <a:r>
              <a:rPr lang="pt-BR" sz="2400" dirty="0"/>
              <a:t>✅ É ótimo para </a:t>
            </a:r>
            <a:r>
              <a:rPr lang="pt-BR" sz="2400" b="1" dirty="0"/>
              <a:t>guardar estados de programas</a:t>
            </a:r>
            <a:r>
              <a:rPr lang="pt-BR" sz="2400" dirty="0"/>
              <a:t>, </a:t>
            </a:r>
            <a:r>
              <a:rPr lang="pt-BR" sz="2400" b="1" dirty="0"/>
              <a:t>modelos de IA</a:t>
            </a:r>
            <a:r>
              <a:rPr lang="pt-BR" sz="2400" dirty="0"/>
              <a:t>, </a:t>
            </a:r>
            <a:r>
              <a:rPr lang="pt-BR" sz="2400" b="1" dirty="0"/>
              <a:t>estruturas complexas</a:t>
            </a:r>
            <a:r>
              <a:rPr lang="pt-BR" sz="2400" dirty="0"/>
              <a:t>, etc.</a:t>
            </a:r>
          </a:p>
          <a:p>
            <a:br>
              <a:rPr lang="pt-BR" sz="2400" dirty="0"/>
            </a:br>
            <a:r>
              <a:rPr lang="pt-BR" sz="2400" dirty="0"/>
              <a:t>⚠️ </a:t>
            </a:r>
            <a:r>
              <a:rPr lang="pt-BR" sz="2400" b="1" dirty="0"/>
              <a:t>Não use com dados de terceiros</a:t>
            </a:r>
            <a:r>
              <a:rPr lang="pt-BR" sz="2400" dirty="0"/>
              <a:t>, pois </a:t>
            </a:r>
            <a:r>
              <a:rPr lang="pt-BR" sz="2400" dirty="0" err="1">
                <a:latin typeface="Courier New" panose="02070309020205020404" pitchFamily="49" charset="0"/>
              </a:rPr>
              <a:t>pickle.load</a:t>
            </a:r>
            <a:r>
              <a:rPr lang="pt-BR" sz="2400" dirty="0">
                <a:latin typeface="Courier New" panose="02070309020205020404" pitchFamily="49" charset="0"/>
              </a:rPr>
              <a:t>()</a:t>
            </a:r>
            <a:r>
              <a:rPr lang="pt-BR" sz="2400" dirty="0"/>
              <a:t> pode executar código malicioso.</a:t>
            </a:r>
          </a:p>
        </p:txBody>
      </p:sp>
      <p:graphicFrame>
        <p:nvGraphicFramePr>
          <p:cNvPr id="13" name="Tabela 12">
            <a:extLst>
              <a:ext uri="{FF2B5EF4-FFF2-40B4-BE49-F238E27FC236}">
                <a16:creationId xmlns:a16="http://schemas.microsoft.com/office/drawing/2014/main" id="{ED5E9C14-1B83-945D-48AE-7B4FB3D18578}"/>
              </a:ext>
            </a:extLst>
          </p:cNvPr>
          <p:cNvGraphicFramePr>
            <a:graphicFrameLocks noGrp="1"/>
          </p:cNvGraphicFramePr>
          <p:nvPr>
            <p:extLst>
              <p:ext uri="{D42A27DB-BD31-4B8C-83A1-F6EECF244321}">
                <p14:modId xmlns:p14="http://schemas.microsoft.com/office/powerpoint/2010/main" val="1513064910"/>
              </p:ext>
            </p:extLst>
          </p:nvPr>
        </p:nvGraphicFramePr>
        <p:xfrm>
          <a:off x="375046" y="4396365"/>
          <a:ext cx="10704433" cy="1828800"/>
        </p:xfrm>
        <a:graphic>
          <a:graphicData uri="http://schemas.openxmlformats.org/drawingml/2006/table">
            <a:tbl>
              <a:tblPr/>
              <a:tblGrid>
                <a:gridCol w="3568144">
                  <a:extLst>
                    <a:ext uri="{9D8B030D-6E8A-4147-A177-3AD203B41FA5}">
                      <a16:colId xmlns:a16="http://schemas.microsoft.com/office/drawing/2014/main" val="1693824561"/>
                    </a:ext>
                  </a:extLst>
                </a:gridCol>
                <a:gridCol w="4369280">
                  <a:extLst>
                    <a:ext uri="{9D8B030D-6E8A-4147-A177-3AD203B41FA5}">
                      <a16:colId xmlns:a16="http://schemas.microsoft.com/office/drawing/2014/main" val="223886378"/>
                    </a:ext>
                  </a:extLst>
                </a:gridCol>
                <a:gridCol w="2767009">
                  <a:extLst>
                    <a:ext uri="{9D8B030D-6E8A-4147-A177-3AD203B41FA5}">
                      <a16:colId xmlns:a16="http://schemas.microsoft.com/office/drawing/2014/main" val="3705125831"/>
                    </a:ext>
                  </a:extLst>
                </a:gridCol>
              </a:tblGrid>
              <a:tr h="0">
                <a:tc>
                  <a:txBody>
                    <a:bodyPr/>
                    <a:lstStyle/>
                    <a:p>
                      <a:pPr algn="l">
                        <a:buNone/>
                      </a:pPr>
                      <a:r>
                        <a:rPr lang="pt-BR" b="1"/>
                        <a:t>Função</a:t>
                      </a:r>
                    </a:p>
                  </a:txBody>
                  <a:tcPr anchor="ctr">
                    <a:lnL>
                      <a:noFill/>
                    </a:lnL>
                    <a:lnR>
                      <a:noFill/>
                    </a:lnR>
                    <a:lnT>
                      <a:noFill/>
                    </a:lnT>
                    <a:lnB>
                      <a:noFill/>
                    </a:lnB>
                    <a:noFill/>
                  </a:tcPr>
                </a:tc>
                <a:tc>
                  <a:txBody>
                    <a:bodyPr/>
                    <a:lstStyle/>
                    <a:p>
                      <a:pPr algn="l">
                        <a:buNone/>
                      </a:pPr>
                      <a:r>
                        <a:rPr lang="pt-BR" b="1"/>
                        <a:t>O que faz</a:t>
                      </a:r>
                    </a:p>
                  </a:txBody>
                  <a:tcPr anchor="ctr">
                    <a:lnL>
                      <a:noFill/>
                    </a:lnL>
                    <a:lnR>
                      <a:noFill/>
                    </a:lnR>
                    <a:lnT>
                      <a:noFill/>
                    </a:lnT>
                    <a:lnB>
                      <a:noFill/>
                    </a:lnB>
                    <a:noFill/>
                  </a:tcPr>
                </a:tc>
                <a:tc>
                  <a:txBody>
                    <a:bodyPr/>
                    <a:lstStyle/>
                    <a:p>
                      <a:pPr algn="l">
                        <a:buNone/>
                      </a:pPr>
                      <a:r>
                        <a:rPr lang="pt-BR" b="1" dirty="0"/>
                        <a:t>Exemplo</a:t>
                      </a:r>
                    </a:p>
                  </a:txBody>
                  <a:tcPr anchor="ctr">
                    <a:lnL>
                      <a:noFill/>
                    </a:lnL>
                    <a:lnR>
                      <a:noFill/>
                    </a:lnR>
                    <a:lnT>
                      <a:noFill/>
                    </a:lnT>
                    <a:lnB>
                      <a:noFill/>
                    </a:lnB>
                    <a:noFill/>
                  </a:tcPr>
                </a:tc>
                <a:extLst>
                  <a:ext uri="{0D108BD9-81ED-4DB2-BD59-A6C34878D82A}">
                    <a16:rowId xmlns:a16="http://schemas.microsoft.com/office/drawing/2014/main" val="562829821"/>
                  </a:ext>
                </a:extLst>
              </a:tr>
              <a:tr h="0">
                <a:tc>
                  <a:txBody>
                    <a:bodyPr/>
                    <a:lstStyle/>
                    <a:p>
                      <a:pPr algn="l">
                        <a:buNone/>
                      </a:pPr>
                      <a:r>
                        <a:rPr lang="pt-BR">
                          <a:latin typeface="Courier New" panose="02070309020205020404" pitchFamily="49" charset="0"/>
                        </a:rPr>
                        <a:t>pickle.dump(obj, file)</a:t>
                      </a:r>
                      <a:endParaRPr lang="pt-BR"/>
                    </a:p>
                  </a:txBody>
                  <a:tcPr anchor="ctr">
                    <a:lnL>
                      <a:noFill/>
                    </a:lnL>
                    <a:lnR>
                      <a:noFill/>
                    </a:lnR>
                    <a:lnT>
                      <a:noFill/>
                    </a:lnT>
                    <a:lnB>
                      <a:noFill/>
                    </a:lnB>
                    <a:noFill/>
                  </a:tcPr>
                </a:tc>
                <a:tc>
                  <a:txBody>
                    <a:bodyPr/>
                    <a:lstStyle/>
                    <a:p>
                      <a:pPr algn="l">
                        <a:buNone/>
                      </a:pPr>
                      <a:r>
                        <a:rPr lang="pt-BR"/>
                        <a:t>Salva objeto Python em arquivo binário</a:t>
                      </a:r>
                    </a:p>
                  </a:txBody>
                  <a:tcPr anchor="ctr">
                    <a:lnL>
                      <a:noFill/>
                    </a:lnL>
                    <a:lnR>
                      <a:noFill/>
                    </a:lnR>
                    <a:lnT>
                      <a:noFill/>
                    </a:lnT>
                    <a:lnB>
                      <a:noFill/>
                    </a:lnB>
                    <a:noFill/>
                  </a:tcPr>
                </a:tc>
                <a:tc>
                  <a:txBody>
                    <a:bodyPr/>
                    <a:lstStyle/>
                    <a:p>
                      <a:pPr algn="l">
                        <a:buNone/>
                      </a:pPr>
                      <a:r>
                        <a:rPr lang="pt-BR" dirty="0"/>
                        <a:t>salvar lista, classe, etc.</a:t>
                      </a:r>
                    </a:p>
                  </a:txBody>
                  <a:tcPr anchor="ctr">
                    <a:lnL>
                      <a:noFill/>
                    </a:lnL>
                    <a:lnR>
                      <a:noFill/>
                    </a:lnR>
                    <a:lnT>
                      <a:noFill/>
                    </a:lnT>
                    <a:lnB>
                      <a:noFill/>
                    </a:lnB>
                    <a:noFill/>
                  </a:tcPr>
                </a:tc>
                <a:extLst>
                  <a:ext uri="{0D108BD9-81ED-4DB2-BD59-A6C34878D82A}">
                    <a16:rowId xmlns:a16="http://schemas.microsoft.com/office/drawing/2014/main" val="3150835796"/>
                  </a:ext>
                </a:extLst>
              </a:tr>
              <a:tr h="0">
                <a:tc>
                  <a:txBody>
                    <a:bodyPr/>
                    <a:lstStyle/>
                    <a:p>
                      <a:pPr algn="l">
                        <a:buNone/>
                      </a:pPr>
                      <a:r>
                        <a:rPr lang="pt-BR">
                          <a:latin typeface="Courier New" panose="02070309020205020404" pitchFamily="49" charset="0"/>
                        </a:rPr>
                        <a:t>pickle.load(file)</a:t>
                      </a:r>
                      <a:endParaRPr lang="pt-BR"/>
                    </a:p>
                  </a:txBody>
                  <a:tcPr anchor="ctr">
                    <a:lnL>
                      <a:noFill/>
                    </a:lnL>
                    <a:lnR>
                      <a:noFill/>
                    </a:lnR>
                    <a:lnT>
                      <a:noFill/>
                    </a:lnT>
                    <a:lnB>
                      <a:noFill/>
                    </a:lnB>
                    <a:noFill/>
                  </a:tcPr>
                </a:tc>
                <a:tc>
                  <a:txBody>
                    <a:bodyPr/>
                    <a:lstStyle/>
                    <a:p>
                      <a:pPr algn="l">
                        <a:buNone/>
                      </a:pPr>
                      <a:r>
                        <a:rPr lang="pt-BR"/>
                        <a:t>Lê e recria o objeto a partir do arquivo</a:t>
                      </a:r>
                    </a:p>
                  </a:txBody>
                  <a:tcPr anchor="ctr">
                    <a:lnL>
                      <a:noFill/>
                    </a:lnL>
                    <a:lnR>
                      <a:noFill/>
                    </a:lnR>
                    <a:lnT>
                      <a:noFill/>
                    </a:lnT>
                    <a:lnB>
                      <a:noFill/>
                    </a:lnB>
                    <a:noFill/>
                  </a:tcPr>
                </a:tc>
                <a:tc>
                  <a:txBody>
                    <a:bodyPr/>
                    <a:lstStyle/>
                    <a:p>
                      <a:pPr algn="l">
                        <a:buNone/>
                      </a:pPr>
                      <a:r>
                        <a:rPr lang="pt-BR"/>
                        <a:t>ler de volta o objeto salvo</a:t>
                      </a:r>
                    </a:p>
                  </a:txBody>
                  <a:tcPr anchor="ctr">
                    <a:lnL>
                      <a:noFill/>
                    </a:lnL>
                    <a:lnR>
                      <a:noFill/>
                    </a:lnR>
                    <a:lnT>
                      <a:noFill/>
                    </a:lnT>
                    <a:lnB>
                      <a:noFill/>
                    </a:lnB>
                    <a:noFill/>
                  </a:tcPr>
                </a:tc>
                <a:extLst>
                  <a:ext uri="{0D108BD9-81ED-4DB2-BD59-A6C34878D82A}">
                    <a16:rowId xmlns:a16="http://schemas.microsoft.com/office/drawing/2014/main" val="1728261372"/>
                  </a:ext>
                </a:extLst>
              </a:tr>
              <a:tr h="0">
                <a:tc>
                  <a:txBody>
                    <a:bodyPr/>
                    <a:lstStyle/>
                    <a:p>
                      <a:pPr algn="l">
                        <a:buNone/>
                      </a:pPr>
                      <a:r>
                        <a:rPr lang="pt-BR">
                          <a:latin typeface="Courier New" panose="02070309020205020404" pitchFamily="49" charset="0"/>
                        </a:rPr>
                        <a:t>pickle.dumps(obj)</a:t>
                      </a:r>
                      <a:endParaRPr lang="pt-BR"/>
                    </a:p>
                  </a:txBody>
                  <a:tcPr anchor="ctr">
                    <a:lnL>
                      <a:noFill/>
                    </a:lnL>
                    <a:lnR>
                      <a:noFill/>
                    </a:lnR>
                    <a:lnT>
                      <a:noFill/>
                    </a:lnT>
                    <a:lnB>
                      <a:noFill/>
                    </a:lnB>
                    <a:noFill/>
                  </a:tcPr>
                </a:tc>
                <a:tc>
                  <a:txBody>
                    <a:bodyPr/>
                    <a:lstStyle/>
                    <a:p>
                      <a:pPr algn="l">
                        <a:buNone/>
                      </a:pPr>
                      <a:r>
                        <a:rPr lang="pt-BR"/>
                        <a:t>Converte o objeto em bytes</a:t>
                      </a:r>
                    </a:p>
                  </a:txBody>
                  <a:tcPr anchor="ctr">
                    <a:lnL>
                      <a:noFill/>
                    </a:lnL>
                    <a:lnR>
                      <a:noFill/>
                    </a:lnR>
                    <a:lnT>
                      <a:noFill/>
                    </a:lnT>
                    <a:lnB>
                      <a:noFill/>
                    </a:lnB>
                    <a:noFill/>
                  </a:tcPr>
                </a:tc>
                <a:tc>
                  <a:txBody>
                    <a:bodyPr/>
                    <a:lstStyle/>
                    <a:p>
                      <a:pPr algn="l">
                        <a:buNone/>
                      </a:pPr>
                      <a:r>
                        <a:rPr lang="pt-BR"/>
                        <a:t>enviar pela rede</a:t>
                      </a:r>
                    </a:p>
                  </a:txBody>
                  <a:tcPr anchor="ctr">
                    <a:lnL>
                      <a:noFill/>
                    </a:lnL>
                    <a:lnR>
                      <a:noFill/>
                    </a:lnR>
                    <a:lnT>
                      <a:noFill/>
                    </a:lnT>
                    <a:lnB>
                      <a:noFill/>
                    </a:lnB>
                    <a:noFill/>
                  </a:tcPr>
                </a:tc>
                <a:extLst>
                  <a:ext uri="{0D108BD9-81ED-4DB2-BD59-A6C34878D82A}">
                    <a16:rowId xmlns:a16="http://schemas.microsoft.com/office/drawing/2014/main" val="2725570433"/>
                  </a:ext>
                </a:extLst>
              </a:tr>
              <a:tr h="0">
                <a:tc>
                  <a:txBody>
                    <a:bodyPr/>
                    <a:lstStyle/>
                    <a:p>
                      <a:pPr algn="l">
                        <a:buNone/>
                      </a:pPr>
                      <a:r>
                        <a:rPr lang="pt-BR" dirty="0" err="1">
                          <a:latin typeface="Courier New" panose="02070309020205020404" pitchFamily="49" charset="0"/>
                        </a:rPr>
                        <a:t>pickle.loads</a:t>
                      </a:r>
                      <a:r>
                        <a:rPr lang="pt-BR" dirty="0">
                          <a:latin typeface="Courier New" panose="02070309020205020404" pitchFamily="49" charset="0"/>
                        </a:rPr>
                        <a:t>(bytes)</a:t>
                      </a:r>
                      <a:endParaRPr lang="pt-BR" dirty="0"/>
                    </a:p>
                  </a:txBody>
                  <a:tcPr anchor="ctr">
                    <a:lnL>
                      <a:noFill/>
                    </a:lnL>
                    <a:lnR>
                      <a:noFill/>
                    </a:lnR>
                    <a:lnT>
                      <a:noFill/>
                    </a:lnT>
                    <a:lnB>
                      <a:noFill/>
                    </a:lnB>
                    <a:noFill/>
                  </a:tcPr>
                </a:tc>
                <a:tc>
                  <a:txBody>
                    <a:bodyPr/>
                    <a:lstStyle/>
                    <a:p>
                      <a:pPr algn="l">
                        <a:buNone/>
                      </a:pPr>
                      <a:r>
                        <a:rPr lang="pt-BR"/>
                        <a:t>Reconstrói o objeto a partir dos bytes</a:t>
                      </a:r>
                    </a:p>
                  </a:txBody>
                  <a:tcPr anchor="ctr">
                    <a:lnL>
                      <a:noFill/>
                    </a:lnL>
                    <a:lnR>
                      <a:noFill/>
                    </a:lnR>
                    <a:lnT>
                      <a:noFill/>
                    </a:lnT>
                    <a:lnB>
                      <a:noFill/>
                    </a:lnB>
                    <a:noFill/>
                  </a:tcPr>
                </a:tc>
                <a:tc>
                  <a:txBody>
                    <a:bodyPr/>
                    <a:lstStyle/>
                    <a:p>
                      <a:pPr algn="l">
                        <a:buNone/>
                      </a:pPr>
                      <a:r>
                        <a:rPr lang="pt-BR" dirty="0"/>
                        <a:t>reconstruir sem arquivo</a:t>
                      </a:r>
                    </a:p>
                  </a:txBody>
                  <a:tcPr anchor="ctr">
                    <a:lnL>
                      <a:noFill/>
                    </a:lnL>
                    <a:lnR>
                      <a:noFill/>
                    </a:lnR>
                    <a:lnT>
                      <a:noFill/>
                    </a:lnT>
                    <a:lnB>
                      <a:noFill/>
                    </a:lnB>
                    <a:noFill/>
                  </a:tcPr>
                </a:tc>
                <a:extLst>
                  <a:ext uri="{0D108BD9-81ED-4DB2-BD59-A6C34878D82A}">
                    <a16:rowId xmlns:a16="http://schemas.microsoft.com/office/drawing/2014/main" val="2029361130"/>
                  </a:ext>
                </a:extLst>
              </a:tr>
            </a:tbl>
          </a:graphicData>
        </a:graphic>
      </p:graphicFrame>
    </p:spTree>
    <p:extLst>
      <p:ext uri="{BB962C8B-B14F-4D97-AF65-F5344CB8AC3E}">
        <p14:creationId xmlns:p14="http://schemas.microsoft.com/office/powerpoint/2010/main" val="4244524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0DA7D54B-21F0-FBE7-B2C2-2473EDE0A5DF}"/>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F6E5585F-583E-949E-4168-9996572E9C2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156E2D-9D7A-EE59-C075-80C4674ED625}"/>
              </a:ext>
            </a:extLst>
          </p:cNvPr>
          <p:cNvSpPr>
            <a:spLocks noGrp="1"/>
          </p:cNvSpPr>
          <p:nvPr>
            <p:ph type="sldNum" sz="quarter" idx="12"/>
          </p:nvPr>
        </p:nvSpPr>
        <p:spPr/>
        <p:txBody>
          <a:bodyPr/>
          <a:lstStyle/>
          <a:p>
            <a:pPr algn="r"/>
            <a:fld id="{250292FE-8D56-4E3A-9427-CB428FF60A53}" type="slidenum">
              <a:rPr lang="pt-BR" b="1" smtClean="0"/>
              <a:pPr algn="r"/>
              <a:t>21</a:t>
            </a:fld>
            <a:endParaRPr lang="pt-BR" b="1" dirty="0"/>
          </a:p>
        </p:txBody>
      </p:sp>
      <p:sp>
        <p:nvSpPr>
          <p:cNvPr id="5" name="Título 4">
            <a:extLst>
              <a:ext uri="{FF2B5EF4-FFF2-40B4-BE49-F238E27FC236}">
                <a16:creationId xmlns:a16="http://schemas.microsoft.com/office/drawing/2014/main" id="{4CF9C0DC-D02C-B06D-60B4-EAFA63414C7C}"/>
              </a:ext>
            </a:extLst>
          </p:cNvPr>
          <p:cNvSpPr>
            <a:spLocks noGrp="1"/>
          </p:cNvSpPr>
          <p:nvPr>
            <p:ph type="title"/>
          </p:nvPr>
        </p:nvSpPr>
        <p:spPr/>
        <p:txBody>
          <a:bodyPr/>
          <a:lstStyle/>
          <a:p>
            <a:pPr algn="ctr"/>
            <a:r>
              <a:rPr lang="pt-BR" b="1" i="1" dirty="0"/>
              <a:t>Python e JSON</a:t>
            </a:r>
          </a:p>
        </p:txBody>
      </p:sp>
      <p:sp>
        <p:nvSpPr>
          <p:cNvPr id="6" name="CaixaDeTexto 5">
            <a:extLst>
              <a:ext uri="{FF2B5EF4-FFF2-40B4-BE49-F238E27FC236}">
                <a16:creationId xmlns:a16="http://schemas.microsoft.com/office/drawing/2014/main" id="{8FB7DE39-AB97-6003-D5A3-E67F2D53E2AD}"/>
              </a:ext>
            </a:extLst>
          </p:cNvPr>
          <p:cNvSpPr txBox="1"/>
          <p:nvPr/>
        </p:nvSpPr>
        <p:spPr>
          <a:xfrm>
            <a:off x="447675" y="1591359"/>
            <a:ext cx="11267482" cy="1200329"/>
          </a:xfrm>
          <a:prstGeom prst="rect">
            <a:avLst/>
          </a:prstGeom>
          <a:noFill/>
        </p:spPr>
        <p:txBody>
          <a:bodyPr wrap="square" rtlCol="0">
            <a:spAutoFit/>
          </a:bodyPr>
          <a:lstStyle/>
          <a:p>
            <a:pPr marL="271463" indent="-271463"/>
            <a:r>
              <a:rPr lang="pt-BR" sz="2400" dirty="0"/>
              <a:t>— Vamos deixar </a:t>
            </a:r>
            <a:r>
              <a:rPr lang="pt-BR" sz="2400" b="1" dirty="0"/>
              <a:t>bem claro</a:t>
            </a:r>
            <a:r>
              <a:rPr lang="pt-BR" sz="2400" dirty="0"/>
              <a:t> o que significam load, loads, dump e dumps em </a:t>
            </a:r>
            <a:r>
              <a:rPr lang="pt-BR" sz="2400" b="1" dirty="0"/>
              <a:t>Python</a:t>
            </a:r>
            <a:r>
              <a:rPr lang="pt-BR" sz="2400" dirty="0"/>
              <a:t>, principalmente no contexto do </a:t>
            </a:r>
            <a:r>
              <a:rPr lang="pt-BR" sz="2400" b="1" dirty="0"/>
              <a:t>módulo json</a:t>
            </a:r>
            <a:r>
              <a:rPr lang="pt-BR" sz="2400" dirty="0"/>
              <a:t>, que é onde esses nomes aparecem com mais frequência</a:t>
            </a:r>
            <a:endParaRPr lang="pt-BR" dirty="0"/>
          </a:p>
        </p:txBody>
      </p:sp>
      <p:graphicFrame>
        <p:nvGraphicFramePr>
          <p:cNvPr id="7" name="Tabela 6">
            <a:extLst>
              <a:ext uri="{FF2B5EF4-FFF2-40B4-BE49-F238E27FC236}">
                <a16:creationId xmlns:a16="http://schemas.microsoft.com/office/drawing/2014/main" id="{263E96C7-E85A-B189-7AA5-F2E6FD9DD331}"/>
              </a:ext>
            </a:extLst>
          </p:cNvPr>
          <p:cNvGraphicFramePr>
            <a:graphicFrameLocks noGrp="1"/>
          </p:cNvGraphicFramePr>
          <p:nvPr>
            <p:extLst>
              <p:ext uri="{D42A27DB-BD31-4B8C-83A1-F6EECF244321}">
                <p14:modId xmlns:p14="http://schemas.microsoft.com/office/powerpoint/2010/main" val="3669120080"/>
              </p:ext>
            </p:extLst>
          </p:nvPr>
        </p:nvGraphicFramePr>
        <p:xfrm>
          <a:off x="447673" y="3537600"/>
          <a:ext cx="11505176" cy="1981200"/>
        </p:xfrm>
        <a:graphic>
          <a:graphicData uri="http://schemas.openxmlformats.org/drawingml/2006/table">
            <a:tbl>
              <a:tblPr/>
              <a:tblGrid>
                <a:gridCol w="1704481">
                  <a:extLst>
                    <a:ext uri="{9D8B030D-6E8A-4147-A177-3AD203B41FA5}">
                      <a16:colId xmlns:a16="http://schemas.microsoft.com/office/drawing/2014/main" val="1915549229"/>
                    </a:ext>
                  </a:extLst>
                </a:gridCol>
                <a:gridCol w="2045375">
                  <a:extLst>
                    <a:ext uri="{9D8B030D-6E8A-4147-A177-3AD203B41FA5}">
                      <a16:colId xmlns:a16="http://schemas.microsoft.com/office/drawing/2014/main" val="653332476"/>
                    </a:ext>
                  </a:extLst>
                </a:gridCol>
                <a:gridCol w="1960384">
                  <a:extLst>
                    <a:ext uri="{9D8B030D-6E8A-4147-A177-3AD203B41FA5}">
                      <a16:colId xmlns:a16="http://schemas.microsoft.com/office/drawing/2014/main" val="105128139"/>
                    </a:ext>
                  </a:extLst>
                </a:gridCol>
                <a:gridCol w="5794936">
                  <a:extLst>
                    <a:ext uri="{9D8B030D-6E8A-4147-A177-3AD203B41FA5}">
                      <a16:colId xmlns:a16="http://schemas.microsoft.com/office/drawing/2014/main" val="314110465"/>
                    </a:ext>
                  </a:extLst>
                </a:gridCol>
              </a:tblGrid>
              <a:tr h="0">
                <a:tc>
                  <a:txBody>
                    <a:bodyPr/>
                    <a:lstStyle/>
                    <a:p>
                      <a:pPr>
                        <a:buNone/>
                      </a:pPr>
                      <a:r>
                        <a:rPr lang="pt-BR" sz="2000" b="1" dirty="0"/>
                        <a:t>Função</a:t>
                      </a:r>
                    </a:p>
                  </a:txBody>
                  <a:tcPr anchor="ctr">
                    <a:lnL>
                      <a:noFill/>
                    </a:lnL>
                    <a:lnR>
                      <a:noFill/>
                    </a:lnR>
                    <a:lnT>
                      <a:noFill/>
                    </a:lnT>
                    <a:lnB>
                      <a:noFill/>
                    </a:lnB>
                    <a:noFill/>
                  </a:tcPr>
                </a:tc>
                <a:tc>
                  <a:txBody>
                    <a:bodyPr/>
                    <a:lstStyle/>
                    <a:p>
                      <a:pPr>
                        <a:buNone/>
                      </a:pPr>
                      <a:r>
                        <a:rPr lang="pt-BR" sz="2000" b="1" dirty="0"/>
                        <a:t>Vem de onde</a:t>
                      </a:r>
                    </a:p>
                  </a:txBody>
                  <a:tcPr anchor="ctr">
                    <a:lnL>
                      <a:noFill/>
                    </a:lnL>
                    <a:lnR>
                      <a:noFill/>
                    </a:lnR>
                    <a:lnT>
                      <a:noFill/>
                    </a:lnT>
                    <a:lnB>
                      <a:noFill/>
                    </a:lnB>
                    <a:noFill/>
                  </a:tcPr>
                </a:tc>
                <a:tc>
                  <a:txBody>
                    <a:bodyPr/>
                    <a:lstStyle/>
                    <a:p>
                      <a:pPr>
                        <a:buNone/>
                      </a:pPr>
                      <a:r>
                        <a:rPr lang="pt-BR" sz="2000" b="1" dirty="0"/>
                        <a:t>Trabalha com</a:t>
                      </a:r>
                    </a:p>
                  </a:txBody>
                  <a:tcPr anchor="ctr">
                    <a:lnL>
                      <a:noFill/>
                    </a:lnL>
                    <a:lnR>
                      <a:noFill/>
                    </a:lnR>
                    <a:lnT>
                      <a:noFill/>
                    </a:lnT>
                    <a:lnB>
                      <a:noFill/>
                    </a:lnB>
                    <a:noFill/>
                  </a:tcPr>
                </a:tc>
                <a:tc>
                  <a:txBody>
                    <a:bodyPr/>
                    <a:lstStyle/>
                    <a:p>
                      <a:pPr marL="185738" indent="0">
                        <a:buNone/>
                      </a:pPr>
                      <a:r>
                        <a:rPr lang="pt-BR" sz="2000" b="1" dirty="0"/>
                        <a:t>Faz o quê</a:t>
                      </a:r>
                    </a:p>
                  </a:txBody>
                  <a:tcPr anchor="ctr">
                    <a:lnL>
                      <a:noFill/>
                    </a:lnL>
                    <a:lnR>
                      <a:noFill/>
                    </a:lnR>
                    <a:lnT>
                      <a:noFill/>
                    </a:lnT>
                    <a:lnB>
                      <a:noFill/>
                    </a:lnB>
                    <a:noFill/>
                  </a:tcPr>
                </a:tc>
                <a:extLst>
                  <a:ext uri="{0D108BD9-81ED-4DB2-BD59-A6C34878D82A}">
                    <a16:rowId xmlns:a16="http://schemas.microsoft.com/office/drawing/2014/main" val="1817745185"/>
                  </a:ext>
                </a:extLst>
              </a:tr>
              <a:tr h="0">
                <a:tc>
                  <a:txBody>
                    <a:bodyPr/>
                    <a:lstStyle/>
                    <a:p>
                      <a:pPr>
                        <a:buNone/>
                      </a:pPr>
                      <a:r>
                        <a:rPr lang="pt-BR" sz="2000">
                          <a:latin typeface="Courier New" panose="02070309020205020404" pitchFamily="49" charset="0"/>
                        </a:rPr>
                        <a:t>dump()</a:t>
                      </a:r>
                      <a:endParaRPr lang="pt-BR" sz="2000"/>
                    </a:p>
                  </a:txBody>
                  <a:tcPr anchor="ctr">
                    <a:lnL>
                      <a:noFill/>
                    </a:lnL>
                    <a:lnR>
                      <a:noFill/>
                    </a:lnR>
                    <a:lnT>
                      <a:noFill/>
                    </a:lnT>
                    <a:lnB>
                      <a:noFill/>
                    </a:lnB>
                    <a:noFill/>
                  </a:tcPr>
                </a:tc>
                <a:tc>
                  <a:txBody>
                    <a:bodyPr/>
                    <a:lstStyle/>
                    <a:p>
                      <a:pPr marL="0" indent="0">
                        <a:buNone/>
                      </a:pPr>
                      <a:r>
                        <a:rPr lang="pt-BR" sz="2000" dirty="0" err="1">
                          <a:latin typeface="Courier New" panose="02070309020205020404" pitchFamily="49" charset="0"/>
                        </a:rPr>
                        <a:t>json.dump</a:t>
                      </a:r>
                      <a:r>
                        <a:rPr lang="pt-BR" sz="2000" dirty="0">
                          <a:latin typeface="Courier New" panose="02070309020205020404" pitchFamily="49" charset="0"/>
                        </a:rPr>
                        <a:t>()</a:t>
                      </a:r>
                      <a:endParaRPr lang="pt-BR" sz="2000" dirty="0"/>
                    </a:p>
                  </a:txBody>
                  <a:tcPr anchor="ctr">
                    <a:lnL>
                      <a:noFill/>
                    </a:lnL>
                    <a:lnR>
                      <a:noFill/>
                    </a:lnR>
                    <a:lnT>
                      <a:noFill/>
                    </a:lnT>
                    <a:lnB>
                      <a:noFill/>
                    </a:lnB>
                    <a:noFill/>
                  </a:tcPr>
                </a:tc>
                <a:tc>
                  <a:txBody>
                    <a:bodyPr/>
                    <a:lstStyle/>
                    <a:p>
                      <a:pPr>
                        <a:buNone/>
                      </a:pPr>
                      <a:r>
                        <a:rPr lang="pt-BR" sz="2000" dirty="0"/>
                        <a:t>Arquivo</a:t>
                      </a:r>
                    </a:p>
                  </a:txBody>
                  <a:tcPr anchor="ctr">
                    <a:lnL>
                      <a:noFill/>
                    </a:lnL>
                    <a:lnR>
                      <a:noFill/>
                    </a:lnR>
                    <a:lnT>
                      <a:noFill/>
                    </a:lnT>
                    <a:lnB>
                      <a:noFill/>
                    </a:lnB>
                    <a:noFill/>
                  </a:tcPr>
                </a:tc>
                <a:tc>
                  <a:txBody>
                    <a:bodyPr/>
                    <a:lstStyle/>
                    <a:p>
                      <a:pPr>
                        <a:buNone/>
                      </a:pPr>
                      <a:r>
                        <a:rPr lang="pt-BR" sz="2000" dirty="0"/>
                        <a:t>Grava JSON </a:t>
                      </a:r>
                      <a:r>
                        <a:rPr lang="pt-BR" sz="2000" b="1" dirty="0"/>
                        <a:t>em um arquivo</a:t>
                      </a:r>
                      <a:endParaRPr lang="pt-BR" sz="2000" dirty="0"/>
                    </a:p>
                  </a:txBody>
                  <a:tcPr anchor="ctr">
                    <a:lnL>
                      <a:noFill/>
                    </a:lnL>
                    <a:lnR>
                      <a:noFill/>
                    </a:lnR>
                    <a:lnT>
                      <a:noFill/>
                    </a:lnT>
                    <a:lnB>
                      <a:noFill/>
                    </a:lnB>
                    <a:noFill/>
                  </a:tcPr>
                </a:tc>
                <a:extLst>
                  <a:ext uri="{0D108BD9-81ED-4DB2-BD59-A6C34878D82A}">
                    <a16:rowId xmlns:a16="http://schemas.microsoft.com/office/drawing/2014/main" val="2065491342"/>
                  </a:ext>
                </a:extLst>
              </a:tr>
              <a:tr h="0">
                <a:tc>
                  <a:txBody>
                    <a:bodyPr/>
                    <a:lstStyle/>
                    <a:p>
                      <a:pPr>
                        <a:buNone/>
                      </a:pPr>
                      <a:r>
                        <a:rPr lang="pt-BR" sz="2000" dirty="0" err="1">
                          <a:latin typeface="Courier New" panose="02070309020205020404" pitchFamily="49" charset="0"/>
                        </a:rPr>
                        <a:t>dumps</a:t>
                      </a:r>
                      <a:r>
                        <a:rPr lang="pt-BR" sz="2000" dirty="0">
                          <a:latin typeface="Courier New" panose="02070309020205020404" pitchFamily="49" charset="0"/>
                        </a:rPr>
                        <a:t>()</a:t>
                      </a:r>
                      <a:endParaRPr lang="pt-BR" sz="2000" dirty="0"/>
                    </a:p>
                  </a:txBody>
                  <a:tcPr anchor="ctr">
                    <a:lnL>
                      <a:noFill/>
                    </a:lnL>
                    <a:lnR>
                      <a:noFill/>
                    </a:lnR>
                    <a:lnT>
                      <a:noFill/>
                    </a:lnT>
                    <a:lnB>
                      <a:noFill/>
                    </a:lnB>
                    <a:noFill/>
                  </a:tcPr>
                </a:tc>
                <a:tc>
                  <a:txBody>
                    <a:bodyPr/>
                    <a:lstStyle/>
                    <a:p>
                      <a:pPr>
                        <a:buNone/>
                      </a:pPr>
                      <a:r>
                        <a:rPr lang="pt-BR" sz="2000" dirty="0" err="1">
                          <a:latin typeface="Courier New" panose="02070309020205020404" pitchFamily="49" charset="0"/>
                        </a:rPr>
                        <a:t>json.dumps</a:t>
                      </a:r>
                      <a:r>
                        <a:rPr lang="pt-BR" sz="2000" dirty="0">
                          <a:latin typeface="Courier New" panose="02070309020205020404" pitchFamily="49" charset="0"/>
                        </a:rPr>
                        <a:t>()</a:t>
                      </a:r>
                      <a:endParaRPr lang="pt-BR" sz="2000" dirty="0"/>
                    </a:p>
                  </a:txBody>
                  <a:tcPr anchor="ctr">
                    <a:lnL>
                      <a:noFill/>
                    </a:lnL>
                    <a:lnR>
                      <a:noFill/>
                    </a:lnR>
                    <a:lnT>
                      <a:noFill/>
                    </a:lnT>
                    <a:lnB>
                      <a:noFill/>
                    </a:lnB>
                    <a:noFill/>
                  </a:tcPr>
                </a:tc>
                <a:tc>
                  <a:txBody>
                    <a:bodyPr/>
                    <a:lstStyle/>
                    <a:p>
                      <a:pPr>
                        <a:buNone/>
                      </a:pPr>
                      <a:r>
                        <a:rPr lang="pt-BR" sz="2000" dirty="0"/>
                        <a:t>String</a:t>
                      </a:r>
                    </a:p>
                  </a:txBody>
                  <a:tcPr anchor="ctr">
                    <a:lnL>
                      <a:noFill/>
                    </a:lnL>
                    <a:lnR>
                      <a:noFill/>
                    </a:lnR>
                    <a:lnT>
                      <a:noFill/>
                    </a:lnT>
                    <a:lnB>
                      <a:noFill/>
                    </a:lnB>
                    <a:noFill/>
                  </a:tcPr>
                </a:tc>
                <a:tc>
                  <a:txBody>
                    <a:bodyPr/>
                    <a:lstStyle/>
                    <a:p>
                      <a:pPr>
                        <a:buNone/>
                      </a:pPr>
                      <a:r>
                        <a:rPr lang="pt-BR" sz="2000" dirty="0"/>
                        <a:t>Converte objeto Python em </a:t>
                      </a:r>
                      <a:r>
                        <a:rPr lang="pt-BR" sz="2000" b="1" dirty="0"/>
                        <a:t>texto JSON</a:t>
                      </a:r>
                    </a:p>
                  </a:txBody>
                  <a:tcPr anchor="ctr">
                    <a:lnL>
                      <a:noFill/>
                    </a:lnL>
                    <a:lnR>
                      <a:noFill/>
                    </a:lnR>
                    <a:lnT>
                      <a:noFill/>
                    </a:lnT>
                    <a:lnB>
                      <a:noFill/>
                    </a:lnB>
                    <a:noFill/>
                  </a:tcPr>
                </a:tc>
                <a:extLst>
                  <a:ext uri="{0D108BD9-81ED-4DB2-BD59-A6C34878D82A}">
                    <a16:rowId xmlns:a16="http://schemas.microsoft.com/office/drawing/2014/main" val="1972602561"/>
                  </a:ext>
                </a:extLst>
              </a:tr>
              <a:tr h="0">
                <a:tc>
                  <a:txBody>
                    <a:bodyPr/>
                    <a:lstStyle/>
                    <a:p>
                      <a:pPr>
                        <a:buNone/>
                      </a:pPr>
                      <a:r>
                        <a:rPr lang="pt-BR" sz="2000" dirty="0">
                          <a:latin typeface="Courier New" panose="02070309020205020404" pitchFamily="49" charset="0"/>
                        </a:rPr>
                        <a:t>load()</a:t>
                      </a:r>
                      <a:endParaRPr lang="pt-BR" sz="2000" dirty="0"/>
                    </a:p>
                  </a:txBody>
                  <a:tcPr anchor="ctr">
                    <a:lnL>
                      <a:noFill/>
                    </a:lnL>
                    <a:lnR>
                      <a:noFill/>
                    </a:lnR>
                    <a:lnT>
                      <a:noFill/>
                    </a:lnT>
                    <a:lnB>
                      <a:noFill/>
                    </a:lnB>
                    <a:noFill/>
                  </a:tcPr>
                </a:tc>
                <a:tc>
                  <a:txBody>
                    <a:bodyPr/>
                    <a:lstStyle/>
                    <a:p>
                      <a:pPr>
                        <a:buNone/>
                      </a:pPr>
                      <a:r>
                        <a:rPr lang="pt-BR" sz="2000" dirty="0" err="1">
                          <a:latin typeface="Courier New" panose="02070309020205020404" pitchFamily="49" charset="0"/>
                        </a:rPr>
                        <a:t>json.load</a:t>
                      </a:r>
                      <a:r>
                        <a:rPr lang="pt-BR" sz="2000" dirty="0">
                          <a:latin typeface="Courier New" panose="02070309020205020404" pitchFamily="49" charset="0"/>
                        </a:rPr>
                        <a:t>()</a:t>
                      </a:r>
                      <a:endParaRPr lang="pt-BR" sz="2000" dirty="0"/>
                    </a:p>
                  </a:txBody>
                  <a:tcPr anchor="ctr">
                    <a:lnL>
                      <a:noFill/>
                    </a:lnL>
                    <a:lnR>
                      <a:noFill/>
                    </a:lnR>
                    <a:lnT>
                      <a:noFill/>
                    </a:lnT>
                    <a:lnB>
                      <a:noFill/>
                    </a:lnB>
                    <a:noFill/>
                  </a:tcPr>
                </a:tc>
                <a:tc>
                  <a:txBody>
                    <a:bodyPr/>
                    <a:lstStyle/>
                    <a:p>
                      <a:pPr>
                        <a:buNone/>
                      </a:pPr>
                      <a:r>
                        <a:rPr lang="pt-BR" sz="2000"/>
                        <a:t>Arquivo</a:t>
                      </a:r>
                    </a:p>
                  </a:txBody>
                  <a:tcPr anchor="ctr">
                    <a:lnL>
                      <a:noFill/>
                    </a:lnL>
                    <a:lnR>
                      <a:noFill/>
                    </a:lnR>
                    <a:lnT>
                      <a:noFill/>
                    </a:lnT>
                    <a:lnB>
                      <a:noFill/>
                    </a:lnB>
                    <a:noFill/>
                  </a:tcPr>
                </a:tc>
                <a:tc>
                  <a:txBody>
                    <a:bodyPr/>
                    <a:lstStyle/>
                    <a:p>
                      <a:pPr>
                        <a:buNone/>
                      </a:pPr>
                      <a:r>
                        <a:rPr lang="pt-BR" sz="2000"/>
                        <a:t>Lê JSON </a:t>
                      </a:r>
                      <a:r>
                        <a:rPr lang="pt-BR" sz="2000" b="1"/>
                        <a:t>de um arquivo</a:t>
                      </a:r>
                      <a:r>
                        <a:rPr lang="pt-BR" sz="2000"/>
                        <a:t> e transforma em Python</a:t>
                      </a:r>
                    </a:p>
                  </a:txBody>
                  <a:tcPr anchor="ctr">
                    <a:lnL>
                      <a:noFill/>
                    </a:lnL>
                    <a:lnR>
                      <a:noFill/>
                    </a:lnR>
                    <a:lnT>
                      <a:noFill/>
                    </a:lnT>
                    <a:lnB>
                      <a:noFill/>
                    </a:lnB>
                    <a:noFill/>
                  </a:tcPr>
                </a:tc>
                <a:extLst>
                  <a:ext uri="{0D108BD9-81ED-4DB2-BD59-A6C34878D82A}">
                    <a16:rowId xmlns:a16="http://schemas.microsoft.com/office/drawing/2014/main" val="2121420604"/>
                  </a:ext>
                </a:extLst>
              </a:tr>
              <a:tr h="0">
                <a:tc>
                  <a:txBody>
                    <a:bodyPr/>
                    <a:lstStyle/>
                    <a:p>
                      <a:pPr>
                        <a:buNone/>
                      </a:pPr>
                      <a:r>
                        <a:rPr lang="pt-BR" sz="2000">
                          <a:latin typeface="Courier New" panose="02070309020205020404" pitchFamily="49" charset="0"/>
                        </a:rPr>
                        <a:t>loads()</a:t>
                      </a:r>
                      <a:endParaRPr lang="pt-BR" sz="2000"/>
                    </a:p>
                  </a:txBody>
                  <a:tcPr anchor="ctr">
                    <a:lnL>
                      <a:noFill/>
                    </a:lnL>
                    <a:lnR>
                      <a:noFill/>
                    </a:lnR>
                    <a:lnT>
                      <a:noFill/>
                    </a:lnT>
                    <a:lnB>
                      <a:noFill/>
                    </a:lnB>
                    <a:noFill/>
                  </a:tcPr>
                </a:tc>
                <a:tc>
                  <a:txBody>
                    <a:bodyPr/>
                    <a:lstStyle/>
                    <a:p>
                      <a:pPr>
                        <a:buNone/>
                      </a:pPr>
                      <a:r>
                        <a:rPr lang="pt-BR" sz="2000">
                          <a:latin typeface="Courier New" panose="02070309020205020404" pitchFamily="49" charset="0"/>
                        </a:rPr>
                        <a:t>json.loads()</a:t>
                      </a:r>
                      <a:endParaRPr lang="pt-BR" sz="2000"/>
                    </a:p>
                  </a:txBody>
                  <a:tcPr anchor="ctr">
                    <a:lnL>
                      <a:noFill/>
                    </a:lnL>
                    <a:lnR>
                      <a:noFill/>
                    </a:lnR>
                    <a:lnT>
                      <a:noFill/>
                    </a:lnT>
                    <a:lnB>
                      <a:noFill/>
                    </a:lnB>
                    <a:noFill/>
                  </a:tcPr>
                </a:tc>
                <a:tc>
                  <a:txBody>
                    <a:bodyPr/>
                    <a:lstStyle/>
                    <a:p>
                      <a:pPr>
                        <a:buNone/>
                      </a:pPr>
                      <a:r>
                        <a:rPr lang="pt-BR" sz="2000"/>
                        <a:t>String</a:t>
                      </a:r>
                    </a:p>
                  </a:txBody>
                  <a:tcPr anchor="ctr">
                    <a:lnL>
                      <a:noFill/>
                    </a:lnL>
                    <a:lnR>
                      <a:noFill/>
                    </a:lnR>
                    <a:lnT>
                      <a:noFill/>
                    </a:lnT>
                    <a:lnB>
                      <a:noFill/>
                    </a:lnB>
                    <a:noFill/>
                  </a:tcPr>
                </a:tc>
                <a:tc>
                  <a:txBody>
                    <a:bodyPr/>
                    <a:lstStyle/>
                    <a:p>
                      <a:pPr>
                        <a:buNone/>
                      </a:pPr>
                      <a:r>
                        <a:rPr lang="pt-BR" sz="2000" dirty="0"/>
                        <a:t>Lê JSON </a:t>
                      </a:r>
                      <a:r>
                        <a:rPr lang="pt-BR" sz="2000" b="1" dirty="0"/>
                        <a:t>de uma string</a:t>
                      </a:r>
                      <a:r>
                        <a:rPr lang="pt-BR" sz="2000" dirty="0"/>
                        <a:t> e transforma em Python</a:t>
                      </a:r>
                    </a:p>
                  </a:txBody>
                  <a:tcPr anchor="ctr">
                    <a:lnL>
                      <a:noFill/>
                    </a:lnL>
                    <a:lnR>
                      <a:noFill/>
                    </a:lnR>
                    <a:lnT>
                      <a:noFill/>
                    </a:lnT>
                    <a:lnB>
                      <a:noFill/>
                    </a:lnB>
                    <a:noFill/>
                  </a:tcPr>
                </a:tc>
                <a:extLst>
                  <a:ext uri="{0D108BD9-81ED-4DB2-BD59-A6C34878D82A}">
                    <a16:rowId xmlns:a16="http://schemas.microsoft.com/office/drawing/2014/main" val="48578567"/>
                  </a:ext>
                </a:extLst>
              </a:tr>
            </a:tbl>
          </a:graphicData>
        </a:graphic>
      </p:graphicFrame>
      <p:sp>
        <p:nvSpPr>
          <p:cNvPr id="8" name="Rectangle 1">
            <a:extLst>
              <a:ext uri="{FF2B5EF4-FFF2-40B4-BE49-F238E27FC236}">
                <a16:creationId xmlns:a16="http://schemas.microsoft.com/office/drawing/2014/main" id="{7B843F13-7BF6-3DEC-5BCB-6A7B62D5DB2C}"/>
              </a:ext>
            </a:extLst>
          </p:cNvPr>
          <p:cNvSpPr>
            <a:spLocks noChangeArrowheads="1"/>
          </p:cNvSpPr>
          <p:nvPr/>
        </p:nvSpPr>
        <p:spPr bwMode="auto">
          <a:xfrm>
            <a:off x="476843" y="2965453"/>
            <a:ext cx="106318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2400" b="0" i="0" u="none" strike="noStrike" cap="none" normalizeH="0" baseline="0" dirty="0">
                <a:ln>
                  <a:noFill/>
                </a:ln>
                <a:solidFill>
                  <a:schemeClr val="tx1"/>
                </a:solidFill>
                <a:effectLst/>
                <a:latin typeface="Arial" panose="020B0604020202020204" pitchFamily="34" charset="0"/>
              </a:rPr>
              <a:t>Essas quatro funções servem para </a:t>
            </a:r>
            <a:r>
              <a:rPr kumimoji="0" lang="pt-BR" altLang="pt-BR" sz="2400" b="1" i="0" u="none" strike="noStrike" cap="none" normalizeH="0" baseline="0" dirty="0">
                <a:ln>
                  <a:noFill/>
                </a:ln>
                <a:solidFill>
                  <a:schemeClr val="tx1"/>
                </a:solidFill>
                <a:effectLst/>
                <a:latin typeface="Arial" panose="020B0604020202020204" pitchFamily="34" charset="0"/>
              </a:rPr>
              <a:t>converter entre Python e JSON</a:t>
            </a:r>
            <a:r>
              <a:rPr kumimoji="0" lang="pt-BR" altLang="pt-BR" sz="2400" b="0" i="0" u="none" strike="noStrike" cap="none" normalizeH="0" baseline="0" dirty="0">
                <a:ln>
                  <a:noFill/>
                </a:ln>
                <a:solidFill>
                  <a:schemeClr val="tx1"/>
                </a:solidFill>
                <a:effectLst/>
                <a:latin typeface="Arial" panose="020B0604020202020204" pitchFamily="34" charset="0"/>
              </a:rPr>
              <a:t>, mas </a:t>
            </a:r>
          </a:p>
        </p:txBody>
      </p:sp>
      <p:sp>
        <p:nvSpPr>
          <p:cNvPr id="11" name="Rectangle 2">
            <a:extLst>
              <a:ext uri="{FF2B5EF4-FFF2-40B4-BE49-F238E27FC236}">
                <a16:creationId xmlns:a16="http://schemas.microsoft.com/office/drawing/2014/main" id="{F18AB906-00CF-A22B-88F4-502FC2BD94DD}"/>
              </a:ext>
            </a:extLst>
          </p:cNvPr>
          <p:cNvSpPr>
            <a:spLocks noChangeArrowheads="1"/>
          </p:cNvSpPr>
          <p:nvPr/>
        </p:nvSpPr>
        <p:spPr bwMode="auto">
          <a:xfrm>
            <a:off x="476843" y="5782070"/>
            <a:ext cx="67669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800" b="0" i="0" u="none" strike="noStrike" cap="none" normalizeH="0" baseline="0" dirty="0">
                <a:ln>
                  <a:noFill/>
                </a:ln>
                <a:solidFill>
                  <a:schemeClr val="tx1"/>
                </a:solidFill>
                <a:effectLst/>
                <a:latin typeface="Arial" panose="020B0604020202020204" pitchFamily="34" charset="0"/>
              </a:rPr>
              <a:t>👉 </a:t>
            </a:r>
            <a:r>
              <a:rPr kumimoji="0" lang="pt-BR" altLang="pt-BR" sz="1800" b="1" i="0" u="none" strike="noStrike" cap="none" normalizeH="0" baseline="0" dirty="0">
                <a:ln>
                  <a:noFill/>
                </a:ln>
                <a:solidFill>
                  <a:schemeClr val="tx1"/>
                </a:solidFill>
                <a:effectLst/>
                <a:latin typeface="Arial" panose="020B0604020202020204" pitchFamily="34" charset="0"/>
              </a:rPr>
              <a:t>"s" no final</a:t>
            </a:r>
            <a:r>
              <a:rPr kumimoji="0" lang="pt-BR" altLang="pt-BR" sz="1800" b="0" i="0" u="none" strike="noStrike" cap="none" normalizeH="0" baseline="0" dirty="0">
                <a:ln>
                  <a:noFill/>
                </a:ln>
                <a:solidFill>
                  <a:schemeClr val="tx1"/>
                </a:solidFill>
                <a:effectLst/>
                <a:latin typeface="Arial" panose="020B0604020202020204" pitchFamily="34" charset="0"/>
              </a:rPr>
              <a:t> significa </a:t>
            </a:r>
            <a:r>
              <a:rPr kumimoji="0" lang="pt-BR" altLang="pt-BR" sz="1800" b="1" i="0" u="none" strike="noStrike" cap="none" normalizeH="0" baseline="0" dirty="0">
                <a:ln>
                  <a:noFill/>
                </a:ln>
                <a:solidFill>
                  <a:schemeClr val="tx1"/>
                </a:solidFill>
                <a:effectLst/>
                <a:latin typeface="Arial" panose="020B0604020202020204" pitchFamily="34" charset="0"/>
              </a:rPr>
              <a:t>string   </a:t>
            </a:r>
            <a:r>
              <a:rPr kumimoji="0" lang="pt-BR" altLang="pt-BR" sz="1800" b="0" i="0" u="none" strike="noStrike" cap="none" normalizeH="0" baseline="0" dirty="0">
                <a:ln>
                  <a:noFill/>
                </a:ln>
                <a:solidFill>
                  <a:schemeClr val="tx1"/>
                </a:solidFill>
                <a:effectLst/>
                <a:latin typeface="Arial" panose="020B0604020202020204" pitchFamily="34" charset="0"/>
              </a:rPr>
              <a:t>👉 </a:t>
            </a:r>
            <a:r>
              <a:rPr kumimoji="0" lang="pt-BR" altLang="pt-BR" sz="1800" b="1" i="0" u="none" strike="noStrike" cap="none" normalizeH="0" baseline="0" dirty="0">
                <a:ln>
                  <a:noFill/>
                </a:ln>
                <a:solidFill>
                  <a:schemeClr val="tx1"/>
                </a:solidFill>
                <a:effectLst/>
                <a:latin typeface="Arial" panose="020B0604020202020204" pitchFamily="34" charset="0"/>
              </a:rPr>
              <a:t>sem "s"</a:t>
            </a:r>
            <a:r>
              <a:rPr kumimoji="0" lang="pt-BR" altLang="pt-BR" sz="1800" b="0" i="0" u="none" strike="noStrike" cap="none" normalizeH="0" baseline="0" dirty="0">
                <a:ln>
                  <a:noFill/>
                </a:ln>
                <a:solidFill>
                  <a:schemeClr val="tx1"/>
                </a:solidFill>
                <a:effectLst/>
                <a:latin typeface="Arial" panose="020B0604020202020204" pitchFamily="34" charset="0"/>
              </a:rPr>
              <a:t> significa </a:t>
            </a:r>
            <a:r>
              <a:rPr kumimoji="0" lang="pt-BR" altLang="pt-BR" sz="1800" b="1" i="0" u="none" strike="noStrike" cap="none" normalizeH="0" baseline="0" dirty="0">
                <a:ln>
                  <a:noFill/>
                </a:ln>
                <a:solidFill>
                  <a:schemeClr val="tx1"/>
                </a:solidFill>
                <a:effectLst/>
                <a:latin typeface="Arial" panose="020B0604020202020204" pitchFamily="34" charset="0"/>
              </a:rPr>
              <a:t>arquivo</a:t>
            </a:r>
          </a:p>
        </p:txBody>
      </p:sp>
    </p:spTree>
    <p:extLst>
      <p:ext uri="{BB962C8B-B14F-4D97-AF65-F5344CB8AC3E}">
        <p14:creationId xmlns:p14="http://schemas.microsoft.com/office/powerpoint/2010/main" val="2791154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738145E1-CFD9-9F49-4422-97320125B8A9}"/>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87EFBFE-4147-A0FA-1493-C2976F94A3E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39DED7B2-6017-F5B1-A745-0EF9C9E73523}"/>
              </a:ext>
            </a:extLst>
          </p:cNvPr>
          <p:cNvSpPr>
            <a:spLocks noGrp="1"/>
          </p:cNvSpPr>
          <p:nvPr>
            <p:ph type="sldNum" sz="quarter" idx="12"/>
          </p:nvPr>
        </p:nvSpPr>
        <p:spPr/>
        <p:txBody>
          <a:bodyPr/>
          <a:lstStyle/>
          <a:p>
            <a:pPr algn="r"/>
            <a:fld id="{250292FE-8D56-4E3A-9427-CB428FF60A53}" type="slidenum">
              <a:rPr lang="pt-BR" b="1" smtClean="0"/>
              <a:pPr algn="r"/>
              <a:t>22</a:t>
            </a:fld>
            <a:endParaRPr lang="pt-BR" b="1" dirty="0"/>
          </a:p>
        </p:txBody>
      </p:sp>
      <p:sp>
        <p:nvSpPr>
          <p:cNvPr id="5" name="Título 4">
            <a:extLst>
              <a:ext uri="{FF2B5EF4-FFF2-40B4-BE49-F238E27FC236}">
                <a16:creationId xmlns:a16="http://schemas.microsoft.com/office/drawing/2014/main" id="{AA0B0CF2-39A1-D947-D813-BC3A2B94FC1C}"/>
              </a:ext>
            </a:extLst>
          </p:cNvPr>
          <p:cNvSpPr>
            <a:spLocks noGrp="1"/>
          </p:cNvSpPr>
          <p:nvPr>
            <p:ph type="title"/>
          </p:nvPr>
        </p:nvSpPr>
        <p:spPr/>
        <p:txBody>
          <a:bodyPr/>
          <a:lstStyle/>
          <a:p>
            <a:pPr algn="ctr"/>
            <a:r>
              <a:rPr lang="pt-BR" b="1" i="1" dirty="0"/>
              <a:t>Exemplo-JSON</a:t>
            </a:r>
          </a:p>
        </p:txBody>
      </p:sp>
      <p:sp>
        <p:nvSpPr>
          <p:cNvPr id="9" name="CaixaDeTexto 8">
            <a:extLst>
              <a:ext uri="{FF2B5EF4-FFF2-40B4-BE49-F238E27FC236}">
                <a16:creationId xmlns:a16="http://schemas.microsoft.com/office/drawing/2014/main" id="{08D58F06-A5BE-2781-A067-FEFC3D35AE44}"/>
              </a:ext>
            </a:extLst>
          </p:cNvPr>
          <p:cNvSpPr txBox="1"/>
          <p:nvPr/>
        </p:nvSpPr>
        <p:spPr>
          <a:xfrm>
            <a:off x="389334" y="1307655"/>
            <a:ext cx="7725965" cy="2062103"/>
          </a:xfrm>
          <a:prstGeom prst="rect">
            <a:avLst/>
          </a:prstGeom>
          <a:noFill/>
        </p:spPr>
        <p:txBody>
          <a:bodyPr wrap="square">
            <a:spAutoFit/>
          </a:bodyPr>
          <a:lstStyle/>
          <a:p>
            <a:r>
              <a:rPr lang="pt-BR" dirty="0" err="1"/>
              <a:t>import</a:t>
            </a:r>
            <a:r>
              <a:rPr lang="pt-BR" dirty="0"/>
              <a:t> </a:t>
            </a:r>
            <a:r>
              <a:rPr lang="pt-BR" dirty="0" err="1"/>
              <a:t>json</a:t>
            </a:r>
            <a:endParaRPr lang="pt-BR" dirty="0"/>
          </a:p>
          <a:p>
            <a:endParaRPr lang="pt-BR" dirty="0"/>
          </a:p>
          <a:p>
            <a:r>
              <a:rPr lang="pt-BR" dirty="0"/>
              <a:t>dados = {"nome": "Ana", "idade": 25, "cursos": ["Python", "Django"]}</a:t>
            </a:r>
          </a:p>
          <a:p>
            <a:endParaRPr lang="pt-BR" sz="1000" dirty="0"/>
          </a:p>
          <a:p>
            <a:r>
              <a:rPr lang="pt-BR" dirty="0"/>
              <a:t># Converte o dicionário em uma string JSON</a:t>
            </a:r>
          </a:p>
          <a:p>
            <a:r>
              <a:rPr lang="pt-BR" dirty="0" err="1"/>
              <a:t>json_texto</a:t>
            </a:r>
            <a:r>
              <a:rPr lang="pt-BR" dirty="0"/>
              <a:t> = </a:t>
            </a:r>
            <a:r>
              <a:rPr lang="pt-BR" dirty="0" err="1"/>
              <a:t>json.dumps</a:t>
            </a:r>
            <a:r>
              <a:rPr lang="pt-BR" dirty="0"/>
              <a:t>(dados)</a:t>
            </a:r>
          </a:p>
          <a:p>
            <a:endParaRPr lang="pt-BR" sz="1000" dirty="0"/>
          </a:p>
          <a:p>
            <a:r>
              <a:rPr lang="pt-BR" dirty="0"/>
              <a:t>print(</a:t>
            </a:r>
            <a:r>
              <a:rPr lang="pt-BR" dirty="0" err="1"/>
              <a:t>json_texto</a:t>
            </a:r>
            <a:r>
              <a:rPr lang="pt-BR" dirty="0"/>
              <a:t>)</a:t>
            </a:r>
          </a:p>
        </p:txBody>
      </p:sp>
      <p:sp>
        <p:nvSpPr>
          <p:cNvPr id="11" name="CaixaDeTexto 10">
            <a:extLst>
              <a:ext uri="{FF2B5EF4-FFF2-40B4-BE49-F238E27FC236}">
                <a16:creationId xmlns:a16="http://schemas.microsoft.com/office/drawing/2014/main" id="{7A53F8E6-F885-8D4A-E7CD-4BC897374092}"/>
              </a:ext>
            </a:extLst>
          </p:cNvPr>
          <p:cNvSpPr txBox="1"/>
          <p:nvPr/>
        </p:nvSpPr>
        <p:spPr>
          <a:xfrm>
            <a:off x="382671" y="3672948"/>
            <a:ext cx="7232554" cy="369332"/>
          </a:xfrm>
          <a:prstGeom prst="rect">
            <a:avLst/>
          </a:prstGeom>
          <a:noFill/>
        </p:spPr>
        <p:txBody>
          <a:bodyPr wrap="square">
            <a:spAutoFit/>
          </a:bodyPr>
          <a:lstStyle/>
          <a:p>
            <a:r>
              <a:rPr lang="pt-BR" b="1" dirty="0"/>
              <a:t>Saída : </a:t>
            </a:r>
            <a:r>
              <a:rPr lang="pt-BR" dirty="0"/>
              <a:t>{"nome": "Ana", "idade": 25, "cursos": ["Python", "Django"]}</a:t>
            </a:r>
          </a:p>
        </p:txBody>
      </p:sp>
      <p:sp>
        <p:nvSpPr>
          <p:cNvPr id="12" name="CaixaDeTexto 11">
            <a:extLst>
              <a:ext uri="{FF2B5EF4-FFF2-40B4-BE49-F238E27FC236}">
                <a16:creationId xmlns:a16="http://schemas.microsoft.com/office/drawing/2014/main" id="{23D8335C-3251-005D-256E-737933961DBA}"/>
              </a:ext>
            </a:extLst>
          </p:cNvPr>
          <p:cNvSpPr txBox="1"/>
          <p:nvPr/>
        </p:nvSpPr>
        <p:spPr>
          <a:xfrm>
            <a:off x="385759" y="3700452"/>
            <a:ext cx="1145858" cy="369332"/>
          </a:xfrm>
          <a:prstGeom prst="rect">
            <a:avLst/>
          </a:prstGeom>
          <a:noFill/>
        </p:spPr>
        <p:txBody>
          <a:bodyPr wrap="square" rtlCol="0">
            <a:spAutoFit/>
          </a:bodyPr>
          <a:lstStyle/>
          <a:p>
            <a:r>
              <a:rPr lang="pt-BR" dirty="0"/>
              <a:t> </a:t>
            </a:r>
          </a:p>
        </p:txBody>
      </p:sp>
      <p:sp>
        <p:nvSpPr>
          <p:cNvPr id="13" name="CaixaDeTexto 12">
            <a:extLst>
              <a:ext uri="{FF2B5EF4-FFF2-40B4-BE49-F238E27FC236}">
                <a16:creationId xmlns:a16="http://schemas.microsoft.com/office/drawing/2014/main" id="{E67FAA0F-C78D-5CFE-FC97-FF2A701635DC}"/>
              </a:ext>
            </a:extLst>
          </p:cNvPr>
          <p:cNvSpPr txBox="1"/>
          <p:nvPr/>
        </p:nvSpPr>
        <p:spPr>
          <a:xfrm>
            <a:off x="371471" y="4157654"/>
            <a:ext cx="7358066" cy="369332"/>
          </a:xfrm>
          <a:prstGeom prst="rect">
            <a:avLst/>
          </a:prstGeom>
          <a:noFill/>
        </p:spPr>
        <p:txBody>
          <a:bodyPr wrap="square" rtlCol="0">
            <a:spAutoFit/>
          </a:bodyPr>
          <a:lstStyle/>
          <a:p>
            <a:r>
              <a:rPr lang="pt-BR" dirty="0" err="1"/>
              <a:t>json.dump</a:t>
            </a:r>
            <a:r>
              <a:rPr lang="pt-BR" dirty="0"/>
              <a:t>() → grava Python como </a:t>
            </a:r>
            <a:r>
              <a:rPr lang="pt-BR" b="1" dirty="0"/>
              <a:t>JSON em arquivo</a:t>
            </a:r>
            <a:endParaRPr lang="pt-BR" dirty="0"/>
          </a:p>
        </p:txBody>
      </p:sp>
      <p:sp>
        <p:nvSpPr>
          <p:cNvPr id="14" name="CaixaDeTexto 13">
            <a:extLst>
              <a:ext uri="{FF2B5EF4-FFF2-40B4-BE49-F238E27FC236}">
                <a16:creationId xmlns:a16="http://schemas.microsoft.com/office/drawing/2014/main" id="{EAFB8EB2-425E-FA3B-2F1F-029B7B8D38D4}"/>
              </a:ext>
            </a:extLst>
          </p:cNvPr>
          <p:cNvSpPr txBox="1"/>
          <p:nvPr/>
        </p:nvSpPr>
        <p:spPr>
          <a:xfrm>
            <a:off x="385759" y="4643428"/>
            <a:ext cx="9572629" cy="1785104"/>
          </a:xfrm>
          <a:prstGeom prst="rect">
            <a:avLst/>
          </a:prstGeom>
          <a:noFill/>
        </p:spPr>
        <p:txBody>
          <a:bodyPr wrap="square" rtlCol="0">
            <a:spAutoFit/>
          </a:bodyPr>
          <a:lstStyle/>
          <a:p>
            <a:r>
              <a:rPr lang="pt-BR" dirty="0" err="1"/>
              <a:t>import</a:t>
            </a:r>
            <a:r>
              <a:rPr lang="pt-BR" dirty="0"/>
              <a:t> json</a:t>
            </a:r>
          </a:p>
          <a:p>
            <a:endParaRPr lang="pt-BR" sz="1000" dirty="0"/>
          </a:p>
          <a:p>
            <a:r>
              <a:rPr lang="pt-BR" dirty="0"/>
              <a:t>dados = {"nome": "Ana", "idade": 25, "cursos": ["Python", "Django"]}</a:t>
            </a:r>
          </a:p>
          <a:p>
            <a:endParaRPr lang="pt-BR" sz="1000" dirty="0"/>
          </a:p>
          <a:p>
            <a:r>
              <a:rPr lang="pt-BR" dirty="0"/>
              <a:t>with open("</a:t>
            </a:r>
            <a:r>
              <a:rPr lang="pt-BR" dirty="0" err="1"/>
              <a:t>dados.json</a:t>
            </a:r>
            <a:r>
              <a:rPr lang="pt-BR" dirty="0"/>
              <a:t>", "w") as arquivo:</a:t>
            </a:r>
          </a:p>
          <a:p>
            <a:r>
              <a:rPr lang="pt-BR" dirty="0"/>
              <a:t>    </a:t>
            </a:r>
            <a:r>
              <a:rPr lang="pt-BR" dirty="0" err="1"/>
              <a:t>json.dump</a:t>
            </a:r>
            <a:r>
              <a:rPr lang="pt-BR" dirty="0"/>
              <a:t>(dados, arquivo)  # escreve o JSON no arquivo</a:t>
            </a:r>
          </a:p>
          <a:p>
            <a:endParaRPr lang="pt-BR" dirty="0"/>
          </a:p>
        </p:txBody>
      </p:sp>
    </p:spTree>
    <p:extLst>
      <p:ext uri="{BB962C8B-B14F-4D97-AF65-F5344CB8AC3E}">
        <p14:creationId xmlns:p14="http://schemas.microsoft.com/office/powerpoint/2010/main" val="155204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927B28C-A577-04A5-236F-24C55298E35B}"/>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5623B78-2BC0-8280-CE7A-FC88DF3526B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643ADED-6673-C603-938E-E63EF059CC95}"/>
              </a:ext>
            </a:extLst>
          </p:cNvPr>
          <p:cNvSpPr>
            <a:spLocks noGrp="1"/>
          </p:cNvSpPr>
          <p:nvPr>
            <p:ph type="sldNum" sz="quarter" idx="12"/>
          </p:nvPr>
        </p:nvSpPr>
        <p:spPr/>
        <p:txBody>
          <a:bodyPr/>
          <a:lstStyle/>
          <a:p>
            <a:pPr algn="r"/>
            <a:fld id="{250292FE-8D56-4E3A-9427-CB428FF60A53}" type="slidenum">
              <a:rPr lang="pt-BR" b="1" smtClean="0"/>
              <a:pPr algn="r"/>
              <a:t>23</a:t>
            </a:fld>
            <a:endParaRPr lang="pt-BR" b="1" dirty="0"/>
          </a:p>
        </p:txBody>
      </p:sp>
      <p:sp>
        <p:nvSpPr>
          <p:cNvPr id="5" name="Título 4">
            <a:extLst>
              <a:ext uri="{FF2B5EF4-FFF2-40B4-BE49-F238E27FC236}">
                <a16:creationId xmlns:a16="http://schemas.microsoft.com/office/drawing/2014/main" id="{586C9FD2-DCE1-AB34-DCA1-CFE473A674F5}"/>
              </a:ext>
            </a:extLst>
          </p:cNvPr>
          <p:cNvSpPr>
            <a:spLocks noGrp="1"/>
          </p:cNvSpPr>
          <p:nvPr>
            <p:ph type="title"/>
          </p:nvPr>
        </p:nvSpPr>
        <p:spPr/>
        <p:txBody>
          <a:bodyPr/>
          <a:lstStyle/>
          <a:p>
            <a:pPr algn="ctr"/>
            <a:r>
              <a:rPr lang="pt-BR" b="1" i="1" dirty="0"/>
              <a:t>Exemplo-JSON</a:t>
            </a:r>
            <a:endParaRPr lang="pt-BR" dirty="0"/>
          </a:p>
        </p:txBody>
      </p:sp>
      <p:sp>
        <p:nvSpPr>
          <p:cNvPr id="7" name="CaixaDeTexto 6">
            <a:extLst>
              <a:ext uri="{FF2B5EF4-FFF2-40B4-BE49-F238E27FC236}">
                <a16:creationId xmlns:a16="http://schemas.microsoft.com/office/drawing/2014/main" id="{EA54E870-3316-CF6B-D229-FA3B7700F4A9}"/>
              </a:ext>
            </a:extLst>
          </p:cNvPr>
          <p:cNvSpPr txBox="1"/>
          <p:nvPr/>
        </p:nvSpPr>
        <p:spPr>
          <a:xfrm>
            <a:off x="375048" y="1572696"/>
            <a:ext cx="6093618" cy="369332"/>
          </a:xfrm>
          <a:prstGeom prst="rect">
            <a:avLst/>
          </a:prstGeom>
          <a:noFill/>
        </p:spPr>
        <p:txBody>
          <a:bodyPr wrap="square">
            <a:spAutoFit/>
          </a:bodyPr>
          <a:lstStyle/>
          <a:p>
            <a:r>
              <a:rPr lang="pt-BR" dirty="0" err="1">
                <a:latin typeface="Courier New" panose="02070309020205020404" pitchFamily="49" charset="0"/>
              </a:rPr>
              <a:t>json.loads</a:t>
            </a:r>
            <a:r>
              <a:rPr lang="pt-BR" dirty="0">
                <a:latin typeface="Courier New" panose="02070309020205020404" pitchFamily="49" charset="0"/>
              </a:rPr>
              <a:t>()</a:t>
            </a:r>
            <a:r>
              <a:rPr lang="pt-BR" dirty="0"/>
              <a:t> → transforma </a:t>
            </a:r>
            <a:r>
              <a:rPr lang="pt-BR" b="1" dirty="0"/>
              <a:t>string JSON</a:t>
            </a:r>
            <a:r>
              <a:rPr lang="pt-BR" dirty="0"/>
              <a:t> em Python</a:t>
            </a:r>
          </a:p>
        </p:txBody>
      </p:sp>
      <p:sp>
        <p:nvSpPr>
          <p:cNvPr id="9" name="CaixaDeTexto 8">
            <a:extLst>
              <a:ext uri="{FF2B5EF4-FFF2-40B4-BE49-F238E27FC236}">
                <a16:creationId xmlns:a16="http://schemas.microsoft.com/office/drawing/2014/main" id="{B65BEF5B-1F2A-3069-F3D4-87D641C15A71}"/>
              </a:ext>
            </a:extLst>
          </p:cNvPr>
          <p:cNvSpPr txBox="1"/>
          <p:nvPr/>
        </p:nvSpPr>
        <p:spPr>
          <a:xfrm>
            <a:off x="375047" y="1997839"/>
            <a:ext cx="7154465" cy="2585323"/>
          </a:xfrm>
          <a:prstGeom prst="rect">
            <a:avLst/>
          </a:prstGeom>
          <a:noFill/>
        </p:spPr>
        <p:txBody>
          <a:bodyPr wrap="square">
            <a:spAutoFit/>
          </a:bodyPr>
          <a:lstStyle/>
          <a:p>
            <a:r>
              <a:rPr lang="pt-BR" dirty="0" err="1"/>
              <a:t>import</a:t>
            </a:r>
            <a:r>
              <a:rPr lang="pt-BR" dirty="0"/>
              <a:t> json</a:t>
            </a:r>
          </a:p>
          <a:p>
            <a:endParaRPr lang="pt-BR" dirty="0"/>
          </a:p>
          <a:p>
            <a:r>
              <a:rPr lang="pt-BR" dirty="0"/>
              <a:t>texto = '{"nome": "Ana", "idade": 25, "cursos": ["Python", "Django"]}'</a:t>
            </a:r>
          </a:p>
          <a:p>
            <a:endParaRPr lang="pt-BR" dirty="0"/>
          </a:p>
          <a:p>
            <a:r>
              <a:rPr lang="pt-BR" dirty="0"/>
              <a:t># Converte a string JSON em um dicionário Python</a:t>
            </a:r>
          </a:p>
          <a:p>
            <a:r>
              <a:rPr lang="pt-BR" dirty="0"/>
              <a:t>dados = </a:t>
            </a:r>
            <a:r>
              <a:rPr lang="pt-BR" dirty="0" err="1"/>
              <a:t>json.loads</a:t>
            </a:r>
            <a:r>
              <a:rPr lang="pt-BR" dirty="0"/>
              <a:t>(texto)</a:t>
            </a:r>
          </a:p>
          <a:p>
            <a:endParaRPr lang="pt-BR" dirty="0"/>
          </a:p>
          <a:p>
            <a:r>
              <a:rPr lang="pt-BR" dirty="0"/>
              <a:t>print(dados["nome"])  # Saída: Ana</a:t>
            </a:r>
          </a:p>
          <a:p>
            <a:r>
              <a:rPr lang="pt-BR" dirty="0"/>
              <a:t>print(</a:t>
            </a:r>
            <a:r>
              <a:rPr lang="pt-BR" dirty="0" err="1"/>
              <a:t>type</a:t>
            </a:r>
            <a:r>
              <a:rPr lang="pt-BR" dirty="0"/>
              <a:t>(dados))    # Saída: &lt;</a:t>
            </a:r>
            <a:r>
              <a:rPr lang="pt-BR" dirty="0" err="1"/>
              <a:t>class</a:t>
            </a:r>
            <a:r>
              <a:rPr lang="pt-BR" dirty="0"/>
              <a:t> 'dict'&gt;</a:t>
            </a:r>
          </a:p>
        </p:txBody>
      </p:sp>
      <p:sp>
        <p:nvSpPr>
          <p:cNvPr id="11" name="CaixaDeTexto 10">
            <a:extLst>
              <a:ext uri="{FF2B5EF4-FFF2-40B4-BE49-F238E27FC236}">
                <a16:creationId xmlns:a16="http://schemas.microsoft.com/office/drawing/2014/main" id="{A4401B73-A031-BE3E-4521-5509ACD20BB0}"/>
              </a:ext>
            </a:extLst>
          </p:cNvPr>
          <p:cNvSpPr txBox="1"/>
          <p:nvPr/>
        </p:nvSpPr>
        <p:spPr>
          <a:xfrm>
            <a:off x="385765" y="4823424"/>
            <a:ext cx="6093618" cy="646331"/>
          </a:xfrm>
          <a:prstGeom prst="rect">
            <a:avLst/>
          </a:prstGeom>
          <a:noFill/>
        </p:spPr>
        <p:txBody>
          <a:bodyPr wrap="square">
            <a:spAutoFit/>
          </a:bodyPr>
          <a:lstStyle/>
          <a:p>
            <a:r>
              <a:rPr lang="pt-BR" dirty="0"/>
              <a:t>{'nome': 'Ana', 'idade': 25, 'cursos': ['Python', 'Django']}</a:t>
            </a:r>
          </a:p>
          <a:p>
            <a:r>
              <a:rPr lang="pt-BR" dirty="0"/>
              <a:t>&lt;</a:t>
            </a:r>
            <a:r>
              <a:rPr lang="pt-BR" dirty="0" err="1"/>
              <a:t>class</a:t>
            </a:r>
            <a:r>
              <a:rPr lang="pt-BR" dirty="0"/>
              <a:t> 'dict'&gt;</a:t>
            </a:r>
          </a:p>
        </p:txBody>
      </p:sp>
    </p:spTree>
    <p:extLst>
      <p:ext uri="{BB962C8B-B14F-4D97-AF65-F5344CB8AC3E}">
        <p14:creationId xmlns:p14="http://schemas.microsoft.com/office/powerpoint/2010/main" val="180602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A513C18-62E3-AC34-CEC9-23040C8A4AA5}"/>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442ACF65-49AE-69B7-44BD-8C3B3ECD6B8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1A0FF43-D204-654A-19F5-F6B4FBBD6EC7}"/>
              </a:ext>
            </a:extLst>
          </p:cNvPr>
          <p:cNvSpPr>
            <a:spLocks noGrp="1"/>
          </p:cNvSpPr>
          <p:nvPr>
            <p:ph type="sldNum" sz="quarter" idx="12"/>
          </p:nvPr>
        </p:nvSpPr>
        <p:spPr/>
        <p:txBody>
          <a:bodyPr/>
          <a:lstStyle/>
          <a:p>
            <a:pPr algn="r"/>
            <a:fld id="{250292FE-8D56-4E3A-9427-CB428FF60A53}" type="slidenum">
              <a:rPr lang="pt-BR" b="1" smtClean="0"/>
              <a:pPr algn="r"/>
              <a:t>24</a:t>
            </a:fld>
            <a:endParaRPr lang="pt-BR" b="1" dirty="0"/>
          </a:p>
        </p:txBody>
      </p:sp>
      <p:sp>
        <p:nvSpPr>
          <p:cNvPr id="5" name="Título 4">
            <a:extLst>
              <a:ext uri="{FF2B5EF4-FFF2-40B4-BE49-F238E27FC236}">
                <a16:creationId xmlns:a16="http://schemas.microsoft.com/office/drawing/2014/main" id="{43C25D81-553A-9C46-83DF-D77AD968BE4A}"/>
              </a:ext>
            </a:extLst>
          </p:cNvPr>
          <p:cNvSpPr>
            <a:spLocks noGrp="1"/>
          </p:cNvSpPr>
          <p:nvPr>
            <p:ph type="title"/>
          </p:nvPr>
        </p:nvSpPr>
        <p:spPr/>
        <p:txBody>
          <a:bodyPr/>
          <a:lstStyle/>
          <a:p>
            <a:pPr algn="ctr"/>
            <a:r>
              <a:rPr lang="pt-BR" b="1" i="1" dirty="0"/>
              <a:t>Exemplo-JSON</a:t>
            </a:r>
            <a:endParaRPr lang="pt-BR" dirty="0"/>
          </a:p>
        </p:txBody>
      </p:sp>
      <p:sp>
        <p:nvSpPr>
          <p:cNvPr id="7" name="CaixaDeTexto 6">
            <a:extLst>
              <a:ext uri="{FF2B5EF4-FFF2-40B4-BE49-F238E27FC236}">
                <a16:creationId xmlns:a16="http://schemas.microsoft.com/office/drawing/2014/main" id="{D8ED085C-B80B-3701-E620-EF7DB18D85A3}"/>
              </a:ext>
            </a:extLst>
          </p:cNvPr>
          <p:cNvSpPr txBox="1"/>
          <p:nvPr/>
        </p:nvSpPr>
        <p:spPr>
          <a:xfrm>
            <a:off x="81984" y="1458322"/>
            <a:ext cx="5890191" cy="4524315"/>
          </a:xfrm>
          <a:prstGeom prst="rect">
            <a:avLst/>
          </a:prstGeom>
          <a:noFill/>
        </p:spPr>
        <p:txBody>
          <a:bodyPr wrap="square">
            <a:spAutoFit/>
          </a:bodyPr>
          <a:lstStyle/>
          <a:p>
            <a:r>
              <a:rPr lang="pt-BR" dirty="0" err="1"/>
              <a:t>import</a:t>
            </a:r>
            <a:r>
              <a:rPr lang="pt-BR" dirty="0"/>
              <a:t> json</a:t>
            </a:r>
          </a:p>
          <a:p>
            <a:endParaRPr lang="pt-BR" dirty="0"/>
          </a:p>
          <a:p>
            <a:r>
              <a:rPr lang="pt-BR" dirty="0"/>
              <a:t># 1️⃣ Objeto Python normal</a:t>
            </a:r>
          </a:p>
          <a:p>
            <a:r>
              <a:rPr lang="pt-BR" dirty="0"/>
              <a:t>pessoa = {</a:t>
            </a:r>
          </a:p>
          <a:p>
            <a:r>
              <a:rPr lang="pt-BR" dirty="0"/>
              <a:t>    "nome": "João",</a:t>
            </a:r>
          </a:p>
          <a:p>
            <a:r>
              <a:rPr lang="pt-BR" dirty="0"/>
              <a:t>    "idade": 30,</a:t>
            </a:r>
          </a:p>
          <a:p>
            <a:r>
              <a:rPr lang="pt-BR" dirty="0"/>
              <a:t>    "cursos": ["Python", "</a:t>
            </a:r>
            <a:r>
              <a:rPr lang="pt-BR" dirty="0" err="1"/>
              <a:t>Flask</a:t>
            </a:r>
            <a:r>
              <a:rPr lang="pt-BR" dirty="0"/>
              <a:t>"],</a:t>
            </a:r>
          </a:p>
          <a:p>
            <a:r>
              <a:rPr lang="pt-BR" dirty="0"/>
              <a:t>    "ativo": True</a:t>
            </a:r>
          </a:p>
          <a:p>
            <a:r>
              <a:rPr lang="pt-BR" dirty="0"/>
              <a:t>}</a:t>
            </a:r>
          </a:p>
          <a:p>
            <a:endParaRPr lang="pt-BR" dirty="0"/>
          </a:p>
          <a:p>
            <a:r>
              <a:rPr lang="pt-BR" dirty="0"/>
              <a:t># 2️⃣ dumps() — converte o objeto Python em string JSON</a:t>
            </a:r>
          </a:p>
          <a:p>
            <a:r>
              <a:rPr lang="pt-BR" dirty="0" err="1"/>
              <a:t>json_texto</a:t>
            </a:r>
            <a:r>
              <a:rPr lang="pt-BR" dirty="0"/>
              <a:t> = </a:t>
            </a:r>
            <a:r>
              <a:rPr lang="pt-BR" dirty="0" err="1"/>
              <a:t>json.dumps</a:t>
            </a:r>
            <a:r>
              <a:rPr lang="pt-BR" dirty="0"/>
              <a:t>(pessoa)</a:t>
            </a:r>
          </a:p>
          <a:p>
            <a:r>
              <a:rPr lang="pt-BR" dirty="0"/>
              <a:t>print("JSON em string (dumps):")</a:t>
            </a:r>
          </a:p>
          <a:p>
            <a:r>
              <a:rPr lang="pt-BR" dirty="0"/>
              <a:t>print(</a:t>
            </a:r>
            <a:r>
              <a:rPr lang="pt-BR" dirty="0" err="1"/>
              <a:t>json_texto</a:t>
            </a:r>
            <a:r>
              <a:rPr lang="pt-BR" dirty="0"/>
              <a:t>)</a:t>
            </a:r>
          </a:p>
          <a:p>
            <a:r>
              <a:rPr lang="pt-BR" dirty="0"/>
              <a:t>print()</a:t>
            </a:r>
          </a:p>
          <a:p>
            <a:endParaRPr lang="pt-BR" dirty="0"/>
          </a:p>
        </p:txBody>
      </p:sp>
      <p:sp>
        <p:nvSpPr>
          <p:cNvPr id="9" name="CaixaDeTexto 8">
            <a:extLst>
              <a:ext uri="{FF2B5EF4-FFF2-40B4-BE49-F238E27FC236}">
                <a16:creationId xmlns:a16="http://schemas.microsoft.com/office/drawing/2014/main" id="{09EF3935-5DE0-ACA0-DAD4-BC86D54F4B28}"/>
              </a:ext>
            </a:extLst>
          </p:cNvPr>
          <p:cNvSpPr txBox="1"/>
          <p:nvPr/>
        </p:nvSpPr>
        <p:spPr>
          <a:xfrm>
            <a:off x="5972175" y="1414554"/>
            <a:ext cx="6137841" cy="4832092"/>
          </a:xfrm>
          <a:prstGeom prst="rect">
            <a:avLst/>
          </a:prstGeom>
          <a:noFill/>
        </p:spPr>
        <p:txBody>
          <a:bodyPr wrap="square">
            <a:spAutoFit/>
          </a:bodyPr>
          <a:lstStyle/>
          <a:p>
            <a:r>
              <a:rPr lang="pt-BR" dirty="0"/>
              <a:t># 3️⃣ loads() — transforma a string JSON de volta em Python</a:t>
            </a:r>
          </a:p>
          <a:p>
            <a:r>
              <a:rPr lang="pt-BR" dirty="0" err="1"/>
              <a:t>pessoa_convertida</a:t>
            </a:r>
            <a:r>
              <a:rPr lang="pt-BR" dirty="0"/>
              <a:t> = </a:t>
            </a:r>
            <a:r>
              <a:rPr lang="pt-BR" dirty="0" err="1"/>
              <a:t>json.loads</a:t>
            </a:r>
            <a:r>
              <a:rPr lang="pt-BR" dirty="0"/>
              <a:t>(</a:t>
            </a:r>
            <a:r>
              <a:rPr lang="pt-BR" dirty="0" err="1"/>
              <a:t>json_texto</a:t>
            </a:r>
            <a:r>
              <a:rPr lang="pt-BR" dirty="0"/>
              <a:t>)</a:t>
            </a:r>
          </a:p>
          <a:p>
            <a:r>
              <a:rPr lang="pt-BR" dirty="0"/>
              <a:t>print("De volta para Python (loads):")</a:t>
            </a:r>
          </a:p>
          <a:p>
            <a:r>
              <a:rPr lang="pt-BR" dirty="0"/>
              <a:t>print(</a:t>
            </a:r>
            <a:r>
              <a:rPr lang="pt-BR" dirty="0" err="1"/>
              <a:t>pessoa_convertida</a:t>
            </a:r>
            <a:r>
              <a:rPr lang="pt-BR" dirty="0"/>
              <a:t>)</a:t>
            </a:r>
          </a:p>
          <a:p>
            <a:r>
              <a:rPr lang="pt-BR" dirty="0"/>
              <a:t>print()</a:t>
            </a:r>
          </a:p>
          <a:p>
            <a:endParaRPr lang="pt-BR" sz="1000" dirty="0"/>
          </a:p>
          <a:p>
            <a:r>
              <a:rPr lang="pt-BR" dirty="0"/>
              <a:t># 4️⃣ dump() — salva o JSON em um arquivo</a:t>
            </a:r>
          </a:p>
          <a:p>
            <a:r>
              <a:rPr lang="pt-BR" dirty="0"/>
              <a:t>with open("</a:t>
            </a:r>
            <a:r>
              <a:rPr lang="pt-BR" dirty="0" err="1"/>
              <a:t>pessoa.json</a:t>
            </a:r>
            <a:r>
              <a:rPr lang="pt-BR" dirty="0"/>
              <a:t>", "w", encoding="utf-8") as arquivo:</a:t>
            </a:r>
          </a:p>
          <a:p>
            <a:r>
              <a:rPr lang="pt-BR" dirty="0"/>
              <a:t>    </a:t>
            </a:r>
            <a:r>
              <a:rPr lang="pt-BR" dirty="0" err="1"/>
              <a:t>json.dump</a:t>
            </a:r>
            <a:r>
              <a:rPr lang="pt-BR" dirty="0"/>
              <a:t>(pessoa, arquivo, </a:t>
            </a:r>
            <a:r>
              <a:rPr lang="pt-BR" dirty="0" err="1"/>
              <a:t>ensure_ascii</a:t>
            </a:r>
            <a:r>
              <a:rPr lang="pt-BR" dirty="0"/>
              <a:t>=False, </a:t>
            </a:r>
            <a:r>
              <a:rPr lang="pt-BR" dirty="0" err="1"/>
              <a:t>indent</a:t>
            </a:r>
            <a:r>
              <a:rPr lang="pt-BR" dirty="0"/>
              <a:t>=4)</a:t>
            </a:r>
          </a:p>
          <a:p>
            <a:r>
              <a:rPr lang="pt-BR" dirty="0"/>
              <a:t>print("Arquivo '</a:t>
            </a:r>
            <a:r>
              <a:rPr lang="pt-BR" dirty="0" err="1"/>
              <a:t>pessoa.json</a:t>
            </a:r>
            <a:r>
              <a:rPr lang="pt-BR" dirty="0"/>
              <a:t>' criado com sucesso!")</a:t>
            </a:r>
          </a:p>
          <a:p>
            <a:r>
              <a:rPr lang="pt-BR" dirty="0"/>
              <a:t>print()</a:t>
            </a:r>
          </a:p>
          <a:p>
            <a:endParaRPr lang="pt-BR" sz="1000" dirty="0"/>
          </a:p>
          <a:p>
            <a:r>
              <a:rPr lang="pt-BR" dirty="0"/>
              <a:t># 5️⃣ load() — lê o JSON do arquivo e transforma em Python</a:t>
            </a:r>
          </a:p>
          <a:p>
            <a:r>
              <a:rPr lang="pt-BR" dirty="0"/>
              <a:t>with open("</a:t>
            </a:r>
            <a:r>
              <a:rPr lang="pt-BR" dirty="0" err="1"/>
              <a:t>pessoa.json</a:t>
            </a:r>
            <a:r>
              <a:rPr lang="pt-BR" dirty="0"/>
              <a:t>", "r", encoding="utf-8") as arquivo:</a:t>
            </a:r>
          </a:p>
          <a:p>
            <a:r>
              <a:rPr lang="pt-BR" dirty="0"/>
              <a:t>    </a:t>
            </a:r>
            <a:r>
              <a:rPr lang="pt-BR" dirty="0" err="1"/>
              <a:t>pessoa_do_arquivo</a:t>
            </a:r>
            <a:r>
              <a:rPr lang="pt-BR" dirty="0"/>
              <a:t> = </a:t>
            </a:r>
            <a:r>
              <a:rPr lang="pt-BR" dirty="0" err="1"/>
              <a:t>json.load</a:t>
            </a:r>
            <a:r>
              <a:rPr lang="pt-BR" dirty="0"/>
              <a:t>(arquivo)</a:t>
            </a:r>
          </a:p>
          <a:p>
            <a:endParaRPr lang="pt-BR" dirty="0"/>
          </a:p>
          <a:p>
            <a:r>
              <a:rPr lang="pt-BR" dirty="0"/>
              <a:t>print("JSON lido do arquivo (load):")</a:t>
            </a:r>
          </a:p>
          <a:p>
            <a:r>
              <a:rPr lang="pt-BR" dirty="0"/>
              <a:t>print(</a:t>
            </a:r>
            <a:r>
              <a:rPr lang="pt-BR" dirty="0" err="1"/>
              <a:t>pessoa_do_arquivo</a:t>
            </a:r>
            <a:r>
              <a:rPr lang="pt-BR" dirty="0"/>
              <a:t>)</a:t>
            </a:r>
          </a:p>
        </p:txBody>
      </p:sp>
    </p:spTree>
    <p:extLst>
      <p:ext uri="{BB962C8B-B14F-4D97-AF65-F5344CB8AC3E}">
        <p14:creationId xmlns:p14="http://schemas.microsoft.com/office/powerpoint/2010/main" val="2656312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27FDD19-9059-36EE-56E4-614D3104D83A}"/>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F7C6B642-DB6E-968B-8F36-FEEF46F2C2B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C8D1371-6A50-C828-6214-D2AC858914C9}"/>
              </a:ext>
            </a:extLst>
          </p:cNvPr>
          <p:cNvSpPr>
            <a:spLocks noGrp="1"/>
          </p:cNvSpPr>
          <p:nvPr>
            <p:ph type="sldNum" sz="quarter" idx="12"/>
          </p:nvPr>
        </p:nvSpPr>
        <p:spPr/>
        <p:txBody>
          <a:bodyPr/>
          <a:lstStyle/>
          <a:p>
            <a:pPr algn="r"/>
            <a:fld id="{250292FE-8D56-4E3A-9427-CB428FF60A53}" type="slidenum">
              <a:rPr lang="pt-BR" b="1" smtClean="0"/>
              <a:pPr algn="r"/>
              <a:t>25</a:t>
            </a:fld>
            <a:endParaRPr lang="pt-BR" b="1" dirty="0"/>
          </a:p>
        </p:txBody>
      </p:sp>
      <p:sp>
        <p:nvSpPr>
          <p:cNvPr id="5" name="Título 4">
            <a:extLst>
              <a:ext uri="{FF2B5EF4-FFF2-40B4-BE49-F238E27FC236}">
                <a16:creationId xmlns:a16="http://schemas.microsoft.com/office/drawing/2014/main" id="{7A7BFA63-23EA-DEB5-583E-6956444F2D61}"/>
              </a:ext>
            </a:extLst>
          </p:cNvPr>
          <p:cNvSpPr>
            <a:spLocks noGrp="1"/>
          </p:cNvSpPr>
          <p:nvPr>
            <p:ph type="title"/>
          </p:nvPr>
        </p:nvSpPr>
        <p:spPr/>
        <p:txBody>
          <a:bodyPr/>
          <a:lstStyle/>
          <a:p>
            <a:pPr algn="ctr"/>
            <a:r>
              <a:rPr lang="pt-BR" b="1" i="1" dirty="0"/>
              <a:t>Exemplo-JSON</a:t>
            </a:r>
            <a:endParaRPr lang="pt-BR" dirty="0"/>
          </a:p>
        </p:txBody>
      </p:sp>
      <p:sp>
        <p:nvSpPr>
          <p:cNvPr id="7" name="CaixaDeTexto 6">
            <a:extLst>
              <a:ext uri="{FF2B5EF4-FFF2-40B4-BE49-F238E27FC236}">
                <a16:creationId xmlns:a16="http://schemas.microsoft.com/office/drawing/2014/main" id="{F83B179B-5F86-2A99-D668-362B75743F71}"/>
              </a:ext>
            </a:extLst>
          </p:cNvPr>
          <p:cNvSpPr txBox="1"/>
          <p:nvPr/>
        </p:nvSpPr>
        <p:spPr>
          <a:xfrm>
            <a:off x="514350" y="1582341"/>
            <a:ext cx="8626078" cy="2862322"/>
          </a:xfrm>
          <a:prstGeom prst="rect">
            <a:avLst/>
          </a:prstGeom>
          <a:noFill/>
        </p:spPr>
        <p:txBody>
          <a:bodyPr wrap="square">
            <a:spAutoFit/>
          </a:bodyPr>
          <a:lstStyle/>
          <a:p>
            <a:r>
              <a:rPr lang="pt-BR" dirty="0"/>
              <a:t>JSON em string (dumps):</a:t>
            </a:r>
          </a:p>
          <a:p>
            <a:r>
              <a:rPr lang="pt-BR" dirty="0"/>
              <a:t>{"nome": "João", "idade": 30, "cursos": ["Python", "</a:t>
            </a:r>
            <a:r>
              <a:rPr lang="pt-BR" dirty="0" err="1"/>
              <a:t>Flask</a:t>
            </a:r>
            <a:r>
              <a:rPr lang="pt-BR" dirty="0"/>
              <a:t>"], "ativo": </a:t>
            </a:r>
            <a:r>
              <a:rPr lang="pt-BR" dirty="0" err="1"/>
              <a:t>true</a:t>
            </a:r>
            <a:r>
              <a:rPr lang="pt-BR" dirty="0"/>
              <a:t>}</a:t>
            </a:r>
          </a:p>
          <a:p>
            <a:endParaRPr lang="pt-BR" dirty="0"/>
          </a:p>
          <a:p>
            <a:r>
              <a:rPr lang="pt-BR" dirty="0"/>
              <a:t>De volta para Python (loads):</a:t>
            </a:r>
          </a:p>
          <a:p>
            <a:r>
              <a:rPr lang="pt-BR" dirty="0"/>
              <a:t>{'nome': 'João', 'idade': 30, 'cursos': ['Python', '</a:t>
            </a:r>
            <a:r>
              <a:rPr lang="pt-BR" dirty="0" err="1"/>
              <a:t>Flask</a:t>
            </a:r>
            <a:r>
              <a:rPr lang="pt-BR" dirty="0"/>
              <a:t>'], 'ativo': True}</a:t>
            </a:r>
          </a:p>
          <a:p>
            <a:endParaRPr lang="pt-BR" dirty="0"/>
          </a:p>
          <a:p>
            <a:r>
              <a:rPr lang="pt-BR" dirty="0"/>
              <a:t>Arquivo '</a:t>
            </a:r>
            <a:r>
              <a:rPr lang="pt-BR" dirty="0" err="1"/>
              <a:t>pessoa.json</a:t>
            </a:r>
            <a:r>
              <a:rPr lang="pt-BR" dirty="0"/>
              <a:t>' criado com sucesso!</a:t>
            </a:r>
          </a:p>
          <a:p>
            <a:endParaRPr lang="pt-BR" dirty="0"/>
          </a:p>
          <a:p>
            <a:r>
              <a:rPr lang="pt-BR" dirty="0"/>
              <a:t>JSON lido do arquivo (load):</a:t>
            </a:r>
          </a:p>
          <a:p>
            <a:r>
              <a:rPr lang="pt-BR" dirty="0"/>
              <a:t>{'nome': 'João', 'idade': 30, 'cursos': ['Python', '</a:t>
            </a:r>
            <a:r>
              <a:rPr lang="pt-BR" dirty="0" err="1"/>
              <a:t>Flask</a:t>
            </a:r>
            <a:r>
              <a:rPr lang="pt-BR" dirty="0"/>
              <a:t>'], 'ativo': True}</a:t>
            </a:r>
          </a:p>
        </p:txBody>
      </p:sp>
    </p:spTree>
    <p:extLst>
      <p:ext uri="{BB962C8B-B14F-4D97-AF65-F5344CB8AC3E}">
        <p14:creationId xmlns:p14="http://schemas.microsoft.com/office/powerpoint/2010/main" val="3327092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62C5743-F3AE-FC8F-6E70-9BC9F105FECA}"/>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6ED333B7-7F35-2254-BF1C-652CCD942AAE}"/>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01AD957-159D-1278-E7D0-B1627255EB95}"/>
              </a:ext>
            </a:extLst>
          </p:cNvPr>
          <p:cNvSpPr>
            <a:spLocks noGrp="1"/>
          </p:cNvSpPr>
          <p:nvPr>
            <p:ph type="sldNum" sz="quarter" idx="12"/>
          </p:nvPr>
        </p:nvSpPr>
        <p:spPr/>
        <p:txBody>
          <a:bodyPr/>
          <a:lstStyle/>
          <a:p>
            <a:pPr algn="r"/>
            <a:fld id="{250292FE-8D56-4E3A-9427-CB428FF60A53}" type="slidenum">
              <a:rPr lang="pt-BR" b="1" smtClean="0"/>
              <a:pPr algn="r"/>
              <a:t>26</a:t>
            </a:fld>
            <a:endParaRPr lang="pt-BR" b="1" dirty="0"/>
          </a:p>
        </p:txBody>
      </p:sp>
      <p:sp>
        <p:nvSpPr>
          <p:cNvPr id="5" name="Título 4">
            <a:extLst>
              <a:ext uri="{FF2B5EF4-FFF2-40B4-BE49-F238E27FC236}">
                <a16:creationId xmlns:a16="http://schemas.microsoft.com/office/drawing/2014/main" id="{99FF182B-0836-973B-2894-98BFF41C456E}"/>
              </a:ext>
            </a:extLst>
          </p:cNvPr>
          <p:cNvSpPr>
            <a:spLocks noGrp="1"/>
          </p:cNvSpPr>
          <p:nvPr>
            <p:ph type="title"/>
          </p:nvPr>
        </p:nvSpPr>
        <p:spPr/>
        <p:txBody>
          <a:bodyPr>
            <a:normAutofit/>
          </a:bodyPr>
          <a:lstStyle/>
          <a:p>
            <a:pPr algn="ctr"/>
            <a:r>
              <a:rPr lang="pt-BR" altLang="pt-BR" b="1" i="1" dirty="0">
                <a:latin typeface="Arial" panose="020B0604020202020204" pitchFamily="34" charset="0"/>
              </a:rPr>
              <a:t>O que acontece passo a passo</a:t>
            </a:r>
            <a:endParaRPr lang="pt-BR" i="1" dirty="0"/>
          </a:p>
        </p:txBody>
      </p:sp>
      <p:graphicFrame>
        <p:nvGraphicFramePr>
          <p:cNvPr id="6" name="Tabela 5">
            <a:extLst>
              <a:ext uri="{FF2B5EF4-FFF2-40B4-BE49-F238E27FC236}">
                <a16:creationId xmlns:a16="http://schemas.microsoft.com/office/drawing/2014/main" id="{E3D893ED-2441-6C03-0236-CFE6D20CF0FE}"/>
              </a:ext>
            </a:extLst>
          </p:cNvPr>
          <p:cNvGraphicFramePr>
            <a:graphicFrameLocks noGrp="1"/>
          </p:cNvGraphicFramePr>
          <p:nvPr>
            <p:extLst>
              <p:ext uri="{D42A27DB-BD31-4B8C-83A1-F6EECF244321}">
                <p14:modId xmlns:p14="http://schemas.microsoft.com/office/powerpoint/2010/main" val="3104893163"/>
              </p:ext>
            </p:extLst>
          </p:nvPr>
        </p:nvGraphicFramePr>
        <p:xfrm>
          <a:off x="300692" y="2038193"/>
          <a:ext cx="11777003" cy="2286000"/>
        </p:xfrm>
        <a:graphic>
          <a:graphicData uri="http://schemas.openxmlformats.org/drawingml/2006/table">
            <a:tbl>
              <a:tblPr/>
              <a:tblGrid>
                <a:gridCol w="1413808">
                  <a:extLst>
                    <a:ext uri="{9D8B030D-6E8A-4147-A177-3AD203B41FA5}">
                      <a16:colId xmlns:a16="http://schemas.microsoft.com/office/drawing/2014/main" val="4040157615"/>
                    </a:ext>
                  </a:extLst>
                </a:gridCol>
                <a:gridCol w="2928938">
                  <a:extLst>
                    <a:ext uri="{9D8B030D-6E8A-4147-A177-3AD203B41FA5}">
                      <a16:colId xmlns:a16="http://schemas.microsoft.com/office/drawing/2014/main" val="698641181"/>
                    </a:ext>
                  </a:extLst>
                </a:gridCol>
                <a:gridCol w="7434257">
                  <a:extLst>
                    <a:ext uri="{9D8B030D-6E8A-4147-A177-3AD203B41FA5}">
                      <a16:colId xmlns:a16="http://schemas.microsoft.com/office/drawing/2014/main" val="211433966"/>
                    </a:ext>
                  </a:extLst>
                </a:gridCol>
              </a:tblGrid>
              <a:tr h="0">
                <a:tc>
                  <a:txBody>
                    <a:bodyPr/>
                    <a:lstStyle/>
                    <a:p>
                      <a:pPr>
                        <a:buNone/>
                      </a:pPr>
                      <a:r>
                        <a:rPr lang="pt-BR" sz="2400" b="1" dirty="0"/>
                        <a:t>Etapa</a:t>
                      </a:r>
                    </a:p>
                  </a:txBody>
                  <a:tcPr anchor="ctr">
                    <a:lnL>
                      <a:noFill/>
                    </a:lnL>
                    <a:lnR>
                      <a:noFill/>
                    </a:lnR>
                    <a:lnT>
                      <a:noFill/>
                    </a:lnT>
                    <a:lnB>
                      <a:noFill/>
                    </a:lnB>
                    <a:noFill/>
                  </a:tcPr>
                </a:tc>
                <a:tc>
                  <a:txBody>
                    <a:bodyPr/>
                    <a:lstStyle/>
                    <a:p>
                      <a:pPr>
                        <a:buNone/>
                      </a:pPr>
                      <a:r>
                        <a:rPr lang="pt-BR" sz="2400" b="1" dirty="0"/>
                        <a:t>Função usada</a:t>
                      </a:r>
                    </a:p>
                  </a:txBody>
                  <a:tcPr anchor="ctr">
                    <a:lnL>
                      <a:noFill/>
                    </a:lnL>
                    <a:lnR>
                      <a:noFill/>
                    </a:lnR>
                    <a:lnT>
                      <a:noFill/>
                    </a:lnT>
                    <a:lnB>
                      <a:noFill/>
                    </a:lnB>
                    <a:noFill/>
                  </a:tcPr>
                </a:tc>
                <a:tc>
                  <a:txBody>
                    <a:bodyPr/>
                    <a:lstStyle/>
                    <a:p>
                      <a:pPr>
                        <a:buNone/>
                      </a:pPr>
                      <a:r>
                        <a:rPr lang="pt-BR" sz="2400" b="1" dirty="0"/>
                        <a:t>Faz o quê</a:t>
                      </a:r>
                    </a:p>
                  </a:txBody>
                  <a:tcPr anchor="ctr">
                    <a:lnL>
                      <a:noFill/>
                    </a:lnL>
                    <a:lnR>
                      <a:noFill/>
                    </a:lnR>
                    <a:lnT>
                      <a:noFill/>
                    </a:lnT>
                    <a:lnB>
                      <a:noFill/>
                    </a:lnB>
                    <a:noFill/>
                  </a:tcPr>
                </a:tc>
                <a:extLst>
                  <a:ext uri="{0D108BD9-81ED-4DB2-BD59-A6C34878D82A}">
                    <a16:rowId xmlns:a16="http://schemas.microsoft.com/office/drawing/2014/main" val="1642080026"/>
                  </a:ext>
                </a:extLst>
              </a:tr>
              <a:tr h="0">
                <a:tc>
                  <a:txBody>
                    <a:bodyPr/>
                    <a:lstStyle/>
                    <a:p>
                      <a:pPr>
                        <a:buNone/>
                      </a:pPr>
                      <a:r>
                        <a:rPr lang="pt-BR" sz="2400"/>
                        <a:t>1️⃣</a:t>
                      </a:r>
                    </a:p>
                  </a:txBody>
                  <a:tcPr anchor="ctr">
                    <a:lnL>
                      <a:noFill/>
                    </a:lnL>
                    <a:lnR>
                      <a:noFill/>
                    </a:lnR>
                    <a:lnT>
                      <a:noFill/>
                    </a:lnT>
                    <a:lnB>
                      <a:noFill/>
                    </a:lnB>
                    <a:noFill/>
                  </a:tcPr>
                </a:tc>
                <a:tc>
                  <a:txBody>
                    <a:bodyPr/>
                    <a:lstStyle/>
                    <a:p>
                      <a:pPr>
                        <a:buNone/>
                      </a:pPr>
                      <a:r>
                        <a:rPr lang="pt-BR" sz="2400" dirty="0" err="1">
                          <a:latin typeface="Courier New" panose="02070309020205020404" pitchFamily="49" charset="0"/>
                        </a:rPr>
                        <a:t>json.dumps</a:t>
                      </a:r>
                      <a:r>
                        <a:rPr lang="pt-BR" sz="2400" dirty="0">
                          <a:latin typeface="Courier New" panose="02070309020205020404" pitchFamily="49" charset="0"/>
                        </a:rPr>
                        <a:t>()</a:t>
                      </a:r>
                      <a:endParaRPr lang="pt-BR" sz="2400" dirty="0"/>
                    </a:p>
                  </a:txBody>
                  <a:tcPr anchor="ctr">
                    <a:lnL>
                      <a:noFill/>
                    </a:lnL>
                    <a:lnR>
                      <a:noFill/>
                    </a:lnR>
                    <a:lnT>
                      <a:noFill/>
                    </a:lnT>
                    <a:lnB>
                      <a:noFill/>
                    </a:lnB>
                    <a:noFill/>
                  </a:tcPr>
                </a:tc>
                <a:tc>
                  <a:txBody>
                    <a:bodyPr/>
                    <a:lstStyle/>
                    <a:p>
                      <a:pPr>
                        <a:buNone/>
                      </a:pPr>
                      <a:r>
                        <a:rPr lang="pt-BR" sz="2400"/>
                        <a:t>Transforma o dicionário Python em texto JSON</a:t>
                      </a:r>
                    </a:p>
                  </a:txBody>
                  <a:tcPr anchor="ctr">
                    <a:lnL>
                      <a:noFill/>
                    </a:lnL>
                    <a:lnR>
                      <a:noFill/>
                    </a:lnR>
                    <a:lnT>
                      <a:noFill/>
                    </a:lnT>
                    <a:lnB>
                      <a:noFill/>
                    </a:lnB>
                    <a:noFill/>
                  </a:tcPr>
                </a:tc>
                <a:extLst>
                  <a:ext uri="{0D108BD9-81ED-4DB2-BD59-A6C34878D82A}">
                    <a16:rowId xmlns:a16="http://schemas.microsoft.com/office/drawing/2014/main" val="1052749867"/>
                  </a:ext>
                </a:extLst>
              </a:tr>
              <a:tr h="0">
                <a:tc>
                  <a:txBody>
                    <a:bodyPr/>
                    <a:lstStyle/>
                    <a:p>
                      <a:pPr>
                        <a:buNone/>
                      </a:pPr>
                      <a:r>
                        <a:rPr lang="pt-BR" sz="2400"/>
                        <a:t>2️⃣</a:t>
                      </a:r>
                    </a:p>
                  </a:txBody>
                  <a:tcPr anchor="ctr">
                    <a:lnL>
                      <a:noFill/>
                    </a:lnL>
                    <a:lnR>
                      <a:noFill/>
                    </a:lnR>
                    <a:lnT>
                      <a:noFill/>
                    </a:lnT>
                    <a:lnB>
                      <a:noFill/>
                    </a:lnB>
                    <a:noFill/>
                  </a:tcPr>
                </a:tc>
                <a:tc>
                  <a:txBody>
                    <a:bodyPr/>
                    <a:lstStyle/>
                    <a:p>
                      <a:pPr>
                        <a:buNone/>
                      </a:pPr>
                      <a:r>
                        <a:rPr lang="pt-BR" sz="2400" dirty="0" err="1">
                          <a:latin typeface="Courier New" panose="02070309020205020404" pitchFamily="49" charset="0"/>
                        </a:rPr>
                        <a:t>json.loads</a:t>
                      </a:r>
                      <a:r>
                        <a:rPr lang="pt-BR" sz="2400" dirty="0">
                          <a:latin typeface="Courier New" panose="02070309020205020404" pitchFamily="49" charset="0"/>
                        </a:rPr>
                        <a:t>()</a:t>
                      </a:r>
                      <a:endParaRPr lang="pt-BR" sz="2400" dirty="0"/>
                    </a:p>
                  </a:txBody>
                  <a:tcPr anchor="ctr">
                    <a:lnL>
                      <a:noFill/>
                    </a:lnL>
                    <a:lnR>
                      <a:noFill/>
                    </a:lnR>
                    <a:lnT>
                      <a:noFill/>
                    </a:lnT>
                    <a:lnB>
                      <a:noFill/>
                    </a:lnB>
                    <a:noFill/>
                  </a:tcPr>
                </a:tc>
                <a:tc>
                  <a:txBody>
                    <a:bodyPr/>
                    <a:lstStyle/>
                    <a:p>
                      <a:pPr>
                        <a:buNone/>
                      </a:pPr>
                      <a:r>
                        <a:rPr lang="pt-BR" sz="2400"/>
                        <a:t>Converte a string JSON novamente em dicionário</a:t>
                      </a:r>
                    </a:p>
                  </a:txBody>
                  <a:tcPr anchor="ctr">
                    <a:lnL>
                      <a:noFill/>
                    </a:lnL>
                    <a:lnR>
                      <a:noFill/>
                    </a:lnR>
                    <a:lnT>
                      <a:noFill/>
                    </a:lnT>
                    <a:lnB>
                      <a:noFill/>
                    </a:lnB>
                    <a:noFill/>
                  </a:tcPr>
                </a:tc>
                <a:extLst>
                  <a:ext uri="{0D108BD9-81ED-4DB2-BD59-A6C34878D82A}">
                    <a16:rowId xmlns:a16="http://schemas.microsoft.com/office/drawing/2014/main" val="721137466"/>
                  </a:ext>
                </a:extLst>
              </a:tr>
              <a:tr h="0">
                <a:tc>
                  <a:txBody>
                    <a:bodyPr/>
                    <a:lstStyle/>
                    <a:p>
                      <a:pPr>
                        <a:buNone/>
                      </a:pPr>
                      <a:r>
                        <a:rPr lang="pt-BR" sz="2400"/>
                        <a:t>3️⃣</a:t>
                      </a:r>
                    </a:p>
                  </a:txBody>
                  <a:tcPr anchor="ctr">
                    <a:lnL>
                      <a:noFill/>
                    </a:lnL>
                    <a:lnR>
                      <a:noFill/>
                    </a:lnR>
                    <a:lnT>
                      <a:noFill/>
                    </a:lnT>
                    <a:lnB>
                      <a:noFill/>
                    </a:lnB>
                    <a:noFill/>
                  </a:tcPr>
                </a:tc>
                <a:tc>
                  <a:txBody>
                    <a:bodyPr/>
                    <a:lstStyle/>
                    <a:p>
                      <a:pPr>
                        <a:buNone/>
                      </a:pPr>
                      <a:r>
                        <a:rPr lang="pt-BR" sz="2400" dirty="0" err="1">
                          <a:latin typeface="Courier New" panose="02070309020205020404" pitchFamily="49" charset="0"/>
                        </a:rPr>
                        <a:t>json.dump</a:t>
                      </a:r>
                      <a:r>
                        <a:rPr lang="pt-BR" sz="2400" dirty="0">
                          <a:latin typeface="Courier New" panose="02070309020205020404" pitchFamily="49" charset="0"/>
                        </a:rPr>
                        <a:t>()</a:t>
                      </a:r>
                      <a:endParaRPr lang="pt-BR" sz="2400" dirty="0"/>
                    </a:p>
                  </a:txBody>
                  <a:tcPr anchor="ctr">
                    <a:lnL>
                      <a:noFill/>
                    </a:lnL>
                    <a:lnR>
                      <a:noFill/>
                    </a:lnR>
                    <a:lnT>
                      <a:noFill/>
                    </a:lnT>
                    <a:lnB>
                      <a:noFill/>
                    </a:lnB>
                    <a:noFill/>
                  </a:tcPr>
                </a:tc>
                <a:tc>
                  <a:txBody>
                    <a:bodyPr/>
                    <a:lstStyle/>
                    <a:p>
                      <a:pPr>
                        <a:buNone/>
                      </a:pPr>
                      <a:r>
                        <a:rPr lang="pt-BR" sz="2400" dirty="0"/>
                        <a:t>Salva o dicionário como JSON num arquivo</a:t>
                      </a:r>
                    </a:p>
                  </a:txBody>
                  <a:tcPr anchor="ctr">
                    <a:lnL>
                      <a:noFill/>
                    </a:lnL>
                    <a:lnR>
                      <a:noFill/>
                    </a:lnR>
                    <a:lnT>
                      <a:noFill/>
                    </a:lnT>
                    <a:lnB>
                      <a:noFill/>
                    </a:lnB>
                    <a:noFill/>
                  </a:tcPr>
                </a:tc>
                <a:extLst>
                  <a:ext uri="{0D108BD9-81ED-4DB2-BD59-A6C34878D82A}">
                    <a16:rowId xmlns:a16="http://schemas.microsoft.com/office/drawing/2014/main" val="1634720834"/>
                  </a:ext>
                </a:extLst>
              </a:tr>
              <a:tr h="0">
                <a:tc>
                  <a:txBody>
                    <a:bodyPr/>
                    <a:lstStyle/>
                    <a:p>
                      <a:pPr>
                        <a:buNone/>
                      </a:pPr>
                      <a:r>
                        <a:rPr lang="pt-BR" sz="2400" dirty="0"/>
                        <a:t>4️⃣</a:t>
                      </a:r>
                    </a:p>
                  </a:txBody>
                  <a:tcPr anchor="ctr">
                    <a:lnL>
                      <a:noFill/>
                    </a:lnL>
                    <a:lnR>
                      <a:noFill/>
                    </a:lnR>
                    <a:lnT>
                      <a:noFill/>
                    </a:lnT>
                    <a:lnB>
                      <a:noFill/>
                    </a:lnB>
                    <a:noFill/>
                  </a:tcPr>
                </a:tc>
                <a:tc>
                  <a:txBody>
                    <a:bodyPr/>
                    <a:lstStyle/>
                    <a:p>
                      <a:pPr>
                        <a:buNone/>
                      </a:pPr>
                      <a:r>
                        <a:rPr lang="pt-BR" sz="2400" dirty="0" err="1">
                          <a:latin typeface="Courier New" panose="02070309020205020404" pitchFamily="49" charset="0"/>
                        </a:rPr>
                        <a:t>json.load</a:t>
                      </a:r>
                      <a:r>
                        <a:rPr lang="pt-BR" sz="2400" dirty="0">
                          <a:latin typeface="Courier New" panose="02070309020205020404" pitchFamily="49" charset="0"/>
                        </a:rPr>
                        <a:t>()</a:t>
                      </a:r>
                      <a:endParaRPr lang="pt-BR" sz="2400" dirty="0"/>
                    </a:p>
                  </a:txBody>
                  <a:tcPr anchor="ctr">
                    <a:lnL>
                      <a:noFill/>
                    </a:lnL>
                    <a:lnR>
                      <a:noFill/>
                    </a:lnR>
                    <a:lnT>
                      <a:noFill/>
                    </a:lnT>
                    <a:lnB>
                      <a:noFill/>
                    </a:lnB>
                    <a:noFill/>
                  </a:tcPr>
                </a:tc>
                <a:tc>
                  <a:txBody>
                    <a:bodyPr/>
                    <a:lstStyle/>
                    <a:p>
                      <a:pPr>
                        <a:buNone/>
                      </a:pPr>
                      <a:r>
                        <a:rPr lang="pt-BR" sz="2400" dirty="0"/>
                        <a:t>Lê o arquivo JSON e transforma em dicionário Python</a:t>
                      </a:r>
                    </a:p>
                  </a:txBody>
                  <a:tcPr anchor="ctr">
                    <a:lnL>
                      <a:noFill/>
                    </a:lnL>
                    <a:lnR>
                      <a:noFill/>
                    </a:lnR>
                    <a:lnT>
                      <a:noFill/>
                    </a:lnT>
                    <a:lnB>
                      <a:noFill/>
                    </a:lnB>
                    <a:noFill/>
                  </a:tcPr>
                </a:tc>
                <a:extLst>
                  <a:ext uri="{0D108BD9-81ED-4DB2-BD59-A6C34878D82A}">
                    <a16:rowId xmlns:a16="http://schemas.microsoft.com/office/drawing/2014/main" val="2110613815"/>
                  </a:ext>
                </a:extLst>
              </a:tr>
            </a:tbl>
          </a:graphicData>
        </a:graphic>
      </p:graphicFrame>
    </p:spTree>
    <p:extLst>
      <p:ext uri="{BB962C8B-B14F-4D97-AF65-F5344CB8AC3E}">
        <p14:creationId xmlns:p14="http://schemas.microsoft.com/office/powerpoint/2010/main" val="4106067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4D8CC65-EF42-8632-5633-0EE97814FA92}"/>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08864E17-936C-8114-EDD1-801B992B11EB}"/>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31E359E-BB2E-3894-086D-FB17CF80952A}"/>
              </a:ext>
            </a:extLst>
          </p:cNvPr>
          <p:cNvSpPr>
            <a:spLocks noGrp="1"/>
          </p:cNvSpPr>
          <p:nvPr>
            <p:ph type="sldNum" sz="quarter" idx="12"/>
          </p:nvPr>
        </p:nvSpPr>
        <p:spPr/>
        <p:txBody>
          <a:bodyPr/>
          <a:lstStyle/>
          <a:p>
            <a:pPr algn="r"/>
            <a:fld id="{250292FE-8D56-4E3A-9427-CB428FF60A53}" type="slidenum">
              <a:rPr lang="pt-BR" b="1" smtClean="0"/>
              <a:pPr algn="r"/>
              <a:t>27</a:t>
            </a:fld>
            <a:endParaRPr lang="pt-BR" b="1" dirty="0"/>
          </a:p>
        </p:txBody>
      </p:sp>
      <p:sp>
        <p:nvSpPr>
          <p:cNvPr id="5" name="Título 4">
            <a:extLst>
              <a:ext uri="{FF2B5EF4-FFF2-40B4-BE49-F238E27FC236}">
                <a16:creationId xmlns:a16="http://schemas.microsoft.com/office/drawing/2014/main" id="{62E30607-DBDB-1003-E0D3-82993C522681}"/>
              </a:ext>
            </a:extLst>
          </p:cNvPr>
          <p:cNvSpPr>
            <a:spLocks noGrp="1"/>
          </p:cNvSpPr>
          <p:nvPr>
            <p:ph type="title"/>
          </p:nvPr>
        </p:nvSpPr>
        <p:spPr/>
        <p:txBody>
          <a:bodyPr/>
          <a:lstStyle/>
          <a:p>
            <a:endParaRPr lang="pt-BR"/>
          </a:p>
        </p:txBody>
      </p:sp>
      <p:pic>
        <p:nvPicPr>
          <p:cNvPr id="7" name="Imagem 6" descr="Diagrama&#10;&#10;O conteúdo gerado por IA pode estar incorreto.">
            <a:extLst>
              <a:ext uri="{FF2B5EF4-FFF2-40B4-BE49-F238E27FC236}">
                <a16:creationId xmlns:a16="http://schemas.microsoft.com/office/drawing/2014/main" id="{DD19D5F8-722D-CD67-9BD9-C129AED51C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8697" y="1441084"/>
            <a:ext cx="7670737" cy="4804734"/>
          </a:xfrm>
          <a:prstGeom prst="rect">
            <a:avLst/>
          </a:prstGeom>
        </p:spPr>
      </p:pic>
    </p:spTree>
    <p:extLst>
      <p:ext uri="{BB962C8B-B14F-4D97-AF65-F5344CB8AC3E}">
        <p14:creationId xmlns:p14="http://schemas.microsoft.com/office/powerpoint/2010/main" val="2687080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EEFB432-A802-8E94-2069-AA9C01FB7E86}"/>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1B273A14-F6EB-6D4E-EFF5-0CCB44F38E06}"/>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D254324-4609-8F74-0279-E6233AECC79A}"/>
              </a:ext>
            </a:extLst>
          </p:cNvPr>
          <p:cNvSpPr>
            <a:spLocks noGrp="1"/>
          </p:cNvSpPr>
          <p:nvPr>
            <p:ph type="sldNum" sz="quarter" idx="12"/>
          </p:nvPr>
        </p:nvSpPr>
        <p:spPr/>
        <p:txBody>
          <a:bodyPr/>
          <a:lstStyle/>
          <a:p>
            <a:pPr algn="r"/>
            <a:fld id="{250292FE-8D56-4E3A-9427-CB428FF60A53}" type="slidenum">
              <a:rPr lang="pt-BR" b="1" smtClean="0"/>
              <a:pPr algn="r"/>
              <a:t>28</a:t>
            </a:fld>
            <a:endParaRPr lang="pt-BR" b="1" dirty="0"/>
          </a:p>
        </p:txBody>
      </p:sp>
      <p:sp>
        <p:nvSpPr>
          <p:cNvPr id="5" name="Título 4">
            <a:extLst>
              <a:ext uri="{FF2B5EF4-FFF2-40B4-BE49-F238E27FC236}">
                <a16:creationId xmlns:a16="http://schemas.microsoft.com/office/drawing/2014/main" id="{504A4892-F77A-4BF7-16F1-7B7C7FB5D9DA}"/>
              </a:ext>
            </a:extLst>
          </p:cNvPr>
          <p:cNvSpPr>
            <a:spLocks noGrp="1"/>
          </p:cNvSpPr>
          <p:nvPr>
            <p:ph type="title"/>
          </p:nvPr>
        </p:nvSpPr>
        <p:spPr/>
        <p:txBody>
          <a:bodyPr>
            <a:normAutofit/>
          </a:bodyPr>
          <a:lstStyle/>
          <a:p>
            <a:pPr algn="ctr"/>
            <a:r>
              <a:rPr lang="pt-BR" b="1" i="1" dirty="0"/>
              <a:t>Mas o </a:t>
            </a:r>
            <a:r>
              <a:rPr lang="pt-BR" b="1" dirty="0"/>
              <a:t>que é JSON?</a:t>
            </a:r>
            <a:endParaRPr lang="pt-BR" b="1" i="1" dirty="0"/>
          </a:p>
        </p:txBody>
      </p:sp>
      <p:sp>
        <p:nvSpPr>
          <p:cNvPr id="7" name="CaixaDeTexto 6">
            <a:extLst>
              <a:ext uri="{FF2B5EF4-FFF2-40B4-BE49-F238E27FC236}">
                <a16:creationId xmlns:a16="http://schemas.microsoft.com/office/drawing/2014/main" id="{3BD7EF3B-7324-DCFA-CB34-40B68D81DE32}"/>
              </a:ext>
            </a:extLst>
          </p:cNvPr>
          <p:cNvSpPr txBox="1"/>
          <p:nvPr/>
        </p:nvSpPr>
        <p:spPr>
          <a:xfrm>
            <a:off x="342900" y="1513597"/>
            <a:ext cx="11524634" cy="2308324"/>
          </a:xfrm>
          <a:prstGeom prst="rect">
            <a:avLst/>
          </a:prstGeom>
          <a:noFill/>
        </p:spPr>
        <p:txBody>
          <a:bodyPr wrap="square">
            <a:spAutoFit/>
          </a:bodyPr>
          <a:lstStyle/>
          <a:p>
            <a:pPr>
              <a:buNone/>
            </a:pPr>
            <a:r>
              <a:rPr lang="pt-BR" sz="2400" b="1" dirty="0"/>
              <a:t>JSON</a:t>
            </a:r>
            <a:r>
              <a:rPr lang="pt-BR" sz="2400" dirty="0"/>
              <a:t> significa </a:t>
            </a:r>
            <a:r>
              <a:rPr lang="pt-BR" sz="2400" b="1" dirty="0" err="1"/>
              <a:t>JavaScript</a:t>
            </a:r>
            <a:r>
              <a:rPr lang="pt-BR" sz="2400" b="1" dirty="0"/>
              <a:t> Object </a:t>
            </a:r>
            <a:r>
              <a:rPr lang="pt-BR" sz="2400" b="1" dirty="0" err="1"/>
              <a:t>Notation</a:t>
            </a:r>
            <a:r>
              <a:rPr lang="pt-BR" sz="2400" dirty="0"/>
              <a:t> (Notação de Objeto </a:t>
            </a:r>
            <a:r>
              <a:rPr lang="pt-BR" sz="2400" dirty="0" err="1"/>
              <a:t>JavaScript</a:t>
            </a:r>
            <a:r>
              <a:rPr lang="pt-BR" sz="2400" dirty="0"/>
              <a:t>).</a:t>
            </a:r>
          </a:p>
          <a:p>
            <a:pPr>
              <a:buNone/>
            </a:pPr>
            <a:endParaRPr lang="pt-BR" sz="2400" dirty="0"/>
          </a:p>
          <a:p>
            <a:pPr marL="357188" indent="-357188">
              <a:buNone/>
            </a:pPr>
            <a:r>
              <a:rPr lang="pt-BR" sz="2400" dirty="0"/>
              <a:t>➡️ É um </a:t>
            </a:r>
            <a:r>
              <a:rPr lang="pt-BR" sz="2400" b="1" dirty="0"/>
              <a:t>formato de texto</a:t>
            </a:r>
            <a:r>
              <a:rPr lang="pt-BR" sz="2400" dirty="0"/>
              <a:t> usado para </a:t>
            </a:r>
            <a:r>
              <a:rPr lang="pt-BR" sz="2400" b="1" dirty="0"/>
              <a:t>armazenar e trocar dados</a:t>
            </a:r>
            <a:r>
              <a:rPr lang="pt-BR" sz="2400" dirty="0"/>
              <a:t> entre programas, sites e sistemas.</a:t>
            </a:r>
          </a:p>
          <a:p>
            <a:pPr marL="357188">
              <a:buNone/>
            </a:pPr>
            <a:r>
              <a:rPr lang="pt-BR" sz="2400" dirty="0"/>
              <a:t>É parecido com os </a:t>
            </a:r>
            <a:r>
              <a:rPr lang="pt-BR" sz="2400" b="1" dirty="0"/>
              <a:t>dicionários do Python</a:t>
            </a:r>
            <a:r>
              <a:rPr lang="pt-BR" sz="2400" dirty="0"/>
              <a:t>, só que com uma </a:t>
            </a:r>
            <a:r>
              <a:rPr lang="pt-BR" sz="2400" b="1" dirty="0"/>
              <a:t>formatação de texto padronizada</a:t>
            </a:r>
            <a:r>
              <a:rPr lang="pt-BR" sz="2400" dirty="0"/>
              <a:t> (usando chaves </a:t>
            </a:r>
            <a:r>
              <a:rPr lang="pt-BR" sz="2400" dirty="0">
                <a:latin typeface="Courier New" panose="02070309020205020404" pitchFamily="49" charset="0"/>
              </a:rPr>
              <a:t>{}</a:t>
            </a:r>
            <a:r>
              <a:rPr lang="pt-BR" sz="2400" dirty="0"/>
              <a:t>, colchetes </a:t>
            </a:r>
            <a:r>
              <a:rPr lang="pt-BR" sz="2400" dirty="0">
                <a:latin typeface="Courier New" panose="02070309020205020404" pitchFamily="49" charset="0"/>
              </a:rPr>
              <a:t>[]</a:t>
            </a:r>
            <a:r>
              <a:rPr lang="pt-BR" sz="2400" dirty="0"/>
              <a:t>, aspas </a:t>
            </a:r>
            <a:r>
              <a:rPr lang="pt-BR" sz="2400" dirty="0">
                <a:latin typeface="Courier New" panose="02070309020205020404" pitchFamily="49" charset="0"/>
              </a:rPr>
              <a:t>"</a:t>
            </a:r>
            <a:r>
              <a:rPr lang="pt-BR" sz="2400" dirty="0"/>
              <a:t> e valores).</a:t>
            </a:r>
          </a:p>
        </p:txBody>
      </p:sp>
      <p:sp>
        <p:nvSpPr>
          <p:cNvPr id="9" name="CaixaDeTexto 8">
            <a:extLst>
              <a:ext uri="{FF2B5EF4-FFF2-40B4-BE49-F238E27FC236}">
                <a16:creationId xmlns:a16="http://schemas.microsoft.com/office/drawing/2014/main" id="{A95EE97B-3C4D-637B-1CA5-C06970327988}"/>
              </a:ext>
            </a:extLst>
          </p:cNvPr>
          <p:cNvSpPr txBox="1"/>
          <p:nvPr/>
        </p:nvSpPr>
        <p:spPr>
          <a:xfrm>
            <a:off x="842915" y="3825094"/>
            <a:ext cx="6093618" cy="1754326"/>
          </a:xfrm>
          <a:prstGeom prst="rect">
            <a:avLst/>
          </a:prstGeom>
          <a:noFill/>
        </p:spPr>
        <p:txBody>
          <a:bodyPr wrap="square">
            <a:spAutoFit/>
          </a:bodyPr>
          <a:lstStyle/>
          <a:p>
            <a:r>
              <a:rPr lang="pt-BR" dirty="0"/>
              <a:t>{</a:t>
            </a:r>
          </a:p>
          <a:p>
            <a:r>
              <a:rPr lang="pt-BR" dirty="0"/>
              <a:t>  "nome": "Maria",</a:t>
            </a:r>
          </a:p>
          <a:p>
            <a:r>
              <a:rPr lang="pt-BR" dirty="0"/>
              <a:t>  "idade": 22,</a:t>
            </a:r>
          </a:p>
          <a:p>
            <a:r>
              <a:rPr lang="pt-BR" dirty="0"/>
              <a:t>  "curso": "Engenharia",</a:t>
            </a:r>
          </a:p>
          <a:p>
            <a:r>
              <a:rPr lang="pt-BR" dirty="0"/>
              <a:t>  "disciplinas": ["Matemática", "Física", "Python"]</a:t>
            </a:r>
          </a:p>
          <a:p>
            <a:r>
              <a:rPr lang="pt-BR" dirty="0"/>
              <a:t>}</a:t>
            </a:r>
          </a:p>
        </p:txBody>
      </p:sp>
      <p:sp>
        <p:nvSpPr>
          <p:cNvPr id="11" name="CaixaDeTexto 10">
            <a:extLst>
              <a:ext uri="{FF2B5EF4-FFF2-40B4-BE49-F238E27FC236}">
                <a16:creationId xmlns:a16="http://schemas.microsoft.com/office/drawing/2014/main" id="{6A66D64D-1EE4-EB50-0369-66E974657401}"/>
              </a:ext>
            </a:extLst>
          </p:cNvPr>
          <p:cNvSpPr txBox="1"/>
          <p:nvPr/>
        </p:nvSpPr>
        <p:spPr>
          <a:xfrm>
            <a:off x="2005532" y="5479404"/>
            <a:ext cx="10186468" cy="830997"/>
          </a:xfrm>
          <a:prstGeom prst="rect">
            <a:avLst/>
          </a:prstGeom>
          <a:noFill/>
        </p:spPr>
        <p:txBody>
          <a:bodyPr wrap="square">
            <a:spAutoFit/>
          </a:bodyPr>
          <a:lstStyle/>
          <a:p>
            <a:r>
              <a:rPr lang="pt-BR" sz="2400" dirty="0"/>
              <a:t>📦 Isso é um </a:t>
            </a:r>
            <a:r>
              <a:rPr lang="pt-BR" sz="2400" b="1" dirty="0"/>
              <a:t>arquivo JSON</a:t>
            </a:r>
            <a:r>
              <a:rPr lang="pt-BR" sz="2400" dirty="0"/>
              <a:t> (ou uma </a:t>
            </a:r>
            <a:r>
              <a:rPr lang="pt-BR" sz="2400" b="1" dirty="0"/>
              <a:t>string JSON</a:t>
            </a:r>
            <a:r>
              <a:rPr lang="pt-BR" sz="2400" dirty="0"/>
              <a:t>).</a:t>
            </a:r>
            <a:br>
              <a:rPr lang="pt-BR" sz="2400" dirty="0"/>
            </a:br>
            <a:r>
              <a:rPr lang="pt-BR" sz="2400" dirty="0"/>
              <a:t>📖 Ele guarda dados estruturados de uma forma </a:t>
            </a:r>
            <a:r>
              <a:rPr lang="pt-BR" sz="2400" b="1" dirty="0"/>
              <a:t>fácil de ler e interpretar</a:t>
            </a:r>
            <a:r>
              <a:rPr lang="pt-BR" dirty="0"/>
              <a:t>.</a:t>
            </a:r>
          </a:p>
        </p:txBody>
      </p:sp>
    </p:spTree>
    <p:extLst>
      <p:ext uri="{BB962C8B-B14F-4D97-AF65-F5344CB8AC3E}">
        <p14:creationId xmlns:p14="http://schemas.microsoft.com/office/powerpoint/2010/main" val="374751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2857D4E-65B8-AF96-296D-A479B5DBDC02}"/>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54EA2EA7-F8E4-3375-2D6A-54D5FEF4103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681A2B0C-3228-B4DC-3D3E-679F4A0111C2}"/>
              </a:ext>
            </a:extLst>
          </p:cNvPr>
          <p:cNvSpPr>
            <a:spLocks noGrp="1"/>
          </p:cNvSpPr>
          <p:nvPr>
            <p:ph type="sldNum" sz="quarter" idx="12"/>
          </p:nvPr>
        </p:nvSpPr>
        <p:spPr/>
        <p:txBody>
          <a:bodyPr/>
          <a:lstStyle/>
          <a:p>
            <a:pPr algn="r"/>
            <a:fld id="{250292FE-8D56-4E3A-9427-CB428FF60A53}" type="slidenum">
              <a:rPr lang="pt-BR" b="1" smtClean="0"/>
              <a:pPr algn="r"/>
              <a:t>29</a:t>
            </a:fld>
            <a:endParaRPr lang="pt-BR" b="1" dirty="0"/>
          </a:p>
        </p:txBody>
      </p:sp>
      <p:sp>
        <p:nvSpPr>
          <p:cNvPr id="5" name="Título 4">
            <a:extLst>
              <a:ext uri="{FF2B5EF4-FFF2-40B4-BE49-F238E27FC236}">
                <a16:creationId xmlns:a16="http://schemas.microsoft.com/office/drawing/2014/main" id="{065A2057-EFBB-160D-0BBB-D939AE351E94}"/>
              </a:ext>
            </a:extLst>
          </p:cNvPr>
          <p:cNvSpPr>
            <a:spLocks noGrp="1"/>
          </p:cNvSpPr>
          <p:nvPr>
            <p:ph type="title"/>
          </p:nvPr>
        </p:nvSpPr>
        <p:spPr/>
        <p:txBody>
          <a:bodyPr/>
          <a:lstStyle/>
          <a:p>
            <a:pPr algn="ctr"/>
            <a:r>
              <a:rPr lang="pt-BR" b="1" i="1" dirty="0"/>
              <a:t>Para que serve o JSON</a:t>
            </a:r>
          </a:p>
        </p:txBody>
      </p:sp>
      <p:sp>
        <p:nvSpPr>
          <p:cNvPr id="7" name="CaixaDeTexto 6">
            <a:extLst>
              <a:ext uri="{FF2B5EF4-FFF2-40B4-BE49-F238E27FC236}">
                <a16:creationId xmlns:a16="http://schemas.microsoft.com/office/drawing/2014/main" id="{BA9DC9D3-77FD-5329-BC3D-30497D4CBC3B}"/>
              </a:ext>
            </a:extLst>
          </p:cNvPr>
          <p:cNvSpPr txBox="1"/>
          <p:nvPr/>
        </p:nvSpPr>
        <p:spPr>
          <a:xfrm>
            <a:off x="432196" y="1537425"/>
            <a:ext cx="11126391" cy="3046988"/>
          </a:xfrm>
          <a:prstGeom prst="rect">
            <a:avLst/>
          </a:prstGeom>
          <a:noFill/>
        </p:spPr>
        <p:txBody>
          <a:bodyPr wrap="square">
            <a:spAutoFit/>
          </a:bodyPr>
          <a:lstStyle/>
          <a:p>
            <a:pPr>
              <a:buNone/>
            </a:pPr>
            <a:r>
              <a:rPr lang="pt-BR" sz="2400" dirty="0"/>
              <a:t>JSON é usado para </a:t>
            </a:r>
            <a:r>
              <a:rPr lang="pt-BR" sz="2400" b="1" dirty="0"/>
              <a:t>comunicação de dados</a:t>
            </a:r>
            <a:r>
              <a:rPr lang="pt-BR" sz="2400" dirty="0"/>
              <a:t> entre:</a:t>
            </a:r>
          </a:p>
          <a:p>
            <a:pPr>
              <a:buNone/>
            </a:pPr>
            <a:endParaRPr lang="pt-BR" sz="2400" dirty="0"/>
          </a:p>
          <a:p>
            <a:pPr marL="542925" indent="-542925"/>
            <a:r>
              <a:rPr lang="pt-BR" sz="2400" dirty="0"/>
              <a:t>💻 </a:t>
            </a:r>
            <a:r>
              <a:rPr lang="pt-BR" sz="2400" b="1" dirty="0"/>
              <a:t>Programas diferentes</a:t>
            </a:r>
            <a:r>
              <a:rPr lang="pt-BR" sz="2400" dirty="0"/>
              <a:t> (por exemplo, um app em Java trocando dados com um servidor em Python)</a:t>
            </a:r>
          </a:p>
          <a:p>
            <a:pPr>
              <a:buFont typeface="Arial" panose="020B0604020202020204" pitchFamily="34" charset="0"/>
              <a:buChar char="•"/>
            </a:pPr>
            <a:endParaRPr lang="pt-BR" sz="2400" dirty="0"/>
          </a:p>
          <a:p>
            <a:r>
              <a:rPr lang="pt-BR" sz="2400" dirty="0"/>
              <a:t>🌐 </a:t>
            </a:r>
            <a:r>
              <a:rPr lang="pt-BR" sz="2400" b="1" dirty="0"/>
              <a:t>Front-</a:t>
            </a:r>
            <a:r>
              <a:rPr lang="pt-BR" sz="2400" b="1" dirty="0" err="1"/>
              <a:t>end</a:t>
            </a:r>
            <a:r>
              <a:rPr lang="pt-BR" sz="2400" b="1" dirty="0"/>
              <a:t> e </a:t>
            </a:r>
            <a:r>
              <a:rPr lang="pt-BR" sz="2400" b="1" dirty="0" err="1"/>
              <a:t>back-end</a:t>
            </a:r>
            <a:r>
              <a:rPr lang="pt-BR" sz="2400" dirty="0"/>
              <a:t> (</a:t>
            </a:r>
            <a:r>
              <a:rPr lang="pt-BR" sz="2400" dirty="0" err="1"/>
              <a:t>JavaScript</a:t>
            </a:r>
            <a:r>
              <a:rPr lang="pt-BR" sz="2400" dirty="0"/>
              <a:t> ↔ API em Python)</a:t>
            </a:r>
          </a:p>
          <a:p>
            <a:pPr>
              <a:buFont typeface="Arial" panose="020B0604020202020204" pitchFamily="34" charset="0"/>
              <a:buChar char="•"/>
            </a:pPr>
            <a:endParaRPr lang="pt-BR" sz="2400" dirty="0"/>
          </a:p>
          <a:p>
            <a:r>
              <a:rPr lang="pt-BR" sz="2400" dirty="0"/>
              <a:t>📁 </a:t>
            </a:r>
            <a:r>
              <a:rPr lang="pt-BR" sz="2400" b="1" dirty="0"/>
              <a:t>Armazenamento leve</a:t>
            </a:r>
            <a:r>
              <a:rPr lang="pt-BR" sz="2400" dirty="0"/>
              <a:t> de informações em arquivos (</a:t>
            </a:r>
            <a:r>
              <a:rPr lang="pt-BR" sz="2400" dirty="0">
                <a:latin typeface="Courier New" panose="02070309020205020404" pitchFamily="49" charset="0"/>
              </a:rPr>
              <a:t>.json</a:t>
            </a:r>
            <a:r>
              <a:rPr lang="pt-BR" sz="2400" dirty="0"/>
              <a:t>)</a:t>
            </a:r>
          </a:p>
        </p:txBody>
      </p:sp>
    </p:spTree>
    <p:extLst>
      <p:ext uri="{BB962C8B-B14F-4D97-AF65-F5344CB8AC3E}">
        <p14:creationId xmlns:p14="http://schemas.microsoft.com/office/powerpoint/2010/main" val="777745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E98F636-CF87-5957-A293-F50F228E1BB1}"/>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1D0CB371-5ADD-D220-7A85-85484584E840}"/>
              </a:ext>
            </a:extLst>
          </p:cNvPr>
          <p:cNvSpPr>
            <a:spLocks noGrp="1"/>
          </p:cNvSpPr>
          <p:nvPr>
            <p:ph type="ftr" sz="quarter" idx="11"/>
          </p:nvPr>
        </p:nvSpPr>
        <p:spPr/>
        <p:txBody>
          <a:bodyPr/>
          <a:lstStyle/>
          <a:p>
            <a:r>
              <a:rPr lang="pt-BR" sz="1600" b="1" dirty="0"/>
              <a:t>Cap11b-Exem04</a:t>
            </a:r>
          </a:p>
        </p:txBody>
      </p:sp>
      <p:sp>
        <p:nvSpPr>
          <p:cNvPr id="4" name="Espaço Reservado para Número de Slide 3">
            <a:extLst>
              <a:ext uri="{FF2B5EF4-FFF2-40B4-BE49-F238E27FC236}">
                <a16:creationId xmlns:a16="http://schemas.microsoft.com/office/drawing/2014/main" id="{DDB34627-6E56-C242-09BD-989AC65CE056}"/>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30</a:t>
            </a:fld>
            <a:endParaRPr lang="pt-BR" b="1" dirty="0">
              <a:solidFill>
                <a:schemeClr val="tx1"/>
              </a:solidFill>
            </a:endParaRPr>
          </a:p>
        </p:txBody>
      </p:sp>
      <p:sp>
        <p:nvSpPr>
          <p:cNvPr id="5" name="Título 4">
            <a:extLst>
              <a:ext uri="{FF2B5EF4-FFF2-40B4-BE49-F238E27FC236}">
                <a16:creationId xmlns:a16="http://schemas.microsoft.com/office/drawing/2014/main" id="{A0162F5D-EEF9-DEED-B3CC-453EDF9552DF}"/>
              </a:ext>
            </a:extLst>
          </p:cNvPr>
          <p:cNvSpPr>
            <a:spLocks noGrp="1"/>
          </p:cNvSpPr>
          <p:nvPr>
            <p:ph type="title"/>
          </p:nvPr>
        </p:nvSpPr>
        <p:spPr/>
        <p:txBody>
          <a:bodyPr/>
          <a:lstStyle/>
          <a:p>
            <a:pPr algn="ctr"/>
            <a:r>
              <a:rPr lang="pt-BR" b="1" i="1" dirty="0"/>
              <a:t>Struct</a:t>
            </a:r>
          </a:p>
        </p:txBody>
      </p:sp>
      <p:sp>
        <p:nvSpPr>
          <p:cNvPr id="7" name="CaixaDeTexto 6">
            <a:extLst>
              <a:ext uri="{FF2B5EF4-FFF2-40B4-BE49-F238E27FC236}">
                <a16:creationId xmlns:a16="http://schemas.microsoft.com/office/drawing/2014/main" id="{3B167AC5-DFAC-31B0-2D9C-82333E1FEFF9}"/>
              </a:ext>
            </a:extLst>
          </p:cNvPr>
          <p:cNvSpPr txBox="1"/>
          <p:nvPr/>
        </p:nvSpPr>
        <p:spPr>
          <a:xfrm>
            <a:off x="324466" y="1381920"/>
            <a:ext cx="11628383" cy="4739759"/>
          </a:xfrm>
          <a:prstGeom prst="rect">
            <a:avLst/>
          </a:prstGeom>
          <a:noFill/>
        </p:spPr>
        <p:txBody>
          <a:bodyPr wrap="square">
            <a:spAutoFit/>
          </a:bodyPr>
          <a:lstStyle/>
          <a:p>
            <a:pPr marL="285750" indent="-285750" algn="just">
              <a:buFont typeface="Arial" panose="020B0604020202020204" pitchFamily="34" charset="0"/>
              <a:buChar char="•"/>
            </a:pPr>
            <a:r>
              <a:rPr lang="pt-BR" altLang="pt-BR" dirty="0">
                <a:latin typeface="Arial" panose="020B0604020202020204" pitchFamily="34" charset="0"/>
              </a:rPr>
              <a:t>Usada para trabalhar com </a:t>
            </a:r>
            <a:r>
              <a:rPr lang="pt-BR" altLang="pt-BR" b="1" dirty="0">
                <a:latin typeface="Arial" panose="020B0604020202020204" pitchFamily="34" charset="0"/>
              </a:rPr>
              <a:t>arquivos binários</a:t>
            </a:r>
            <a:r>
              <a:rPr lang="pt-BR" altLang="pt-BR" dirty="0">
                <a:latin typeface="Arial" panose="020B0604020202020204" pitchFamily="34" charset="0"/>
              </a:rPr>
              <a:t> de formatos fixos (imagens, sons, sensores);</a:t>
            </a:r>
          </a:p>
          <a:p>
            <a:pPr algn="just"/>
            <a:endParaRPr lang="pt-BR" altLang="pt-BR" sz="1000" dirty="0">
              <a:latin typeface="Arial" panose="020B0604020202020204" pitchFamily="34" charset="0"/>
            </a:endParaRPr>
          </a:p>
          <a:p>
            <a:pPr marL="285750" indent="-285750" algn="just">
              <a:buFont typeface="Arial" panose="020B0604020202020204" pitchFamily="34" charset="0"/>
              <a:buChar char="•"/>
            </a:pPr>
            <a:r>
              <a:rPr lang="pt-BR" altLang="pt-BR" dirty="0">
                <a:latin typeface="Arial" panose="020B0604020202020204" pitchFamily="34" charset="0"/>
              </a:rPr>
              <a:t>Precisar </a:t>
            </a:r>
            <a:r>
              <a:rPr lang="pt-BR" altLang="pt-BR" b="1" dirty="0">
                <a:latin typeface="Arial" panose="020B0604020202020204" pitchFamily="34" charset="0"/>
              </a:rPr>
              <a:t>comunicar-se com dispositivos</a:t>
            </a:r>
            <a:r>
              <a:rPr lang="pt-BR" altLang="pt-BR" dirty="0">
                <a:latin typeface="Arial" panose="020B0604020202020204" pitchFamily="34" charset="0"/>
              </a:rPr>
              <a:t> que enviam dados binários (por exemplo, Arduino, sockets, etc.);</a:t>
            </a:r>
          </a:p>
          <a:p>
            <a:pPr algn="just"/>
            <a:endParaRPr lang="pt-BR" altLang="pt-BR" sz="1000" dirty="0">
              <a:latin typeface="Arial" panose="020B0604020202020204" pitchFamily="34" charset="0"/>
            </a:endParaRPr>
          </a:p>
          <a:p>
            <a:pPr marL="285750" indent="-285750" algn="just">
              <a:buFont typeface="Arial" panose="020B0604020202020204" pitchFamily="34" charset="0"/>
              <a:buChar char="•"/>
            </a:pPr>
            <a:r>
              <a:rPr lang="pt-BR" b="0" i="0" dirty="0">
                <a:solidFill>
                  <a:srgbClr val="000000"/>
                </a:solidFill>
                <a:effectLst/>
              </a:rPr>
              <a:t>Permite empacotar e desempacotar dados de forma que possam ser enviados ou recebidos em formatos binários, como em comunicação de rede ou leitura de arquivos binários. Ele funciona definindo um formato de dados usando uma string de especificação, onde cada caractere representa um tipo de dado (por exemplo, para inteiro,  para float, etc.) </a:t>
            </a:r>
          </a:p>
          <a:p>
            <a:pPr algn="just"/>
            <a:endParaRPr lang="pt-BR" sz="1000" b="0" i="0" dirty="0">
              <a:solidFill>
                <a:srgbClr val="000000"/>
              </a:solidFill>
              <a:effectLst/>
            </a:endParaRPr>
          </a:p>
          <a:p>
            <a:pPr marL="285750" indent="-285750" algn="just">
              <a:buFont typeface="Arial" panose="020B0604020202020204" pitchFamily="34" charset="0"/>
              <a:buChar char="•"/>
            </a:pPr>
            <a:r>
              <a:rPr lang="pt-BR" altLang="pt-BR" dirty="0">
                <a:latin typeface="Arial" panose="020B0604020202020204" pitchFamily="34" charset="0"/>
              </a:rPr>
              <a:t>Precisa de </a:t>
            </a:r>
            <a:r>
              <a:rPr lang="pt-BR" altLang="pt-BR" b="1" dirty="0">
                <a:latin typeface="Arial" panose="020B0604020202020204" pitchFamily="34" charset="0"/>
              </a:rPr>
              <a:t>controle exato</a:t>
            </a:r>
            <a:r>
              <a:rPr lang="pt-BR" altLang="pt-BR" dirty="0">
                <a:latin typeface="Arial" panose="020B0604020202020204" pitchFamily="34" charset="0"/>
              </a:rPr>
              <a:t> sobre o tamanho e formato dos dados.</a:t>
            </a:r>
          </a:p>
          <a:p>
            <a:pPr algn="just"/>
            <a:endParaRPr lang="pt-BR" altLang="pt-BR" sz="1000" dirty="0">
              <a:latin typeface="Arial" panose="020B0604020202020204" pitchFamily="34" charset="0"/>
            </a:endParaRPr>
          </a:p>
          <a:p>
            <a:pPr marL="285750" indent="-285750">
              <a:buFont typeface="Arial" panose="020B0604020202020204" pitchFamily="34" charset="0"/>
              <a:buChar char="•"/>
            </a:pPr>
            <a:r>
              <a:rPr lang="pt-BR" b="0" i="0" dirty="0">
                <a:solidFill>
                  <a:srgbClr val="000000"/>
                </a:solidFill>
                <a:effectLst/>
              </a:rPr>
              <a:t>Por exemplo, para empacotar um inteiro e um float, você pode fazer assim:</a:t>
            </a:r>
          </a:p>
          <a:p>
            <a:endParaRPr lang="pt-BR" sz="1000" b="0" i="0" dirty="0">
              <a:solidFill>
                <a:srgbClr val="000000"/>
              </a:solidFill>
              <a:effectLst/>
              <a:latin typeface="Consolas" panose="020B0609020204030204" pitchFamily="49" charset="0"/>
            </a:endParaRPr>
          </a:p>
          <a:p>
            <a:r>
              <a:rPr lang="pt-BR" b="0" i="0" dirty="0" err="1">
                <a:solidFill>
                  <a:srgbClr val="000000"/>
                </a:solidFill>
                <a:effectLst/>
                <a:latin typeface="Consolas" panose="020B0609020204030204" pitchFamily="49" charset="0"/>
              </a:rPr>
              <a:t>import</a:t>
            </a:r>
            <a:r>
              <a:rPr lang="pt-BR" b="0" i="0" dirty="0">
                <a:solidFill>
                  <a:srgbClr val="000000"/>
                </a:solidFill>
                <a:effectLst/>
                <a:latin typeface="Consolas" panose="020B0609020204030204" pitchFamily="49" charset="0"/>
              </a:rPr>
              <a:t> struct </a:t>
            </a:r>
          </a:p>
          <a:p>
            <a:r>
              <a:rPr lang="pt-BR" b="0" i="0" dirty="0">
                <a:solidFill>
                  <a:srgbClr val="000000"/>
                </a:solidFill>
                <a:effectLst/>
                <a:latin typeface="Consolas" panose="020B0609020204030204" pitchFamily="49" charset="0"/>
              </a:rPr>
              <a:t># Empacotando os dados </a:t>
            </a:r>
          </a:p>
          <a:p>
            <a:r>
              <a:rPr lang="pt-BR" b="0" i="0" dirty="0">
                <a:solidFill>
                  <a:srgbClr val="000000"/>
                </a:solidFill>
                <a:effectLst/>
                <a:latin typeface="Consolas" panose="020B0609020204030204" pitchFamily="49" charset="0"/>
              </a:rPr>
              <a:t>dados = </a:t>
            </a:r>
            <a:r>
              <a:rPr lang="pt-BR" b="0" i="0" dirty="0" err="1">
                <a:solidFill>
                  <a:srgbClr val="000000"/>
                </a:solidFill>
                <a:effectLst/>
                <a:latin typeface="Consolas" panose="020B0609020204030204" pitchFamily="49" charset="0"/>
              </a:rPr>
              <a:t>struct.pack</a:t>
            </a:r>
            <a:r>
              <a:rPr lang="pt-BR" b="0" i="0" dirty="0">
                <a:solidFill>
                  <a:srgbClr val="000000"/>
                </a:solidFill>
                <a:effectLst/>
                <a:latin typeface="Consolas" panose="020B0609020204030204" pitchFamily="49" charset="0"/>
              </a:rPr>
              <a:t>('</a:t>
            </a:r>
            <a:r>
              <a:rPr lang="pt-BR" b="0" i="0" dirty="0" err="1">
                <a:solidFill>
                  <a:srgbClr val="000000"/>
                </a:solidFill>
                <a:effectLst/>
                <a:latin typeface="Consolas" panose="020B0609020204030204" pitchFamily="49" charset="0"/>
              </a:rPr>
              <a:t>if</a:t>
            </a:r>
            <a:r>
              <a:rPr lang="pt-BR" b="0" i="0" dirty="0">
                <a:solidFill>
                  <a:srgbClr val="000000"/>
                </a:solidFill>
                <a:effectLst/>
                <a:latin typeface="Consolas" panose="020B0609020204030204" pitchFamily="49" charset="0"/>
              </a:rPr>
              <a:t>', 7, 3.14) </a:t>
            </a:r>
          </a:p>
          <a:p>
            <a:r>
              <a:rPr lang="pt-BR" b="0" i="0" dirty="0">
                <a:solidFill>
                  <a:srgbClr val="000000"/>
                </a:solidFill>
                <a:effectLst/>
                <a:latin typeface="Consolas" panose="020B0609020204030204" pitchFamily="49" charset="0"/>
              </a:rPr>
              <a:t># Desempacotando os dados </a:t>
            </a:r>
          </a:p>
          <a:p>
            <a:r>
              <a:rPr lang="pt-BR" b="0" i="0" dirty="0" err="1">
                <a:solidFill>
                  <a:srgbClr val="000000"/>
                </a:solidFill>
                <a:effectLst/>
                <a:latin typeface="Consolas" panose="020B0609020204030204" pitchFamily="49" charset="0"/>
              </a:rPr>
              <a:t>valor_inteiro</a:t>
            </a:r>
            <a:r>
              <a:rPr lang="pt-BR" b="0" i="0" dirty="0">
                <a:solidFill>
                  <a:srgbClr val="000000"/>
                </a:solidFill>
                <a:effectLst/>
                <a:latin typeface="Consolas" panose="020B0609020204030204" pitchFamily="49" charset="0"/>
              </a:rPr>
              <a:t>, </a:t>
            </a:r>
            <a:r>
              <a:rPr lang="pt-BR" b="0" i="0" dirty="0" err="1">
                <a:solidFill>
                  <a:srgbClr val="000000"/>
                </a:solidFill>
                <a:effectLst/>
                <a:latin typeface="Consolas" panose="020B0609020204030204" pitchFamily="49" charset="0"/>
              </a:rPr>
              <a:t>valor_float</a:t>
            </a:r>
            <a:r>
              <a:rPr lang="pt-BR" b="0" i="0" dirty="0">
                <a:solidFill>
                  <a:srgbClr val="000000"/>
                </a:solidFill>
                <a:effectLst/>
                <a:latin typeface="Consolas" panose="020B0609020204030204" pitchFamily="49" charset="0"/>
              </a:rPr>
              <a:t> = </a:t>
            </a:r>
            <a:r>
              <a:rPr lang="pt-BR" b="0" i="0" dirty="0" err="1">
                <a:solidFill>
                  <a:srgbClr val="000000"/>
                </a:solidFill>
                <a:effectLst/>
                <a:latin typeface="Consolas" panose="020B0609020204030204" pitchFamily="49" charset="0"/>
              </a:rPr>
              <a:t>struct.unpack</a:t>
            </a:r>
            <a:r>
              <a:rPr lang="pt-BR" b="0" i="0" dirty="0">
                <a:solidFill>
                  <a:srgbClr val="000000"/>
                </a:solidFill>
                <a:effectLst/>
                <a:latin typeface="Consolas" panose="020B0609020204030204" pitchFamily="49" charset="0"/>
              </a:rPr>
              <a:t>('</a:t>
            </a:r>
            <a:r>
              <a:rPr lang="pt-BR" b="0" i="0" dirty="0" err="1">
                <a:solidFill>
                  <a:srgbClr val="000000"/>
                </a:solidFill>
                <a:effectLst/>
                <a:latin typeface="Consolas" panose="020B0609020204030204" pitchFamily="49" charset="0"/>
              </a:rPr>
              <a:t>if</a:t>
            </a:r>
            <a:r>
              <a:rPr lang="pt-BR" b="0" i="0" dirty="0">
                <a:solidFill>
                  <a:srgbClr val="000000"/>
                </a:solidFill>
                <a:effectLst/>
                <a:latin typeface="Consolas" panose="020B0609020204030204" pitchFamily="49" charset="0"/>
              </a:rPr>
              <a:t>', dados)</a:t>
            </a:r>
          </a:p>
          <a:p>
            <a:r>
              <a:rPr lang="pt-BR" b="0" i="0" dirty="0">
                <a:solidFill>
                  <a:srgbClr val="000000"/>
                </a:solidFill>
                <a:effectLst/>
                <a:latin typeface="Consolas" panose="020B0609020204030204" pitchFamily="49" charset="0"/>
              </a:rPr>
              <a:t>print(</a:t>
            </a:r>
            <a:r>
              <a:rPr lang="pt-BR" b="0" i="0" dirty="0" err="1">
                <a:solidFill>
                  <a:srgbClr val="000000"/>
                </a:solidFill>
                <a:effectLst/>
                <a:latin typeface="Consolas" panose="020B0609020204030204" pitchFamily="49" charset="0"/>
              </a:rPr>
              <a:t>valor_inteiro</a:t>
            </a:r>
            <a:r>
              <a:rPr lang="pt-BR" b="0" i="0" dirty="0">
                <a:solidFill>
                  <a:srgbClr val="000000"/>
                </a:solidFill>
                <a:effectLst/>
                <a:latin typeface="Consolas" panose="020B0609020204030204" pitchFamily="49" charset="0"/>
              </a:rPr>
              <a:t>, </a:t>
            </a:r>
            <a:r>
              <a:rPr lang="pt-BR" b="0" i="0" dirty="0" err="1">
                <a:solidFill>
                  <a:srgbClr val="000000"/>
                </a:solidFill>
                <a:effectLst/>
                <a:latin typeface="Consolas" panose="020B0609020204030204" pitchFamily="49" charset="0"/>
              </a:rPr>
              <a:t>valor_float</a:t>
            </a:r>
            <a:r>
              <a:rPr lang="pt-BR" b="0" i="0" dirty="0">
                <a:solidFill>
                  <a:srgbClr val="000000"/>
                </a:solidFill>
                <a:effectLst/>
                <a:latin typeface="Consolas" panose="020B0609020204030204" pitchFamily="49" charset="0"/>
              </a:rPr>
              <a:t>)</a:t>
            </a:r>
          </a:p>
        </p:txBody>
      </p:sp>
      <p:sp>
        <p:nvSpPr>
          <p:cNvPr id="6" name="Rectangle 1">
            <a:extLst>
              <a:ext uri="{FF2B5EF4-FFF2-40B4-BE49-F238E27FC236}">
                <a16:creationId xmlns:a16="http://schemas.microsoft.com/office/drawing/2014/main" id="{718671EC-A726-8732-9832-8C360D145975}"/>
              </a:ext>
            </a:extLst>
          </p:cNvPr>
          <p:cNvSpPr>
            <a:spLocks noChangeArrowheads="1"/>
          </p:cNvSpPr>
          <p:nvPr/>
        </p:nvSpPr>
        <p:spPr bwMode="auto">
          <a:xfrm>
            <a:off x="6938575" y="417587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943740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5A230BE-757B-802F-9A9C-D09F8F468B61}"/>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A8087CF7-29E5-9E9C-AE06-C556B8B4B363}"/>
              </a:ext>
            </a:extLst>
          </p:cNvPr>
          <p:cNvSpPr>
            <a:spLocks noGrp="1"/>
          </p:cNvSpPr>
          <p:nvPr>
            <p:ph type="ftr" sz="quarter" idx="11"/>
          </p:nvPr>
        </p:nvSpPr>
        <p:spPr/>
        <p:txBody>
          <a:bodyPr/>
          <a:lstStyle/>
          <a:p>
            <a:r>
              <a:rPr lang="pt-BR" sz="1600" b="1" dirty="0"/>
              <a:t>Cap11b-Exem04A</a:t>
            </a:r>
          </a:p>
        </p:txBody>
      </p:sp>
      <p:sp>
        <p:nvSpPr>
          <p:cNvPr id="4" name="Espaço Reservado para Número de Slide 3">
            <a:extLst>
              <a:ext uri="{FF2B5EF4-FFF2-40B4-BE49-F238E27FC236}">
                <a16:creationId xmlns:a16="http://schemas.microsoft.com/office/drawing/2014/main" id="{DDBEBFC5-4F4E-08B5-C829-F79D118B9A5D}"/>
              </a:ext>
            </a:extLst>
          </p:cNvPr>
          <p:cNvSpPr>
            <a:spLocks noGrp="1"/>
          </p:cNvSpPr>
          <p:nvPr>
            <p:ph type="sldNum" sz="quarter" idx="12"/>
          </p:nvPr>
        </p:nvSpPr>
        <p:spPr/>
        <p:txBody>
          <a:bodyPr/>
          <a:lstStyle/>
          <a:p>
            <a:pPr algn="r"/>
            <a:fld id="{250292FE-8D56-4E3A-9427-CB428FF60A53}" type="slidenum">
              <a:rPr lang="pt-BR" b="1" smtClean="0"/>
              <a:pPr algn="r"/>
              <a:t>31</a:t>
            </a:fld>
            <a:endParaRPr lang="pt-BR" b="1" dirty="0"/>
          </a:p>
        </p:txBody>
      </p:sp>
      <p:sp>
        <p:nvSpPr>
          <p:cNvPr id="5" name="Título 4">
            <a:extLst>
              <a:ext uri="{FF2B5EF4-FFF2-40B4-BE49-F238E27FC236}">
                <a16:creationId xmlns:a16="http://schemas.microsoft.com/office/drawing/2014/main" id="{5E748B93-617D-9C0C-7E50-E3DA0D7A86C8}"/>
              </a:ext>
            </a:extLst>
          </p:cNvPr>
          <p:cNvSpPr>
            <a:spLocks noGrp="1"/>
          </p:cNvSpPr>
          <p:nvPr>
            <p:ph type="title"/>
          </p:nvPr>
        </p:nvSpPr>
        <p:spPr>
          <a:xfrm>
            <a:off x="2005532" y="250821"/>
            <a:ext cx="9862002" cy="988219"/>
          </a:xfrm>
        </p:spPr>
        <p:txBody>
          <a:bodyPr>
            <a:normAutofit fontScale="90000"/>
          </a:bodyPr>
          <a:lstStyle/>
          <a:p>
            <a:r>
              <a:rPr lang="pt-BR" b="1" i="1" dirty="0"/>
              <a:t>um exemplo completo: </a:t>
            </a:r>
            <a:r>
              <a:rPr lang="pt-BR" i="1" dirty="0"/>
              <a:t>usar o módulo struct para gravar e ler um arquivo binário</a:t>
            </a:r>
          </a:p>
        </p:txBody>
      </p:sp>
      <p:sp>
        <p:nvSpPr>
          <p:cNvPr id="7" name="CaixaDeTexto 6">
            <a:extLst>
              <a:ext uri="{FF2B5EF4-FFF2-40B4-BE49-F238E27FC236}">
                <a16:creationId xmlns:a16="http://schemas.microsoft.com/office/drawing/2014/main" id="{0C1102B5-F33F-7C8F-87BF-ECA87D4126ED}"/>
              </a:ext>
            </a:extLst>
          </p:cNvPr>
          <p:cNvSpPr txBox="1"/>
          <p:nvPr/>
        </p:nvSpPr>
        <p:spPr>
          <a:xfrm>
            <a:off x="139257" y="1429405"/>
            <a:ext cx="5504306" cy="5078313"/>
          </a:xfrm>
          <a:prstGeom prst="rect">
            <a:avLst/>
          </a:prstGeom>
          <a:noFill/>
        </p:spPr>
        <p:txBody>
          <a:bodyPr wrap="square">
            <a:spAutoFit/>
          </a:bodyPr>
          <a:lstStyle/>
          <a:p>
            <a:r>
              <a:rPr lang="pt-BR" dirty="0" err="1"/>
              <a:t>import</a:t>
            </a:r>
            <a:r>
              <a:rPr lang="pt-BR" dirty="0"/>
              <a:t> struct</a:t>
            </a:r>
          </a:p>
          <a:p>
            <a:endParaRPr lang="pt-BR" dirty="0"/>
          </a:p>
          <a:p>
            <a:r>
              <a:rPr lang="pt-BR" dirty="0"/>
              <a:t># Definição do formato: '</a:t>
            </a:r>
            <a:r>
              <a:rPr lang="pt-BR" dirty="0" err="1"/>
              <a:t>if</a:t>
            </a:r>
            <a:r>
              <a:rPr lang="pt-BR" dirty="0"/>
              <a:t>' = inteiro (i) + float (f)</a:t>
            </a:r>
          </a:p>
          <a:p>
            <a:r>
              <a:rPr lang="pt-BR" dirty="0"/>
              <a:t>formato = '</a:t>
            </a:r>
            <a:r>
              <a:rPr lang="pt-BR" dirty="0" err="1"/>
              <a:t>if</a:t>
            </a:r>
            <a:r>
              <a:rPr lang="pt-BR" dirty="0"/>
              <a:t>'</a:t>
            </a:r>
          </a:p>
          <a:p>
            <a:endParaRPr lang="pt-BR" dirty="0"/>
          </a:p>
          <a:p>
            <a:r>
              <a:rPr lang="pt-BR" dirty="0"/>
              <a:t># Lista de dados (</a:t>
            </a:r>
            <a:r>
              <a:rPr lang="pt-BR" dirty="0" err="1"/>
              <a:t>ex</a:t>
            </a:r>
            <a:r>
              <a:rPr lang="pt-BR" dirty="0"/>
              <a:t>: medições)</a:t>
            </a:r>
          </a:p>
          <a:p>
            <a:r>
              <a:rPr lang="pt-BR" dirty="0"/>
              <a:t>registros = [ (1, 3.5), (2, 7.25), (3, 9.8),]</a:t>
            </a:r>
          </a:p>
          <a:p>
            <a:endParaRPr lang="pt-BR" dirty="0"/>
          </a:p>
          <a:p>
            <a:r>
              <a:rPr lang="pt-BR" dirty="0"/>
              <a:t># ======================================= #1️⃣ GRAVAR EM ARQUIVO BINÁRIO</a:t>
            </a:r>
          </a:p>
          <a:p>
            <a:r>
              <a:rPr lang="pt-BR" dirty="0"/>
              <a:t># =======================================</a:t>
            </a:r>
          </a:p>
          <a:p>
            <a:r>
              <a:rPr lang="pt-BR" dirty="0"/>
              <a:t>with open("</a:t>
            </a:r>
            <a:r>
              <a:rPr lang="pt-BR" dirty="0" err="1"/>
              <a:t>dados.bin</a:t>
            </a:r>
            <a:r>
              <a:rPr lang="pt-BR" dirty="0"/>
              <a:t>", "</a:t>
            </a:r>
            <a:r>
              <a:rPr lang="pt-BR" dirty="0" err="1"/>
              <a:t>wb</a:t>
            </a:r>
            <a:r>
              <a:rPr lang="pt-BR" dirty="0"/>
              <a:t>") as arquivo:</a:t>
            </a:r>
          </a:p>
          <a:p>
            <a:r>
              <a:rPr lang="pt-BR" dirty="0"/>
              <a:t>    for numero, valor in registros:</a:t>
            </a:r>
          </a:p>
          <a:p>
            <a:r>
              <a:rPr lang="pt-BR" dirty="0"/>
              <a:t>        pacote = </a:t>
            </a:r>
            <a:r>
              <a:rPr lang="pt-BR" dirty="0" err="1"/>
              <a:t>struct.pack</a:t>
            </a:r>
            <a:r>
              <a:rPr lang="pt-BR" dirty="0"/>
              <a:t>(formato, numero, valor)</a:t>
            </a:r>
          </a:p>
          <a:p>
            <a:r>
              <a:rPr lang="pt-BR" dirty="0"/>
              <a:t>        </a:t>
            </a:r>
            <a:r>
              <a:rPr lang="pt-BR" dirty="0" err="1"/>
              <a:t>arquivo.write</a:t>
            </a:r>
            <a:r>
              <a:rPr lang="pt-BR" dirty="0"/>
              <a:t>(pacote)</a:t>
            </a:r>
          </a:p>
          <a:p>
            <a:endParaRPr lang="pt-BR" dirty="0"/>
          </a:p>
          <a:p>
            <a:r>
              <a:rPr lang="pt-BR" dirty="0"/>
              <a:t>print("Arquivo binário '</a:t>
            </a:r>
            <a:r>
              <a:rPr lang="pt-BR" dirty="0" err="1"/>
              <a:t>dados.bin</a:t>
            </a:r>
            <a:r>
              <a:rPr lang="pt-BR" dirty="0"/>
              <a:t>' gravado com sucesso!")</a:t>
            </a:r>
          </a:p>
        </p:txBody>
      </p:sp>
      <p:sp>
        <p:nvSpPr>
          <p:cNvPr id="9" name="CaixaDeTexto 8">
            <a:extLst>
              <a:ext uri="{FF2B5EF4-FFF2-40B4-BE49-F238E27FC236}">
                <a16:creationId xmlns:a16="http://schemas.microsoft.com/office/drawing/2014/main" id="{429A944A-AC59-41F8-3C26-4A73134A95F1}"/>
              </a:ext>
            </a:extLst>
          </p:cNvPr>
          <p:cNvSpPr txBox="1"/>
          <p:nvPr/>
        </p:nvSpPr>
        <p:spPr>
          <a:xfrm>
            <a:off x="5312543" y="1368928"/>
            <a:ext cx="4545832" cy="5109091"/>
          </a:xfrm>
          <a:prstGeom prst="rect">
            <a:avLst/>
          </a:prstGeom>
          <a:noFill/>
        </p:spPr>
        <p:txBody>
          <a:bodyPr wrap="square">
            <a:spAutoFit/>
          </a:bodyPr>
          <a:lstStyle/>
          <a:p>
            <a:r>
              <a:rPr lang="pt-BR" dirty="0"/>
              <a:t>#===============================</a:t>
            </a:r>
          </a:p>
          <a:p>
            <a:r>
              <a:rPr lang="pt-BR" dirty="0"/>
              <a:t># 2️⃣ LER DO ARQUIVO BINÁRIO</a:t>
            </a:r>
          </a:p>
          <a:p>
            <a:r>
              <a:rPr lang="pt-BR" dirty="0"/>
              <a:t># ===============================</a:t>
            </a:r>
          </a:p>
          <a:p>
            <a:pPr marL="3314700" indent="-3314700"/>
            <a:r>
              <a:rPr lang="pt-BR" dirty="0"/>
              <a:t>tamanho total de um registro (8 bytes)</a:t>
            </a:r>
          </a:p>
          <a:p>
            <a:pPr marL="3314700" indent="-3314700"/>
            <a:endParaRPr lang="pt-BR" sz="1000" dirty="0"/>
          </a:p>
          <a:p>
            <a:r>
              <a:rPr lang="pt-BR" dirty="0"/>
              <a:t>tamanho = </a:t>
            </a:r>
            <a:r>
              <a:rPr lang="pt-BR" dirty="0" err="1"/>
              <a:t>struct.calcsize</a:t>
            </a:r>
            <a:r>
              <a:rPr lang="pt-BR" dirty="0"/>
              <a:t>(formato)</a:t>
            </a:r>
          </a:p>
          <a:p>
            <a:r>
              <a:rPr lang="pt-BR" dirty="0" err="1"/>
              <a:t>dados_lidos</a:t>
            </a:r>
            <a:r>
              <a:rPr lang="pt-BR" dirty="0"/>
              <a:t> = []</a:t>
            </a:r>
          </a:p>
          <a:p>
            <a:endParaRPr lang="pt-BR" sz="1000" dirty="0"/>
          </a:p>
          <a:p>
            <a:r>
              <a:rPr lang="pt-BR" dirty="0"/>
              <a:t>with open("</a:t>
            </a:r>
            <a:r>
              <a:rPr lang="pt-BR" dirty="0" err="1"/>
              <a:t>dados.bin</a:t>
            </a:r>
            <a:r>
              <a:rPr lang="pt-BR" dirty="0"/>
              <a:t>", "</a:t>
            </a:r>
            <a:r>
              <a:rPr lang="pt-BR" dirty="0" err="1"/>
              <a:t>rb</a:t>
            </a:r>
            <a:r>
              <a:rPr lang="pt-BR" dirty="0"/>
              <a:t>") as arquivo:</a:t>
            </a:r>
          </a:p>
          <a:p>
            <a:r>
              <a:rPr lang="pt-BR" dirty="0"/>
              <a:t>    </a:t>
            </a:r>
            <a:r>
              <a:rPr lang="pt-BR" dirty="0" err="1"/>
              <a:t>while</a:t>
            </a:r>
            <a:r>
              <a:rPr lang="pt-BR" dirty="0"/>
              <a:t> True:</a:t>
            </a:r>
          </a:p>
          <a:p>
            <a:r>
              <a:rPr lang="pt-BR" dirty="0"/>
              <a:t>        bloco = </a:t>
            </a:r>
            <a:r>
              <a:rPr lang="pt-BR" dirty="0" err="1"/>
              <a:t>arquivo.read</a:t>
            </a:r>
            <a:r>
              <a:rPr lang="pt-BR" dirty="0"/>
              <a:t>(tamanho)</a:t>
            </a:r>
          </a:p>
          <a:p>
            <a:r>
              <a:rPr lang="pt-BR" dirty="0"/>
              <a:t>        </a:t>
            </a:r>
            <a:r>
              <a:rPr lang="pt-BR" dirty="0" err="1"/>
              <a:t>if</a:t>
            </a:r>
            <a:r>
              <a:rPr lang="pt-BR" dirty="0"/>
              <a:t> not bloco:</a:t>
            </a:r>
          </a:p>
          <a:p>
            <a:r>
              <a:rPr lang="pt-BR" dirty="0"/>
              <a:t>            break  # fim do arquivo</a:t>
            </a:r>
          </a:p>
          <a:p>
            <a:r>
              <a:rPr lang="pt-BR" dirty="0"/>
              <a:t>        registro = </a:t>
            </a:r>
            <a:r>
              <a:rPr lang="pt-BR" dirty="0" err="1"/>
              <a:t>struct.unpack</a:t>
            </a:r>
            <a:r>
              <a:rPr lang="pt-BR" dirty="0"/>
              <a:t>(formato, bloco)</a:t>
            </a:r>
          </a:p>
          <a:p>
            <a:r>
              <a:rPr lang="pt-BR" dirty="0"/>
              <a:t>        </a:t>
            </a:r>
            <a:r>
              <a:rPr lang="pt-BR" dirty="0" err="1"/>
              <a:t>dados_lidos.append</a:t>
            </a:r>
            <a:r>
              <a:rPr lang="pt-BR" dirty="0"/>
              <a:t>(registro)</a:t>
            </a:r>
          </a:p>
          <a:p>
            <a:endParaRPr lang="pt-BR" sz="1000" dirty="0"/>
          </a:p>
          <a:p>
            <a:r>
              <a:rPr lang="pt-BR" dirty="0"/>
              <a:t>print("\</a:t>
            </a:r>
            <a:r>
              <a:rPr lang="pt-BR" dirty="0" err="1"/>
              <a:t>nRegistros</a:t>
            </a:r>
            <a:r>
              <a:rPr lang="pt-BR" dirty="0"/>
              <a:t> lidos do arquivo:")</a:t>
            </a:r>
          </a:p>
          <a:p>
            <a:r>
              <a:rPr lang="pt-BR" dirty="0"/>
              <a:t>for r in </a:t>
            </a:r>
            <a:r>
              <a:rPr lang="pt-BR" dirty="0" err="1"/>
              <a:t>dados_lidos</a:t>
            </a:r>
            <a:r>
              <a:rPr lang="pt-BR" dirty="0"/>
              <a:t>:</a:t>
            </a:r>
          </a:p>
          <a:p>
            <a:r>
              <a:rPr lang="pt-BR" dirty="0"/>
              <a:t>    print(</a:t>
            </a:r>
            <a:r>
              <a:rPr lang="pt-BR" dirty="0" err="1"/>
              <a:t>f"Número</a:t>
            </a:r>
            <a:r>
              <a:rPr lang="pt-BR" dirty="0"/>
              <a:t>: {r[0]}, Valor: {r[1]:.2f}")</a:t>
            </a:r>
          </a:p>
        </p:txBody>
      </p:sp>
      <p:sp>
        <p:nvSpPr>
          <p:cNvPr id="11" name="CaixaDeTexto 10">
            <a:extLst>
              <a:ext uri="{FF2B5EF4-FFF2-40B4-BE49-F238E27FC236}">
                <a16:creationId xmlns:a16="http://schemas.microsoft.com/office/drawing/2014/main" id="{4C8FF2D7-6A47-E1F3-068E-B1DBAA2247F4}"/>
              </a:ext>
            </a:extLst>
          </p:cNvPr>
          <p:cNvSpPr txBox="1"/>
          <p:nvPr/>
        </p:nvSpPr>
        <p:spPr>
          <a:xfrm>
            <a:off x="9672625" y="2337774"/>
            <a:ext cx="2474123" cy="2308324"/>
          </a:xfrm>
          <a:prstGeom prst="rect">
            <a:avLst/>
          </a:prstGeom>
          <a:noFill/>
        </p:spPr>
        <p:txBody>
          <a:bodyPr wrap="square">
            <a:spAutoFit/>
          </a:bodyPr>
          <a:lstStyle/>
          <a:p>
            <a:r>
              <a:rPr lang="pt-BR" b="1" dirty="0"/>
              <a:t>Saída: Arquivo binário '</a:t>
            </a:r>
            <a:r>
              <a:rPr lang="pt-BR" b="1" dirty="0" err="1"/>
              <a:t>dados.bin</a:t>
            </a:r>
            <a:r>
              <a:rPr lang="pt-BR" b="1" dirty="0"/>
              <a:t>' gravado com sucesso!</a:t>
            </a:r>
          </a:p>
          <a:p>
            <a:r>
              <a:rPr lang="pt-BR" dirty="0"/>
              <a:t>Registros lidos do arquivo:</a:t>
            </a:r>
          </a:p>
          <a:p>
            <a:r>
              <a:rPr lang="pt-BR" dirty="0"/>
              <a:t>Número: 1, Valor: 3.5</a:t>
            </a:r>
          </a:p>
          <a:p>
            <a:r>
              <a:rPr lang="pt-BR" dirty="0"/>
              <a:t>Número: 2, Valor: 7.25</a:t>
            </a:r>
          </a:p>
          <a:p>
            <a:r>
              <a:rPr lang="pt-BR" dirty="0"/>
              <a:t>Número: 3, Valor: 9.8</a:t>
            </a:r>
          </a:p>
        </p:txBody>
      </p:sp>
    </p:spTree>
    <p:extLst>
      <p:ext uri="{BB962C8B-B14F-4D97-AF65-F5344CB8AC3E}">
        <p14:creationId xmlns:p14="http://schemas.microsoft.com/office/powerpoint/2010/main" val="22434323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4987B1B7-0CA8-E101-61DF-1DA9076A96C5}"/>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91FE973-8438-1ECF-00F1-C407557ACCD4}"/>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C97850D-8EEB-8928-CFF9-14F7C642FACA}"/>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32</a:t>
            </a:fld>
            <a:endParaRPr lang="pt-BR" b="1" dirty="0">
              <a:solidFill>
                <a:schemeClr val="tx1"/>
              </a:solidFill>
            </a:endParaRPr>
          </a:p>
        </p:txBody>
      </p:sp>
      <p:sp>
        <p:nvSpPr>
          <p:cNvPr id="5" name="Título 4">
            <a:extLst>
              <a:ext uri="{FF2B5EF4-FFF2-40B4-BE49-F238E27FC236}">
                <a16:creationId xmlns:a16="http://schemas.microsoft.com/office/drawing/2014/main" id="{144FB1AE-9510-87B4-EA9D-3C74357A8304}"/>
              </a:ext>
            </a:extLst>
          </p:cNvPr>
          <p:cNvSpPr>
            <a:spLocks noGrp="1"/>
          </p:cNvSpPr>
          <p:nvPr>
            <p:ph type="title"/>
          </p:nvPr>
        </p:nvSpPr>
        <p:spPr/>
        <p:txBody>
          <a:bodyPr/>
          <a:lstStyle/>
          <a:p>
            <a:pPr algn="ctr"/>
            <a:r>
              <a:rPr lang="pt-BR" b="1" i="1" dirty="0"/>
              <a:t>Arquivos Binários em Python com struct</a:t>
            </a:r>
          </a:p>
        </p:txBody>
      </p:sp>
      <p:sp>
        <p:nvSpPr>
          <p:cNvPr id="7" name="CaixaDeTexto 6">
            <a:extLst>
              <a:ext uri="{FF2B5EF4-FFF2-40B4-BE49-F238E27FC236}">
                <a16:creationId xmlns:a16="http://schemas.microsoft.com/office/drawing/2014/main" id="{9322A90C-A18B-5262-5D24-EB4472E39FBB}"/>
              </a:ext>
            </a:extLst>
          </p:cNvPr>
          <p:cNvSpPr txBox="1"/>
          <p:nvPr/>
        </p:nvSpPr>
        <p:spPr>
          <a:xfrm>
            <a:off x="360759" y="1639104"/>
            <a:ext cx="6093618" cy="707886"/>
          </a:xfrm>
          <a:prstGeom prst="rect">
            <a:avLst/>
          </a:prstGeom>
          <a:noFill/>
        </p:spPr>
        <p:txBody>
          <a:bodyPr wrap="square">
            <a:spAutoFit/>
          </a:bodyPr>
          <a:lstStyle/>
          <a:p>
            <a:r>
              <a:rPr lang="pt-BR" sz="4000" b="1" dirty="0"/>
              <a:t>O que é o módulo struct?</a:t>
            </a:r>
          </a:p>
        </p:txBody>
      </p:sp>
      <p:sp>
        <p:nvSpPr>
          <p:cNvPr id="9" name="CaixaDeTexto 8">
            <a:extLst>
              <a:ext uri="{FF2B5EF4-FFF2-40B4-BE49-F238E27FC236}">
                <a16:creationId xmlns:a16="http://schemas.microsoft.com/office/drawing/2014/main" id="{753C2EBA-AFF1-B200-4EAB-4C5DA2874668}"/>
              </a:ext>
            </a:extLst>
          </p:cNvPr>
          <p:cNvSpPr txBox="1"/>
          <p:nvPr/>
        </p:nvSpPr>
        <p:spPr>
          <a:xfrm>
            <a:off x="460772" y="2504157"/>
            <a:ext cx="10854928" cy="3108543"/>
          </a:xfrm>
          <a:prstGeom prst="rect">
            <a:avLst/>
          </a:prstGeom>
          <a:noFill/>
        </p:spPr>
        <p:txBody>
          <a:bodyPr wrap="square">
            <a:spAutoFit/>
          </a:bodyPr>
          <a:lstStyle/>
          <a:p>
            <a:r>
              <a:rPr lang="pt-BR" sz="2800" dirty="0"/>
              <a:t>• struct permite empacotar e desempacotar dados em formatos binários.</a:t>
            </a:r>
          </a:p>
          <a:p>
            <a:endParaRPr lang="pt-BR" sz="2800" dirty="0"/>
          </a:p>
          <a:p>
            <a:r>
              <a:rPr lang="pt-BR" sz="2800" dirty="0"/>
              <a:t>• Ideal para gravar dados em arquivos binários e ler de forma estruturada.</a:t>
            </a:r>
          </a:p>
          <a:p>
            <a:endParaRPr lang="pt-BR" sz="2800" dirty="0"/>
          </a:p>
          <a:p>
            <a:r>
              <a:rPr lang="pt-BR" sz="2800" dirty="0"/>
              <a:t>• Usa formatação semelhante à linguagem C (</a:t>
            </a:r>
            <a:r>
              <a:rPr lang="pt-BR" sz="2800" dirty="0" err="1"/>
              <a:t>ex</a:t>
            </a:r>
            <a:r>
              <a:rPr lang="pt-BR" sz="2800" dirty="0"/>
              <a:t>: 'i', 'f', </a:t>
            </a:r>
            <a:r>
              <a:rPr lang="pt-BR" sz="2800" dirty="0" err="1"/>
              <a:t>'s'</a:t>
            </a:r>
            <a:r>
              <a:rPr lang="pt-BR" sz="2800" dirty="0"/>
              <a:t>).</a:t>
            </a:r>
          </a:p>
        </p:txBody>
      </p:sp>
    </p:spTree>
    <p:extLst>
      <p:ext uri="{BB962C8B-B14F-4D97-AF65-F5344CB8AC3E}">
        <p14:creationId xmlns:p14="http://schemas.microsoft.com/office/powerpoint/2010/main" val="5443199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A8120B9-3547-6420-6192-50D9D4090697}"/>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C0132FF1-CFD9-A9F8-AB67-B96DEB5A631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FC6A0939-222D-CDF2-F8BC-F1A74E7034A8}"/>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33</a:t>
            </a:fld>
            <a:endParaRPr lang="pt-BR" b="1" dirty="0">
              <a:solidFill>
                <a:schemeClr val="tx1"/>
              </a:solidFill>
            </a:endParaRPr>
          </a:p>
        </p:txBody>
      </p:sp>
      <p:graphicFrame>
        <p:nvGraphicFramePr>
          <p:cNvPr id="6" name="Tabela 5">
            <a:extLst>
              <a:ext uri="{FF2B5EF4-FFF2-40B4-BE49-F238E27FC236}">
                <a16:creationId xmlns:a16="http://schemas.microsoft.com/office/drawing/2014/main" id="{6C7D99B6-55CA-8254-B275-BA338E5B8DA9}"/>
              </a:ext>
            </a:extLst>
          </p:cNvPr>
          <p:cNvGraphicFramePr>
            <a:graphicFrameLocks noGrp="1"/>
          </p:cNvGraphicFramePr>
          <p:nvPr>
            <p:extLst>
              <p:ext uri="{D42A27DB-BD31-4B8C-83A1-F6EECF244321}">
                <p14:modId xmlns:p14="http://schemas.microsoft.com/office/powerpoint/2010/main" val="1612325787"/>
              </p:ext>
            </p:extLst>
          </p:nvPr>
        </p:nvGraphicFramePr>
        <p:xfrm>
          <a:off x="239151" y="1638920"/>
          <a:ext cx="11713698" cy="4267200"/>
        </p:xfrm>
        <a:graphic>
          <a:graphicData uri="http://schemas.openxmlformats.org/drawingml/2006/table">
            <a:tbl>
              <a:tblPr firstRow="1" bandRow="1">
                <a:tableStyleId>{5C22544A-7EE6-4342-B048-85BDC9FD1C3A}</a:tableStyleId>
              </a:tblPr>
              <a:tblGrid>
                <a:gridCol w="3989949">
                  <a:extLst>
                    <a:ext uri="{9D8B030D-6E8A-4147-A177-3AD203B41FA5}">
                      <a16:colId xmlns:a16="http://schemas.microsoft.com/office/drawing/2014/main" val="1639632841"/>
                    </a:ext>
                  </a:extLst>
                </a:gridCol>
                <a:gridCol w="7723749">
                  <a:extLst>
                    <a:ext uri="{9D8B030D-6E8A-4147-A177-3AD203B41FA5}">
                      <a16:colId xmlns:a16="http://schemas.microsoft.com/office/drawing/2014/main" val="3079305790"/>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800" b="1" dirty="0"/>
                        <a:t>Função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800" b="1" dirty="0"/>
                        <a:t>Descrição</a:t>
                      </a:r>
                    </a:p>
                  </a:txBody>
                  <a:tcPr/>
                </a:tc>
                <a:extLst>
                  <a:ext uri="{0D108BD9-81ED-4DB2-BD59-A6C34878D82A}">
                    <a16:rowId xmlns:a16="http://schemas.microsoft.com/office/drawing/2014/main" val="28945816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b="1" dirty="0"/>
                        <a:t>pack(</a:t>
                      </a:r>
                      <a:r>
                        <a:rPr lang="pt-BR" sz="2400" b="1" dirty="0" err="1"/>
                        <a:t>fmt</a:t>
                      </a:r>
                      <a:r>
                        <a:rPr lang="pt-BR" sz="2400" b="1" dirty="0"/>
                        <a:t>, v1, v2, ...)</a:t>
                      </a:r>
                      <a:endParaRPr lang="pt-BR"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Empacota os valores como bytes, usando o formato </a:t>
                      </a:r>
                      <a:r>
                        <a:rPr lang="pt-BR" sz="2400" dirty="0" err="1"/>
                        <a:t>fmt</a:t>
                      </a:r>
                      <a:r>
                        <a:rPr lang="pt-BR" sz="2400" dirty="0"/>
                        <a:t>.</a:t>
                      </a:r>
                    </a:p>
                  </a:txBody>
                  <a:tcPr/>
                </a:tc>
                <a:extLst>
                  <a:ext uri="{0D108BD9-81ED-4DB2-BD59-A6C34878D82A}">
                    <a16:rowId xmlns:a16="http://schemas.microsoft.com/office/drawing/2014/main" val="6715147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b="1" dirty="0" err="1"/>
                        <a:t>unpack</a:t>
                      </a:r>
                      <a:r>
                        <a:rPr lang="pt-BR" sz="2400" b="1" dirty="0"/>
                        <a:t>(</a:t>
                      </a:r>
                      <a:r>
                        <a:rPr lang="pt-BR" sz="2400" b="1" dirty="0" err="1"/>
                        <a:t>fmt</a:t>
                      </a:r>
                      <a:r>
                        <a:rPr lang="pt-BR" sz="2400" b="1" dirty="0"/>
                        <a:t>, buffer)</a:t>
                      </a:r>
                      <a:endParaRPr lang="pt-BR"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Desempacota um buffer de bytes de acordo com </a:t>
                      </a:r>
                      <a:r>
                        <a:rPr lang="pt-BR" sz="2400" dirty="0" err="1"/>
                        <a:t>fmt</a:t>
                      </a:r>
                      <a:r>
                        <a:rPr lang="pt-BR" sz="2400" dirty="0"/>
                        <a:t>, retornando uma tupla.</a:t>
                      </a:r>
                    </a:p>
                  </a:txBody>
                  <a:tcPr/>
                </a:tc>
                <a:extLst>
                  <a:ext uri="{0D108BD9-81ED-4DB2-BD59-A6C34878D82A}">
                    <a16:rowId xmlns:a16="http://schemas.microsoft.com/office/drawing/2014/main" val="3473030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b="1" dirty="0" err="1"/>
                        <a:t>calcsize</a:t>
                      </a:r>
                      <a:r>
                        <a:rPr lang="pt-BR" sz="2400" b="1" dirty="0"/>
                        <a:t>(</a:t>
                      </a:r>
                      <a:r>
                        <a:rPr lang="pt-BR" sz="2400" b="1" dirty="0" err="1"/>
                        <a:t>fmt</a:t>
                      </a:r>
                      <a:r>
                        <a:rPr lang="pt-BR" sz="2400" b="1" dirty="0"/>
                        <a:t>)</a:t>
                      </a:r>
                      <a:endParaRPr lang="pt-BR"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Retorna o tamanho (em bytes) que o formato irá ocupar. Muito útil para saber quantos bytes ler de um arquivo.</a:t>
                      </a:r>
                    </a:p>
                  </a:txBody>
                  <a:tcPr/>
                </a:tc>
                <a:extLst>
                  <a:ext uri="{0D108BD9-81ED-4DB2-BD59-A6C34878D82A}">
                    <a16:rowId xmlns:a16="http://schemas.microsoft.com/office/drawing/2014/main" val="348514280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err="1"/>
                        <a:t>pack_into</a:t>
                      </a:r>
                      <a:r>
                        <a:rPr lang="en-US" sz="2400" b="1" dirty="0"/>
                        <a:t>(</a:t>
                      </a:r>
                      <a:r>
                        <a:rPr lang="en-US" sz="2400" b="1" dirty="0" err="1"/>
                        <a:t>fmt</a:t>
                      </a:r>
                      <a:r>
                        <a:rPr lang="en-US" sz="2400" b="1" dirty="0"/>
                        <a:t>, buffer, offset, v1, ...)</a:t>
                      </a:r>
                      <a:endParaRPr lang="en-US" sz="2400" dirty="0"/>
                    </a:p>
                  </a:txBody>
                  <a:tcPr/>
                </a:tc>
                <a:tc>
                  <a:txBody>
                    <a:bodyPr/>
                    <a:lstStyle/>
                    <a:p>
                      <a:r>
                        <a:rPr lang="pt-BR" sz="2400" dirty="0"/>
                        <a:t>Empacota valores diretamente em um buffer existente (como </a:t>
                      </a:r>
                      <a:r>
                        <a:rPr lang="pt-BR" sz="2400" dirty="0" err="1"/>
                        <a:t>bytearray</a:t>
                      </a:r>
                      <a:r>
                        <a:rPr lang="pt-BR" sz="2400" dirty="0"/>
                        <a:t>), a partir de um offset</a:t>
                      </a:r>
                    </a:p>
                  </a:txBody>
                  <a:tcPr/>
                </a:tc>
                <a:extLst>
                  <a:ext uri="{0D108BD9-81ED-4DB2-BD59-A6C34878D82A}">
                    <a16:rowId xmlns:a16="http://schemas.microsoft.com/office/drawing/2014/main" val="30493646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err="1"/>
                        <a:t>unpack_from</a:t>
                      </a:r>
                      <a:r>
                        <a:rPr lang="en-US" sz="2400" b="1" dirty="0"/>
                        <a:t>(</a:t>
                      </a:r>
                      <a:r>
                        <a:rPr lang="en-US" sz="2400" b="1" dirty="0" err="1"/>
                        <a:t>fmt</a:t>
                      </a:r>
                      <a:r>
                        <a:rPr lang="en-US" sz="2400" b="1" dirty="0"/>
                        <a:t>, buffer, offset=0)</a:t>
                      </a:r>
                      <a:endParaRPr lang="en-US"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2400" dirty="0"/>
                        <a:t>Desempacota valores de um buffer a partir de um offset.</a:t>
                      </a:r>
                    </a:p>
                  </a:txBody>
                  <a:tcPr/>
                </a:tc>
                <a:extLst>
                  <a:ext uri="{0D108BD9-81ED-4DB2-BD59-A6C34878D82A}">
                    <a16:rowId xmlns:a16="http://schemas.microsoft.com/office/drawing/2014/main" val="76223185"/>
                  </a:ext>
                </a:extLst>
              </a:tr>
            </a:tbl>
          </a:graphicData>
        </a:graphic>
      </p:graphicFrame>
      <p:sp>
        <p:nvSpPr>
          <p:cNvPr id="7" name="Rectangle 1">
            <a:extLst>
              <a:ext uri="{FF2B5EF4-FFF2-40B4-BE49-F238E27FC236}">
                <a16:creationId xmlns:a16="http://schemas.microsoft.com/office/drawing/2014/main" id="{994BE707-A963-9E81-31B4-A886D62217D9}"/>
              </a:ext>
            </a:extLst>
          </p:cNvPr>
          <p:cNvSpPr>
            <a:spLocks noGrp="1" noChangeArrowheads="1"/>
          </p:cNvSpPr>
          <p:nvPr>
            <p:ph type="title"/>
          </p:nvPr>
        </p:nvSpPr>
        <p:spPr bwMode="auto">
          <a:xfrm>
            <a:off x="2691761" y="503089"/>
            <a:ext cx="719299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b="1" i="1" u="none" strike="noStrike" cap="none" normalizeH="0" baseline="0" dirty="0">
                <a:ln>
                  <a:noFill/>
                </a:ln>
                <a:solidFill>
                  <a:schemeClr val="tx1"/>
                </a:solidFill>
                <a:effectLst/>
                <a:latin typeface="Arial" panose="020B0604020202020204" pitchFamily="34" charset="0"/>
              </a:rPr>
              <a:t>Funções do módulo </a:t>
            </a:r>
            <a:r>
              <a:rPr kumimoji="0" lang="pt-BR" altLang="pt-BR" b="1" i="1" u="none" strike="noStrike" cap="none" normalizeH="0" baseline="0" dirty="0">
                <a:ln>
                  <a:noFill/>
                </a:ln>
                <a:solidFill>
                  <a:schemeClr val="tx1"/>
                </a:solidFill>
                <a:effectLst/>
                <a:latin typeface="Arial Unicode MS" panose="020B0604020202020204" pitchFamily="34" charset="-128"/>
              </a:rPr>
              <a:t>struct</a:t>
            </a:r>
            <a:r>
              <a:rPr kumimoji="0" lang="pt-BR" altLang="pt-BR" b="1" i="1" u="none" strike="noStrike" cap="none" normalizeH="0" baseline="0" dirty="0">
                <a:ln>
                  <a:noFill/>
                </a:ln>
                <a:solidFill>
                  <a:schemeClr val="tx1"/>
                </a:solidFill>
                <a:effectLst/>
              </a:rPr>
              <a:t> </a:t>
            </a:r>
            <a:endParaRPr kumimoji="0" lang="pt-BR" altLang="pt-BR" b="1" i="1"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80102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7DDCD1B8-92E2-509E-E1EF-EC069607D0C4}"/>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6D89B82D-2D6D-DCF6-2213-28471C1B2439}"/>
              </a:ext>
            </a:extLst>
          </p:cNvPr>
          <p:cNvSpPr>
            <a:spLocks noGrp="1"/>
          </p:cNvSpPr>
          <p:nvPr>
            <p:ph type="ftr" sz="quarter" idx="11"/>
          </p:nvPr>
        </p:nvSpPr>
        <p:spPr/>
        <p:txBody>
          <a:bodyPr/>
          <a:lstStyle/>
          <a:p>
            <a:r>
              <a:rPr lang="pt-BR" dirty="0"/>
              <a:t>Cap11b-Exem07A</a:t>
            </a:r>
          </a:p>
        </p:txBody>
      </p:sp>
      <p:sp>
        <p:nvSpPr>
          <p:cNvPr id="4" name="Espaço Reservado para Número de Slide 3">
            <a:extLst>
              <a:ext uri="{FF2B5EF4-FFF2-40B4-BE49-F238E27FC236}">
                <a16:creationId xmlns:a16="http://schemas.microsoft.com/office/drawing/2014/main" id="{CAA3DA65-F7B4-8747-051C-253E45A47A72}"/>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34</a:t>
            </a:fld>
            <a:endParaRPr lang="pt-BR" b="1" dirty="0">
              <a:solidFill>
                <a:schemeClr val="tx1"/>
              </a:solidFill>
            </a:endParaRPr>
          </a:p>
        </p:txBody>
      </p:sp>
      <p:sp>
        <p:nvSpPr>
          <p:cNvPr id="5" name="Título 4">
            <a:extLst>
              <a:ext uri="{FF2B5EF4-FFF2-40B4-BE49-F238E27FC236}">
                <a16:creationId xmlns:a16="http://schemas.microsoft.com/office/drawing/2014/main" id="{1F65AE20-13CB-2DF4-6F64-32EEF2870BEB}"/>
              </a:ext>
            </a:extLst>
          </p:cNvPr>
          <p:cNvSpPr>
            <a:spLocks noGrp="1"/>
          </p:cNvSpPr>
          <p:nvPr>
            <p:ph type="title"/>
          </p:nvPr>
        </p:nvSpPr>
        <p:spPr/>
        <p:txBody>
          <a:bodyPr/>
          <a:lstStyle/>
          <a:p>
            <a:pPr algn="ctr"/>
            <a:r>
              <a:rPr lang="pt-BR" b="1" i="1" dirty="0" err="1"/>
              <a:t>struct.pack</a:t>
            </a:r>
            <a:r>
              <a:rPr lang="pt-BR" b="1" i="1" dirty="0"/>
              <a:t>()</a:t>
            </a:r>
          </a:p>
        </p:txBody>
      </p:sp>
      <p:sp>
        <p:nvSpPr>
          <p:cNvPr id="7" name="CaixaDeTexto 6">
            <a:extLst>
              <a:ext uri="{FF2B5EF4-FFF2-40B4-BE49-F238E27FC236}">
                <a16:creationId xmlns:a16="http://schemas.microsoft.com/office/drawing/2014/main" id="{F4D01A73-9B86-232E-B8AA-42AA2D77E85C}"/>
              </a:ext>
            </a:extLst>
          </p:cNvPr>
          <p:cNvSpPr txBox="1"/>
          <p:nvPr/>
        </p:nvSpPr>
        <p:spPr>
          <a:xfrm>
            <a:off x="103573" y="1431778"/>
            <a:ext cx="4411277" cy="2985433"/>
          </a:xfrm>
          <a:prstGeom prst="rect">
            <a:avLst/>
          </a:prstGeom>
          <a:noFill/>
        </p:spPr>
        <p:txBody>
          <a:bodyPr wrap="square">
            <a:spAutoFit/>
          </a:bodyPr>
          <a:lstStyle/>
          <a:p>
            <a:pPr marL="271463" indent="-271463"/>
            <a:r>
              <a:rPr lang="pt-BR" sz="2400" b="1" dirty="0"/>
              <a:t>• Converte valores Python em bytes</a:t>
            </a:r>
            <a:r>
              <a:rPr lang="pt-BR" sz="2000" dirty="0"/>
              <a:t>. </a:t>
            </a:r>
          </a:p>
          <a:p>
            <a:endParaRPr lang="pt-BR" sz="2000" dirty="0"/>
          </a:p>
          <a:p>
            <a:r>
              <a:rPr lang="pt-BR" sz="2000" dirty="0"/>
              <a:t>Exemplo:</a:t>
            </a:r>
          </a:p>
          <a:p>
            <a:r>
              <a:rPr lang="pt-BR" sz="2000" dirty="0"/>
              <a:t>  </a:t>
            </a:r>
          </a:p>
          <a:p>
            <a:pPr marL="271463"/>
            <a:r>
              <a:rPr lang="pt-BR" sz="2000" dirty="0" err="1"/>
              <a:t>import</a:t>
            </a:r>
            <a:r>
              <a:rPr lang="pt-BR" sz="2000" dirty="0"/>
              <a:t> struct</a:t>
            </a:r>
          </a:p>
          <a:p>
            <a:pPr marL="271463"/>
            <a:r>
              <a:rPr lang="pt-BR" sz="2000" dirty="0"/>
              <a:t>  dados = </a:t>
            </a:r>
            <a:r>
              <a:rPr lang="pt-BR" sz="2000" dirty="0" err="1"/>
              <a:t>struct.pack</a:t>
            </a:r>
            <a:r>
              <a:rPr lang="pt-BR" sz="2000" dirty="0"/>
              <a:t>('</a:t>
            </a:r>
            <a:r>
              <a:rPr lang="pt-BR" sz="2000" dirty="0" err="1"/>
              <a:t>if</a:t>
            </a:r>
            <a:r>
              <a:rPr lang="pt-BR" sz="2000" dirty="0"/>
              <a:t>', 10, 3.14)</a:t>
            </a:r>
          </a:p>
          <a:p>
            <a:pPr marL="271463"/>
            <a:r>
              <a:rPr lang="pt-BR" sz="2000" dirty="0"/>
              <a:t>  with open('</a:t>
            </a:r>
            <a:r>
              <a:rPr lang="pt-BR" sz="2000" dirty="0" err="1"/>
              <a:t>arquivo.bin</a:t>
            </a:r>
            <a:r>
              <a:rPr lang="pt-BR" sz="2000" dirty="0"/>
              <a:t>', 'wb') as f:</a:t>
            </a:r>
          </a:p>
          <a:p>
            <a:pPr marL="271463"/>
            <a:r>
              <a:rPr lang="pt-BR" sz="2000" dirty="0"/>
              <a:t>      </a:t>
            </a:r>
            <a:r>
              <a:rPr lang="pt-BR" sz="2000" dirty="0" err="1"/>
              <a:t>f.write</a:t>
            </a:r>
            <a:r>
              <a:rPr lang="pt-BR" sz="2000" dirty="0"/>
              <a:t>(dados)</a:t>
            </a:r>
          </a:p>
        </p:txBody>
      </p:sp>
      <p:graphicFrame>
        <p:nvGraphicFramePr>
          <p:cNvPr id="6" name="Tabela 5">
            <a:extLst>
              <a:ext uri="{FF2B5EF4-FFF2-40B4-BE49-F238E27FC236}">
                <a16:creationId xmlns:a16="http://schemas.microsoft.com/office/drawing/2014/main" id="{B2877E63-003C-BC19-018B-A34713E7E675}"/>
              </a:ext>
            </a:extLst>
          </p:cNvPr>
          <p:cNvGraphicFramePr>
            <a:graphicFrameLocks noGrp="1"/>
          </p:cNvGraphicFramePr>
          <p:nvPr>
            <p:extLst>
              <p:ext uri="{D42A27DB-BD31-4B8C-83A1-F6EECF244321}">
                <p14:modId xmlns:p14="http://schemas.microsoft.com/office/powerpoint/2010/main" val="4132197570"/>
              </p:ext>
            </p:extLst>
          </p:nvPr>
        </p:nvGraphicFramePr>
        <p:xfrm>
          <a:off x="4662488" y="1400818"/>
          <a:ext cx="7290362" cy="1920240"/>
        </p:xfrm>
        <a:graphic>
          <a:graphicData uri="http://schemas.openxmlformats.org/drawingml/2006/table">
            <a:tbl>
              <a:tblPr/>
              <a:tblGrid>
                <a:gridCol w="1315817">
                  <a:extLst>
                    <a:ext uri="{9D8B030D-6E8A-4147-A177-3AD203B41FA5}">
                      <a16:colId xmlns:a16="http://schemas.microsoft.com/office/drawing/2014/main" val="7296960"/>
                    </a:ext>
                  </a:extLst>
                </a:gridCol>
                <a:gridCol w="5974545">
                  <a:extLst>
                    <a:ext uri="{9D8B030D-6E8A-4147-A177-3AD203B41FA5}">
                      <a16:colId xmlns:a16="http://schemas.microsoft.com/office/drawing/2014/main" val="1899710414"/>
                    </a:ext>
                  </a:extLst>
                </a:gridCol>
              </a:tblGrid>
              <a:tr h="0">
                <a:tc>
                  <a:txBody>
                    <a:bodyPr/>
                    <a:lstStyle/>
                    <a:p>
                      <a:pPr algn="l">
                        <a:buNone/>
                      </a:pPr>
                      <a:r>
                        <a:rPr lang="pt-BR" sz="2400" b="1" dirty="0"/>
                        <a:t>Parte</a:t>
                      </a:r>
                    </a:p>
                  </a:txBody>
                  <a:tcPr anchor="ctr">
                    <a:lnL>
                      <a:noFill/>
                    </a:lnL>
                    <a:lnR>
                      <a:noFill/>
                    </a:lnR>
                    <a:lnT>
                      <a:noFill/>
                    </a:lnT>
                    <a:lnB>
                      <a:noFill/>
                    </a:lnB>
                    <a:noFill/>
                  </a:tcPr>
                </a:tc>
                <a:tc>
                  <a:txBody>
                    <a:bodyPr/>
                    <a:lstStyle/>
                    <a:p>
                      <a:pPr algn="l">
                        <a:buNone/>
                      </a:pPr>
                      <a:r>
                        <a:rPr lang="pt-BR" sz="2400" b="1" dirty="0"/>
                        <a:t>Significado</a:t>
                      </a:r>
                    </a:p>
                  </a:txBody>
                  <a:tcPr anchor="ctr">
                    <a:lnL>
                      <a:noFill/>
                    </a:lnL>
                    <a:lnR>
                      <a:noFill/>
                    </a:lnR>
                    <a:lnT>
                      <a:noFill/>
                    </a:lnT>
                    <a:lnB>
                      <a:noFill/>
                    </a:lnB>
                    <a:noFill/>
                  </a:tcPr>
                </a:tc>
                <a:extLst>
                  <a:ext uri="{0D108BD9-81ED-4DB2-BD59-A6C34878D82A}">
                    <a16:rowId xmlns:a16="http://schemas.microsoft.com/office/drawing/2014/main" val="535960012"/>
                  </a:ext>
                </a:extLst>
              </a:tr>
              <a:tr h="0">
                <a:tc>
                  <a:txBody>
                    <a:bodyPr/>
                    <a:lstStyle/>
                    <a:p>
                      <a:pPr algn="l">
                        <a:buNone/>
                      </a:pPr>
                      <a:r>
                        <a:rPr lang="pt-BR" dirty="0">
                          <a:latin typeface="Courier New" panose="02070309020205020404" pitchFamily="49" charset="0"/>
                        </a:rPr>
                        <a:t>'</a:t>
                      </a:r>
                      <a:r>
                        <a:rPr lang="pt-BR" dirty="0" err="1">
                          <a:latin typeface="Courier New" panose="02070309020205020404" pitchFamily="49" charset="0"/>
                        </a:rPr>
                        <a:t>if</a:t>
                      </a:r>
                      <a:r>
                        <a:rPr lang="pt-BR" dirty="0">
                          <a:latin typeface="Courier New" panose="02070309020205020404" pitchFamily="49" charset="0"/>
                        </a:rPr>
                        <a:t>'</a:t>
                      </a:r>
                      <a:endParaRPr lang="pt-BR" dirty="0"/>
                    </a:p>
                  </a:txBody>
                  <a:tcPr anchor="ctr">
                    <a:lnL>
                      <a:noFill/>
                    </a:lnL>
                    <a:lnR>
                      <a:noFill/>
                    </a:lnR>
                    <a:lnT>
                      <a:noFill/>
                    </a:lnT>
                    <a:lnB>
                      <a:noFill/>
                    </a:lnB>
                    <a:noFill/>
                  </a:tcPr>
                </a:tc>
                <a:tc>
                  <a:txBody>
                    <a:bodyPr/>
                    <a:lstStyle/>
                    <a:p>
                      <a:pPr algn="l">
                        <a:buNone/>
                      </a:pPr>
                      <a:r>
                        <a:rPr lang="pt-BR" b="1"/>
                        <a:t>Formato</a:t>
                      </a:r>
                      <a:r>
                        <a:rPr lang="pt-BR"/>
                        <a:t>: primeiro um </a:t>
                      </a:r>
                      <a:r>
                        <a:rPr lang="pt-BR" b="1"/>
                        <a:t>inteiro (</a:t>
                      </a:r>
                      <a:r>
                        <a:rPr lang="pt-BR" b="1">
                          <a:latin typeface="Courier New" panose="02070309020205020404" pitchFamily="49" charset="0"/>
                        </a:rPr>
                        <a:t>i</a:t>
                      </a:r>
                      <a:r>
                        <a:rPr lang="pt-BR" b="1"/>
                        <a:t>)</a:t>
                      </a:r>
                      <a:r>
                        <a:rPr lang="pt-BR"/>
                        <a:t>, depois um </a:t>
                      </a:r>
                      <a:r>
                        <a:rPr lang="pt-BR" b="1"/>
                        <a:t>float (</a:t>
                      </a:r>
                      <a:r>
                        <a:rPr lang="pt-BR" b="1">
                          <a:latin typeface="Courier New" panose="02070309020205020404" pitchFamily="49" charset="0"/>
                        </a:rPr>
                        <a:t>f</a:t>
                      </a:r>
                      <a:r>
                        <a:rPr lang="pt-BR" b="1"/>
                        <a:t>)</a:t>
                      </a:r>
                      <a:endParaRPr lang="pt-BR"/>
                    </a:p>
                  </a:txBody>
                  <a:tcPr anchor="ctr">
                    <a:lnL>
                      <a:noFill/>
                    </a:lnL>
                    <a:lnR>
                      <a:noFill/>
                    </a:lnR>
                    <a:lnT>
                      <a:noFill/>
                    </a:lnT>
                    <a:lnB>
                      <a:noFill/>
                    </a:lnB>
                    <a:noFill/>
                  </a:tcPr>
                </a:tc>
                <a:extLst>
                  <a:ext uri="{0D108BD9-81ED-4DB2-BD59-A6C34878D82A}">
                    <a16:rowId xmlns:a16="http://schemas.microsoft.com/office/drawing/2014/main" val="4231098150"/>
                  </a:ext>
                </a:extLst>
              </a:tr>
              <a:tr h="0">
                <a:tc>
                  <a:txBody>
                    <a:bodyPr/>
                    <a:lstStyle/>
                    <a:p>
                      <a:pPr algn="l">
                        <a:buNone/>
                      </a:pPr>
                      <a:r>
                        <a:rPr lang="pt-BR" dirty="0">
                          <a:latin typeface="Courier New" panose="02070309020205020404" pitchFamily="49" charset="0"/>
                        </a:rPr>
                        <a:t>10</a:t>
                      </a:r>
                      <a:endParaRPr lang="pt-BR" dirty="0"/>
                    </a:p>
                  </a:txBody>
                  <a:tcPr anchor="ctr">
                    <a:lnL>
                      <a:noFill/>
                    </a:lnL>
                    <a:lnR>
                      <a:noFill/>
                    </a:lnR>
                    <a:lnT>
                      <a:noFill/>
                    </a:lnT>
                    <a:lnB>
                      <a:noFill/>
                    </a:lnB>
                    <a:noFill/>
                  </a:tcPr>
                </a:tc>
                <a:tc>
                  <a:txBody>
                    <a:bodyPr/>
                    <a:lstStyle/>
                    <a:p>
                      <a:pPr algn="l">
                        <a:buNone/>
                      </a:pPr>
                      <a:r>
                        <a:rPr lang="pt-BR"/>
                        <a:t>Valor inteiro a ser convertido</a:t>
                      </a:r>
                    </a:p>
                  </a:txBody>
                  <a:tcPr anchor="ctr">
                    <a:lnL>
                      <a:noFill/>
                    </a:lnL>
                    <a:lnR>
                      <a:noFill/>
                    </a:lnR>
                    <a:lnT>
                      <a:noFill/>
                    </a:lnT>
                    <a:lnB>
                      <a:noFill/>
                    </a:lnB>
                    <a:noFill/>
                  </a:tcPr>
                </a:tc>
                <a:extLst>
                  <a:ext uri="{0D108BD9-81ED-4DB2-BD59-A6C34878D82A}">
                    <a16:rowId xmlns:a16="http://schemas.microsoft.com/office/drawing/2014/main" val="1658553714"/>
                  </a:ext>
                </a:extLst>
              </a:tr>
              <a:tr h="0">
                <a:tc>
                  <a:txBody>
                    <a:bodyPr/>
                    <a:lstStyle/>
                    <a:p>
                      <a:pPr algn="l">
                        <a:buNone/>
                      </a:pPr>
                      <a:r>
                        <a:rPr lang="pt-BR" dirty="0">
                          <a:latin typeface="Courier New" panose="02070309020205020404" pitchFamily="49" charset="0"/>
                        </a:rPr>
                        <a:t>3.14</a:t>
                      </a:r>
                      <a:endParaRPr lang="pt-BR" dirty="0"/>
                    </a:p>
                  </a:txBody>
                  <a:tcPr anchor="ctr">
                    <a:lnL>
                      <a:noFill/>
                    </a:lnL>
                    <a:lnR>
                      <a:noFill/>
                    </a:lnR>
                    <a:lnT>
                      <a:noFill/>
                    </a:lnT>
                    <a:lnB>
                      <a:noFill/>
                    </a:lnB>
                    <a:noFill/>
                  </a:tcPr>
                </a:tc>
                <a:tc>
                  <a:txBody>
                    <a:bodyPr/>
                    <a:lstStyle/>
                    <a:p>
                      <a:pPr algn="l">
                        <a:buNone/>
                      </a:pPr>
                      <a:r>
                        <a:rPr lang="pt-BR" dirty="0"/>
                        <a:t>Valor float a ser convertido</a:t>
                      </a:r>
                    </a:p>
                  </a:txBody>
                  <a:tcPr anchor="ctr">
                    <a:lnL>
                      <a:noFill/>
                    </a:lnL>
                    <a:lnR>
                      <a:noFill/>
                    </a:lnR>
                    <a:lnT>
                      <a:noFill/>
                    </a:lnT>
                    <a:lnB>
                      <a:noFill/>
                    </a:lnB>
                    <a:noFill/>
                  </a:tcPr>
                </a:tc>
                <a:extLst>
                  <a:ext uri="{0D108BD9-81ED-4DB2-BD59-A6C34878D82A}">
                    <a16:rowId xmlns:a16="http://schemas.microsoft.com/office/drawing/2014/main" val="1339331681"/>
                  </a:ext>
                </a:extLst>
              </a:tr>
              <a:tr h="0">
                <a:tc>
                  <a:txBody>
                    <a:bodyPr/>
                    <a:lstStyle/>
                    <a:p>
                      <a:pPr algn="l">
                        <a:buNone/>
                      </a:pPr>
                      <a:r>
                        <a:rPr lang="pt-BR" dirty="0"/>
                        <a:t>Resultado</a:t>
                      </a:r>
                    </a:p>
                  </a:txBody>
                  <a:tcPr anchor="ctr">
                    <a:lnL>
                      <a:noFill/>
                    </a:lnL>
                    <a:lnR>
                      <a:noFill/>
                    </a:lnR>
                    <a:lnT>
                      <a:noFill/>
                    </a:lnT>
                    <a:lnB>
                      <a:noFill/>
                    </a:lnB>
                    <a:noFill/>
                  </a:tcPr>
                </a:tc>
                <a:tc>
                  <a:txBody>
                    <a:bodyPr/>
                    <a:lstStyle/>
                    <a:p>
                      <a:pPr algn="l">
                        <a:buNone/>
                      </a:pPr>
                      <a:r>
                        <a:rPr lang="pt-BR" dirty="0"/>
                        <a:t>Um bloco de </a:t>
                      </a:r>
                      <a:r>
                        <a:rPr lang="pt-BR" b="1" dirty="0"/>
                        <a:t>8 bytes</a:t>
                      </a:r>
                      <a:r>
                        <a:rPr lang="pt-BR" dirty="0"/>
                        <a:t> representando esses dois números</a:t>
                      </a:r>
                    </a:p>
                  </a:txBody>
                  <a:tcPr anchor="ctr">
                    <a:lnL>
                      <a:noFill/>
                    </a:lnL>
                    <a:lnR>
                      <a:noFill/>
                    </a:lnR>
                    <a:lnT>
                      <a:noFill/>
                    </a:lnT>
                    <a:lnB>
                      <a:noFill/>
                    </a:lnB>
                    <a:noFill/>
                  </a:tcPr>
                </a:tc>
                <a:extLst>
                  <a:ext uri="{0D108BD9-81ED-4DB2-BD59-A6C34878D82A}">
                    <a16:rowId xmlns:a16="http://schemas.microsoft.com/office/drawing/2014/main" val="487738932"/>
                  </a:ext>
                </a:extLst>
              </a:tr>
            </a:tbl>
          </a:graphicData>
        </a:graphic>
      </p:graphicFrame>
    </p:spTree>
    <p:extLst>
      <p:ext uri="{BB962C8B-B14F-4D97-AF65-F5344CB8AC3E}">
        <p14:creationId xmlns:p14="http://schemas.microsoft.com/office/powerpoint/2010/main" val="272726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E986BD4-459B-672C-C72C-C8864F432772}"/>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92611635-FD00-DA1D-6CC3-902E41E64D2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75A1A39-C5DB-39A9-8FB2-79C6C818AB29}"/>
              </a:ext>
            </a:extLst>
          </p:cNvPr>
          <p:cNvSpPr>
            <a:spLocks noGrp="1"/>
          </p:cNvSpPr>
          <p:nvPr>
            <p:ph type="sldNum" sz="quarter" idx="12"/>
          </p:nvPr>
        </p:nvSpPr>
        <p:spPr/>
        <p:txBody>
          <a:bodyPr/>
          <a:lstStyle/>
          <a:p>
            <a:fld id="{250292FE-8D56-4E3A-9427-CB428FF60A53}" type="slidenum">
              <a:rPr lang="pt-BR" smtClean="0"/>
              <a:pPr/>
              <a:t>35</a:t>
            </a:fld>
            <a:endParaRPr lang="pt-BR" dirty="0"/>
          </a:p>
        </p:txBody>
      </p:sp>
      <p:sp>
        <p:nvSpPr>
          <p:cNvPr id="5" name="Título 4">
            <a:extLst>
              <a:ext uri="{FF2B5EF4-FFF2-40B4-BE49-F238E27FC236}">
                <a16:creationId xmlns:a16="http://schemas.microsoft.com/office/drawing/2014/main" id="{B0F5F23D-3897-C4FB-D252-3A751AD051A3}"/>
              </a:ext>
            </a:extLst>
          </p:cNvPr>
          <p:cNvSpPr>
            <a:spLocks noGrp="1"/>
          </p:cNvSpPr>
          <p:nvPr>
            <p:ph type="title"/>
          </p:nvPr>
        </p:nvSpPr>
        <p:spPr/>
        <p:txBody>
          <a:bodyPr/>
          <a:lstStyle/>
          <a:p>
            <a:pPr algn="ctr"/>
            <a:r>
              <a:rPr lang="pt-BR" b="1" i="1" dirty="0"/>
              <a:t>Como funciona o formato '</a:t>
            </a:r>
            <a:r>
              <a:rPr lang="pt-BR" b="1" i="1" dirty="0" err="1"/>
              <a:t>if</a:t>
            </a:r>
            <a:r>
              <a:rPr lang="pt-BR" b="1" i="1" dirty="0"/>
              <a:t>'</a:t>
            </a:r>
          </a:p>
        </p:txBody>
      </p:sp>
      <p:graphicFrame>
        <p:nvGraphicFramePr>
          <p:cNvPr id="6" name="Tabela 5">
            <a:extLst>
              <a:ext uri="{FF2B5EF4-FFF2-40B4-BE49-F238E27FC236}">
                <a16:creationId xmlns:a16="http://schemas.microsoft.com/office/drawing/2014/main" id="{A250EBDF-AC75-4068-C7B0-7CD7927BC194}"/>
              </a:ext>
            </a:extLst>
          </p:cNvPr>
          <p:cNvGraphicFramePr>
            <a:graphicFrameLocks noGrp="1"/>
          </p:cNvGraphicFramePr>
          <p:nvPr>
            <p:extLst>
              <p:ext uri="{D42A27DB-BD31-4B8C-83A1-F6EECF244321}">
                <p14:modId xmlns:p14="http://schemas.microsoft.com/office/powerpoint/2010/main" val="2855804057"/>
              </p:ext>
            </p:extLst>
          </p:nvPr>
        </p:nvGraphicFramePr>
        <p:xfrm>
          <a:off x="435288" y="1963901"/>
          <a:ext cx="10515600" cy="3078480"/>
        </p:xfrm>
        <a:graphic>
          <a:graphicData uri="http://schemas.openxmlformats.org/drawingml/2006/table">
            <a:tbl>
              <a:tblPr/>
              <a:tblGrid>
                <a:gridCol w="3505200">
                  <a:extLst>
                    <a:ext uri="{9D8B030D-6E8A-4147-A177-3AD203B41FA5}">
                      <a16:colId xmlns:a16="http://schemas.microsoft.com/office/drawing/2014/main" val="3336372243"/>
                    </a:ext>
                  </a:extLst>
                </a:gridCol>
                <a:gridCol w="3505200">
                  <a:extLst>
                    <a:ext uri="{9D8B030D-6E8A-4147-A177-3AD203B41FA5}">
                      <a16:colId xmlns:a16="http://schemas.microsoft.com/office/drawing/2014/main" val="3820745613"/>
                    </a:ext>
                  </a:extLst>
                </a:gridCol>
                <a:gridCol w="3505200">
                  <a:extLst>
                    <a:ext uri="{9D8B030D-6E8A-4147-A177-3AD203B41FA5}">
                      <a16:colId xmlns:a16="http://schemas.microsoft.com/office/drawing/2014/main" val="2236956734"/>
                    </a:ext>
                  </a:extLst>
                </a:gridCol>
              </a:tblGrid>
              <a:tr h="0">
                <a:tc>
                  <a:txBody>
                    <a:bodyPr/>
                    <a:lstStyle/>
                    <a:p>
                      <a:pPr algn="l">
                        <a:buNone/>
                      </a:pPr>
                      <a:r>
                        <a:rPr lang="pt-BR" sz="2000" b="1" dirty="0"/>
                        <a:t>Símbolo</a:t>
                      </a:r>
                    </a:p>
                  </a:txBody>
                  <a:tcPr anchor="ctr">
                    <a:lnL>
                      <a:noFill/>
                    </a:lnL>
                    <a:lnR>
                      <a:noFill/>
                    </a:lnR>
                    <a:lnT>
                      <a:noFill/>
                    </a:lnT>
                    <a:lnB>
                      <a:noFill/>
                    </a:lnB>
                    <a:noFill/>
                  </a:tcPr>
                </a:tc>
                <a:tc>
                  <a:txBody>
                    <a:bodyPr/>
                    <a:lstStyle/>
                    <a:p>
                      <a:pPr algn="l">
                        <a:buNone/>
                      </a:pPr>
                      <a:r>
                        <a:rPr lang="pt-BR" sz="2000" b="1" dirty="0"/>
                        <a:t>Tipo Python</a:t>
                      </a:r>
                    </a:p>
                  </a:txBody>
                  <a:tcPr anchor="ctr">
                    <a:lnL>
                      <a:noFill/>
                    </a:lnL>
                    <a:lnR>
                      <a:noFill/>
                    </a:lnR>
                    <a:lnT>
                      <a:noFill/>
                    </a:lnT>
                    <a:lnB>
                      <a:noFill/>
                    </a:lnB>
                    <a:noFill/>
                  </a:tcPr>
                </a:tc>
                <a:tc>
                  <a:txBody>
                    <a:bodyPr/>
                    <a:lstStyle/>
                    <a:p>
                      <a:pPr algn="l">
                        <a:buNone/>
                      </a:pPr>
                      <a:r>
                        <a:rPr lang="pt-BR" sz="2000" b="1" dirty="0"/>
                        <a:t>Tamanho (bytes)</a:t>
                      </a:r>
                    </a:p>
                  </a:txBody>
                  <a:tcPr anchor="ctr">
                    <a:lnL>
                      <a:noFill/>
                    </a:lnL>
                    <a:lnR>
                      <a:noFill/>
                    </a:lnR>
                    <a:lnT>
                      <a:noFill/>
                    </a:lnT>
                    <a:lnB>
                      <a:noFill/>
                    </a:lnB>
                    <a:noFill/>
                  </a:tcPr>
                </a:tc>
                <a:extLst>
                  <a:ext uri="{0D108BD9-81ED-4DB2-BD59-A6C34878D82A}">
                    <a16:rowId xmlns:a16="http://schemas.microsoft.com/office/drawing/2014/main" val="1110518230"/>
                  </a:ext>
                </a:extLst>
              </a:tr>
              <a:tr h="0">
                <a:tc>
                  <a:txBody>
                    <a:bodyPr/>
                    <a:lstStyle/>
                    <a:p>
                      <a:pPr algn="l">
                        <a:buNone/>
                      </a:pPr>
                      <a:r>
                        <a:rPr lang="pt-BR" sz="2000">
                          <a:latin typeface="Courier New" panose="02070309020205020404" pitchFamily="49" charset="0"/>
                        </a:rPr>
                        <a:t>i</a:t>
                      </a:r>
                      <a:endParaRPr lang="pt-BR" sz="2000"/>
                    </a:p>
                  </a:txBody>
                  <a:tcPr anchor="ctr">
                    <a:lnL>
                      <a:noFill/>
                    </a:lnL>
                    <a:lnR>
                      <a:noFill/>
                    </a:lnR>
                    <a:lnT>
                      <a:noFill/>
                    </a:lnT>
                    <a:lnB>
                      <a:noFill/>
                    </a:lnB>
                    <a:noFill/>
                  </a:tcPr>
                </a:tc>
                <a:tc>
                  <a:txBody>
                    <a:bodyPr/>
                    <a:lstStyle/>
                    <a:p>
                      <a:pPr algn="l">
                        <a:buNone/>
                      </a:pPr>
                      <a:r>
                        <a:rPr lang="pt-BR" sz="2000"/>
                        <a:t>int (inteiro)</a:t>
                      </a:r>
                    </a:p>
                  </a:txBody>
                  <a:tcPr anchor="ctr">
                    <a:lnL>
                      <a:noFill/>
                    </a:lnL>
                    <a:lnR>
                      <a:noFill/>
                    </a:lnR>
                    <a:lnT>
                      <a:noFill/>
                    </a:lnT>
                    <a:lnB>
                      <a:noFill/>
                    </a:lnB>
                    <a:noFill/>
                  </a:tcPr>
                </a:tc>
                <a:tc>
                  <a:txBody>
                    <a:bodyPr/>
                    <a:lstStyle/>
                    <a:p>
                      <a:pPr algn="l">
                        <a:buNone/>
                      </a:pPr>
                      <a:r>
                        <a:rPr lang="pt-BR" sz="2000" dirty="0"/>
                        <a:t>4 bytes</a:t>
                      </a:r>
                    </a:p>
                  </a:txBody>
                  <a:tcPr anchor="ctr">
                    <a:lnL>
                      <a:noFill/>
                    </a:lnL>
                    <a:lnR>
                      <a:noFill/>
                    </a:lnR>
                    <a:lnT>
                      <a:noFill/>
                    </a:lnT>
                    <a:lnB>
                      <a:noFill/>
                    </a:lnB>
                    <a:noFill/>
                  </a:tcPr>
                </a:tc>
                <a:extLst>
                  <a:ext uri="{0D108BD9-81ED-4DB2-BD59-A6C34878D82A}">
                    <a16:rowId xmlns:a16="http://schemas.microsoft.com/office/drawing/2014/main" val="3866269336"/>
                  </a:ext>
                </a:extLst>
              </a:tr>
              <a:tr h="0">
                <a:tc>
                  <a:txBody>
                    <a:bodyPr/>
                    <a:lstStyle/>
                    <a:p>
                      <a:pPr algn="l">
                        <a:buNone/>
                      </a:pPr>
                      <a:r>
                        <a:rPr lang="pt-BR" sz="2000">
                          <a:latin typeface="Courier New" panose="02070309020205020404" pitchFamily="49" charset="0"/>
                        </a:rPr>
                        <a:t>f</a:t>
                      </a:r>
                      <a:endParaRPr lang="pt-BR" sz="2000"/>
                    </a:p>
                  </a:txBody>
                  <a:tcPr anchor="ctr">
                    <a:lnL>
                      <a:noFill/>
                    </a:lnL>
                    <a:lnR>
                      <a:noFill/>
                    </a:lnR>
                    <a:lnT>
                      <a:noFill/>
                    </a:lnT>
                    <a:lnB>
                      <a:noFill/>
                    </a:lnB>
                    <a:noFill/>
                  </a:tcPr>
                </a:tc>
                <a:tc>
                  <a:txBody>
                    <a:bodyPr/>
                    <a:lstStyle/>
                    <a:p>
                      <a:pPr algn="l">
                        <a:buNone/>
                      </a:pPr>
                      <a:r>
                        <a:rPr lang="pt-BR" sz="2000"/>
                        <a:t>float (ponto flutuante simples)</a:t>
                      </a:r>
                    </a:p>
                  </a:txBody>
                  <a:tcPr anchor="ctr">
                    <a:lnL>
                      <a:noFill/>
                    </a:lnL>
                    <a:lnR>
                      <a:noFill/>
                    </a:lnR>
                    <a:lnT>
                      <a:noFill/>
                    </a:lnT>
                    <a:lnB>
                      <a:noFill/>
                    </a:lnB>
                    <a:noFill/>
                  </a:tcPr>
                </a:tc>
                <a:tc>
                  <a:txBody>
                    <a:bodyPr/>
                    <a:lstStyle/>
                    <a:p>
                      <a:pPr algn="l">
                        <a:buNone/>
                      </a:pPr>
                      <a:r>
                        <a:rPr lang="pt-BR" sz="2000" dirty="0"/>
                        <a:t>4 bytes</a:t>
                      </a:r>
                    </a:p>
                  </a:txBody>
                  <a:tcPr anchor="ctr">
                    <a:lnL>
                      <a:noFill/>
                    </a:lnL>
                    <a:lnR>
                      <a:noFill/>
                    </a:lnR>
                    <a:lnT>
                      <a:noFill/>
                    </a:lnT>
                    <a:lnB>
                      <a:noFill/>
                    </a:lnB>
                    <a:noFill/>
                  </a:tcPr>
                </a:tc>
                <a:extLst>
                  <a:ext uri="{0D108BD9-81ED-4DB2-BD59-A6C34878D82A}">
                    <a16:rowId xmlns:a16="http://schemas.microsoft.com/office/drawing/2014/main" val="3470562027"/>
                  </a:ext>
                </a:extLst>
              </a:tr>
              <a:tr h="0">
                <a:tc>
                  <a:txBody>
                    <a:bodyPr/>
                    <a:lstStyle/>
                    <a:p>
                      <a:pPr algn="l">
                        <a:buNone/>
                      </a:pPr>
                      <a:r>
                        <a:rPr lang="pt-BR" sz="2000">
                          <a:latin typeface="Courier New" panose="02070309020205020404" pitchFamily="49" charset="0"/>
                        </a:rPr>
                        <a:t>d</a:t>
                      </a:r>
                      <a:endParaRPr lang="pt-BR" sz="2000"/>
                    </a:p>
                  </a:txBody>
                  <a:tcPr anchor="ctr">
                    <a:lnL>
                      <a:noFill/>
                    </a:lnL>
                    <a:lnR>
                      <a:noFill/>
                    </a:lnR>
                    <a:lnT>
                      <a:noFill/>
                    </a:lnT>
                    <a:lnB>
                      <a:noFill/>
                    </a:lnB>
                    <a:noFill/>
                  </a:tcPr>
                </a:tc>
                <a:tc>
                  <a:txBody>
                    <a:bodyPr/>
                    <a:lstStyle/>
                    <a:p>
                      <a:pPr algn="l">
                        <a:buNone/>
                      </a:pPr>
                      <a:r>
                        <a:rPr lang="pt-BR" sz="2000" dirty="0" err="1"/>
                        <a:t>double</a:t>
                      </a:r>
                      <a:r>
                        <a:rPr lang="pt-BR" sz="2000" dirty="0"/>
                        <a:t> (ponto flutuante duplo)</a:t>
                      </a:r>
                    </a:p>
                  </a:txBody>
                  <a:tcPr anchor="ctr">
                    <a:lnL>
                      <a:noFill/>
                    </a:lnL>
                    <a:lnR>
                      <a:noFill/>
                    </a:lnR>
                    <a:lnT>
                      <a:noFill/>
                    </a:lnT>
                    <a:lnB>
                      <a:noFill/>
                    </a:lnB>
                    <a:noFill/>
                  </a:tcPr>
                </a:tc>
                <a:tc>
                  <a:txBody>
                    <a:bodyPr/>
                    <a:lstStyle/>
                    <a:p>
                      <a:pPr algn="l">
                        <a:buNone/>
                      </a:pPr>
                      <a:r>
                        <a:rPr lang="pt-BR" sz="2000" dirty="0"/>
                        <a:t>8 bytes</a:t>
                      </a:r>
                    </a:p>
                  </a:txBody>
                  <a:tcPr anchor="ctr">
                    <a:lnL>
                      <a:noFill/>
                    </a:lnL>
                    <a:lnR>
                      <a:noFill/>
                    </a:lnR>
                    <a:lnT>
                      <a:noFill/>
                    </a:lnT>
                    <a:lnB>
                      <a:noFill/>
                    </a:lnB>
                    <a:noFill/>
                  </a:tcPr>
                </a:tc>
                <a:extLst>
                  <a:ext uri="{0D108BD9-81ED-4DB2-BD59-A6C34878D82A}">
                    <a16:rowId xmlns:a16="http://schemas.microsoft.com/office/drawing/2014/main" val="32247844"/>
                  </a:ext>
                </a:extLst>
              </a:tr>
              <a:tr h="0">
                <a:tc>
                  <a:txBody>
                    <a:bodyPr/>
                    <a:lstStyle/>
                    <a:p>
                      <a:pPr algn="l">
                        <a:buNone/>
                      </a:pPr>
                      <a:r>
                        <a:rPr lang="pt-BR" sz="2000">
                          <a:latin typeface="Courier New" panose="02070309020205020404" pitchFamily="49" charset="0"/>
                        </a:rPr>
                        <a:t>h</a:t>
                      </a:r>
                      <a:endParaRPr lang="pt-BR" sz="2000"/>
                    </a:p>
                  </a:txBody>
                  <a:tcPr anchor="ctr">
                    <a:lnL>
                      <a:noFill/>
                    </a:lnL>
                    <a:lnR>
                      <a:noFill/>
                    </a:lnR>
                    <a:lnT>
                      <a:noFill/>
                    </a:lnT>
                    <a:lnB>
                      <a:noFill/>
                    </a:lnB>
                    <a:noFill/>
                  </a:tcPr>
                </a:tc>
                <a:tc>
                  <a:txBody>
                    <a:bodyPr/>
                    <a:lstStyle/>
                    <a:p>
                      <a:pPr algn="l">
                        <a:buNone/>
                      </a:pPr>
                      <a:r>
                        <a:rPr lang="pt-BR" sz="2000"/>
                        <a:t>short (inteiro pequeno)</a:t>
                      </a:r>
                    </a:p>
                  </a:txBody>
                  <a:tcPr anchor="ctr">
                    <a:lnL>
                      <a:noFill/>
                    </a:lnL>
                    <a:lnR>
                      <a:noFill/>
                    </a:lnR>
                    <a:lnT>
                      <a:noFill/>
                    </a:lnT>
                    <a:lnB>
                      <a:noFill/>
                    </a:lnB>
                    <a:noFill/>
                  </a:tcPr>
                </a:tc>
                <a:tc>
                  <a:txBody>
                    <a:bodyPr/>
                    <a:lstStyle/>
                    <a:p>
                      <a:pPr algn="l">
                        <a:buNone/>
                      </a:pPr>
                      <a:r>
                        <a:rPr lang="pt-BR" sz="2000" dirty="0"/>
                        <a:t>2 bytes</a:t>
                      </a:r>
                    </a:p>
                  </a:txBody>
                  <a:tcPr anchor="ctr">
                    <a:lnL>
                      <a:noFill/>
                    </a:lnL>
                    <a:lnR>
                      <a:noFill/>
                    </a:lnR>
                    <a:lnT>
                      <a:noFill/>
                    </a:lnT>
                    <a:lnB>
                      <a:noFill/>
                    </a:lnB>
                    <a:noFill/>
                  </a:tcPr>
                </a:tc>
                <a:extLst>
                  <a:ext uri="{0D108BD9-81ED-4DB2-BD59-A6C34878D82A}">
                    <a16:rowId xmlns:a16="http://schemas.microsoft.com/office/drawing/2014/main" val="681799616"/>
                  </a:ext>
                </a:extLst>
              </a:tr>
              <a:tr h="0">
                <a:tc>
                  <a:txBody>
                    <a:bodyPr/>
                    <a:lstStyle/>
                    <a:p>
                      <a:pPr algn="l">
                        <a:buNone/>
                      </a:pPr>
                      <a:r>
                        <a:rPr lang="pt-BR" sz="2000">
                          <a:latin typeface="Courier New" panose="02070309020205020404" pitchFamily="49" charset="0"/>
                        </a:rPr>
                        <a:t>c</a:t>
                      </a:r>
                      <a:endParaRPr lang="pt-BR" sz="2000"/>
                    </a:p>
                  </a:txBody>
                  <a:tcPr anchor="ctr">
                    <a:lnL>
                      <a:noFill/>
                    </a:lnL>
                    <a:lnR>
                      <a:noFill/>
                    </a:lnR>
                    <a:lnT>
                      <a:noFill/>
                    </a:lnT>
                    <a:lnB>
                      <a:noFill/>
                    </a:lnB>
                    <a:noFill/>
                  </a:tcPr>
                </a:tc>
                <a:tc>
                  <a:txBody>
                    <a:bodyPr/>
                    <a:lstStyle/>
                    <a:p>
                      <a:pPr algn="l">
                        <a:buNone/>
                      </a:pPr>
                      <a:r>
                        <a:rPr lang="pt-BR" sz="2000"/>
                        <a:t>char (1 caractere)</a:t>
                      </a:r>
                    </a:p>
                  </a:txBody>
                  <a:tcPr anchor="ctr">
                    <a:lnL>
                      <a:noFill/>
                    </a:lnL>
                    <a:lnR>
                      <a:noFill/>
                    </a:lnR>
                    <a:lnT>
                      <a:noFill/>
                    </a:lnT>
                    <a:lnB>
                      <a:noFill/>
                    </a:lnB>
                    <a:noFill/>
                  </a:tcPr>
                </a:tc>
                <a:tc>
                  <a:txBody>
                    <a:bodyPr/>
                    <a:lstStyle/>
                    <a:p>
                      <a:pPr algn="l">
                        <a:buNone/>
                      </a:pPr>
                      <a:r>
                        <a:rPr lang="pt-BR" sz="2000" dirty="0"/>
                        <a:t>1 byte</a:t>
                      </a:r>
                    </a:p>
                  </a:txBody>
                  <a:tcPr anchor="ctr">
                    <a:lnL>
                      <a:noFill/>
                    </a:lnL>
                    <a:lnR>
                      <a:noFill/>
                    </a:lnR>
                    <a:lnT>
                      <a:noFill/>
                    </a:lnT>
                    <a:lnB>
                      <a:noFill/>
                    </a:lnB>
                    <a:noFill/>
                  </a:tcPr>
                </a:tc>
                <a:extLst>
                  <a:ext uri="{0D108BD9-81ED-4DB2-BD59-A6C34878D82A}">
                    <a16:rowId xmlns:a16="http://schemas.microsoft.com/office/drawing/2014/main" val="157020715"/>
                  </a:ext>
                </a:extLst>
              </a:tr>
              <a:tr h="0">
                <a:tc>
                  <a:txBody>
                    <a:bodyPr/>
                    <a:lstStyle/>
                    <a:p>
                      <a:pPr algn="l">
                        <a:buNone/>
                      </a:pPr>
                      <a:r>
                        <a:rPr lang="pt-BR" sz="2000" dirty="0">
                          <a:latin typeface="Courier New" panose="02070309020205020404" pitchFamily="49" charset="0"/>
                        </a:rPr>
                        <a:t>s</a:t>
                      </a:r>
                      <a:endParaRPr lang="pt-BR" sz="2000" dirty="0"/>
                    </a:p>
                  </a:txBody>
                  <a:tcPr anchor="ctr">
                    <a:lnL>
                      <a:noFill/>
                    </a:lnL>
                    <a:lnR>
                      <a:noFill/>
                    </a:lnR>
                    <a:lnT>
                      <a:noFill/>
                    </a:lnT>
                    <a:lnB>
                      <a:noFill/>
                    </a:lnB>
                    <a:noFill/>
                  </a:tcPr>
                </a:tc>
                <a:tc>
                  <a:txBody>
                    <a:bodyPr/>
                    <a:lstStyle/>
                    <a:p>
                      <a:pPr algn="l">
                        <a:buNone/>
                      </a:pPr>
                      <a:r>
                        <a:rPr lang="pt-BR" sz="2000"/>
                        <a:t>string (com tamanho definido)</a:t>
                      </a:r>
                    </a:p>
                  </a:txBody>
                  <a:tcPr anchor="ctr">
                    <a:lnL>
                      <a:noFill/>
                    </a:lnL>
                    <a:lnR>
                      <a:noFill/>
                    </a:lnR>
                    <a:lnT>
                      <a:noFill/>
                    </a:lnT>
                    <a:lnB>
                      <a:noFill/>
                    </a:lnB>
                    <a:noFill/>
                  </a:tcPr>
                </a:tc>
                <a:tc>
                  <a:txBody>
                    <a:bodyPr/>
                    <a:lstStyle/>
                    <a:p>
                      <a:pPr algn="l">
                        <a:buNone/>
                      </a:pPr>
                      <a:r>
                        <a:rPr lang="pt-BR" sz="2000" dirty="0"/>
                        <a:t>variável</a:t>
                      </a:r>
                    </a:p>
                  </a:txBody>
                  <a:tcPr anchor="ctr">
                    <a:lnL>
                      <a:noFill/>
                    </a:lnL>
                    <a:lnR>
                      <a:noFill/>
                    </a:lnR>
                    <a:lnT>
                      <a:noFill/>
                    </a:lnT>
                    <a:lnB>
                      <a:noFill/>
                    </a:lnB>
                    <a:noFill/>
                  </a:tcPr>
                </a:tc>
                <a:extLst>
                  <a:ext uri="{0D108BD9-81ED-4DB2-BD59-A6C34878D82A}">
                    <a16:rowId xmlns:a16="http://schemas.microsoft.com/office/drawing/2014/main" val="2431807877"/>
                  </a:ext>
                </a:extLst>
              </a:tr>
            </a:tbl>
          </a:graphicData>
        </a:graphic>
      </p:graphicFrame>
      <p:sp>
        <p:nvSpPr>
          <p:cNvPr id="8" name="CaixaDeTexto 7">
            <a:extLst>
              <a:ext uri="{FF2B5EF4-FFF2-40B4-BE49-F238E27FC236}">
                <a16:creationId xmlns:a16="http://schemas.microsoft.com/office/drawing/2014/main" id="{97F6457C-5461-F3B4-146C-60D906338E2B}"/>
              </a:ext>
            </a:extLst>
          </p:cNvPr>
          <p:cNvSpPr txBox="1"/>
          <p:nvPr/>
        </p:nvSpPr>
        <p:spPr>
          <a:xfrm>
            <a:off x="435288" y="1402516"/>
            <a:ext cx="6937062" cy="461665"/>
          </a:xfrm>
          <a:prstGeom prst="rect">
            <a:avLst/>
          </a:prstGeom>
          <a:noFill/>
        </p:spPr>
        <p:txBody>
          <a:bodyPr wrap="square">
            <a:spAutoFit/>
          </a:bodyPr>
          <a:lstStyle/>
          <a:p>
            <a:r>
              <a:rPr lang="pt-BR" sz="2400" dirty="0"/>
              <a:t>A string </a:t>
            </a:r>
            <a:r>
              <a:rPr lang="pt-BR" sz="2400" dirty="0">
                <a:latin typeface="Courier New" panose="02070309020205020404" pitchFamily="49" charset="0"/>
              </a:rPr>
              <a:t>'</a:t>
            </a:r>
            <a:r>
              <a:rPr lang="pt-BR" sz="2400" dirty="0" err="1">
                <a:latin typeface="Courier New" panose="02070309020205020404" pitchFamily="49" charset="0"/>
              </a:rPr>
              <a:t>if</a:t>
            </a:r>
            <a:r>
              <a:rPr lang="pt-BR" sz="2400" dirty="0">
                <a:latin typeface="Courier New" panose="02070309020205020404" pitchFamily="49" charset="0"/>
              </a:rPr>
              <a:t>'</a:t>
            </a:r>
            <a:r>
              <a:rPr lang="pt-BR" sz="2400" dirty="0"/>
              <a:t> indica o </a:t>
            </a:r>
            <a:r>
              <a:rPr lang="pt-BR" sz="2400" b="1" dirty="0"/>
              <a:t>tipo e ordem dos dados</a:t>
            </a:r>
            <a:r>
              <a:rPr lang="pt-BR" sz="2400" dirty="0"/>
              <a:t>:</a:t>
            </a:r>
          </a:p>
        </p:txBody>
      </p:sp>
      <p:sp>
        <p:nvSpPr>
          <p:cNvPr id="10" name="CaixaDeTexto 9">
            <a:extLst>
              <a:ext uri="{FF2B5EF4-FFF2-40B4-BE49-F238E27FC236}">
                <a16:creationId xmlns:a16="http://schemas.microsoft.com/office/drawing/2014/main" id="{33F60C44-FE36-E418-C30E-28F5DECA27E7}"/>
              </a:ext>
            </a:extLst>
          </p:cNvPr>
          <p:cNvSpPr txBox="1"/>
          <p:nvPr/>
        </p:nvSpPr>
        <p:spPr>
          <a:xfrm>
            <a:off x="375466" y="5330033"/>
            <a:ext cx="8358335" cy="400110"/>
          </a:xfrm>
          <a:prstGeom prst="rect">
            <a:avLst/>
          </a:prstGeom>
          <a:noFill/>
        </p:spPr>
        <p:txBody>
          <a:bodyPr wrap="square">
            <a:spAutoFit/>
          </a:bodyPr>
          <a:lstStyle/>
          <a:p>
            <a:r>
              <a:rPr lang="pt-BR" sz="2000" dirty="0"/>
              <a:t>➡️ </a:t>
            </a:r>
            <a:r>
              <a:rPr lang="pt-BR" sz="2000" dirty="0">
                <a:latin typeface="Courier New" panose="02070309020205020404" pitchFamily="49" charset="0"/>
              </a:rPr>
              <a:t>'</a:t>
            </a:r>
            <a:r>
              <a:rPr lang="pt-BR" sz="2000" dirty="0" err="1">
                <a:latin typeface="Courier New" panose="02070309020205020404" pitchFamily="49" charset="0"/>
              </a:rPr>
              <a:t>if</a:t>
            </a:r>
            <a:r>
              <a:rPr lang="pt-BR" sz="2000" dirty="0">
                <a:latin typeface="Courier New" panose="02070309020205020404" pitchFamily="49" charset="0"/>
              </a:rPr>
              <a:t>'</a:t>
            </a:r>
            <a:r>
              <a:rPr lang="pt-BR" sz="2000" dirty="0"/>
              <a:t> → 4 bytes para o inteiro + 4 bytes para o float = </a:t>
            </a:r>
            <a:r>
              <a:rPr lang="pt-BR" sz="2000" b="1" dirty="0"/>
              <a:t>8 bytes no total</a:t>
            </a:r>
            <a:endParaRPr lang="pt-BR" sz="2000" dirty="0"/>
          </a:p>
        </p:txBody>
      </p:sp>
    </p:spTree>
    <p:extLst>
      <p:ext uri="{BB962C8B-B14F-4D97-AF65-F5344CB8AC3E}">
        <p14:creationId xmlns:p14="http://schemas.microsoft.com/office/powerpoint/2010/main" val="17719393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774DD9CA-22BC-D22F-45A4-78DD79EBD403}"/>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7AB658F-D4B9-24A4-EAD9-333818A54A2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908B7DCC-A498-8D44-06E6-5626ACD2936D}"/>
              </a:ext>
            </a:extLst>
          </p:cNvPr>
          <p:cNvSpPr>
            <a:spLocks noGrp="1"/>
          </p:cNvSpPr>
          <p:nvPr>
            <p:ph type="sldNum" sz="quarter" idx="12"/>
          </p:nvPr>
        </p:nvSpPr>
        <p:spPr/>
        <p:txBody>
          <a:bodyPr/>
          <a:lstStyle/>
          <a:p>
            <a:fld id="{250292FE-8D56-4E3A-9427-CB428FF60A53}" type="slidenum">
              <a:rPr lang="pt-BR" smtClean="0"/>
              <a:pPr/>
              <a:t>36</a:t>
            </a:fld>
            <a:endParaRPr lang="pt-BR" dirty="0"/>
          </a:p>
        </p:txBody>
      </p:sp>
      <p:sp>
        <p:nvSpPr>
          <p:cNvPr id="5" name="Título 4">
            <a:extLst>
              <a:ext uri="{FF2B5EF4-FFF2-40B4-BE49-F238E27FC236}">
                <a16:creationId xmlns:a16="http://schemas.microsoft.com/office/drawing/2014/main" id="{B05E3468-E311-76DE-E185-379973CF3F27}"/>
              </a:ext>
            </a:extLst>
          </p:cNvPr>
          <p:cNvSpPr>
            <a:spLocks noGrp="1"/>
          </p:cNvSpPr>
          <p:nvPr>
            <p:ph type="title"/>
          </p:nvPr>
        </p:nvSpPr>
        <p:spPr/>
        <p:txBody>
          <a:bodyPr/>
          <a:lstStyle/>
          <a:p>
            <a:pPr algn="ctr"/>
            <a:r>
              <a:rPr lang="pt-BR" b="1" i="1" dirty="0"/>
              <a:t>Lendo de volta com </a:t>
            </a:r>
            <a:r>
              <a:rPr lang="pt-BR" b="1" i="1" dirty="0" err="1"/>
              <a:t>unpack</a:t>
            </a:r>
            <a:r>
              <a:rPr lang="pt-BR" b="1" i="1" dirty="0"/>
              <a:t>()</a:t>
            </a:r>
          </a:p>
        </p:txBody>
      </p:sp>
      <p:sp>
        <p:nvSpPr>
          <p:cNvPr id="7" name="CaixaDeTexto 6">
            <a:extLst>
              <a:ext uri="{FF2B5EF4-FFF2-40B4-BE49-F238E27FC236}">
                <a16:creationId xmlns:a16="http://schemas.microsoft.com/office/drawing/2014/main" id="{CAC44099-986B-4D2C-DBDD-4A1C19E125A6}"/>
              </a:ext>
            </a:extLst>
          </p:cNvPr>
          <p:cNvSpPr txBox="1"/>
          <p:nvPr/>
        </p:nvSpPr>
        <p:spPr>
          <a:xfrm>
            <a:off x="389335" y="1521977"/>
            <a:ext cx="4411265" cy="2862322"/>
          </a:xfrm>
          <a:prstGeom prst="rect">
            <a:avLst/>
          </a:prstGeom>
          <a:noFill/>
        </p:spPr>
        <p:txBody>
          <a:bodyPr wrap="square">
            <a:spAutoFit/>
          </a:bodyPr>
          <a:lstStyle/>
          <a:p>
            <a:r>
              <a:rPr lang="pt-BR" sz="2000" dirty="0" err="1"/>
              <a:t>import</a:t>
            </a:r>
            <a:r>
              <a:rPr lang="pt-BR" sz="2000" dirty="0"/>
              <a:t> struct</a:t>
            </a:r>
          </a:p>
          <a:p>
            <a:endParaRPr lang="pt-BR" sz="2000" dirty="0"/>
          </a:p>
          <a:p>
            <a:r>
              <a:rPr lang="pt-BR" sz="2000" dirty="0"/>
              <a:t># Empacotar (Python -&gt; bytes)</a:t>
            </a:r>
          </a:p>
          <a:p>
            <a:r>
              <a:rPr lang="pt-BR" sz="2000" dirty="0"/>
              <a:t>dados = </a:t>
            </a:r>
            <a:r>
              <a:rPr lang="pt-BR" sz="2000" dirty="0" err="1"/>
              <a:t>struct.pack</a:t>
            </a:r>
            <a:r>
              <a:rPr lang="pt-BR" sz="2000" dirty="0"/>
              <a:t>('</a:t>
            </a:r>
            <a:r>
              <a:rPr lang="pt-BR" sz="2000" dirty="0" err="1"/>
              <a:t>if</a:t>
            </a:r>
            <a:r>
              <a:rPr lang="pt-BR" sz="2000" dirty="0"/>
              <a:t>', 10, 3.14)</a:t>
            </a:r>
          </a:p>
          <a:p>
            <a:r>
              <a:rPr lang="pt-BR" sz="2000" dirty="0"/>
              <a:t>print("Bytes:", dados)</a:t>
            </a:r>
          </a:p>
          <a:p>
            <a:endParaRPr lang="pt-BR" sz="2000" dirty="0"/>
          </a:p>
          <a:p>
            <a:r>
              <a:rPr lang="pt-BR" sz="2000" dirty="0"/>
              <a:t># Desempacotar (bytes -&gt; Python)</a:t>
            </a:r>
          </a:p>
          <a:p>
            <a:r>
              <a:rPr lang="pt-BR" sz="2000" dirty="0"/>
              <a:t>valores = </a:t>
            </a:r>
            <a:r>
              <a:rPr lang="pt-BR" sz="2000" dirty="0" err="1"/>
              <a:t>struct.unpack</a:t>
            </a:r>
            <a:r>
              <a:rPr lang="pt-BR" sz="2000" dirty="0"/>
              <a:t>('</a:t>
            </a:r>
            <a:r>
              <a:rPr lang="pt-BR" sz="2000" dirty="0" err="1"/>
              <a:t>if</a:t>
            </a:r>
            <a:r>
              <a:rPr lang="pt-BR" sz="2000" dirty="0"/>
              <a:t>', dados)</a:t>
            </a:r>
          </a:p>
          <a:p>
            <a:r>
              <a:rPr lang="pt-BR" sz="2000" dirty="0"/>
              <a:t>print("Valores:", valores)</a:t>
            </a:r>
          </a:p>
        </p:txBody>
      </p:sp>
      <p:sp>
        <p:nvSpPr>
          <p:cNvPr id="9" name="CaixaDeTexto 8">
            <a:extLst>
              <a:ext uri="{FF2B5EF4-FFF2-40B4-BE49-F238E27FC236}">
                <a16:creationId xmlns:a16="http://schemas.microsoft.com/office/drawing/2014/main" id="{D7DB0D0D-2A2D-7074-FE8C-852D80119FA9}"/>
              </a:ext>
            </a:extLst>
          </p:cNvPr>
          <p:cNvSpPr txBox="1"/>
          <p:nvPr/>
        </p:nvSpPr>
        <p:spPr>
          <a:xfrm>
            <a:off x="5576632" y="2194320"/>
            <a:ext cx="4182665" cy="707886"/>
          </a:xfrm>
          <a:prstGeom prst="rect">
            <a:avLst/>
          </a:prstGeom>
          <a:noFill/>
        </p:spPr>
        <p:txBody>
          <a:bodyPr wrap="square">
            <a:spAutoFit/>
          </a:bodyPr>
          <a:lstStyle/>
          <a:p>
            <a:r>
              <a:rPr lang="pt-BR" sz="2000" dirty="0"/>
              <a:t>Bytes: b'\n\x00\x00\x00\xc3\xf5H@'</a:t>
            </a:r>
          </a:p>
          <a:p>
            <a:r>
              <a:rPr lang="pt-BR" sz="2000" dirty="0"/>
              <a:t>Valores: (10, 3.140000104904175)</a:t>
            </a:r>
          </a:p>
        </p:txBody>
      </p:sp>
      <p:sp>
        <p:nvSpPr>
          <p:cNvPr id="10" name="CaixaDeTexto 9">
            <a:extLst>
              <a:ext uri="{FF2B5EF4-FFF2-40B4-BE49-F238E27FC236}">
                <a16:creationId xmlns:a16="http://schemas.microsoft.com/office/drawing/2014/main" id="{467241EC-A74A-FCF2-0D24-9AFFF80EA62D}"/>
              </a:ext>
            </a:extLst>
          </p:cNvPr>
          <p:cNvSpPr txBox="1"/>
          <p:nvPr/>
        </p:nvSpPr>
        <p:spPr>
          <a:xfrm>
            <a:off x="5482629" y="1824988"/>
            <a:ext cx="1234365" cy="400110"/>
          </a:xfrm>
          <a:prstGeom prst="rect">
            <a:avLst/>
          </a:prstGeom>
          <a:noFill/>
        </p:spPr>
        <p:txBody>
          <a:bodyPr wrap="square" rtlCol="0">
            <a:spAutoFit/>
          </a:bodyPr>
          <a:lstStyle/>
          <a:p>
            <a:r>
              <a:rPr lang="pt-BR" sz="2000" b="1" dirty="0"/>
              <a:t>Saída </a:t>
            </a:r>
            <a:r>
              <a:rPr lang="pt-BR" b="1" dirty="0"/>
              <a:t>:</a:t>
            </a:r>
          </a:p>
        </p:txBody>
      </p:sp>
    </p:spTree>
    <p:extLst>
      <p:ext uri="{BB962C8B-B14F-4D97-AF65-F5344CB8AC3E}">
        <p14:creationId xmlns:p14="http://schemas.microsoft.com/office/powerpoint/2010/main" val="7025779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2F7E273-5D27-D028-5032-8A5735B1CE02}"/>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82F116D4-B4C2-661C-9779-E2F152634250}"/>
              </a:ext>
            </a:extLst>
          </p:cNvPr>
          <p:cNvSpPr>
            <a:spLocks noGrp="1"/>
          </p:cNvSpPr>
          <p:nvPr>
            <p:ph type="ftr" sz="quarter" idx="11"/>
          </p:nvPr>
        </p:nvSpPr>
        <p:spPr/>
        <p:txBody>
          <a:bodyPr/>
          <a:lstStyle/>
          <a:p>
            <a:r>
              <a:rPr lang="pt-BR" dirty="0"/>
              <a:t>Cap11b-Exem07B</a:t>
            </a:r>
          </a:p>
        </p:txBody>
      </p:sp>
      <p:sp>
        <p:nvSpPr>
          <p:cNvPr id="4" name="Espaço Reservado para Número de Slide 3">
            <a:extLst>
              <a:ext uri="{FF2B5EF4-FFF2-40B4-BE49-F238E27FC236}">
                <a16:creationId xmlns:a16="http://schemas.microsoft.com/office/drawing/2014/main" id="{44905846-3727-6241-3375-0E8246AB91D3}"/>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37</a:t>
            </a:fld>
            <a:endParaRPr lang="pt-BR" b="1" dirty="0">
              <a:solidFill>
                <a:schemeClr val="tx1"/>
              </a:solidFill>
            </a:endParaRPr>
          </a:p>
        </p:txBody>
      </p:sp>
      <p:sp>
        <p:nvSpPr>
          <p:cNvPr id="5" name="Título 4">
            <a:extLst>
              <a:ext uri="{FF2B5EF4-FFF2-40B4-BE49-F238E27FC236}">
                <a16:creationId xmlns:a16="http://schemas.microsoft.com/office/drawing/2014/main" id="{D531ADEC-12A5-43DB-6AB4-82FDE73A7B0B}"/>
              </a:ext>
            </a:extLst>
          </p:cNvPr>
          <p:cNvSpPr>
            <a:spLocks noGrp="1"/>
          </p:cNvSpPr>
          <p:nvPr>
            <p:ph type="title"/>
          </p:nvPr>
        </p:nvSpPr>
        <p:spPr/>
        <p:txBody>
          <a:bodyPr/>
          <a:lstStyle/>
          <a:p>
            <a:pPr algn="ctr"/>
            <a:r>
              <a:rPr lang="pt-BR" b="1" i="1" dirty="0" err="1"/>
              <a:t>struct.unpack</a:t>
            </a:r>
            <a:r>
              <a:rPr lang="pt-BR" b="1" i="1" dirty="0"/>
              <a:t>()</a:t>
            </a:r>
          </a:p>
        </p:txBody>
      </p:sp>
      <p:sp>
        <p:nvSpPr>
          <p:cNvPr id="7" name="CaixaDeTexto 6">
            <a:extLst>
              <a:ext uri="{FF2B5EF4-FFF2-40B4-BE49-F238E27FC236}">
                <a16:creationId xmlns:a16="http://schemas.microsoft.com/office/drawing/2014/main" id="{9A7401C4-6832-D2A7-9453-BB4D8A631E7F}"/>
              </a:ext>
            </a:extLst>
          </p:cNvPr>
          <p:cNvSpPr txBox="1"/>
          <p:nvPr/>
        </p:nvSpPr>
        <p:spPr>
          <a:xfrm>
            <a:off x="160727" y="1253328"/>
            <a:ext cx="11959833" cy="5201424"/>
          </a:xfrm>
          <a:prstGeom prst="rect">
            <a:avLst/>
          </a:prstGeom>
          <a:noFill/>
        </p:spPr>
        <p:txBody>
          <a:bodyPr wrap="square">
            <a:spAutoFit/>
          </a:bodyPr>
          <a:lstStyle/>
          <a:p>
            <a:r>
              <a:rPr lang="pt-BR" sz="2400" dirty="0"/>
              <a:t>• Converte bytes em valores Python, Exemplo:</a:t>
            </a:r>
          </a:p>
          <a:p>
            <a:pPr marL="271463"/>
            <a:endParaRPr lang="pt-BR" sz="1000" dirty="0"/>
          </a:p>
          <a:p>
            <a:pPr marL="2058988" indent="-2058988"/>
            <a:r>
              <a:rPr lang="en-US" sz="2400" b="1" dirty="0">
                <a:solidFill>
                  <a:srgbClr val="002060"/>
                </a:solidFill>
              </a:rPr>
              <a:t>import struct </a:t>
            </a:r>
            <a:r>
              <a:rPr lang="en-US" sz="2400" dirty="0"/>
              <a:t># </a:t>
            </a:r>
            <a:r>
              <a:rPr lang="pt-BR" sz="2400" dirty="0"/>
              <a:t>Importa o módulo </a:t>
            </a:r>
            <a:r>
              <a:rPr lang="pt-BR" dirty="0"/>
              <a:t>struct</a:t>
            </a:r>
            <a:r>
              <a:rPr lang="pt-BR" sz="2400" dirty="0"/>
              <a:t>, que permite </a:t>
            </a:r>
            <a:r>
              <a:rPr lang="pt-BR" sz="2400" b="1" dirty="0"/>
              <a:t>converter entre bytes e valores Python</a:t>
            </a:r>
            <a:r>
              <a:rPr lang="pt-BR" sz="2400" dirty="0"/>
              <a:t> (como </a:t>
            </a:r>
            <a:r>
              <a:rPr lang="pt-BR" dirty="0" err="1"/>
              <a:t>int</a:t>
            </a:r>
            <a:r>
              <a:rPr lang="pt-BR" sz="2400" dirty="0"/>
              <a:t>, </a:t>
            </a:r>
            <a:r>
              <a:rPr lang="pt-BR" dirty="0"/>
              <a:t>float</a:t>
            </a:r>
            <a:r>
              <a:rPr lang="pt-BR" sz="2400" dirty="0"/>
              <a:t>, </a:t>
            </a:r>
            <a:r>
              <a:rPr lang="pt-BR" sz="2400" dirty="0" err="1"/>
              <a:t>etc</a:t>
            </a:r>
            <a:r>
              <a:rPr lang="pt-BR" sz="2400" dirty="0"/>
              <a:t>).</a:t>
            </a:r>
            <a:endParaRPr lang="en-US" sz="2400" dirty="0"/>
          </a:p>
          <a:p>
            <a:pPr marL="271463"/>
            <a:endParaRPr lang="en-US" sz="1000" dirty="0"/>
          </a:p>
          <a:p>
            <a:pPr marL="4935538" indent="-4935538"/>
            <a:r>
              <a:rPr lang="en-US" sz="2400" b="1" dirty="0">
                <a:solidFill>
                  <a:srgbClr val="002060"/>
                </a:solidFill>
              </a:rPr>
              <a:t>with open("</a:t>
            </a:r>
            <a:r>
              <a:rPr lang="en-US" sz="2400" b="1" dirty="0" err="1">
                <a:solidFill>
                  <a:srgbClr val="002060"/>
                </a:solidFill>
              </a:rPr>
              <a:t>arquivo.bin</a:t>
            </a:r>
            <a:r>
              <a:rPr lang="en-US" sz="2400" b="1" dirty="0">
                <a:solidFill>
                  <a:srgbClr val="002060"/>
                </a:solidFill>
              </a:rPr>
              <a:t>", "</a:t>
            </a:r>
            <a:r>
              <a:rPr lang="en-US" sz="2400" b="1" dirty="0" err="1">
                <a:solidFill>
                  <a:srgbClr val="002060"/>
                </a:solidFill>
              </a:rPr>
              <a:t>rb</a:t>
            </a:r>
            <a:r>
              <a:rPr lang="en-US" sz="2400" b="1" dirty="0">
                <a:solidFill>
                  <a:srgbClr val="002060"/>
                </a:solidFill>
              </a:rPr>
              <a:t>") as f: </a:t>
            </a:r>
            <a:r>
              <a:rPr lang="en-US" sz="2400" dirty="0"/>
              <a:t># </a:t>
            </a:r>
            <a:r>
              <a:rPr lang="pt-BR" sz="2400" dirty="0"/>
              <a:t>Abre o arquivo chamado </a:t>
            </a:r>
            <a:r>
              <a:rPr lang="pt-BR" dirty="0" err="1"/>
              <a:t>arquivo.bin</a:t>
            </a:r>
            <a:r>
              <a:rPr lang="pt-BR" sz="2400" dirty="0"/>
              <a:t> em modo </a:t>
            </a:r>
            <a:r>
              <a:rPr lang="pt-BR" sz="2400" b="1" dirty="0" err="1"/>
              <a:t>rb</a:t>
            </a:r>
            <a:r>
              <a:rPr lang="pt-BR" sz="2400" b="1" dirty="0"/>
              <a:t> (</a:t>
            </a:r>
            <a:r>
              <a:rPr lang="pt-BR" sz="2400" b="1" dirty="0" err="1"/>
              <a:t>read</a:t>
            </a:r>
            <a:r>
              <a:rPr lang="pt-BR" sz="2400" b="1" dirty="0"/>
              <a:t> binary)</a:t>
            </a:r>
            <a:r>
              <a:rPr lang="pt-BR" sz="2400" dirty="0"/>
              <a:t>.</a:t>
            </a:r>
          </a:p>
          <a:p>
            <a:r>
              <a:rPr lang="pt-BR" dirty="0"/>
              <a:t>#"r"</a:t>
            </a:r>
            <a:r>
              <a:rPr lang="pt-BR" sz="2400" dirty="0"/>
              <a:t> → leitura   </a:t>
            </a:r>
            <a:r>
              <a:rPr lang="pt-BR" dirty="0"/>
              <a:t>"b"</a:t>
            </a:r>
            <a:r>
              <a:rPr lang="pt-BR" sz="2400" dirty="0"/>
              <a:t> → binário (não texto)</a:t>
            </a:r>
            <a:r>
              <a:rPr lang="pt-BR" dirty="0"/>
              <a:t> O with garante que o arquivo seja fechado automaticamente ao final.</a:t>
            </a:r>
            <a:r>
              <a:rPr lang="en-US" sz="2400" dirty="0"/>
              <a:t>     </a:t>
            </a:r>
          </a:p>
          <a:p>
            <a:endParaRPr lang="en-US" sz="2400" b="1" dirty="0">
              <a:solidFill>
                <a:srgbClr val="002060"/>
              </a:solidFill>
            </a:endParaRPr>
          </a:p>
          <a:p>
            <a:r>
              <a:rPr lang="en-US" sz="2400" b="1" dirty="0" err="1">
                <a:solidFill>
                  <a:srgbClr val="002060"/>
                </a:solidFill>
              </a:rPr>
              <a:t>conteudo</a:t>
            </a:r>
            <a:r>
              <a:rPr lang="en-US" sz="2400" b="1" dirty="0">
                <a:solidFill>
                  <a:srgbClr val="002060"/>
                </a:solidFill>
              </a:rPr>
              <a:t> = </a:t>
            </a:r>
            <a:r>
              <a:rPr lang="en-US" sz="2400" b="1" dirty="0" err="1">
                <a:solidFill>
                  <a:srgbClr val="002060"/>
                </a:solidFill>
              </a:rPr>
              <a:t>f.read</a:t>
            </a:r>
            <a:r>
              <a:rPr lang="en-US" sz="2400" b="1" dirty="0">
                <a:solidFill>
                  <a:srgbClr val="002060"/>
                </a:solidFill>
              </a:rPr>
              <a:t>() </a:t>
            </a:r>
            <a:r>
              <a:rPr lang="en-US" dirty="0"/>
              <a:t># </a:t>
            </a:r>
            <a:r>
              <a:rPr lang="pt-BR" dirty="0"/>
              <a:t>Lê </a:t>
            </a:r>
            <a:r>
              <a:rPr lang="pt-BR" b="1" dirty="0"/>
              <a:t>todos os bytes do arquivo</a:t>
            </a:r>
            <a:r>
              <a:rPr lang="pt-BR" dirty="0"/>
              <a:t> e guarda na variável conteudo.</a:t>
            </a:r>
          </a:p>
          <a:p>
            <a:pPr marL="2867025" indent="-177800"/>
            <a:r>
              <a:rPr lang="pt-BR" dirty="0"/>
              <a:t># Se o arquivo foi criado com </a:t>
            </a:r>
            <a:r>
              <a:rPr lang="pt-BR" dirty="0" err="1"/>
              <a:t>struct.pack</a:t>
            </a:r>
            <a:r>
              <a:rPr lang="pt-BR" dirty="0"/>
              <a:t>("</a:t>
            </a:r>
            <a:r>
              <a:rPr lang="pt-BR" dirty="0" err="1"/>
              <a:t>if</a:t>
            </a:r>
            <a:r>
              <a:rPr lang="pt-BR" dirty="0"/>
              <a:t>", ...), ele terá exatamente </a:t>
            </a:r>
            <a:r>
              <a:rPr lang="pt-BR" b="1" dirty="0"/>
              <a:t>8 bytes</a:t>
            </a:r>
            <a:r>
              <a:rPr lang="pt-BR" dirty="0"/>
              <a:t> (4 do inteiro + 4 do float).</a:t>
            </a:r>
            <a:endParaRPr lang="en-US" dirty="0"/>
          </a:p>
          <a:p>
            <a:r>
              <a:rPr lang="en-US" sz="2400" b="1" dirty="0" err="1">
                <a:solidFill>
                  <a:srgbClr val="002060"/>
                </a:solidFill>
              </a:rPr>
              <a:t>numero</a:t>
            </a:r>
            <a:r>
              <a:rPr lang="en-US" sz="2400" b="1" dirty="0">
                <a:solidFill>
                  <a:srgbClr val="002060"/>
                </a:solidFill>
              </a:rPr>
              <a:t>, pi = </a:t>
            </a:r>
            <a:r>
              <a:rPr lang="en-US" sz="2400" b="1" dirty="0" err="1">
                <a:solidFill>
                  <a:srgbClr val="002060"/>
                </a:solidFill>
              </a:rPr>
              <a:t>struct.unpack</a:t>
            </a:r>
            <a:r>
              <a:rPr lang="en-US" sz="2400" b="1" dirty="0">
                <a:solidFill>
                  <a:srgbClr val="002060"/>
                </a:solidFill>
              </a:rPr>
              <a:t>("if", </a:t>
            </a:r>
            <a:r>
              <a:rPr lang="en-US" sz="2400" b="1" dirty="0" err="1">
                <a:solidFill>
                  <a:srgbClr val="002060"/>
                </a:solidFill>
              </a:rPr>
              <a:t>conteudo</a:t>
            </a:r>
            <a:r>
              <a:rPr lang="en-US" sz="2400" b="1" dirty="0">
                <a:solidFill>
                  <a:srgbClr val="002060"/>
                </a:solidFill>
              </a:rPr>
              <a:t>) </a:t>
            </a:r>
            <a:r>
              <a:rPr lang="en-US" dirty="0"/>
              <a:t># </a:t>
            </a:r>
            <a:r>
              <a:rPr lang="pt-BR" dirty="0"/>
              <a:t>Interpreta os bytes contidos em conteudo:</a:t>
            </a:r>
          </a:p>
          <a:p>
            <a:pPr marL="6015038"/>
            <a:r>
              <a:rPr lang="pt-BR" dirty="0"/>
              <a:t>"i" → lê um inteiro de 4 bytes "f" → lê um float de 4 bytes</a:t>
            </a:r>
            <a:br>
              <a:rPr lang="pt-BR" dirty="0"/>
            </a:br>
            <a:r>
              <a:rPr lang="pt-BR" dirty="0"/>
              <a:t>Assim, o retorno é uma tupla com (numero, pi)</a:t>
            </a:r>
          </a:p>
          <a:p>
            <a:r>
              <a:rPr lang="en-US" sz="2400" b="1" dirty="0">
                <a:solidFill>
                  <a:srgbClr val="002060"/>
                </a:solidFill>
              </a:rPr>
              <a:t>print(</a:t>
            </a:r>
            <a:r>
              <a:rPr lang="en-US" sz="2400" b="1" dirty="0" err="1">
                <a:solidFill>
                  <a:srgbClr val="002060"/>
                </a:solidFill>
              </a:rPr>
              <a:t>numero</a:t>
            </a:r>
            <a:r>
              <a:rPr lang="en-US" sz="2400" b="1" dirty="0">
                <a:solidFill>
                  <a:srgbClr val="002060"/>
                </a:solidFill>
              </a:rPr>
              <a:t>, pi) </a:t>
            </a:r>
            <a:r>
              <a:rPr lang="en-US" sz="2400" dirty="0"/>
              <a:t># </a:t>
            </a:r>
            <a:r>
              <a:rPr lang="pt-BR" sz="2400" dirty="0"/>
              <a:t>Exibe os valores convertidos dos bytes para Python.</a:t>
            </a:r>
          </a:p>
        </p:txBody>
      </p:sp>
    </p:spTree>
    <p:extLst>
      <p:ext uri="{BB962C8B-B14F-4D97-AF65-F5344CB8AC3E}">
        <p14:creationId xmlns:p14="http://schemas.microsoft.com/office/powerpoint/2010/main" val="38556332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FB69754-A9DB-34FA-A677-6DE2754C5A03}"/>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4226FBB1-A81B-1874-DF61-98BE139FF42C}"/>
              </a:ext>
            </a:extLst>
          </p:cNvPr>
          <p:cNvSpPr>
            <a:spLocks noGrp="1"/>
          </p:cNvSpPr>
          <p:nvPr>
            <p:ph type="ftr" sz="quarter" idx="11"/>
          </p:nvPr>
        </p:nvSpPr>
        <p:spPr/>
        <p:txBody>
          <a:bodyPr/>
          <a:lstStyle/>
          <a:p>
            <a:r>
              <a:rPr lang="pt-BR" dirty="0"/>
              <a:t>Cap11b-Exem07C</a:t>
            </a:r>
          </a:p>
        </p:txBody>
      </p:sp>
      <p:sp>
        <p:nvSpPr>
          <p:cNvPr id="4" name="Espaço Reservado para Número de Slide 3">
            <a:extLst>
              <a:ext uri="{FF2B5EF4-FFF2-40B4-BE49-F238E27FC236}">
                <a16:creationId xmlns:a16="http://schemas.microsoft.com/office/drawing/2014/main" id="{0805918A-8923-BDD3-C432-5797AEA9A3F6}"/>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38</a:t>
            </a:fld>
            <a:endParaRPr lang="pt-BR" b="1" dirty="0">
              <a:solidFill>
                <a:schemeClr val="tx1"/>
              </a:solidFill>
            </a:endParaRPr>
          </a:p>
        </p:txBody>
      </p:sp>
      <p:sp>
        <p:nvSpPr>
          <p:cNvPr id="5" name="Título 4">
            <a:extLst>
              <a:ext uri="{FF2B5EF4-FFF2-40B4-BE49-F238E27FC236}">
                <a16:creationId xmlns:a16="http://schemas.microsoft.com/office/drawing/2014/main" id="{E53B4B9E-3147-4941-45B3-E93E3CD0516F}"/>
              </a:ext>
            </a:extLst>
          </p:cNvPr>
          <p:cNvSpPr>
            <a:spLocks noGrp="1"/>
          </p:cNvSpPr>
          <p:nvPr>
            <p:ph type="title"/>
          </p:nvPr>
        </p:nvSpPr>
        <p:spPr/>
        <p:txBody>
          <a:bodyPr/>
          <a:lstStyle/>
          <a:p>
            <a:pPr algn="ctr"/>
            <a:r>
              <a:rPr lang="pt-BR" b="1" i="1" dirty="0"/>
              <a:t>Exemplo Completo</a:t>
            </a:r>
          </a:p>
        </p:txBody>
      </p:sp>
      <p:sp>
        <p:nvSpPr>
          <p:cNvPr id="7" name="CaixaDeTexto 6">
            <a:extLst>
              <a:ext uri="{FF2B5EF4-FFF2-40B4-BE49-F238E27FC236}">
                <a16:creationId xmlns:a16="http://schemas.microsoft.com/office/drawing/2014/main" id="{D6D11B38-652A-58B0-5C35-E24ECF26E81B}"/>
              </a:ext>
            </a:extLst>
          </p:cNvPr>
          <p:cNvSpPr txBox="1"/>
          <p:nvPr/>
        </p:nvSpPr>
        <p:spPr>
          <a:xfrm>
            <a:off x="324466" y="1438801"/>
            <a:ext cx="8783240" cy="4832092"/>
          </a:xfrm>
          <a:prstGeom prst="rect">
            <a:avLst/>
          </a:prstGeom>
          <a:noFill/>
        </p:spPr>
        <p:txBody>
          <a:bodyPr wrap="square">
            <a:spAutoFit/>
          </a:bodyPr>
          <a:lstStyle/>
          <a:p>
            <a:pPr marL="271463"/>
            <a:r>
              <a:rPr lang="pt-BR" sz="2800" dirty="0" err="1"/>
              <a:t>import</a:t>
            </a:r>
            <a:r>
              <a:rPr lang="pt-BR" sz="2800" dirty="0"/>
              <a:t> struct</a:t>
            </a:r>
          </a:p>
          <a:p>
            <a:pPr marL="271463"/>
            <a:endParaRPr lang="pt-BR" sz="2800" dirty="0"/>
          </a:p>
          <a:p>
            <a:pPr marL="271463"/>
            <a:r>
              <a:rPr lang="pt-BR" sz="2800" dirty="0"/>
              <a:t># Empacotar e salvar</a:t>
            </a:r>
          </a:p>
          <a:p>
            <a:pPr marL="271463"/>
            <a:r>
              <a:rPr lang="pt-BR" sz="2800" dirty="0"/>
              <a:t>with open('</a:t>
            </a:r>
            <a:r>
              <a:rPr lang="pt-BR" sz="2800" dirty="0" err="1"/>
              <a:t>dados.bin</a:t>
            </a:r>
            <a:r>
              <a:rPr lang="pt-BR" sz="2800" dirty="0"/>
              <a:t>', 'wb') as f:</a:t>
            </a:r>
          </a:p>
          <a:p>
            <a:pPr marL="271463"/>
            <a:r>
              <a:rPr lang="pt-BR" sz="2800" dirty="0"/>
              <a:t>    </a:t>
            </a:r>
            <a:r>
              <a:rPr lang="pt-BR" sz="2800" dirty="0" err="1"/>
              <a:t>f.write</a:t>
            </a:r>
            <a:r>
              <a:rPr lang="pt-BR" sz="2800" dirty="0"/>
              <a:t>(</a:t>
            </a:r>
            <a:r>
              <a:rPr lang="pt-BR" sz="2800" dirty="0" err="1"/>
              <a:t>struct.pack</a:t>
            </a:r>
            <a:r>
              <a:rPr lang="pt-BR" sz="2800" dirty="0"/>
              <a:t>('</a:t>
            </a:r>
            <a:r>
              <a:rPr lang="pt-BR" sz="2800" dirty="0" err="1"/>
              <a:t>if</a:t>
            </a:r>
            <a:r>
              <a:rPr lang="pt-BR" sz="2800" dirty="0"/>
              <a:t>', 25, 9.81))</a:t>
            </a:r>
          </a:p>
          <a:p>
            <a:pPr marL="271463"/>
            <a:endParaRPr lang="pt-BR" sz="2800" dirty="0"/>
          </a:p>
          <a:p>
            <a:pPr marL="271463"/>
            <a:r>
              <a:rPr lang="pt-BR" sz="2800" dirty="0"/>
              <a:t># Ler e desempacotar</a:t>
            </a:r>
          </a:p>
          <a:p>
            <a:pPr marL="271463"/>
            <a:r>
              <a:rPr lang="pt-BR" sz="2800" dirty="0"/>
              <a:t>with open('</a:t>
            </a:r>
            <a:r>
              <a:rPr lang="pt-BR" sz="2800" dirty="0" err="1"/>
              <a:t>dados.bin</a:t>
            </a:r>
            <a:r>
              <a:rPr lang="pt-BR" sz="2800" dirty="0"/>
              <a:t>', 'rb') as f:</a:t>
            </a:r>
          </a:p>
          <a:p>
            <a:pPr marL="271463"/>
            <a:r>
              <a:rPr lang="pt-BR" sz="2800" dirty="0"/>
              <a:t>    dados = </a:t>
            </a:r>
            <a:r>
              <a:rPr lang="pt-BR" sz="2800" dirty="0" err="1"/>
              <a:t>f.read</a:t>
            </a:r>
            <a:r>
              <a:rPr lang="pt-BR" sz="2800" dirty="0"/>
              <a:t>()</a:t>
            </a:r>
          </a:p>
          <a:p>
            <a:pPr marL="271463"/>
            <a:r>
              <a:rPr lang="pt-BR" sz="2800" dirty="0"/>
              <a:t>    idade, gravidade = </a:t>
            </a:r>
            <a:r>
              <a:rPr lang="pt-BR" sz="2800" dirty="0" err="1"/>
              <a:t>struct.unpack</a:t>
            </a:r>
            <a:r>
              <a:rPr lang="pt-BR" sz="2800" dirty="0"/>
              <a:t>('i f', dados)</a:t>
            </a:r>
          </a:p>
          <a:p>
            <a:pPr marL="271463"/>
            <a:r>
              <a:rPr lang="pt-BR" sz="2800" dirty="0"/>
              <a:t>    print(idade, gravidade)</a:t>
            </a:r>
          </a:p>
        </p:txBody>
      </p:sp>
    </p:spTree>
    <p:extLst>
      <p:ext uri="{BB962C8B-B14F-4D97-AF65-F5344CB8AC3E}">
        <p14:creationId xmlns:p14="http://schemas.microsoft.com/office/powerpoint/2010/main" val="12553369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8DEC903-37B5-46EB-347F-A8773A9F8EAD}"/>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A53C90A1-B909-2600-A7AB-247470E0B709}"/>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CD4D6E7-6854-E8D4-EA81-E9DB6505BBA1}"/>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39</a:t>
            </a:fld>
            <a:endParaRPr lang="pt-BR" b="1" dirty="0">
              <a:solidFill>
                <a:schemeClr val="tx1"/>
              </a:solidFill>
            </a:endParaRPr>
          </a:p>
        </p:txBody>
      </p:sp>
      <p:sp>
        <p:nvSpPr>
          <p:cNvPr id="5" name="Título 4">
            <a:extLst>
              <a:ext uri="{FF2B5EF4-FFF2-40B4-BE49-F238E27FC236}">
                <a16:creationId xmlns:a16="http://schemas.microsoft.com/office/drawing/2014/main" id="{A58C4764-0660-DF8D-7B2D-80B54E98C8F7}"/>
              </a:ext>
            </a:extLst>
          </p:cNvPr>
          <p:cNvSpPr>
            <a:spLocks noGrp="1"/>
          </p:cNvSpPr>
          <p:nvPr>
            <p:ph type="title"/>
          </p:nvPr>
        </p:nvSpPr>
        <p:spPr/>
        <p:txBody>
          <a:bodyPr/>
          <a:lstStyle/>
          <a:p>
            <a:pPr algn="ctr"/>
            <a:r>
              <a:rPr lang="pt-BR" b="1" i="1" dirty="0"/>
              <a:t>Tabela de Formatos Comuns (</a:t>
            </a:r>
            <a:r>
              <a:rPr lang="pt-BR" b="1" i="1" dirty="0" err="1"/>
              <a:t>fmt</a:t>
            </a:r>
            <a:r>
              <a:rPr lang="pt-BR" b="1" i="1" dirty="0"/>
              <a:t>)</a:t>
            </a:r>
          </a:p>
        </p:txBody>
      </p:sp>
      <p:sp>
        <p:nvSpPr>
          <p:cNvPr id="7" name="CaixaDeTexto 6">
            <a:extLst>
              <a:ext uri="{FF2B5EF4-FFF2-40B4-BE49-F238E27FC236}">
                <a16:creationId xmlns:a16="http://schemas.microsoft.com/office/drawing/2014/main" id="{3939E559-EB22-C29F-9B58-4A1B9073FAB0}"/>
              </a:ext>
            </a:extLst>
          </p:cNvPr>
          <p:cNvSpPr txBox="1"/>
          <p:nvPr/>
        </p:nvSpPr>
        <p:spPr>
          <a:xfrm>
            <a:off x="432196" y="1638855"/>
            <a:ext cx="9862001" cy="3416320"/>
          </a:xfrm>
          <a:prstGeom prst="rect">
            <a:avLst/>
          </a:prstGeom>
          <a:noFill/>
        </p:spPr>
        <p:txBody>
          <a:bodyPr wrap="square">
            <a:spAutoFit/>
          </a:bodyPr>
          <a:lstStyle/>
          <a:p>
            <a:r>
              <a:rPr lang="pt-BR" sz="3600" dirty="0"/>
              <a:t>• 'i' → inteiro (4 bytes)</a:t>
            </a:r>
          </a:p>
          <a:p>
            <a:r>
              <a:rPr lang="pt-BR" sz="3600" dirty="0"/>
              <a:t>• 'f' → float (4 bytes)</a:t>
            </a:r>
          </a:p>
          <a:p>
            <a:r>
              <a:rPr lang="pt-BR" sz="3600" dirty="0"/>
              <a:t>• 'd' → </a:t>
            </a:r>
            <a:r>
              <a:rPr lang="pt-BR" sz="3600" dirty="0" err="1"/>
              <a:t>double</a:t>
            </a:r>
            <a:r>
              <a:rPr lang="pt-BR" sz="3600" dirty="0"/>
              <a:t> (8 bytes)</a:t>
            </a:r>
          </a:p>
          <a:p>
            <a:r>
              <a:rPr lang="pt-BR" sz="3600" dirty="0"/>
              <a:t>• </a:t>
            </a:r>
            <a:r>
              <a:rPr lang="pt-BR" sz="3600" dirty="0" err="1"/>
              <a:t>'s'</a:t>
            </a:r>
            <a:r>
              <a:rPr lang="pt-BR" sz="3600" dirty="0"/>
              <a:t> → string (</a:t>
            </a:r>
            <a:r>
              <a:rPr lang="pt-BR" sz="3600" dirty="0" err="1"/>
              <a:t>ex</a:t>
            </a:r>
            <a:r>
              <a:rPr lang="pt-BR" sz="3600" dirty="0"/>
              <a:t>: '10s' para 10 caracteres)</a:t>
            </a:r>
          </a:p>
          <a:p>
            <a:r>
              <a:rPr lang="pt-BR" sz="3600" dirty="0"/>
              <a:t>• 'c' → caractere único (1 byte)</a:t>
            </a:r>
          </a:p>
          <a:p>
            <a:r>
              <a:rPr lang="pt-BR" sz="3600" dirty="0"/>
              <a:t>• ‘?’ → booleano (1 byte)</a:t>
            </a:r>
          </a:p>
        </p:txBody>
      </p:sp>
    </p:spTree>
    <p:extLst>
      <p:ext uri="{BB962C8B-B14F-4D97-AF65-F5344CB8AC3E}">
        <p14:creationId xmlns:p14="http://schemas.microsoft.com/office/powerpoint/2010/main" val="632454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0DCCDA8-20C7-975D-71D1-86595DB8D31C}"/>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D2A53B1-D2EA-7B40-3C89-16FEEFE2FEFD}"/>
              </a:ext>
            </a:extLst>
          </p:cNvPr>
          <p:cNvSpPr>
            <a:spLocks noGrp="1"/>
          </p:cNvSpPr>
          <p:nvPr>
            <p:ph type="ftr" sz="quarter" idx="11"/>
          </p:nvPr>
        </p:nvSpPr>
        <p:spPr/>
        <p:txBody>
          <a:bodyPr/>
          <a:lstStyle/>
          <a:p>
            <a:r>
              <a:rPr lang="pt-BR" dirty="0"/>
              <a:t>Cap11b-Exem07D</a:t>
            </a:r>
          </a:p>
        </p:txBody>
      </p:sp>
      <p:sp>
        <p:nvSpPr>
          <p:cNvPr id="4" name="Espaço Reservado para Número de Slide 3">
            <a:extLst>
              <a:ext uri="{FF2B5EF4-FFF2-40B4-BE49-F238E27FC236}">
                <a16:creationId xmlns:a16="http://schemas.microsoft.com/office/drawing/2014/main" id="{5AC2EF0A-FA57-0D48-588A-4076E0683BDF}"/>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40</a:t>
            </a:fld>
            <a:endParaRPr lang="pt-BR" b="1" dirty="0">
              <a:solidFill>
                <a:schemeClr val="tx1"/>
              </a:solidFill>
            </a:endParaRPr>
          </a:p>
        </p:txBody>
      </p:sp>
      <p:sp>
        <p:nvSpPr>
          <p:cNvPr id="5" name="Título 4">
            <a:extLst>
              <a:ext uri="{FF2B5EF4-FFF2-40B4-BE49-F238E27FC236}">
                <a16:creationId xmlns:a16="http://schemas.microsoft.com/office/drawing/2014/main" id="{9B324459-6C0F-505C-F69B-AEFF49876FC6}"/>
              </a:ext>
            </a:extLst>
          </p:cNvPr>
          <p:cNvSpPr>
            <a:spLocks noGrp="1"/>
          </p:cNvSpPr>
          <p:nvPr>
            <p:ph type="title"/>
          </p:nvPr>
        </p:nvSpPr>
        <p:spPr/>
        <p:txBody>
          <a:bodyPr/>
          <a:lstStyle/>
          <a:p>
            <a:pPr algn="ctr"/>
            <a:r>
              <a:rPr lang="pt-BR" b="1" i="1" dirty="0"/>
              <a:t>Função </a:t>
            </a:r>
            <a:r>
              <a:rPr lang="pt-BR" b="1" i="1" dirty="0" err="1"/>
              <a:t>calcsize</a:t>
            </a:r>
            <a:r>
              <a:rPr lang="pt-BR" b="1" i="1" dirty="0"/>
              <a:t>()</a:t>
            </a:r>
          </a:p>
        </p:txBody>
      </p:sp>
      <p:sp>
        <p:nvSpPr>
          <p:cNvPr id="7" name="CaixaDeTexto 6">
            <a:extLst>
              <a:ext uri="{FF2B5EF4-FFF2-40B4-BE49-F238E27FC236}">
                <a16:creationId xmlns:a16="http://schemas.microsoft.com/office/drawing/2014/main" id="{D46DB1F9-96FF-797D-71B1-792A51FC52BC}"/>
              </a:ext>
            </a:extLst>
          </p:cNvPr>
          <p:cNvSpPr txBox="1"/>
          <p:nvPr/>
        </p:nvSpPr>
        <p:spPr>
          <a:xfrm>
            <a:off x="366535" y="1908810"/>
            <a:ext cx="11149629" cy="2062103"/>
          </a:xfrm>
          <a:prstGeom prst="rect">
            <a:avLst/>
          </a:prstGeom>
          <a:noFill/>
        </p:spPr>
        <p:txBody>
          <a:bodyPr wrap="square">
            <a:spAutoFit/>
          </a:bodyPr>
          <a:lstStyle/>
          <a:p>
            <a:r>
              <a:rPr lang="pt-BR" sz="3200" dirty="0" err="1"/>
              <a:t>import</a:t>
            </a:r>
            <a:r>
              <a:rPr lang="pt-BR" sz="3200" dirty="0"/>
              <a:t> struct</a:t>
            </a:r>
          </a:p>
          <a:p>
            <a:endParaRPr lang="pt-BR" sz="3200" dirty="0"/>
          </a:p>
          <a:p>
            <a:r>
              <a:rPr lang="pt-BR" sz="3200" dirty="0"/>
              <a:t>tamanho = </a:t>
            </a:r>
            <a:r>
              <a:rPr lang="pt-BR" sz="3200" dirty="0" err="1"/>
              <a:t>struct.calcsize</a:t>
            </a:r>
            <a:r>
              <a:rPr lang="pt-BR" sz="3200" dirty="0"/>
              <a:t>('</a:t>
            </a:r>
            <a:r>
              <a:rPr lang="pt-BR" sz="3200" dirty="0" err="1"/>
              <a:t>if</a:t>
            </a:r>
            <a:r>
              <a:rPr lang="pt-BR" sz="3200" dirty="0"/>
              <a:t>')</a:t>
            </a:r>
          </a:p>
          <a:p>
            <a:r>
              <a:rPr lang="pt-BR" sz="3200" dirty="0"/>
              <a:t>print(tamanho)  # Saída: 8 (4 bytes para </a:t>
            </a:r>
            <a:r>
              <a:rPr lang="pt-BR" sz="3200" dirty="0" err="1"/>
              <a:t>int</a:t>
            </a:r>
            <a:r>
              <a:rPr lang="pt-BR" sz="3200" dirty="0"/>
              <a:t>, 4 bytes para float)</a:t>
            </a:r>
          </a:p>
        </p:txBody>
      </p:sp>
    </p:spTree>
    <p:extLst>
      <p:ext uri="{BB962C8B-B14F-4D97-AF65-F5344CB8AC3E}">
        <p14:creationId xmlns:p14="http://schemas.microsoft.com/office/powerpoint/2010/main" val="749468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DCEA9C2-D1D7-C937-1E39-2081552942BD}"/>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043DDB9E-E2C8-1583-45A5-4C36616F8284}"/>
              </a:ext>
            </a:extLst>
          </p:cNvPr>
          <p:cNvSpPr>
            <a:spLocks noGrp="1"/>
          </p:cNvSpPr>
          <p:nvPr>
            <p:ph type="ftr" sz="quarter" idx="11"/>
          </p:nvPr>
        </p:nvSpPr>
        <p:spPr/>
        <p:txBody>
          <a:bodyPr/>
          <a:lstStyle/>
          <a:p>
            <a:r>
              <a:rPr lang="pt-BR" dirty="0"/>
              <a:t>Cap11b-Exem07E</a:t>
            </a:r>
          </a:p>
        </p:txBody>
      </p:sp>
      <p:sp>
        <p:nvSpPr>
          <p:cNvPr id="4" name="Espaço Reservado para Número de Slide 3">
            <a:extLst>
              <a:ext uri="{FF2B5EF4-FFF2-40B4-BE49-F238E27FC236}">
                <a16:creationId xmlns:a16="http://schemas.microsoft.com/office/drawing/2014/main" id="{ECBF6D2A-BA98-C1FA-0C21-E1A1028E9072}"/>
              </a:ext>
            </a:extLst>
          </p:cNvPr>
          <p:cNvSpPr>
            <a:spLocks noGrp="1"/>
          </p:cNvSpPr>
          <p:nvPr>
            <p:ph type="sldNum" sz="quarter" idx="12"/>
          </p:nvPr>
        </p:nvSpPr>
        <p:spPr/>
        <p:txBody>
          <a:bodyPr/>
          <a:lstStyle/>
          <a:p>
            <a:fld id="{250292FE-8D56-4E3A-9427-CB428FF60A53}" type="slidenum">
              <a:rPr lang="pt-BR" b="1" smtClean="0">
                <a:solidFill>
                  <a:schemeClr val="tx1"/>
                </a:solidFill>
              </a:rPr>
              <a:pPr/>
              <a:t>41</a:t>
            </a:fld>
            <a:endParaRPr lang="pt-BR" b="1" dirty="0">
              <a:solidFill>
                <a:schemeClr val="tx1"/>
              </a:solidFill>
            </a:endParaRPr>
          </a:p>
        </p:txBody>
      </p:sp>
      <p:sp>
        <p:nvSpPr>
          <p:cNvPr id="7" name="CaixaDeTexto 6">
            <a:extLst>
              <a:ext uri="{FF2B5EF4-FFF2-40B4-BE49-F238E27FC236}">
                <a16:creationId xmlns:a16="http://schemas.microsoft.com/office/drawing/2014/main" id="{D3FDA61C-4F5A-D231-FF9A-338D6936898B}"/>
              </a:ext>
            </a:extLst>
          </p:cNvPr>
          <p:cNvSpPr txBox="1"/>
          <p:nvPr/>
        </p:nvSpPr>
        <p:spPr>
          <a:xfrm>
            <a:off x="660796" y="1546523"/>
            <a:ext cx="9284675" cy="4524315"/>
          </a:xfrm>
          <a:prstGeom prst="rect">
            <a:avLst/>
          </a:prstGeom>
          <a:noFill/>
        </p:spPr>
        <p:txBody>
          <a:bodyPr wrap="square">
            <a:spAutoFit/>
          </a:bodyPr>
          <a:lstStyle/>
          <a:p>
            <a:r>
              <a:rPr lang="pt-BR" sz="3600" dirty="0" err="1"/>
              <a:t>import</a:t>
            </a:r>
            <a:r>
              <a:rPr lang="pt-BR" sz="3600" dirty="0"/>
              <a:t> struct</a:t>
            </a:r>
          </a:p>
          <a:p>
            <a:endParaRPr lang="pt-BR" sz="3600" dirty="0"/>
          </a:p>
          <a:p>
            <a:r>
              <a:rPr lang="pt-BR" sz="3600" dirty="0" err="1"/>
              <a:t>buf</a:t>
            </a:r>
            <a:r>
              <a:rPr lang="pt-BR" sz="3600" dirty="0"/>
              <a:t> = </a:t>
            </a:r>
            <a:r>
              <a:rPr lang="pt-BR" sz="3600" dirty="0" err="1"/>
              <a:t>bytearray</a:t>
            </a:r>
            <a:r>
              <a:rPr lang="pt-BR" sz="3600" dirty="0"/>
              <a:t>(8)</a:t>
            </a:r>
          </a:p>
          <a:p>
            <a:r>
              <a:rPr lang="pt-BR" sz="3600" dirty="0" err="1"/>
              <a:t>struct.pack_into</a:t>
            </a:r>
            <a:r>
              <a:rPr lang="pt-BR" sz="3600" dirty="0"/>
              <a:t>('i f', </a:t>
            </a:r>
            <a:r>
              <a:rPr lang="pt-BR" sz="3600" dirty="0" err="1"/>
              <a:t>buf</a:t>
            </a:r>
            <a:r>
              <a:rPr lang="pt-BR" sz="3600" dirty="0"/>
              <a:t>, 0, 100, 2.5)</a:t>
            </a:r>
          </a:p>
          <a:p>
            <a:r>
              <a:rPr lang="pt-BR" sz="3600" dirty="0"/>
              <a:t>print(</a:t>
            </a:r>
            <a:r>
              <a:rPr lang="pt-BR" sz="3600" dirty="0" err="1"/>
              <a:t>buf</a:t>
            </a:r>
            <a:r>
              <a:rPr lang="pt-BR" sz="3600" dirty="0"/>
              <a:t>)  # Exibe o conteúdo binário</a:t>
            </a:r>
          </a:p>
          <a:p>
            <a:endParaRPr lang="pt-BR" sz="3600" dirty="0"/>
          </a:p>
          <a:p>
            <a:r>
              <a:rPr lang="pt-BR" sz="3600" dirty="0"/>
              <a:t>valor1, valor2 = </a:t>
            </a:r>
            <a:r>
              <a:rPr lang="pt-BR" sz="3600" dirty="0" err="1"/>
              <a:t>struct.unpack_from</a:t>
            </a:r>
            <a:r>
              <a:rPr lang="pt-BR" sz="3600" dirty="0"/>
              <a:t>('i f', </a:t>
            </a:r>
            <a:r>
              <a:rPr lang="pt-BR" sz="3600" dirty="0" err="1"/>
              <a:t>buf</a:t>
            </a:r>
            <a:r>
              <a:rPr lang="pt-BR" sz="3600" dirty="0"/>
              <a:t>)</a:t>
            </a:r>
          </a:p>
          <a:p>
            <a:r>
              <a:rPr lang="pt-BR" sz="3600" dirty="0"/>
              <a:t>print(valor1, valor2)  # Saída: 100 2.5</a:t>
            </a:r>
          </a:p>
        </p:txBody>
      </p:sp>
      <p:sp>
        <p:nvSpPr>
          <p:cNvPr id="8" name="Rectangle 1">
            <a:extLst>
              <a:ext uri="{FF2B5EF4-FFF2-40B4-BE49-F238E27FC236}">
                <a16:creationId xmlns:a16="http://schemas.microsoft.com/office/drawing/2014/main" id="{59C8889D-7344-9E6E-D7B5-71017B2343FC}"/>
              </a:ext>
            </a:extLst>
          </p:cNvPr>
          <p:cNvSpPr>
            <a:spLocks noGrp="1" noChangeArrowheads="1"/>
          </p:cNvSpPr>
          <p:nvPr>
            <p:ph type="title"/>
          </p:nvPr>
        </p:nvSpPr>
        <p:spPr bwMode="auto">
          <a:xfrm>
            <a:off x="2163283" y="491570"/>
            <a:ext cx="922528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pt-BR" altLang="pt-BR" b="1" i="1" u="none" strike="noStrike" cap="none" normalizeH="0" baseline="0" dirty="0">
                <a:ln>
                  <a:noFill/>
                </a:ln>
                <a:solidFill>
                  <a:schemeClr val="tx1"/>
                </a:solidFill>
                <a:effectLst/>
              </a:rPr>
              <a:t>Funções </a:t>
            </a:r>
            <a:r>
              <a:rPr kumimoji="0" lang="pt-BR" altLang="pt-BR" b="1" i="1" u="none" strike="noStrike" cap="none" normalizeH="0" baseline="0" dirty="0" err="1">
                <a:ln>
                  <a:noFill/>
                </a:ln>
                <a:solidFill>
                  <a:schemeClr val="tx1"/>
                </a:solidFill>
                <a:effectLst/>
              </a:rPr>
              <a:t>pack_into</a:t>
            </a:r>
            <a:r>
              <a:rPr kumimoji="0" lang="pt-BR" altLang="pt-BR" b="1" i="1" u="none" strike="noStrike" cap="none" normalizeH="0" baseline="0" dirty="0">
                <a:ln>
                  <a:noFill/>
                </a:ln>
                <a:solidFill>
                  <a:schemeClr val="tx1"/>
                </a:solidFill>
                <a:effectLst/>
              </a:rPr>
              <a:t>() e </a:t>
            </a:r>
            <a:r>
              <a:rPr kumimoji="0" lang="pt-BR" altLang="pt-BR" b="1" i="1" u="none" strike="noStrike" cap="none" normalizeH="0" baseline="0" dirty="0" err="1">
                <a:ln>
                  <a:noFill/>
                </a:ln>
                <a:solidFill>
                  <a:schemeClr val="tx1"/>
                </a:solidFill>
                <a:effectLst/>
              </a:rPr>
              <a:t>unpack_from</a:t>
            </a:r>
            <a:r>
              <a:rPr kumimoji="0" lang="pt-BR" altLang="pt-BR" b="1" i="1"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4285681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57802D49-A65C-C654-0071-94F4D8CD536F}"/>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29C2FF4F-7D84-4580-9988-421AA2B5AF8D}"/>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0FE4153E-6F49-D4B6-6956-8C2E2EEC3577}"/>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42</a:t>
            </a:fld>
            <a:endParaRPr lang="pt-BR" b="1" dirty="0">
              <a:solidFill>
                <a:schemeClr val="tx1"/>
              </a:solidFill>
            </a:endParaRPr>
          </a:p>
        </p:txBody>
      </p:sp>
      <p:sp>
        <p:nvSpPr>
          <p:cNvPr id="5" name="Título 4">
            <a:extLst>
              <a:ext uri="{FF2B5EF4-FFF2-40B4-BE49-F238E27FC236}">
                <a16:creationId xmlns:a16="http://schemas.microsoft.com/office/drawing/2014/main" id="{DED19687-61BF-4CDA-29C3-9C7A7F44D79C}"/>
              </a:ext>
            </a:extLst>
          </p:cNvPr>
          <p:cNvSpPr>
            <a:spLocks noGrp="1"/>
          </p:cNvSpPr>
          <p:nvPr>
            <p:ph type="title"/>
          </p:nvPr>
        </p:nvSpPr>
        <p:spPr/>
        <p:txBody>
          <a:bodyPr/>
          <a:lstStyle/>
          <a:p>
            <a:pPr algn="ctr"/>
            <a:r>
              <a:rPr lang="pt-BR" b="1" i="1" dirty="0"/>
              <a:t>Resumo</a:t>
            </a:r>
          </a:p>
        </p:txBody>
      </p:sp>
      <p:sp>
        <p:nvSpPr>
          <p:cNvPr id="7" name="CaixaDeTexto 6">
            <a:extLst>
              <a:ext uri="{FF2B5EF4-FFF2-40B4-BE49-F238E27FC236}">
                <a16:creationId xmlns:a16="http://schemas.microsoft.com/office/drawing/2014/main" id="{2DBFBD17-FA43-865D-58BC-96B3C051E65E}"/>
              </a:ext>
            </a:extLst>
          </p:cNvPr>
          <p:cNvSpPr txBox="1"/>
          <p:nvPr/>
        </p:nvSpPr>
        <p:spPr>
          <a:xfrm>
            <a:off x="239151" y="1281655"/>
            <a:ext cx="11713698" cy="5139869"/>
          </a:xfrm>
          <a:prstGeom prst="rect">
            <a:avLst/>
          </a:prstGeom>
          <a:noFill/>
        </p:spPr>
        <p:txBody>
          <a:bodyPr wrap="square">
            <a:spAutoFit/>
          </a:bodyPr>
          <a:lstStyle/>
          <a:p>
            <a:pPr marL="357188" indent="-357188"/>
            <a:r>
              <a:rPr lang="pt-BR" sz="4000" dirty="0"/>
              <a:t>• </a:t>
            </a:r>
            <a:r>
              <a:rPr lang="pt-BR" sz="3600" dirty="0"/>
              <a:t>struct é essencial para manipulação de arquivos binários.</a:t>
            </a:r>
          </a:p>
          <a:p>
            <a:pPr marL="357188" indent="-357188"/>
            <a:endParaRPr lang="pt-BR" sz="3600" dirty="0"/>
          </a:p>
          <a:p>
            <a:r>
              <a:rPr lang="pt-BR" sz="3600" dirty="0"/>
              <a:t>• pack() transforma valores em bytes.</a:t>
            </a:r>
          </a:p>
          <a:p>
            <a:endParaRPr lang="pt-BR" sz="3600" dirty="0"/>
          </a:p>
          <a:p>
            <a:r>
              <a:rPr lang="pt-BR" sz="3600" dirty="0"/>
              <a:t>• </a:t>
            </a:r>
            <a:r>
              <a:rPr lang="pt-BR" sz="3600" dirty="0" err="1"/>
              <a:t>unpack</a:t>
            </a:r>
            <a:r>
              <a:rPr lang="pt-BR" sz="3600" dirty="0"/>
              <a:t>() extrai dados binários para valores Python.</a:t>
            </a:r>
          </a:p>
          <a:p>
            <a:endParaRPr lang="pt-BR" sz="3600" dirty="0"/>
          </a:p>
          <a:p>
            <a:pPr marL="271463" indent="-271463"/>
            <a:r>
              <a:rPr lang="pt-BR" sz="3600" dirty="0"/>
              <a:t>• Útil em aplicações com sensores, redes e formatos de arquivo específicos.</a:t>
            </a:r>
          </a:p>
        </p:txBody>
      </p:sp>
    </p:spTree>
    <p:extLst>
      <p:ext uri="{BB962C8B-B14F-4D97-AF65-F5344CB8AC3E}">
        <p14:creationId xmlns:p14="http://schemas.microsoft.com/office/powerpoint/2010/main" val="260528296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22483EBC-BEDD-49D0-182F-753D4E1D8BDA}"/>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E4E7CEB6-87FB-2B5E-CDD5-449793A06B6A}"/>
              </a:ext>
            </a:extLst>
          </p:cNvPr>
          <p:cNvSpPr>
            <a:spLocks noGrp="1"/>
          </p:cNvSpPr>
          <p:nvPr>
            <p:ph type="ftr" sz="quarter" idx="11"/>
          </p:nvPr>
        </p:nvSpPr>
        <p:spPr>
          <a:xfrm>
            <a:off x="1645921" y="6399892"/>
            <a:ext cx="9284676" cy="365125"/>
          </a:xfrm>
        </p:spPr>
        <p:txBody>
          <a:bodyPr/>
          <a:lstStyle/>
          <a:p>
            <a:r>
              <a:rPr lang="pt-BR" sz="1600" b="1" dirty="0"/>
              <a:t>Cap11-b-Exem12</a:t>
            </a:r>
          </a:p>
        </p:txBody>
      </p:sp>
      <p:sp>
        <p:nvSpPr>
          <p:cNvPr id="4" name="Espaço Reservado para Número de Slide 3">
            <a:extLst>
              <a:ext uri="{FF2B5EF4-FFF2-40B4-BE49-F238E27FC236}">
                <a16:creationId xmlns:a16="http://schemas.microsoft.com/office/drawing/2014/main" id="{B96E1A18-9873-BFE5-DE34-5B2AF4D1D0E6}"/>
              </a:ext>
            </a:extLst>
          </p:cNvPr>
          <p:cNvSpPr>
            <a:spLocks noGrp="1"/>
          </p:cNvSpPr>
          <p:nvPr>
            <p:ph type="sldNum" sz="quarter" idx="12"/>
          </p:nvPr>
        </p:nvSpPr>
        <p:spPr/>
        <p:txBody>
          <a:bodyPr/>
          <a:lstStyle/>
          <a:p>
            <a:pPr algn="r"/>
            <a:fld id="{250292FE-8D56-4E3A-9427-CB428FF60A53}" type="slidenum">
              <a:rPr lang="pt-BR" b="1" smtClean="0">
                <a:solidFill>
                  <a:srgbClr val="002060"/>
                </a:solidFill>
              </a:rPr>
              <a:pPr algn="r"/>
              <a:t>43</a:t>
            </a:fld>
            <a:endParaRPr lang="pt-BR" b="1" dirty="0">
              <a:solidFill>
                <a:srgbClr val="002060"/>
              </a:solidFill>
            </a:endParaRPr>
          </a:p>
        </p:txBody>
      </p:sp>
      <p:sp>
        <p:nvSpPr>
          <p:cNvPr id="5" name="Título 4">
            <a:extLst>
              <a:ext uri="{FF2B5EF4-FFF2-40B4-BE49-F238E27FC236}">
                <a16:creationId xmlns:a16="http://schemas.microsoft.com/office/drawing/2014/main" id="{F5EF193D-3852-882A-073C-9BF83C528855}"/>
              </a:ext>
            </a:extLst>
          </p:cNvPr>
          <p:cNvSpPr>
            <a:spLocks noGrp="1"/>
          </p:cNvSpPr>
          <p:nvPr>
            <p:ph type="title"/>
          </p:nvPr>
        </p:nvSpPr>
        <p:spPr/>
        <p:txBody>
          <a:bodyPr/>
          <a:lstStyle/>
          <a:p>
            <a:pPr algn="ctr"/>
            <a:r>
              <a:rPr lang="pt-BR" b="1" i="1" dirty="0"/>
              <a:t>Usando Struct</a:t>
            </a:r>
          </a:p>
        </p:txBody>
      </p:sp>
      <p:graphicFrame>
        <p:nvGraphicFramePr>
          <p:cNvPr id="6" name="Tabela 5">
            <a:extLst>
              <a:ext uri="{FF2B5EF4-FFF2-40B4-BE49-F238E27FC236}">
                <a16:creationId xmlns:a16="http://schemas.microsoft.com/office/drawing/2014/main" id="{4510821D-B683-E69C-FD08-9D8B2E0E6521}"/>
              </a:ext>
            </a:extLst>
          </p:cNvPr>
          <p:cNvGraphicFramePr>
            <a:graphicFrameLocks noGrp="1"/>
          </p:cNvGraphicFramePr>
          <p:nvPr>
            <p:extLst>
              <p:ext uri="{D42A27DB-BD31-4B8C-83A1-F6EECF244321}">
                <p14:modId xmlns:p14="http://schemas.microsoft.com/office/powerpoint/2010/main" val="465026837"/>
              </p:ext>
            </p:extLst>
          </p:nvPr>
        </p:nvGraphicFramePr>
        <p:xfrm>
          <a:off x="119576" y="1249047"/>
          <a:ext cx="11953362" cy="5107304"/>
        </p:xfrm>
        <a:graphic>
          <a:graphicData uri="http://schemas.openxmlformats.org/drawingml/2006/table">
            <a:tbl>
              <a:tblPr firstRow="1" bandRow="1">
                <a:tableStyleId>{5C22544A-7EE6-4342-B048-85BDC9FD1C3A}</a:tableStyleId>
              </a:tblPr>
              <a:tblGrid>
                <a:gridCol w="5247318">
                  <a:extLst>
                    <a:ext uri="{9D8B030D-6E8A-4147-A177-3AD203B41FA5}">
                      <a16:colId xmlns:a16="http://schemas.microsoft.com/office/drawing/2014/main" val="2649760321"/>
                    </a:ext>
                  </a:extLst>
                </a:gridCol>
                <a:gridCol w="6706044">
                  <a:extLst>
                    <a:ext uri="{9D8B030D-6E8A-4147-A177-3AD203B41FA5}">
                      <a16:colId xmlns:a16="http://schemas.microsoft.com/office/drawing/2014/main" val="1034951710"/>
                    </a:ext>
                  </a:extLst>
                </a:gridCol>
              </a:tblGrid>
              <a:tr h="5107304">
                <a:tc>
                  <a:txBody>
                    <a:bodyPr/>
                    <a:lstStyle/>
                    <a:p>
                      <a:r>
                        <a:rPr lang="pt-BR" sz="1400" dirty="0" err="1"/>
                        <a:t>import</a:t>
                      </a:r>
                      <a:r>
                        <a:rPr lang="pt-BR" sz="1400" dirty="0"/>
                        <a:t> struct</a:t>
                      </a:r>
                    </a:p>
                    <a:p>
                      <a:endParaRPr lang="pt-BR" sz="1000" dirty="0"/>
                    </a:p>
                    <a:p>
                      <a:r>
                        <a:rPr lang="pt-BR" sz="1400" dirty="0" err="1"/>
                        <a:t>def</a:t>
                      </a:r>
                      <a:r>
                        <a:rPr lang="pt-BR" sz="1400" dirty="0"/>
                        <a:t> </a:t>
                      </a:r>
                      <a:r>
                        <a:rPr lang="pt-BR" sz="1400" dirty="0" err="1"/>
                        <a:t>criar_arquivo_binario</a:t>
                      </a:r>
                      <a:r>
                        <a:rPr lang="pt-BR" sz="1400" dirty="0"/>
                        <a:t>(</a:t>
                      </a:r>
                      <a:r>
                        <a:rPr lang="pt-BR" sz="1400" dirty="0" err="1"/>
                        <a:t>nome_arquivo</a:t>
                      </a:r>
                      <a:r>
                        <a:rPr lang="pt-BR" sz="1400" dirty="0"/>
                        <a:t>):</a:t>
                      </a:r>
                    </a:p>
                    <a:p>
                      <a:r>
                        <a:rPr lang="pt-BR" sz="1400" dirty="0"/>
                        <a:t>    with open(</a:t>
                      </a:r>
                      <a:r>
                        <a:rPr lang="pt-BR" sz="1400" dirty="0" err="1"/>
                        <a:t>nome_arquivo</a:t>
                      </a:r>
                      <a:r>
                        <a:rPr lang="pt-BR" sz="1400" dirty="0"/>
                        <a:t>, 'wb') as arquivo:</a:t>
                      </a:r>
                    </a:p>
                    <a:p>
                      <a:r>
                        <a:rPr lang="pt-BR" sz="1400" dirty="0"/>
                        <a:t>        </a:t>
                      </a:r>
                      <a:r>
                        <a:rPr lang="pt-BR" sz="1400" dirty="0" err="1"/>
                        <a:t>while</a:t>
                      </a:r>
                      <a:r>
                        <a:rPr lang="pt-BR" sz="1400" dirty="0"/>
                        <a:t> True:</a:t>
                      </a:r>
                    </a:p>
                    <a:p>
                      <a:r>
                        <a:rPr lang="pt-BR" sz="1400" dirty="0"/>
                        <a:t>            entrada = input("\</a:t>
                      </a:r>
                      <a:r>
                        <a:rPr lang="pt-BR" sz="1400" dirty="0" err="1"/>
                        <a:t>nDigite</a:t>
                      </a:r>
                      <a:r>
                        <a:rPr lang="pt-BR" sz="1400" dirty="0"/>
                        <a:t> um número inteiro (0 para parar): ")</a:t>
                      </a:r>
                    </a:p>
                    <a:p>
                      <a:r>
                        <a:rPr lang="pt-BR" sz="1400" dirty="0"/>
                        <a:t>            </a:t>
                      </a:r>
                      <a:r>
                        <a:rPr lang="pt-BR" sz="1400" dirty="0" err="1"/>
                        <a:t>if</a:t>
                      </a:r>
                      <a:r>
                        <a:rPr lang="pt-BR" sz="1400" dirty="0"/>
                        <a:t> entrada == "":</a:t>
                      </a:r>
                    </a:p>
                    <a:p>
                      <a:r>
                        <a:rPr lang="pt-BR" sz="1400" dirty="0"/>
                        <a:t>                continue</a:t>
                      </a:r>
                    </a:p>
                    <a:p>
                      <a:r>
                        <a:rPr lang="pt-BR" sz="1400" dirty="0"/>
                        <a:t>            valor = </a:t>
                      </a:r>
                      <a:r>
                        <a:rPr lang="pt-BR" sz="1400" dirty="0" err="1"/>
                        <a:t>int</a:t>
                      </a:r>
                      <a:r>
                        <a:rPr lang="pt-BR" sz="1400" dirty="0"/>
                        <a:t>(entrada)</a:t>
                      </a:r>
                    </a:p>
                    <a:p>
                      <a:r>
                        <a:rPr lang="pt-BR" sz="1400" dirty="0"/>
                        <a:t>            </a:t>
                      </a:r>
                      <a:r>
                        <a:rPr lang="pt-BR" sz="1400" dirty="0" err="1"/>
                        <a:t>if</a:t>
                      </a:r>
                      <a:r>
                        <a:rPr lang="pt-BR" sz="1400" dirty="0"/>
                        <a:t> valor == 0:</a:t>
                      </a:r>
                    </a:p>
                    <a:p>
                      <a:r>
                        <a:rPr lang="pt-BR" sz="1400" dirty="0"/>
                        <a:t>                break</a:t>
                      </a:r>
                    </a:p>
                    <a:p>
                      <a:r>
                        <a:rPr lang="pt-BR" sz="1400" dirty="0"/>
                        <a:t>            # Empacota o valor como um inteiro de 4 bytes</a:t>
                      </a:r>
                    </a:p>
                    <a:p>
                      <a:r>
                        <a:rPr lang="pt-BR" sz="1400" dirty="0"/>
                        <a:t>            </a:t>
                      </a:r>
                      <a:r>
                        <a:rPr lang="pt-BR" sz="1400" dirty="0" err="1"/>
                        <a:t>arquivo.write</a:t>
                      </a:r>
                      <a:r>
                        <a:rPr lang="pt-BR" sz="1400" dirty="0"/>
                        <a:t>(</a:t>
                      </a:r>
                      <a:r>
                        <a:rPr lang="pt-BR" sz="1400" dirty="0" err="1"/>
                        <a:t>struct.pack</a:t>
                      </a:r>
                      <a:r>
                        <a:rPr lang="pt-BR" sz="1400" dirty="0"/>
                        <a:t>('i', valor))</a:t>
                      </a:r>
                    </a:p>
                    <a:p>
                      <a:r>
                        <a:rPr lang="pt-BR" sz="1400" dirty="0"/>
                        <a:t>    print(f"\</a:t>
                      </a:r>
                      <a:r>
                        <a:rPr lang="pt-BR" sz="1400" dirty="0" err="1"/>
                        <a:t>nArquivo</a:t>
                      </a:r>
                      <a:r>
                        <a:rPr lang="pt-BR" sz="1400" dirty="0"/>
                        <a:t> {</a:t>
                      </a:r>
                      <a:r>
                        <a:rPr lang="pt-BR" sz="1400" dirty="0" err="1"/>
                        <a:t>nome_arquivo</a:t>
                      </a:r>
                      <a:r>
                        <a:rPr lang="pt-BR" sz="1400" dirty="0"/>
                        <a:t>} criado com sucesso!")</a:t>
                      </a:r>
                    </a:p>
                    <a:p>
                      <a:endParaRPr lang="pt-BR" sz="1000" dirty="0"/>
                    </a:p>
                    <a:p>
                      <a:r>
                        <a:rPr lang="pt-BR" sz="1400" dirty="0" err="1"/>
                        <a:t>def</a:t>
                      </a:r>
                      <a:r>
                        <a:rPr lang="pt-BR" sz="1400" dirty="0"/>
                        <a:t> </a:t>
                      </a:r>
                      <a:r>
                        <a:rPr lang="pt-BR" sz="1400" dirty="0" err="1"/>
                        <a:t>ler_e_calcular_estatisticas</a:t>
                      </a:r>
                      <a:r>
                        <a:rPr lang="pt-BR" sz="1400" dirty="0"/>
                        <a:t>(</a:t>
                      </a:r>
                      <a:r>
                        <a:rPr lang="pt-BR" sz="1400" dirty="0" err="1"/>
                        <a:t>nome_arquivo</a:t>
                      </a:r>
                      <a:r>
                        <a:rPr lang="pt-BR" sz="1400" dirty="0"/>
                        <a:t>):</a:t>
                      </a:r>
                    </a:p>
                    <a:p>
                      <a:r>
                        <a:rPr lang="pt-BR" sz="1400" dirty="0"/>
                        <a:t>    soma = 0</a:t>
                      </a:r>
                    </a:p>
                    <a:p>
                      <a:r>
                        <a:rPr lang="pt-BR" sz="1400" dirty="0"/>
                        <a:t>    maior = None</a:t>
                      </a:r>
                    </a:p>
                    <a:p>
                      <a:r>
                        <a:rPr lang="pt-BR" sz="1400" dirty="0"/>
                        <a:t>    menor = None</a:t>
                      </a:r>
                    </a:p>
                    <a:p>
                      <a:r>
                        <a:rPr lang="pt-BR" sz="1400" dirty="0"/>
                        <a:t>    quantidade = 0</a:t>
                      </a:r>
                    </a:p>
                    <a:p>
                      <a:r>
                        <a:rPr lang="pt-BR" sz="1400" dirty="0"/>
                        <a:t>    with open(</a:t>
                      </a:r>
                      <a:r>
                        <a:rPr lang="pt-BR" sz="1400" dirty="0" err="1"/>
                        <a:t>nome_arquivo</a:t>
                      </a:r>
                      <a:r>
                        <a:rPr lang="pt-BR" sz="1400" dirty="0"/>
                        <a:t>, 'rb') as arquivo:</a:t>
                      </a:r>
                    </a:p>
                    <a:p>
                      <a:r>
                        <a:rPr lang="pt-BR" sz="1400" dirty="0"/>
                        <a:t>        </a:t>
                      </a:r>
                      <a:r>
                        <a:rPr lang="pt-BR" sz="1400" dirty="0" err="1"/>
                        <a:t>while</a:t>
                      </a:r>
                      <a:r>
                        <a:rPr lang="pt-BR" sz="1400" dirty="0"/>
                        <a:t> True:</a:t>
                      </a:r>
                    </a:p>
                    <a:p>
                      <a:r>
                        <a:rPr lang="pt-BR" sz="1400" dirty="0"/>
                        <a:t>            bloco = </a:t>
                      </a:r>
                      <a:r>
                        <a:rPr lang="pt-BR" sz="1400" dirty="0" err="1"/>
                        <a:t>arquivo.read</a:t>
                      </a:r>
                      <a:r>
                        <a:rPr lang="pt-BR" sz="1400" dirty="0"/>
                        <a:t>(4)  # Lê 4 bytes de cada vez</a:t>
                      </a:r>
                    </a:p>
                  </a:txBody>
                  <a:tcPr/>
                </a:tc>
                <a:tc>
                  <a:txBody>
                    <a:bodyPr/>
                    <a:lstStyle/>
                    <a:p>
                      <a:r>
                        <a:rPr lang="pt-BR" sz="1400" dirty="0"/>
                        <a:t>            </a:t>
                      </a:r>
                      <a:r>
                        <a:rPr lang="pt-BR" sz="1400" dirty="0" err="1"/>
                        <a:t>If</a:t>
                      </a:r>
                      <a:r>
                        <a:rPr lang="pt-BR" sz="1400" dirty="0"/>
                        <a:t> not bloco :     </a:t>
                      </a:r>
                    </a:p>
                    <a:p>
                      <a:r>
                        <a:rPr lang="pt-BR" sz="1400" dirty="0"/>
                        <a:t>                break</a:t>
                      </a:r>
                    </a:p>
                    <a:p>
                      <a:r>
                        <a:rPr lang="pt-BR" sz="1400" dirty="0"/>
                        <a:t>             valor = </a:t>
                      </a:r>
                      <a:r>
                        <a:rPr lang="pt-BR" sz="1400" dirty="0" err="1"/>
                        <a:t>struct.unpack</a:t>
                      </a:r>
                      <a:r>
                        <a:rPr lang="pt-BR" sz="1400" dirty="0"/>
                        <a:t>('i', </a:t>
                      </a:r>
                      <a:r>
                        <a:rPr lang="pt-BR" sz="1400"/>
                        <a:t>bloco)</a:t>
                      </a:r>
                      <a:endParaRPr lang="pt-BR" sz="1400" dirty="0"/>
                    </a:p>
                    <a:p>
                      <a:r>
                        <a:rPr lang="pt-BR" sz="1400" dirty="0"/>
                        <a:t>             soma += valor</a:t>
                      </a:r>
                    </a:p>
                    <a:p>
                      <a:r>
                        <a:rPr lang="pt-BR" sz="1400" dirty="0"/>
                        <a:t>             </a:t>
                      </a:r>
                      <a:r>
                        <a:rPr lang="pt-BR" sz="1400" dirty="0" err="1"/>
                        <a:t>if</a:t>
                      </a:r>
                      <a:r>
                        <a:rPr lang="pt-BR" sz="1400" dirty="0"/>
                        <a:t> maior is None </a:t>
                      </a:r>
                      <a:r>
                        <a:rPr lang="pt-BR" sz="1400" dirty="0" err="1"/>
                        <a:t>or</a:t>
                      </a:r>
                      <a:r>
                        <a:rPr lang="pt-BR" sz="1400" dirty="0"/>
                        <a:t> valor &gt; maior:</a:t>
                      </a:r>
                    </a:p>
                    <a:p>
                      <a:r>
                        <a:rPr lang="pt-BR" sz="1400" dirty="0"/>
                        <a:t>                 maior = valor</a:t>
                      </a:r>
                    </a:p>
                    <a:p>
                      <a:r>
                        <a:rPr lang="pt-BR" sz="1400" dirty="0"/>
                        <a:t>             </a:t>
                      </a:r>
                      <a:r>
                        <a:rPr lang="pt-BR" sz="1400" dirty="0" err="1"/>
                        <a:t>if</a:t>
                      </a:r>
                      <a:r>
                        <a:rPr lang="pt-BR" sz="1400" dirty="0"/>
                        <a:t> menor is None </a:t>
                      </a:r>
                      <a:r>
                        <a:rPr lang="pt-BR" sz="1400" dirty="0" err="1"/>
                        <a:t>or</a:t>
                      </a:r>
                      <a:r>
                        <a:rPr lang="pt-BR" sz="1400" dirty="0"/>
                        <a:t> valor &lt; menor:</a:t>
                      </a:r>
                    </a:p>
                    <a:p>
                      <a:r>
                        <a:rPr lang="pt-BR" sz="1400" dirty="0"/>
                        <a:t>                 menor = valor</a:t>
                      </a:r>
                    </a:p>
                    <a:p>
                      <a:r>
                        <a:rPr lang="pt-BR" sz="1400" dirty="0"/>
                        <a:t>             quantidade += 1</a:t>
                      </a:r>
                    </a:p>
                    <a:p>
                      <a:endParaRPr lang="pt-BR" sz="1000" dirty="0"/>
                    </a:p>
                    <a:p>
                      <a:r>
                        <a:rPr lang="pt-BR" sz="1400" dirty="0"/>
                        <a:t>    </a:t>
                      </a:r>
                      <a:r>
                        <a:rPr lang="pt-BR" sz="1400" dirty="0" err="1"/>
                        <a:t>if</a:t>
                      </a:r>
                      <a:r>
                        <a:rPr lang="pt-BR" sz="1400" dirty="0"/>
                        <a:t> quantidade &gt; 0:</a:t>
                      </a:r>
                    </a:p>
                    <a:p>
                      <a:r>
                        <a:rPr lang="pt-BR" sz="1400" dirty="0"/>
                        <a:t>        media = soma / quantidade</a:t>
                      </a:r>
                    </a:p>
                    <a:p>
                      <a:r>
                        <a:rPr lang="pt-BR" sz="1400" dirty="0"/>
                        <a:t>        print(f"\n\</a:t>
                      </a:r>
                      <a:r>
                        <a:rPr lang="pt-BR" sz="1400" dirty="0" err="1"/>
                        <a:t>nEstatísticas</a:t>
                      </a:r>
                      <a:r>
                        <a:rPr lang="pt-BR" sz="1400" dirty="0"/>
                        <a:t> do arquivo {</a:t>
                      </a:r>
                      <a:r>
                        <a:rPr lang="pt-BR" sz="1400" dirty="0" err="1"/>
                        <a:t>nome_arquivo</a:t>
                      </a:r>
                      <a:r>
                        <a:rPr lang="pt-BR" sz="1400" dirty="0"/>
                        <a:t>}:")</a:t>
                      </a:r>
                    </a:p>
                    <a:p>
                      <a:r>
                        <a:rPr lang="pt-BR" sz="1400" dirty="0"/>
                        <a:t>        print(</a:t>
                      </a:r>
                      <a:r>
                        <a:rPr lang="pt-BR" sz="1400" dirty="0" err="1"/>
                        <a:t>f"Soma</a:t>
                      </a:r>
                      <a:r>
                        <a:rPr lang="pt-BR" sz="1400" dirty="0"/>
                        <a:t>: {soma}")</a:t>
                      </a:r>
                    </a:p>
                    <a:p>
                      <a:r>
                        <a:rPr lang="pt-BR" sz="1400" dirty="0"/>
                        <a:t>        print(</a:t>
                      </a:r>
                      <a:r>
                        <a:rPr lang="pt-BR" sz="1400" dirty="0" err="1"/>
                        <a:t>f"Média</a:t>
                      </a:r>
                      <a:r>
                        <a:rPr lang="pt-BR" sz="1400" dirty="0"/>
                        <a:t>: {media:.2f}")</a:t>
                      </a:r>
                    </a:p>
                    <a:p>
                      <a:r>
                        <a:rPr lang="pt-BR" sz="1400" dirty="0"/>
                        <a:t>        print(</a:t>
                      </a:r>
                      <a:r>
                        <a:rPr lang="pt-BR" sz="1400" dirty="0" err="1"/>
                        <a:t>f"Maior</a:t>
                      </a:r>
                      <a:r>
                        <a:rPr lang="pt-BR" sz="1400" dirty="0"/>
                        <a:t> valor: {maior}")</a:t>
                      </a:r>
                    </a:p>
                    <a:p>
                      <a:r>
                        <a:rPr lang="pt-BR" sz="1400" dirty="0"/>
                        <a:t>        print(</a:t>
                      </a:r>
                      <a:r>
                        <a:rPr lang="pt-BR" sz="1400" dirty="0" err="1"/>
                        <a:t>f"Menor</a:t>
                      </a:r>
                      <a:r>
                        <a:rPr lang="pt-BR" sz="1400" dirty="0"/>
                        <a:t> valor: {menor}")</a:t>
                      </a:r>
                    </a:p>
                    <a:p>
                      <a:r>
                        <a:rPr lang="pt-BR" sz="1400" dirty="0"/>
                        <a:t>    </a:t>
                      </a:r>
                      <a:r>
                        <a:rPr lang="pt-BR" sz="1400" dirty="0" err="1"/>
                        <a:t>else</a:t>
                      </a:r>
                      <a:r>
                        <a:rPr lang="pt-BR" sz="1400" dirty="0"/>
                        <a:t>:</a:t>
                      </a:r>
                    </a:p>
                    <a:p>
                      <a:r>
                        <a:rPr lang="pt-BR" sz="1400" dirty="0"/>
                        <a:t>        print("\n\</a:t>
                      </a:r>
                      <a:r>
                        <a:rPr lang="pt-BR" sz="1400" dirty="0" err="1"/>
                        <a:t>nO</a:t>
                      </a:r>
                      <a:r>
                        <a:rPr lang="pt-BR" sz="1400" dirty="0"/>
                        <a:t> arquivo está vazio ou não há dados para calcular estatísticas.")</a:t>
                      </a:r>
                    </a:p>
                    <a:p>
                      <a:endParaRPr lang="pt-BR" sz="1000" dirty="0"/>
                    </a:p>
                    <a:p>
                      <a:r>
                        <a:rPr lang="pt-BR" sz="1400" dirty="0"/>
                        <a:t># Exemplo de uso:</a:t>
                      </a:r>
                    </a:p>
                    <a:p>
                      <a:r>
                        <a:rPr lang="pt-BR" sz="1400" dirty="0" err="1"/>
                        <a:t>nome_arquivo</a:t>
                      </a:r>
                      <a:r>
                        <a:rPr lang="pt-BR" sz="1400" dirty="0"/>
                        <a:t> = '</a:t>
                      </a:r>
                      <a:r>
                        <a:rPr lang="pt-BR" sz="1400" dirty="0" err="1"/>
                        <a:t>valores.bin</a:t>
                      </a:r>
                      <a:r>
                        <a:rPr lang="pt-BR" sz="1400" dirty="0"/>
                        <a:t>'</a:t>
                      </a:r>
                    </a:p>
                    <a:p>
                      <a:r>
                        <a:rPr lang="pt-BR" sz="1400" dirty="0" err="1"/>
                        <a:t>criar_arquivo_binario</a:t>
                      </a:r>
                      <a:r>
                        <a:rPr lang="pt-BR" sz="1400" dirty="0"/>
                        <a:t>(</a:t>
                      </a:r>
                      <a:r>
                        <a:rPr lang="pt-BR" sz="1400" dirty="0" err="1"/>
                        <a:t>nome_arquivo</a:t>
                      </a:r>
                      <a:r>
                        <a:rPr lang="pt-BR" sz="1400" dirty="0"/>
                        <a:t>)</a:t>
                      </a:r>
                    </a:p>
                    <a:p>
                      <a:r>
                        <a:rPr lang="pt-BR" sz="1400" dirty="0" err="1"/>
                        <a:t>ler_e_calcular_estatisticas</a:t>
                      </a:r>
                      <a:r>
                        <a:rPr lang="pt-BR" sz="1400" dirty="0"/>
                        <a:t>(</a:t>
                      </a:r>
                      <a:r>
                        <a:rPr lang="pt-BR" sz="1400" dirty="0" err="1"/>
                        <a:t>nome_arquivo</a:t>
                      </a:r>
                      <a:r>
                        <a:rPr lang="pt-BR" sz="1400" dirty="0"/>
                        <a:t>)</a:t>
                      </a:r>
                    </a:p>
                  </a:txBody>
                  <a:tcPr/>
                </a:tc>
                <a:extLst>
                  <a:ext uri="{0D108BD9-81ED-4DB2-BD59-A6C34878D82A}">
                    <a16:rowId xmlns:a16="http://schemas.microsoft.com/office/drawing/2014/main" val="622398103"/>
                  </a:ext>
                </a:extLst>
              </a:tr>
            </a:tbl>
          </a:graphicData>
        </a:graphic>
      </p:graphicFrame>
    </p:spTree>
    <p:extLst>
      <p:ext uri="{BB962C8B-B14F-4D97-AF65-F5344CB8AC3E}">
        <p14:creationId xmlns:p14="http://schemas.microsoft.com/office/powerpoint/2010/main" val="40699706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551D622-38FC-3076-4A61-0B9BECC4A3D4}"/>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27FE0F5B-6C84-42E5-1DF3-D397D1745444}"/>
              </a:ext>
            </a:extLst>
          </p:cNvPr>
          <p:cNvSpPr>
            <a:spLocks noGrp="1"/>
          </p:cNvSpPr>
          <p:nvPr>
            <p:ph type="ftr" sz="quarter" idx="11"/>
          </p:nvPr>
        </p:nvSpPr>
        <p:spPr>
          <a:xfrm>
            <a:off x="1621888" y="5991225"/>
            <a:ext cx="9284676" cy="365125"/>
          </a:xfrm>
        </p:spPr>
        <p:txBody>
          <a:bodyPr/>
          <a:lstStyle/>
          <a:p>
            <a:endParaRPr lang="pt-BR"/>
          </a:p>
        </p:txBody>
      </p:sp>
      <p:sp>
        <p:nvSpPr>
          <p:cNvPr id="4" name="Espaço Reservado para Número de Slide 3">
            <a:extLst>
              <a:ext uri="{FF2B5EF4-FFF2-40B4-BE49-F238E27FC236}">
                <a16:creationId xmlns:a16="http://schemas.microsoft.com/office/drawing/2014/main" id="{7F67C0C8-BF39-9098-CEFF-2FE761F0293C}"/>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44</a:t>
            </a:fld>
            <a:endParaRPr lang="pt-BR" b="1" dirty="0">
              <a:solidFill>
                <a:schemeClr val="tx1"/>
              </a:solidFill>
            </a:endParaRPr>
          </a:p>
        </p:txBody>
      </p:sp>
      <p:sp>
        <p:nvSpPr>
          <p:cNvPr id="5" name="Título 4">
            <a:extLst>
              <a:ext uri="{FF2B5EF4-FFF2-40B4-BE49-F238E27FC236}">
                <a16:creationId xmlns:a16="http://schemas.microsoft.com/office/drawing/2014/main" id="{4413E1F2-17F8-04C3-EE91-C25D8614CCE7}"/>
              </a:ext>
            </a:extLst>
          </p:cNvPr>
          <p:cNvSpPr>
            <a:spLocks noGrp="1"/>
          </p:cNvSpPr>
          <p:nvPr>
            <p:ph type="title"/>
          </p:nvPr>
        </p:nvSpPr>
        <p:spPr>
          <a:xfrm>
            <a:off x="2005532" y="350838"/>
            <a:ext cx="9862002" cy="692472"/>
          </a:xfrm>
        </p:spPr>
        <p:txBody>
          <a:bodyPr>
            <a:normAutofit fontScale="90000"/>
          </a:bodyPr>
          <a:lstStyle/>
          <a:p>
            <a:pPr algn="ctr">
              <a:lnSpc>
                <a:spcPct val="100000"/>
              </a:lnSpc>
            </a:pPr>
            <a:r>
              <a:rPr lang="pt-BR" b="1" i="1" dirty="0"/>
              <a:t>Usando Pickle – parte 01</a:t>
            </a:r>
          </a:p>
        </p:txBody>
      </p:sp>
      <p:graphicFrame>
        <p:nvGraphicFramePr>
          <p:cNvPr id="6" name="Tabela 5">
            <a:extLst>
              <a:ext uri="{FF2B5EF4-FFF2-40B4-BE49-F238E27FC236}">
                <a16:creationId xmlns:a16="http://schemas.microsoft.com/office/drawing/2014/main" id="{F6555279-0A88-AC78-25DD-FDA60B6AB11A}"/>
              </a:ext>
            </a:extLst>
          </p:cNvPr>
          <p:cNvGraphicFramePr>
            <a:graphicFrameLocks noGrp="1"/>
          </p:cNvGraphicFramePr>
          <p:nvPr>
            <p:extLst>
              <p:ext uri="{D42A27DB-BD31-4B8C-83A1-F6EECF244321}">
                <p14:modId xmlns:p14="http://schemas.microsoft.com/office/powerpoint/2010/main" val="2804994584"/>
              </p:ext>
            </p:extLst>
          </p:nvPr>
        </p:nvGraphicFramePr>
        <p:xfrm>
          <a:off x="48136" y="1286527"/>
          <a:ext cx="12072424" cy="5181600"/>
        </p:xfrm>
        <a:graphic>
          <a:graphicData uri="http://schemas.openxmlformats.org/drawingml/2006/table">
            <a:tbl>
              <a:tblPr firstRow="1" bandRow="1">
                <a:tableStyleId>{5C22544A-7EE6-4342-B048-85BDC9FD1C3A}</a:tableStyleId>
              </a:tblPr>
              <a:tblGrid>
                <a:gridCol w="4438137">
                  <a:extLst>
                    <a:ext uri="{9D8B030D-6E8A-4147-A177-3AD203B41FA5}">
                      <a16:colId xmlns:a16="http://schemas.microsoft.com/office/drawing/2014/main" val="3792960304"/>
                    </a:ext>
                  </a:extLst>
                </a:gridCol>
                <a:gridCol w="7634287">
                  <a:extLst>
                    <a:ext uri="{9D8B030D-6E8A-4147-A177-3AD203B41FA5}">
                      <a16:colId xmlns:a16="http://schemas.microsoft.com/office/drawing/2014/main" val="203158171"/>
                    </a:ext>
                  </a:extLst>
                </a:gridCol>
              </a:tblGrid>
              <a:tr h="5070622">
                <a:tc>
                  <a:txBody>
                    <a:bodyPr/>
                    <a:lstStyle/>
                    <a:p>
                      <a:r>
                        <a:rPr lang="pt-BR" sz="1400" dirty="0" err="1"/>
                        <a:t>import</a:t>
                      </a:r>
                      <a:r>
                        <a:rPr lang="pt-BR" sz="1400" dirty="0"/>
                        <a:t> pickle</a:t>
                      </a:r>
                    </a:p>
                    <a:p>
                      <a:r>
                        <a:rPr lang="pt-BR" sz="1400" dirty="0" err="1"/>
                        <a:t>import</a:t>
                      </a:r>
                      <a:r>
                        <a:rPr lang="pt-BR" sz="1400" dirty="0"/>
                        <a:t> os</a:t>
                      </a:r>
                    </a:p>
                    <a:p>
                      <a:endParaRPr lang="pt-BR" sz="1000" dirty="0"/>
                    </a:p>
                    <a:p>
                      <a:r>
                        <a:rPr lang="pt-BR" sz="1400" dirty="0"/>
                        <a:t># Criar o arquivo se não existir</a:t>
                      </a:r>
                    </a:p>
                    <a:p>
                      <a:r>
                        <a:rPr lang="pt-BR" sz="1400" dirty="0"/>
                        <a:t>fp = open('registro.</a:t>
                      </a:r>
                      <a:r>
                        <a:rPr lang="pt-BR" sz="1400" dirty="0" err="1"/>
                        <a:t>txt</a:t>
                      </a:r>
                      <a:r>
                        <a:rPr lang="pt-BR" sz="1400" dirty="0"/>
                        <a:t>','ab+')</a:t>
                      </a:r>
                    </a:p>
                    <a:p>
                      <a:r>
                        <a:rPr lang="pt-BR" sz="1400" dirty="0" err="1"/>
                        <a:t>fp.close</a:t>
                      </a:r>
                      <a:r>
                        <a:rPr lang="pt-BR" sz="1400" dirty="0"/>
                        <a:t>()</a:t>
                      </a:r>
                    </a:p>
                    <a:p>
                      <a:endParaRPr lang="pt-BR" sz="1000" dirty="0"/>
                    </a:p>
                    <a:p>
                      <a:r>
                        <a:rPr lang="pt-BR" sz="1400" dirty="0" err="1"/>
                        <a:t>while</a:t>
                      </a:r>
                      <a:r>
                        <a:rPr lang="pt-BR" sz="1400" dirty="0"/>
                        <a:t> True:</a:t>
                      </a:r>
                    </a:p>
                    <a:p>
                      <a:r>
                        <a:rPr lang="pt-BR" sz="1400" dirty="0"/>
                        <a:t>    </a:t>
                      </a:r>
                      <a:r>
                        <a:rPr lang="pt-BR" sz="1400" dirty="0" err="1"/>
                        <a:t>os.system</a:t>
                      </a:r>
                      <a:r>
                        <a:rPr lang="pt-BR" sz="1400" dirty="0"/>
                        <a:t>('</a:t>
                      </a:r>
                      <a:r>
                        <a:rPr lang="pt-BR" sz="1400" dirty="0" err="1"/>
                        <a:t>cls</a:t>
                      </a:r>
                      <a:r>
                        <a:rPr lang="pt-BR" sz="1400" dirty="0"/>
                        <a:t>')</a:t>
                      </a:r>
                    </a:p>
                    <a:p>
                      <a:r>
                        <a:rPr lang="pt-BR" sz="1400" dirty="0"/>
                        <a:t>    print('\n1. Adicionar Registro')</a:t>
                      </a:r>
                    </a:p>
                    <a:p>
                      <a:r>
                        <a:rPr lang="pt-BR" sz="1400" dirty="0"/>
                        <a:t>    print('2. Mostrar Registros')</a:t>
                      </a:r>
                    </a:p>
                    <a:p>
                      <a:r>
                        <a:rPr lang="pt-BR" sz="1400" dirty="0"/>
                        <a:t>    print('3. Pesquisar registro')</a:t>
                      </a:r>
                    </a:p>
                    <a:p>
                      <a:r>
                        <a:rPr lang="pt-BR" sz="1400" dirty="0"/>
                        <a:t>    print('4. Alterar Registro')</a:t>
                      </a:r>
                    </a:p>
                    <a:p>
                      <a:r>
                        <a:rPr lang="pt-BR" sz="1400" dirty="0"/>
                        <a:t>    print('5. Deletar Registro')</a:t>
                      </a:r>
                    </a:p>
                    <a:p>
                      <a:r>
                        <a:rPr lang="pt-BR" sz="1400" dirty="0"/>
                        <a:t>    print('0. Fim')</a:t>
                      </a:r>
                    </a:p>
                    <a:p>
                      <a:r>
                        <a:rPr lang="pt-BR" sz="1400" dirty="0"/>
                        <a:t>    opção = </a:t>
                      </a:r>
                      <a:r>
                        <a:rPr lang="pt-BR" sz="1400" dirty="0" err="1"/>
                        <a:t>int</a:t>
                      </a:r>
                      <a:r>
                        <a:rPr lang="pt-BR" sz="1400" dirty="0"/>
                        <a:t>(input('\</a:t>
                      </a:r>
                      <a:r>
                        <a:rPr lang="pt-BR" sz="1400" dirty="0" err="1"/>
                        <a:t>nDigite</a:t>
                      </a:r>
                      <a:r>
                        <a:rPr lang="pt-BR" sz="1400" dirty="0"/>
                        <a:t> uma opção : '))</a:t>
                      </a:r>
                    </a:p>
                    <a:p>
                      <a:endParaRPr lang="pt-BR" sz="1000" dirty="0"/>
                    </a:p>
                    <a:p>
                      <a:r>
                        <a:rPr lang="pt-BR" sz="1400" dirty="0"/>
                        <a:t>    # </a:t>
                      </a:r>
                      <a:r>
                        <a:rPr lang="pt-BR" sz="1400" dirty="0" err="1"/>
                        <a:t>Add</a:t>
                      </a:r>
                      <a:r>
                        <a:rPr lang="pt-BR" sz="1400" dirty="0"/>
                        <a:t> registro</a:t>
                      </a:r>
                    </a:p>
                    <a:p>
                      <a:r>
                        <a:rPr lang="pt-BR" sz="1400" dirty="0"/>
                        <a:t>    </a:t>
                      </a:r>
                      <a:r>
                        <a:rPr lang="pt-BR" sz="1400" dirty="0" err="1"/>
                        <a:t>if</a:t>
                      </a:r>
                      <a:r>
                        <a:rPr lang="pt-BR" sz="1400" dirty="0"/>
                        <a:t> opção == 1:</a:t>
                      </a:r>
                    </a:p>
                    <a:p>
                      <a:pPr marL="2328863" indent="-2328863"/>
                      <a:r>
                        <a:rPr lang="pt-BR" sz="1400" dirty="0"/>
                        <a:t>        with open('registro.txt', 'ab+') as fileobj:    # abrir o arquivo para adicionar registros ao arquivo</a:t>
                      </a:r>
                    </a:p>
                    <a:p>
                      <a:r>
                        <a:rPr lang="pt-BR" sz="1400" dirty="0"/>
                        <a:t>            nome    = input('Digite o Name : ')</a:t>
                      </a:r>
                    </a:p>
                    <a:p>
                      <a:r>
                        <a:rPr lang="pt-BR" sz="1400" dirty="0"/>
                        <a:t>            idade   = </a:t>
                      </a:r>
                      <a:r>
                        <a:rPr lang="pt-BR" sz="1400" dirty="0" err="1"/>
                        <a:t>int</a:t>
                      </a:r>
                      <a:r>
                        <a:rPr lang="pt-BR" sz="1400" dirty="0"/>
                        <a:t>(input('Digite a Idade : ')</a:t>
                      </a:r>
                    </a:p>
                  </a:txBody>
                  <a:tcPr/>
                </a:tc>
                <a:tc>
                  <a:txBody>
                    <a:bodyPr/>
                    <a:lstStyle/>
                    <a:p>
                      <a:r>
                        <a:rPr lang="pt-BR" sz="1400" dirty="0"/>
                        <a:t>            salario = float(input('Digite o Salário :')            </a:t>
                      </a:r>
                    </a:p>
                    <a:p>
                      <a:r>
                        <a:rPr lang="pt-BR" sz="1400" dirty="0"/>
                        <a:t>            data    = [nome, idade, salario]      # criar lista de dados</a:t>
                      </a:r>
                    </a:p>
                    <a:p>
                      <a:pPr marL="3222625" indent="-3222625"/>
                      <a:r>
                        <a:rPr lang="pt-BR" sz="1400" dirty="0"/>
                        <a:t>            </a:t>
                      </a:r>
                      <a:r>
                        <a:rPr lang="pt-BR" sz="1400" dirty="0" err="1"/>
                        <a:t>pickle.dump</a:t>
                      </a:r>
                      <a:r>
                        <a:rPr lang="pt-BR" sz="1400" dirty="0"/>
                        <a:t>(data, fileobj)            # escrever os dados num arquivo binário</a:t>
                      </a:r>
                    </a:p>
                    <a:p>
                      <a:endParaRPr lang="pt-BR" sz="1000" dirty="0"/>
                    </a:p>
                    <a:p>
                      <a:r>
                        <a:rPr lang="pt-BR" sz="1400" dirty="0"/>
                        <a:t># Mostrar registros</a:t>
                      </a:r>
                    </a:p>
                    <a:p>
                      <a:r>
                        <a:rPr lang="pt-BR" sz="1400" dirty="0"/>
                        <a:t>    elif opção == 2:</a:t>
                      </a:r>
                    </a:p>
                    <a:p>
                      <a:pPr marL="3222625" indent="-3222625"/>
                      <a:r>
                        <a:rPr lang="pt-BR" sz="1400" dirty="0"/>
                        <a:t>          with open(r'registro.txt', 'rb') as fileobj:    # abre o arquivo para mostrar os registros</a:t>
                      </a:r>
                    </a:p>
                    <a:p>
                      <a:endParaRPr lang="pt-BR" sz="1000" dirty="0"/>
                    </a:p>
                    <a:p>
                      <a:r>
                        <a:rPr lang="pt-BR" sz="1400" dirty="0"/>
                        <a:t>               f=0</a:t>
                      </a:r>
                    </a:p>
                    <a:p>
                      <a:r>
                        <a:rPr lang="pt-BR" sz="1400" dirty="0"/>
                        <a:t>               print('\</a:t>
                      </a:r>
                      <a:r>
                        <a:rPr lang="pt-BR" sz="1400" dirty="0" err="1"/>
                        <a:t>nNOME</a:t>
                      </a:r>
                      <a:r>
                        <a:rPr lang="pt-BR" sz="1400" dirty="0"/>
                        <a:t>\t\t IDADE\t SALARIO')    # escrever o cabeçalho</a:t>
                      </a:r>
                    </a:p>
                    <a:p>
                      <a:r>
                        <a:rPr lang="pt-BR" sz="1400" dirty="0"/>
                        <a:t>               </a:t>
                      </a:r>
                      <a:r>
                        <a:rPr lang="pt-BR" sz="1400" dirty="0" err="1"/>
                        <a:t>while</a:t>
                      </a:r>
                      <a:r>
                        <a:rPr lang="pt-BR" sz="1400" dirty="0"/>
                        <a:t> True:</a:t>
                      </a:r>
                    </a:p>
                    <a:p>
                      <a:r>
                        <a:rPr lang="pt-BR" sz="1400" dirty="0"/>
                        <a:t>                    try:             #  carregar o registro individualmente do arquivo usando o método load()</a:t>
                      </a:r>
                    </a:p>
                    <a:p>
                      <a:r>
                        <a:rPr lang="pt-BR" sz="1400" dirty="0"/>
                        <a:t>                            data = </a:t>
                      </a:r>
                      <a:r>
                        <a:rPr lang="pt-BR" sz="1400" dirty="0" err="1"/>
                        <a:t>pickle.load</a:t>
                      </a:r>
                      <a:r>
                        <a:rPr lang="pt-BR" sz="1400" dirty="0"/>
                        <a:t>(fileobj)</a:t>
                      </a:r>
                    </a:p>
                    <a:p>
                      <a:r>
                        <a:rPr lang="pt-BR" sz="1400" dirty="0"/>
                        <a:t> </a:t>
                      </a:r>
                    </a:p>
                    <a:p>
                      <a:r>
                        <a:rPr lang="pt-BR" sz="1400" dirty="0"/>
                        <a:t>                            </a:t>
                      </a:r>
                      <a:r>
                        <a:rPr lang="pt-BR" sz="1400" dirty="0" err="1"/>
                        <a:t>if</a:t>
                      </a:r>
                      <a:r>
                        <a:rPr lang="pt-BR" sz="1400" dirty="0"/>
                        <a:t> len(data) !=0:</a:t>
                      </a:r>
                    </a:p>
                    <a:p>
                      <a:r>
                        <a:rPr lang="pt-BR" sz="1400" dirty="0"/>
                        <a:t>                                f=1</a:t>
                      </a:r>
                    </a:p>
                    <a:p>
                      <a:r>
                        <a:rPr lang="pt-BR" sz="1400" dirty="0"/>
                        <a:t>                                print('%s\t\t\</a:t>
                      </a:r>
                      <a:r>
                        <a:rPr lang="pt-BR" sz="1400" dirty="0" err="1"/>
                        <a:t>t%d</a:t>
                      </a:r>
                      <a:r>
                        <a:rPr lang="pt-BR" sz="1400" dirty="0"/>
                        <a:t>\t%.2f' %(data[0], data[1], data[2]))</a:t>
                      </a:r>
                    </a:p>
                    <a:p>
                      <a:endParaRPr lang="pt-BR" sz="1000" dirty="0"/>
                    </a:p>
                    <a:p>
                      <a:r>
                        <a:rPr lang="pt-BR" sz="1400" dirty="0"/>
                        <a:t>                   except EOFError:</a:t>
                      </a:r>
                    </a:p>
                    <a:p>
                      <a:r>
                        <a:rPr lang="pt-BR" sz="1400" dirty="0"/>
                        <a:t>                           break</a:t>
                      </a:r>
                    </a:p>
                    <a:p>
                      <a:endParaRPr lang="pt-BR" sz="1000" dirty="0"/>
                    </a:p>
                    <a:p>
                      <a:r>
                        <a:rPr lang="pt-BR" sz="1400" dirty="0"/>
                        <a:t>               </a:t>
                      </a:r>
                      <a:r>
                        <a:rPr lang="pt-BR" sz="1400" dirty="0" err="1"/>
                        <a:t>if</a:t>
                      </a:r>
                      <a:r>
                        <a:rPr lang="pt-BR" sz="1400" dirty="0"/>
                        <a:t> f==0:</a:t>
                      </a:r>
                    </a:p>
                    <a:p>
                      <a:r>
                        <a:rPr lang="pt-BR" sz="1400" dirty="0"/>
                        <a:t>                    print('\</a:t>
                      </a:r>
                      <a:r>
                        <a:rPr lang="pt-BR" sz="1400" dirty="0" err="1"/>
                        <a:t>nregistro</a:t>
                      </a:r>
                      <a:r>
                        <a:rPr lang="pt-BR" sz="1400" dirty="0"/>
                        <a:t> não existe')</a:t>
                      </a:r>
                    </a:p>
                    <a:p>
                      <a:pPr marL="3943350" indent="-3943350"/>
                      <a:r>
                        <a:rPr lang="pt-BR" sz="1400" dirty="0"/>
                        <a:t>               input('\</a:t>
                      </a:r>
                      <a:r>
                        <a:rPr lang="pt-BR" sz="1400" dirty="0" err="1"/>
                        <a:t>nTecle</a:t>
                      </a:r>
                      <a:r>
                        <a:rPr lang="pt-BR" sz="1400" dirty="0"/>
                        <a:t> &lt;enter&gt; para continuar...')  # Pausar o loop para que o registro possa ser visto</a:t>
                      </a:r>
                    </a:p>
                  </a:txBody>
                  <a:tcPr/>
                </a:tc>
                <a:extLst>
                  <a:ext uri="{0D108BD9-81ED-4DB2-BD59-A6C34878D82A}">
                    <a16:rowId xmlns:a16="http://schemas.microsoft.com/office/drawing/2014/main" val="4229573472"/>
                  </a:ext>
                </a:extLst>
              </a:tr>
            </a:tbl>
          </a:graphicData>
        </a:graphic>
      </p:graphicFrame>
      <p:sp>
        <p:nvSpPr>
          <p:cNvPr id="7" name="CaixaDeTexto 6">
            <a:extLst>
              <a:ext uri="{FF2B5EF4-FFF2-40B4-BE49-F238E27FC236}">
                <a16:creationId xmlns:a16="http://schemas.microsoft.com/office/drawing/2014/main" id="{F2CC6C21-E51D-06E3-50EA-F0C7AF20D14A}"/>
              </a:ext>
            </a:extLst>
          </p:cNvPr>
          <p:cNvSpPr txBox="1"/>
          <p:nvPr/>
        </p:nvSpPr>
        <p:spPr>
          <a:xfrm>
            <a:off x="5246914" y="6419430"/>
            <a:ext cx="1698172" cy="338554"/>
          </a:xfrm>
          <a:prstGeom prst="rect">
            <a:avLst/>
          </a:prstGeom>
          <a:noFill/>
        </p:spPr>
        <p:txBody>
          <a:bodyPr wrap="square" rtlCol="0">
            <a:spAutoFit/>
          </a:bodyPr>
          <a:lstStyle/>
          <a:p>
            <a:r>
              <a:rPr lang="pt-BR" sz="1600" b="1" dirty="0"/>
              <a:t>Cap11b-Arq13</a:t>
            </a:r>
          </a:p>
        </p:txBody>
      </p:sp>
    </p:spTree>
    <p:extLst>
      <p:ext uri="{BB962C8B-B14F-4D97-AF65-F5344CB8AC3E}">
        <p14:creationId xmlns:p14="http://schemas.microsoft.com/office/powerpoint/2010/main" val="34406002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302232C1-305A-CD48-C09C-4CF309D324AC}"/>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CA700D5-FAB9-64EB-253F-04380B16BF4E}"/>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B6B22101-6B19-D058-2763-56B071481EC4}"/>
              </a:ext>
            </a:extLst>
          </p:cNvPr>
          <p:cNvSpPr>
            <a:spLocks noGrp="1"/>
          </p:cNvSpPr>
          <p:nvPr>
            <p:ph type="sldNum" sz="quarter" idx="12"/>
          </p:nvPr>
        </p:nvSpPr>
        <p:spPr/>
        <p:txBody>
          <a:bodyPr/>
          <a:lstStyle/>
          <a:p>
            <a:fld id="{250292FE-8D56-4E3A-9427-CB428FF60A53}" type="slidenum">
              <a:rPr lang="pt-BR" smtClean="0"/>
              <a:pPr/>
              <a:t>45</a:t>
            </a:fld>
            <a:endParaRPr lang="pt-BR" dirty="0"/>
          </a:p>
        </p:txBody>
      </p:sp>
      <p:sp>
        <p:nvSpPr>
          <p:cNvPr id="5" name="Título 4">
            <a:extLst>
              <a:ext uri="{FF2B5EF4-FFF2-40B4-BE49-F238E27FC236}">
                <a16:creationId xmlns:a16="http://schemas.microsoft.com/office/drawing/2014/main" id="{BA5FE48B-71FA-1239-5661-9F1C19E13E77}"/>
              </a:ext>
            </a:extLst>
          </p:cNvPr>
          <p:cNvSpPr>
            <a:spLocks noGrp="1"/>
          </p:cNvSpPr>
          <p:nvPr>
            <p:ph type="title"/>
          </p:nvPr>
        </p:nvSpPr>
        <p:spPr/>
        <p:txBody>
          <a:bodyPr/>
          <a:lstStyle/>
          <a:p>
            <a:pPr algn="ctr"/>
            <a:r>
              <a:rPr lang="pt-BR" b="1" i="1" dirty="0"/>
              <a:t>Usando Pickle – parte 02</a:t>
            </a:r>
            <a:endParaRPr lang="pt-BR" i="1" dirty="0"/>
          </a:p>
        </p:txBody>
      </p:sp>
      <p:graphicFrame>
        <p:nvGraphicFramePr>
          <p:cNvPr id="6" name="Tabela 5">
            <a:extLst>
              <a:ext uri="{FF2B5EF4-FFF2-40B4-BE49-F238E27FC236}">
                <a16:creationId xmlns:a16="http://schemas.microsoft.com/office/drawing/2014/main" id="{FFFBAF3A-432B-71D8-4389-DB181ABA814A}"/>
              </a:ext>
            </a:extLst>
          </p:cNvPr>
          <p:cNvGraphicFramePr>
            <a:graphicFrameLocks noGrp="1"/>
          </p:cNvGraphicFramePr>
          <p:nvPr>
            <p:extLst>
              <p:ext uri="{D42A27DB-BD31-4B8C-83A1-F6EECF244321}">
                <p14:modId xmlns:p14="http://schemas.microsoft.com/office/powerpoint/2010/main" val="963274153"/>
              </p:ext>
            </p:extLst>
          </p:nvPr>
        </p:nvGraphicFramePr>
        <p:xfrm>
          <a:off x="75290" y="1257151"/>
          <a:ext cx="12040512" cy="5441647"/>
        </p:xfrm>
        <a:graphic>
          <a:graphicData uri="http://schemas.openxmlformats.org/drawingml/2006/table">
            <a:tbl>
              <a:tblPr firstRow="1" bandRow="1">
                <a:tableStyleId>{5C22544A-7EE6-4342-B048-85BDC9FD1C3A}</a:tableStyleId>
              </a:tblPr>
              <a:tblGrid>
                <a:gridCol w="6296937">
                  <a:extLst>
                    <a:ext uri="{9D8B030D-6E8A-4147-A177-3AD203B41FA5}">
                      <a16:colId xmlns:a16="http://schemas.microsoft.com/office/drawing/2014/main" val="161527801"/>
                    </a:ext>
                  </a:extLst>
                </a:gridCol>
                <a:gridCol w="5743575">
                  <a:extLst>
                    <a:ext uri="{9D8B030D-6E8A-4147-A177-3AD203B41FA5}">
                      <a16:colId xmlns:a16="http://schemas.microsoft.com/office/drawing/2014/main" val="3673084851"/>
                    </a:ext>
                  </a:extLst>
                </a:gridCol>
              </a:tblGrid>
              <a:tr h="5441647">
                <a:tc>
                  <a:txBody>
                    <a:bodyPr/>
                    <a:lstStyle/>
                    <a:p>
                      <a:r>
                        <a:rPr lang="pt-BR" sz="1400" dirty="0"/>
                        <a:t># Buscar registro </a:t>
                      </a:r>
                    </a:p>
                    <a:p>
                      <a:r>
                        <a:rPr lang="pt-BR" sz="1400" dirty="0"/>
                        <a:t>elif opção == 3:</a:t>
                      </a:r>
                    </a:p>
                    <a:p>
                      <a:pPr marL="3048000" indent="-3048000"/>
                      <a:r>
                        <a:rPr lang="pt-BR" sz="1400" dirty="0"/>
                        <a:t>    with open('registro.txt', 'rb') as fileobj:    # abre o arquivo para procurar os registros</a:t>
                      </a:r>
                    </a:p>
                    <a:p>
                      <a:r>
                        <a:rPr lang="pt-BR" sz="1400" dirty="0"/>
                        <a:t>        f=0</a:t>
                      </a:r>
                    </a:p>
                    <a:p>
                      <a:r>
                        <a:rPr lang="pt-BR" sz="1400" dirty="0"/>
                        <a:t>        nm = input(‘Entre com o nome a procurar :  ')</a:t>
                      </a:r>
                    </a:p>
                    <a:p>
                      <a:r>
                        <a:rPr lang="pt-BR" sz="1400" dirty="0"/>
                        <a:t>        print(‘\</a:t>
                      </a:r>
                      <a:r>
                        <a:rPr lang="pt-BR" sz="1400" dirty="0" err="1"/>
                        <a:t>nNOME</a:t>
                      </a:r>
                      <a:r>
                        <a:rPr lang="pt-BR" sz="1400" dirty="0"/>
                        <a:t>\t\t\</a:t>
                      </a:r>
                      <a:r>
                        <a:rPr lang="pt-BR" sz="1400" dirty="0" err="1"/>
                        <a:t>tIDADE</a:t>
                      </a:r>
                      <a:r>
                        <a:rPr lang="pt-BR" sz="1400" dirty="0"/>
                        <a:t>\</a:t>
                      </a:r>
                      <a:r>
                        <a:rPr lang="pt-BR" sz="1400" dirty="0" err="1"/>
                        <a:t>tSALARIO</a:t>
                      </a:r>
                      <a:r>
                        <a:rPr lang="pt-BR" sz="1400" dirty="0"/>
                        <a:t>')    # imprimir o cabeçalho</a:t>
                      </a:r>
                    </a:p>
                    <a:p>
                      <a:r>
                        <a:rPr lang="pt-BR" sz="1400" dirty="0"/>
                        <a:t>        </a:t>
                      </a:r>
                      <a:r>
                        <a:rPr lang="pt-BR" sz="1400" dirty="0" err="1"/>
                        <a:t>while</a:t>
                      </a:r>
                      <a:r>
                        <a:rPr lang="pt-BR" sz="1400" dirty="0"/>
                        <a:t> True:</a:t>
                      </a:r>
                    </a:p>
                    <a:p>
                      <a:pPr marL="985838" indent="-985838"/>
                      <a:r>
                        <a:rPr lang="pt-BR" sz="1400" dirty="0"/>
                        <a:t>            try:  # carregar o registro individualmente do arquivo usando o método</a:t>
                      </a:r>
                    </a:p>
                    <a:p>
                      <a:r>
                        <a:rPr lang="pt-BR" sz="1400" dirty="0"/>
                        <a:t>              load()</a:t>
                      </a:r>
                    </a:p>
                    <a:p>
                      <a:r>
                        <a:rPr lang="pt-BR" sz="1400" dirty="0"/>
                        <a:t>                    data = </a:t>
                      </a:r>
                      <a:r>
                        <a:rPr lang="pt-BR" sz="1400" dirty="0" err="1"/>
                        <a:t>pickle.load</a:t>
                      </a:r>
                      <a:r>
                        <a:rPr lang="pt-BR" sz="1400" dirty="0"/>
                        <a:t>(fileobj)</a:t>
                      </a:r>
                    </a:p>
                    <a:p>
                      <a:r>
                        <a:rPr lang="pt-BR" sz="1400" dirty="0"/>
                        <a:t>                    </a:t>
                      </a:r>
                      <a:r>
                        <a:rPr lang="pt-BR" sz="1400" dirty="0" err="1"/>
                        <a:t>if</a:t>
                      </a:r>
                      <a:r>
                        <a:rPr lang="pt-BR" sz="1400" dirty="0"/>
                        <a:t> nm == data[0]:</a:t>
                      </a:r>
                    </a:p>
                    <a:p>
                      <a:r>
                        <a:rPr lang="pt-BR" sz="1400" dirty="0"/>
                        <a:t>                        f=1</a:t>
                      </a:r>
                    </a:p>
                    <a:p>
                      <a:r>
                        <a:rPr lang="pt-BR" sz="1400" dirty="0"/>
                        <a:t>                        print('%s\t\t\</a:t>
                      </a:r>
                      <a:r>
                        <a:rPr lang="pt-BR" sz="1400" dirty="0" err="1"/>
                        <a:t>t%d</a:t>
                      </a:r>
                      <a:r>
                        <a:rPr lang="pt-BR" sz="1400" dirty="0"/>
                        <a:t>\t%.2f' %(data[0], data[1], data[2]))</a:t>
                      </a:r>
                    </a:p>
                    <a:p>
                      <a:r>
                        <a:rPr lang="pt-BR" sz="1400" dirty="0"/>
                        <a:t>                        break</a:t>
                      </a:r>
                    </a:p>
                    <a:p>
                      <a:r>
                        <a:rPr lang="pt-BR" sz="1400" dirty="0"/>
                        <a:t>              except EOFError:</a:t>
                      </a:r>
                    </a:p>
                    <a:p>
                      <a:r>
                        <a:rPr lang="pt-BR" sz="1400" dirty="0"/>
                        <a:t>                    break</a:t>
                      </a:r>
                    </a:p>
                    <a:p>
                      <a:r>
                        <a:rPr lang="pt-BR" sz="1400" dirty="0"/>
                        <a:t>         </a:t>
                      </a:r>
                      <a:r>
                        <a:rPr lang="pt-BR" sz="1400" dirty="0" err="1"/>
                        <a:t>if</a:t>
                      </a:r>
                      <a:r>
                        <a:rPr lang="pt-BR" sz="1400" dirty="0"/>
                        <a:t> f==0:</a:t>
                      </a:r>
                    </a:p>
                    <a:p>
                      <a:r>
                        <a:rPr lang="pt-BR" sz="1400" dirty="0"/>
                        <a:t>             print('\</a:t>
                      </a:r>
                      <a:r>
                        <a:rPr lang="pt-BR" sz="1400" dirty="0" err="1"/>
                        <a:t>nregistro</a:t>
                      </a:r>
                      <a:r>
                        <a:rPr lang="pt-BR" sz="1400" dirty="0"/>
                        <a:t> não existe')</a:t>
                      </a:r>
                    </a:p>
                    <a:p>
                      <a:pPr marL="2243138" indent="-2243138"/>
                      <a:r>
                        <a:rPr lang="pt-BR" sz="1400" dirty="0"/>
                        <a:t>             input('\</a:t>
                      </a:r>
                      <a:r>
                        <a:rPr lang="pt-BR" sz="1400" dirty="0" err="1"/>
                        <a:t>nTecle</a:t>
                      </a:r>
                      <a:r>
                        <a:rPr lang="pt-BR" sz="1400" dirty="0"/>
                        <a:t> &lt;enter&gt; para continuar...')     # Pausar o loop para que o  registro possa ser visto</a:t>
                      </a:r>
                    </a:p>
                    <a:p>
                      <a:r>
                        <a:rPr lang="pt-BR" sz="1400" dirty="0"/>
                        <a:t> # Alterar registro</a:t>
                      </a:r>
                    </a:p>
                    <a:p>
                      <a:r>
                        <a:rPr lang="pt-BR" sz="1400" dirty="0"/>
                        <a:t> elif opção == 4:</a:t>
                      </a:r>
                    </a:p>
                    <a:p>
                      <a:r>
                        <a:rPr lang="pt-BR" sz="1400" dirty="0"/>
                        <a:t>          registros = []</a:t>
                      </a:r>
                    </a:p>
                    <a:p>
                      <a:r>
                        <a:rPr lang="pt-BR" sz="1400" dirty="0"/>
                        <a:t> f=0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nm = input('Digite o name para modificar o registro : ')</a:t>
                      </a:r>
                    </a:p>
                    <a:p>
                      <a:endParaRPr lang="pt-BR" sz="1400" dirty="0"/>
                    </a:p>
                    <a:p>
                      <a:pPr marL="3143250" indent="-3143250"/>
                      <a:r>
                        <a:rPr lang="pt-BR" sz="1400" dirty="0"/>
                        <a:t>with open('registro.txt', 'rb') as fileobj:    # Abre o arquivo para leitura dos registros</a:t>
                      </a:r>
                    </a:p>
                    <a:p>
                      <a:r>
                        <a:rPr lang="pt-BR" sz="1400" dirty="0"/>
                        <a:t>            </a:t>
                      </a:r>
                      <a:r>
                        <a:rPr lang="pt-BR" sz="1400" dirty="0" err="1"/>
                        <a:t>while</a:t>
                      </a:r>
                      <a:r>
                        <a:rPr lang="pt-BR" sz="1400" dirty="0"/>
                        <a:t> True:</a:t>
                      </a:r>
                    </a:p>
                    <a:p>
                      <a:r>
                        <a:rPr lang="pt-BR" sz="1400" dirty="0"/>
                        <a:t>                try:</a:t>
                      </a:r>
                    </a:p>
                    <a:p>
                      <a:pPr marL="898525" indent="-898525"/>
                      <a:r>
                        <a:rPr lang="pt-BR" sz="1400" dirty="0"/>
                        <a:t>                    # carregar o registro um a um do arquivo usando o método</a:t>
                      </a:r>
                    </a:p>
                    <a:p>
                      <a:pPr marL="898525" indent="-898525"/>
                      <a:r>
                        <a:rPr lang="pt-BR" sz="1400" dirty="0"/>
                        <a:t>                    load()</a:t>
                      </a:r>
                    </a:p>
                    <a:p>
                      <a:r>
                        <a:rPr lang="pt-BR" sz="1400" dirty="0"/>
                        <a:t>                    data = </a:t>
                      </a:r>
                      <a:r>
                        <a:rPr lang="pt-BR" sz="1400" dirty="0" err="1"/>
                        <a:t>pickle.load</a:t>
                      </a:r>
                      <a:r>
                        <a:rPr lang="pt-BR" sz="1400" dirty="0"/>
                        <a:t>(fileobj)</a:t>
                      </a:r>
                    </a:p>
                    <a:p>
                      <a:r>
                        <a:rPr lang="pt-BR" sz="1400" dirty="0"/>
                        <a:t>                    </a:t>
                      </a:r>
                      <a:r>
                        <a:rPr lang="pt-BR" sz="1400" dirty="0" err="1"/>
                        <a:t>if</a:t>
                      </a:r>
                      <a:r>
                        <a:rPr lang="pt-BR" sz="1400" dirty="0"/>
                        <a:t> data[0] == nm:</a:t>
                      </a:r>
                    </a:p>
                    <a:p>
                      <a:r>
                        <a:rPr lang="pt-BR" sz="1400" dirty="0"/>
                        <a:t>                        data[0] = input('Novo Nome : ')</a:t>
                      </a:r>
                    </a:p>
                    <a:p>
                      <a:r>
                        <a:rPr lang="pt-BR" sz="1400" dirty="0"/>
                        <a:t>                        data[1] = </a:t>
                      </a:r>
                      <a:r>
                        <a:rPr lang="pt-BR" sz="1400" dirty="0" err="1"/>
                        <a:t>int</a:t>
                      </a:r>
                      <a:r>
                        <a:rPr lang="pt-BR" sz="1400" dirty="0"/>
                        <a:t>(input('Nova Idade : '))</a:t>
                      </a:r>
                    </a:p>
                    <a:p>
                      <a:r>
                        <a:rPr lang="pt-BR" sz="1400" dirty="0"/>
                        <a:t>                        data[2] = float(input('Novo salário : '))</a:t>
                      </a:r>
                    </a:p>
                    <a:p>
                      <a:r>
                        <a:rPr lang="pt-BR" sz="1400" dirty="0"/>
                        <a:t>                        f=1</a:t>
                      </a:r>
                    </a:p>
                    <a:p>
                      <a:endParaRPr lang="pt-BR" sz="1400" dirty="0"/>
                    </a:p>
                    <a:p>
                      <a:r>
                        <a:rPr lang="pt-BR" sz="1400" dirty="0"/>
                        <a:t>                    # adiciona o dado à lista (registros)</a:t>
                      </a:r>
                    </a:p>
                    <a:p>
                      <a:r>
                        <a:rPr lang="pt-BR" sz="1400" dirty="0"/>
                        <a:t>                    </a:t>
                      </a:r>
                      <a:r>
                        <a:rPr lang="pt-BR" sz="1400" dirty="0" err="1"/>
                        <a:t>registros.append</a:t>
                      </a:r>
                      <a:r>
                        <a:rPr lang="pt-BR" sz="1400" dirty="0"/>
                        <a:t>(data)</a:t>
                      </a:r>
                    </a:p>
                    <a:p>
                      <a:endParaRPr lang="pt-BR" sz="1400" dirty="0"/>
                    </a:p>
                    <a:p>
                      <a:r>
                        <a:rPr lang="pt-BR" sz="1400" dirty="0"/>
                        <a:t>                except EOFError:</a:t>
                      </a:r>
                    </a:p>
                    <a:p>
                      <a:r>
                        <a:rPr lang="pt-BR" sz="1400" dirty="0"/>
                        <a:t>                    break</a:t>
                      </a:r>
                    </a:p>
                    <a:p>
                      <a:r>
                        <a:rPr lang="pt-BR" sz="1400" dirty="0"/>
                        <a:t> </a:t>
                      </a:r>
                      <a:r>
                        <a:rPr lang="pt-BR" sz="1400" dirty="0" err="1"/>
                        <a:t>if</a:t>
                      </a:r>
                      <a:r>
                        <a:rPr lang="pt-BR" sz="1400" dirty="0"/>
                        <a:t> f==0:</a:t>
                      </a:r>
                    </a:p>
                    <a:p>
                      <a:r>
                        <a:rPr lang="pt-BR" sz="1400" dirty="0"/>
                        <a:t>            print('\</a:t>
                      </a:r>
                      <a:r>
                        <a:rPr lang="pt-BR" sz="1400" dirty="0" err="1"/>
                        <a:t>nregistro</a:t>
                      </a:r>
                      <a:r>
                        <a:rPr lang="pt-BR" sz="1400" dirty="0"/>
                        <a:t> não existe')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400" dirty="0"/>
                        <a:t>        </a:t>
                      </a:r>
                      <a:r>
                        <a:rPr lang="pt-BR" sz="1400" dirty="0" err="1"/>
                        <a:t>else</a:t>
                      </a:r>
                      <a:r>
                        <a:rPr lang="pt-BR" sz="1400" dirty="0"/>
                        <a:t>:   # Grave todos os registros no arquivo</a:t>
                      </a:r>
                    </a:p>
                    <a:p>
                      <a:pPr marL="2328863" indent="-2328863"/>
                      <a:r>
                        <a:rPr lang="pt-BR" sz="1400" dirty="0"/>
                        <a:t>               with open('registro.txt', 'wb') as fileobj:    # Abrir o arquivo para gravar os registros</a:t>
                      </a:r>
                    </a:p>
                  </a:txBody>
                  <a:tcPr/>
                </a:tc>
                <a:extLst>
                  <a:ext uri="{0D108BD9-81ED-4DB2-BD59-A6C34878D82A}">
                    <a16:rowId xmlns:a16="http://schemas.microsoft.com/office/drawing/2014/main" val="1657312624"/>
                  </a:ext>
                </a:extLst>
              </a:tr>
            </a:tbl>
          </a:graphicData>
        </a:graphic>
      </p:graphicFrame>
    </p:spTree>
    <p:extLst>
      <p:ext uri="{BB962C8B-B14F-4D97-AF65-F5344CB8AC3E}">
        <p14:creationId xmlns:p14="http://schemas.microsoft.com/office/powerpoint/2010/main" val="172999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A275F7E-5947-5CA2-B91C-7B50F32D27EB}"/>
              </a:ext>
            </a:extLst>
          </p:cNvPr>
          <p:cNvSpPr>
            <a:spLocks noGrp="1"/>
          </p:cNvSpPr>
          <p:nvPr>
            <p:ph type="dt" sz="half" idx="10"/>
          </p:nvPr>
        </p:nvSpPr>
        <p:spPr/>
        <p:txBody>
          <a:bodyPr/>
          <a:lstStyle/>
          <a:p>
            <a:r>
              <a:rPr lang="pt-BR" dirty="0"/>
              <a:t>25/07/2024</a:t>
            </a:r>
          </a:p>
        </p:txBody>
      </p:sp>
      <p:sp>
        <p:nvSpPr>
          <p:cNvPr id="3" name="Espaço Reservado para Rodapé 2">
            <a:extLst>
              <a:ext uri="{FF2B5EF4-FFF2-40B4-BE49-F238E27FC236}">
                <a16:creationId xmlns:a16="http://schemas.microsoft.com/office/drawing/2014/main" id="{643ADA4F-797E-0C95-53C8-96382DB78E0A}"/>
              </a:ext>
            </a:extLst>
          </p:cNvPr>
          <p:cNvSpPr>
            <a:spLocks noGrp="1"/>
          </p:cNvSpPr>
          <p:nvPr>
            <p:ph type="ftr" sz="quarter" idx="11"/>
          </p:nvPr>
        </p:nvSpPr>
        <p:spPr>
          <a:xfrm>
            <a:off x="1645921" y="6399214"/>
            <a:ext cx="9284676" cy="365125"/>
          </a:xfrm>
        </p:spPr>
        <p:txBody>
          <a:bodyPr/>
          <a:lstStyle/>
          <a:p>
            <a:r>
              <a:rPr lang="pt-BR" b="1" dirty="0"/>
              <a:t>Cap11b-Arq13</a:t>
            </a:r>
          </a:p>
        </p:txBody>
      </p:sp>
      <p:sp>
        <p:nvSpPr>
          <p:cNvPr id="4" name="Espaço Reservado para Número de Slide 3">
            <a:extLst>
              <a:ext uri="{FF2B5EF4-FFF2-40B4-BE49-F238E27FC236}">
                <a16:creationId xmlns:a16="http://schemas.microsoft.com/office/drawing/2014/main" id="{94E5FCF7-55C3-E32A-902E-EDD6BD40FA6D}"/>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46</a:t>
            </a:fld>
            <a:endParaRPr lang="pt-BR" b="1" dirty="0">
              <a:solidFill>
                <a:schemeClr val="tx1"/>
              </a:solidFill>
            </a:endParaRPr>
          </a:p>
        </p:txBody>
      </p:sp>
      <p:sp>
        <p:nvSpPr>
          <p:cNvPr id="5" name="Título 4">
            <a:extLst>
              <a:ext uri="{FF2B5EF4-FFF2-40B4-BE49-F238E27FC236}">
                <a16:creationId xmlns:a16="http://schemas.microsoft.com/office/drawing/2014/main" id="{20A164C0-2219-AADD-D4AE-A1BDC0BDF37D}"/>
              </a:ext>
            </a:extLst>
          </p:cNvPr>
          <p:cNvSpPr>
            <a:spLocks noGrp="1"/>
          </p:cNvSpPr>
          <p:nvPr>
            <p:ph type="title"/>
          </p:nvPr>
        </p:nvSpPr>
        <p:spPr/>
        <p:txBody>
          <a:bodyPr/>
          <a:lstStyle/>
          <a:p>
            <a:pPr algn="ctr"/>
            <a:r>
              <a:rPr lang="pt-BR" b="1" i="1" dirty="0"/>
              <a:t>Usando Pickle – parte 03</a:t>
            </a:r>
            <a:endParaRPr lang="pt-BR" i="1" dirty="0"/>
          </a:p>
        </p:txBody>
      </p:sp>
      <p:graphicFrame>
        <p:nvGraphicFramePr>
          <p:cNvPr id="6" name="Tabela 5">
            <a:extLst>
              <a:ext uri="{FF2B5EF4-FFF2-40B4-BE49-F238E27FC236}">
                <a16:creationId xmlns:a16="http://schemas.microsoft.com/office/drawing/2014/main" id="{FB08298F-310A-4C55-FE34-B2D5A40D9549}"/>
              </a:ext>
            </a:extLst>
          </p:cNvPr>
          <p:cNvGraphicFramePr>
            <a:graphicFrameLocks noGrp="1"/>
          </p:cNvGraphicFramePr>
          <p:nvPr>
            <p:extLst>
              <p:ext uri="{D42A27DB-BD31-4B8C-83A1-F6EECF244321}">
                <p14:modId xmlns:p14="http://schemas.microsoft.com/office/powerpoint/2010/main" val="4187019312"/>
              </p:ext>
            </p:extLst>
          </p:nvPr>
        </p:nvGraphicFramePr>
        <p:xfrm>
          <a:off x="58058" y="1333937"/>
          <a:ext cx="12075884" cy="4998956"/>
        </p:xfrm>
        <a:graphic>
          <a:graphicData uri="http://schemas.openxmlformats.org/drawingml/2006/table">
            <a:tbl>
              <a:tblPr firstRow="1" bandRow="1">
                <a:tableStyleId>{5C22544A-7EE6-4342-B048-85BDC9FD1C3A}</a:tableStyleId>
              </a:tblPr>
              <a:tblGrid>
                <a:gridCol w="6143623">
                  <a:extLst>
                    <a:ext uri="{9D8B030D-6E8A-4147-A177-3AD203B41FA5}">
                      <a16:colId xmlns:a16="http://schemas.microsoft.com/office/drawing/2014/main" val="589695879"/>
                    </a:ext>
                  </a:extLst>
                </a:gridCol>
                <a:gridCol w="5932261">
                  <a:extLst>
                    <a:ext uri="{9D8B030D-6E8A-4147-A177-3AD203B41FA5}">
                      <a16:colId xmlns:a16="http://schemas.microsoft.com/office/drawing/2014/main" val="3273367950"/>
                    </a:ext>
                  </a:extLst>
                </a:gridCol>
              </a:tblGrid>
              <a:tr h="4998956">
                <a:tc>
                  <a:txBody>
                    <a:bodyPr/>
                    <a:lstStyle/>
                    <a:p>
                      <a:r>
                        <a:rPr lang="pt-BR" sz="1600" dirty="0"/>
                        <a:t>for x in registros:</a:t>
                      </a:r>
                    </a:p>
                    <a:p>
                      <a:r>
                        <a:rPr lang="pt-BR" sz="1600" dirty="0"/>
                        <a:t>                    </a:t>
                      </a:r>
                      <a:r>
                        <a:rPr lang="pt-BR" sz="1600" dirty="0" err="1"/>
                        <a:t>pickle.dump</a:t>
                      </a:r>
                      <a:r>
                        <a:rPr lang="pt-BR" sz="1600" dirty="0"/>
                        <a:t>(x, fileobj)</a:t>
                      </a:r>
                    </a:p>
                    <a:p>
                      <a:r>
                        <a:rPr lang="pt-BR" sz="1600" dirty="0"/>
                        <a:t> input('\</a:t>
                      </a:r>
                      <a:r>
                        <a:rPr lang="pt-BR" sz="1600" dirty="0" err="1"/>
                        <a:t>nTecle</a:t>
                      </a:r>
                      <a:r>
                        <a:rPr lang="pt-BR" sz="1600" dirty="0"/>
                        <a:t> &lt;enter&gt; para continuar...')     # Pausa o loop para o usuário ver o registro a mensagem        </a:t>
                      </a:r>
                    </a:p>
                    <a:p>
                      <a:pPr marL="2960688" indent="-2960688"/>
                      <a:endParaRPr lang="pt-BR" sz="1600" dirty="0"/>
                    </a:p>
                    <a:p>
                      <a:pPr marL="2960688" indent="-2960688"/>
                      <a:r>
                        <a:rPr lang="pt-BR" sz="1600" dirty="0"/>
                        <a:t># Apagar o registro</a:t>
                      </a:r>
                    </a:p>
                    <a:p>
                      <a:pPr marL="2960688" indent="-2960688"/>
                      <a:r>
                        <a:rPr lang="pt-BR" sz="1600" dirty="0"/>
                        <a:t>    elif opção == 5:</a:t>
                      </a:r>
                    </a:p>
                    <a:p>
                      <a:pPr marL="2960688" indent="-2960688"/>
                      <a:endParaRPr lang="pt-BR" sz="1600" dirty="0"/>
                    </a:p>
                    <a:p>
                      <a:pPr marL="2960688" indent="-2960688"/>
                      <a:r>
                        <a:rPr lang="pt-BR" sz="1600" dirty="0"/>
                        <a:t>        registros = []</a:t>
                      </a:r>
                    </a:p>
                    <a:p>
                      <a:pPr marL="4029075" indent="-4029075">
                        <a:tabLst>
                          <a:tab pos="3314700" algn="l"/>
                        </a:tabLst>
                      </a:pPr>
                      <a:r>
                        <a:rPr lang="pt-BR" sz="1600" dirty="0"/>
                        <a:t>        with open('registro.txt', 'rb') as fileobj:    # Abrir o arquivo para ler os  registros</a:t>
                      </a:r>
                    </a:p>
                    <a:p>
                      <a:pPr marL="2960688" indent="-2960688"/>
                      <a:r>
                        <a:rPr lang="pt-BR" sz="1600" dirty="0"/>
                        <a:t>          </a:t>
                      </a:r>
                      <a:r>
                        <a:rPr lang="pt-BR" sz="1600" dirty="0" err="1"/>
                        <a:t>while</a:t>
                      </a:r>
                      <a:r>
                        <a:rPr lang="pt-BR" sz="1600" dirty="0"/>
                        <a:t> True:</a:t>
                      </a:r>
                    </a:p>
                    <a:p>
                      <a:pPr marL="2960688" indent="-2960688"/>
                      <a:r>
                        <a:rPr lang="pt-BR" sz="1600" dirty="0"/>
                        <a:t>               try:</a:t>
                      </a:r>
                    </a:p>
                    <a:p>
                      <a:pPr marL="2960688" indent="-2960688"/>
                      <a:r>
                        <a:rPr lang="pt-BR" sz="1600" dirty="0"/>
                        <a:t>                    # carregar o registro individualmente método load()</a:t>
                      </a:r>
                    </a:p>
                    <a:p>
                      <a:pPr marL="2960688" indent="-2960688"/>
                      <a:r>
                        <a:rPr lang="pt-BR" sz="1600" dirty="0"/>
                        <a:t>                      data = </a:t>
                      </a:r>
                      <a:r>
                        <a:rPr lang="pt-BR" sz="1600" dirty="0" err="1"/>
                        <a:t>pickle.load</a:t>
                      </a:r>
                      <a:r>
                        <a:rPr lang="pt-BR" sz="1600" dirty="0"/>
                        <a:t>(fileobj)</a:t>
                      </a:r>
                    </a:p>
                    <a:p>
                      <a:pPr marL="2960688" indent="-2960688"/>
                      <a:endParaRPr lang="pt-BR" sz="1600" dirty="0"/>
                    </a:p>
                    <a:p>
                      <a:pPr marL="2960688" indent="-2960688"/>
                      <a:r>
                        <a:rPr lang="pt-BR" sz="1600" dirty="0"/>
                        <a:t>                  # adicionar o dado na lista (registros)</a:t>
                      </a:r>
                    </a:p>
                    <a:p>
                      <a:pPr marL="2960688" indent="-2960688"/>
                      <a:r>
                        <a:rPr lang="pt-BR" sz="1600" dirty="0"/>
                        <a:t>                     </a:t>
                      </a:r>
                      <a:r>
                        <a:rPr lang="pt-BR" sz="1600" dirty="0" err="1"/>
                        <a:t>registros.append</a:t>
                      </a:r>
                      <a:r>
                        <a:rPr lang="pt-BR" sz="1600" dirty="0"/>
                        <a:t>(data)</a:t>
                      </a:r>
                    </a:p>
                    <a:p>
                      <a:pPr marL="2960688" indent="-2960688"/>
                      <a:r>
                        <a:rPr lang="pt-BR" sz="1600" dirty="0"/>
                        <a:t>               except EOFError:</a:t>
                      </a:r>
                    </a:p>
                    <a:p>
                      <a:pPr marL="2960688" indent="-2960688"/>
                      <a:r>
                        <a:rPr lang="pt-BR" sz="1600" dirty="0"/>
                        <a:t>                    break</a:t>
                      </a:r>
                    </a:p>
                  </a:txBody>
                  <a:tcPr/>
                </a:tc>
                <a:tc>
                  <a:txBody>
                    <a:bodyPr/>
                    <a:lstStyle/>
                    <a:p>
                      <a:r>
                        <a:rPr lang="pt-BR" sz="1600" dirty="0"/>
                        <a:t>        f=0        # grava todos os registros ao arquivo  </a:t>
                      </a:r>
                    </a:p>
                    <a:p>
                      <a:r>
                        <a:rPr lang="pt-BR" sz="1600" dirty="0"/>
                        <a:t>        nm = input('Digite o nome a ser deletado : ‘)</a:t>
                      </a:r>
                    </a:p>
                    <a:p>
                      <a:pPr marL="3500438" indent="-3500438"/>
                      <a:r>
                        <a:rPr lang="pt-BR" sz="1600" dirty="0"/>
                        <a:t>        with open('registro.txt', 'wb') as fileobj:    # abrir o arquivo para gravar os registros</a:t>
                      </a:r>
                    </a:p>
                    <a:p>
                      <a:r>
                        <a:rPr lang="pt-BR" sz="1600" dirty="0"/>
                        <a:t>              for x in registros:</a:t>
                      </a:r>
                    </a:p>
                    <a:p>
                      <a:r>
                        <a:rPr lang="pt-BR" sz="1600" dirty="0"/>
                        <a:t>                    </a:t>
                      </a:r>
                      <a:r>
                        <a:rPr lang="pt-BR" sz="1600" dirty="0" err="1"/>
                        <a:t>if</a:t>
                      </a:r>
                      <a:r>
                        <a:rPr lang="pt-BR" sz="1600" dirty="0"/>
                        <a:t> x[0] == nm:</a:t>
                      </a:r>
                    </a:p>
                    <a:p>
                      <a:r>
                        <a:rPr lang="pt-BR" sz="1600" dirty="0"/>
                        <a:t>                        f=1</a:t>
                      </a:r>
                    </a:p>
                    <a:p>
                      <a:r>
                        <a:rPr lang="pt-BR" sz="1600" dirty="0"/>
                        <a:t>                     </a:t>
                      </a:r>
                      <a:r>
                        <a:rPr lang="pt-BR" sz="1600" dirty="0" err="1"/>
                        <a:t>else</a:t>
                      </a:r>
                      <a:r>
                        <a:rPr lang="pt-BR" sz="1600" dirty="0"/>
                        <a:t>:</a:t>
                      </a:r>
                    </a:p>
                    <a:p>
                      <a:r>
                        <a:rPr lang="pt-BR" sz="1600" dirty="0"/>
                        <a:t>                             </a:t>
                      </a:r>
                      <a:r>
                        <a:rPr lang="pt-BR" sz="1600" dirty="0" err="1"/>
                        <a:t>pickle.dump</a:t>
                      </a:r>
                      <a:r>
                        <a:rPr lang="pt-BR" sz="1600" dirty="0"/>
                        <a:t>(x, fileobj)</a:t>
                      </a:r>
                    </a:p>
                    <a:p>
                      <a:r>
                        <a:rPr lang="pt-BR" sz="1600" dirty="0"/>
                        <a:t>  </a:t>
                      </a:r>
                    </a:p>
                    <a:p>
                      <a:r>
                        <a:rPr lang="pt-BR" sz="1600" dirty="0"/>
                        <a:t>              </a:t>
                      </a:r>
                      <a:r>
                        <a:rPr lang="pt-BR" sz="1600" dirty="0" err="1"/>
                        <a:t>if</a:t>
                      </a:r>
                      <a:r>
                        <a:rPr lang="pt-BR" sz="1600" dirty="0"/>
                        <a:t> f==0:</a:t>
                      </a:r>
                    </a:p>
                    <a:p>
                      <a:r>
                        <a:rPr lang="pt-BR" sz="1600" dirty="0"/>
                        <a:t>                  print('\</a:t>
                      </a:r>
                      <a:r>
                        <a:rPr lang="pt-BR" sz="1600" dirty="0" err="1"/>
                        <a:t>nregistro</a:t>
                      </a:r>
                      <a:r>
                        <a:rPr lang="pt-BR" sz="1600" dirty="0"/>
                        <a:t> não existe')</a:t>
                      </a:r>
                    </a:p>
                    <a:p>
                      <a:r>
                        <a:rPr lang="pt-BR" sz="1600" dirty="0"/>
                        <a:t>              </a:t>
                      </a:r>
                      <a:r>
                        <a:rPr lang="pt-BR" sz="1600" dirty="0" err="1"/>
                        <a:t>else</a:t>
                      </a:r>
                      <a:r>
                        <a:rPr lang="pt-BR" sz="1600" dirty="0"/>
                        <a:t>:</a:t>
                      </a:r>
                    </a:p>
                    <a:p>
                      <a:r>
                        <a:rPr lang="pt-BR" sz="1600" dirty="0"/>
                        <a:t>                  print('\</a:t>
                      </a:r>
                      <a:r>
                        <a:rPr lang="pt-BR" sz="1600" dirty="0" err="1"/>
                        <a:t>nregistro</a:t>
                      </a:r>
                      <a:r>
                        <a:rPr lang="pt-BR" sz="1600" dirty="0"/>
                        <a:t> deletado com sucesso')</a:t>
                      </a:r>
                    </a:p>
                    <a:p>
                      <a:pPr marL="1528763" indent="-1528763"/>
                      <a:r>
                        <a:rPr lang="pt-BR" sz="1600" dirty="0"/>
                        <a:t>              input(‘\</a:t>
                      </a:r>
                      <a:r>
                        <a:rPr lang="pt-BR" sz="1600" dirty="0" err="1"/>
                        <a:t>nTecle</a:t>
                      </a:r>
                      <a:r>
                        <a:rPr lang="pt-BR" sz="1600" dirty="0"/>
                        <a:t> &lt;enter&gt; para continuar...')     # Pausa o loop para o usuário ver o registro a mensagem</a:t>
                      </a:r>
                    </a:p>
                    <a:p>
                      <a:endParaRPr lang="pt-BR" sz="1600" dirty="0"/>
                    </a:p>
                    <a:p>
                      <a:r>
                        <a:rPr lang="pt-BR" sz="1600" dirty="0"/>
                        <a:t>    elif opção == 0:</a:t>
                      </a:r>
                    </a:p>
                    <a:p>
                      <a:r>
                        <a:rPr lang="pt-BR" sz="1600" dirty="0"/>
                        <a:t>          exit(0)</a:t>
                      </a:r>
                    </a:p>
                    <a:p>
                      <a:pPr marL="2960688" indent="-2960688"/>
                      <a:endParaRPr lang="pt-BR" sz="1400" dirty="0"/>
                    </a:p>
                  </a:txBody>
                  <a:tcPr/>
                </a:tc>
                <a:extLst>
                  <a:ext uri="{0D108BD9-81ED-4DB2-BD59-A6C34878D82A}">
                    <a16:rowId xmlns:a16="http://schemas.microsoft.com/office/drawing/2014/main" val="776623178"/>
                  </a:ext>
                </a:extLst>
              </a:tr>
            </a:tbl>
          </a:graphicData>
        </a:graphic>
      </p:graphicFrame>
    </p:spTree>
    <p:extLst>
      <p:ext uri="{BB962C8B-B14F-4D97-AF65-F5344CB8AC3E}">
        <p14:creationId xmlns:p14="http://schemas.microsoft.com/office/powerpoint/2010/main" val="35007126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93AFB6EE-96A9-1E16-1BCA-8583B80D630B}"/>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75195D2E-23C3-4947-40DD-781676C376B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EB23D4F7-84A2-AE04-689C-DBCF8771F228}"/>
              </a:ext>
            </a:extLst>
          </p:cNvPr>
          <p:cNvSpPr>
            <a:spLocks noGrp="1"/>
          </p:cNvSpPr>
          <p:nvPr>
            <p:ph type="sldNum" sz="quarter" idx="12"/>
          </p:nvPr>
        </p:nvSpPr>
        <p:spPr/>
        <p:txBody>
          <a:bodyPr/>
          <a:lstStyle/>
          <a:p>
            <a:pPr algn="r"/>
            <a:fld id="{250292FE-8D56-4E3A-9427-CB428FF60A53}" type="slidenum">
              <a:rPr lang="pt-BR" b="1" smtClean="0"/>
              <a:pPr algn="r"/>
              <a:t>47</a:t>
            </a:fld>
            <a:endParaRPr lang="pt-BR" b="1" dirty="0"/>
          </a:p>
        </p:txBody>
      </p:sp>
      <p:sp>
        <p:nvSpPr>
          <p:cNvPr id="5" name="Título 4">
            <a:extLst>
              <a:ext uri="{FF2B5EF4-FFF2-40B4-BE49-F238E27FC236}">
                <a16:creationId xmlns:a16="http://schemas.microsoft.com/office/drawing/2014/main" id="{A5A756E2-C2B6-8A3B-8F86-B1B9947B129E}"/>
              </a:ext>
            </a:extLst>
          </p:cNvPr>
          <p:cNvSpPr>
            <a:spLocks noGrp="1"/>
          </p:cNvSpPr>
          <p:nvPr>
            <p:ph type="title"/>
          </p:nvPr>
        </p:nvSpPr>
        <p:spPr/>
        <p:txBody>
          <a:bodyPr/>
          <a:lstStyle/>
          <a:p>
            <a:pPr algn="ctr"/>
            <a:r>
              <a:rPr lang="pt-BR" b="1" i="1" dirty="0"/>
              <a:t>Exercício com Struct</a:t>
            </a:r>
          </a:p>
        </p:txBody>
      </p:sp>
      <p:sp>
        <p:nvSpPr>
          <p:cNvPr id="7" name="CaixaDeTexto 6">
            <a:extLst>
              <a:ext uri="{FF2B5EF4-FFF2-40B4-BE49-F238E27FC236}">
                <a16:creationId xmlns:a16="http://schemas.microsoft.com/office/drawing/2014/main" id="{48FF094E-E305-A5C5-9A15-4F47F85F1B6E}"/>
              </a:ext>
            </a:extLst>
          </p:cNvPr>
          <p:cNvSpPr txBox="1"/>
          <p:nvPr/>
        </p:nvSpPr>
        <p:spPr>
          <a:xfrm>
            <a:off x="4077890" y="3075057"/>
            <a:ext cx="4036219" cy="707886"/>
          </a:xfrm>
          <a:prstGeom prst="rect">
            <a:avLst/>
          </a:prstGeom>
          <a:noFill/>
        </p:spPr>
        <p:txBody>
          <a:bodyPr wrap="square" rtlCol="0">
            <a:spAutoFit/>
          </a:bodyPr>
          <a:lstStyle/>
          <a:p>
            <a:r>
              <a:rPr lang="pt-BR" sz="4000" b="1" dirty="0"/>
              <a:t>prog_arq01-X.py</a:t>
            </a:r>
          </a:p>
        </p:txBody>
      </p:sp>
    </p:spTree>
    <p:extLst>
      <p:ext uri="{BB962C8B-B14F-4D97-AF65-F5344CB8AC3E}">
        <p14:creationId xmlns:p14="http://schemas.microsoft.com/office/powerpoint/2010/main" val="42130349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A57F3FC9-52CF-0BCF-4277-CD32A18B81EF}"/>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3A1D4102-24F8-0E20-C7D4-8C763CA6482C}"/>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D88C4BCF-69DA-07FE-478C-9FAA8D066AEE}"/>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48</a:t>
            </a:fld>
            <a:endParaRPr lang="pt-BR" b="1" dirty="0">
              <a:solidFill>
                <a:schemeClr val="tx1"/>
              </a:solidFill>
            </a:endParaRPr>
          </a:p>
        </p:txBody>
      </p:sp>
      <p:sp>
        <p:nvSpPr>
          <p:cNvPr id="5" name="Título 4">
            <a:extLst>
              <a:ext uri="{FF2B5EF4-FFF2-40B4-BE49-F238E27FC236}">
                <a16:creationId xmlns:a16="http://schemas.microsoft.com/office/drawing/2014/main" id="{B05879D7-4160-F127-5923-50A186D82959}"/>
              </a:ext>
            </a:extLst>
          </p:cNvPr>
          <p:cNvSpPr>
            <a:spLocks noGrp="1"/>
          </p:cNvSpPr>
          <p:nvPr>
            <p:ph type="title"/>
          </p:nvPr>
        </p:nvSpPr>
        <p:spPr/>
        <p:txBody>
          <a:bodyPr/>
          <a:lstStyle/>
          <a:p>
            <a:pPr algn="ctr"/>
            <a:r>
              <a:rPr lang="pt-BR" b="1" i="1" dirty="0"/>
              <a:t>Try – </a:t>
            </a:r>
            <a:r>
              <a:rPr lang="pt-BR" b="1" i="1" dirty="0" err="1"/>
              <a:t>exception</a:t>
            </a:r>
            <a:r>
              <a:rPr lang="pt-BR" b="1" i="1" dirty="0"/>
              <a:t> - </a:t>
            </a:r>
            <a:r>
              <a:rPr lang="pt-BR" b="1" i="1" dirty="0" err="1"/>
              <a:t>finaly</a:t>
            </a:r>
            <a:endParaRPr lang="pt-BR" b="1" i="1" dirty="0"/>
          </a:p>
        </p:txBody>
      </p:sp>
      <p:sp>
        <p:nvSpPr>
          <p:cNvPr id="8" name="CaixaDeTexto 7">
            <a:extLst>
              <a:ext uri="{FF2B5EF4-FFF2-40B4-BE49-F238E27FC236}">
                <a16:creationId xmlns:a16="http://schemas.microsoft.com/office/drawing/2014/main" id="{0CE8E3B8-A062-AAE4-A7DC-D894A037A912}"/>
              </a:ext>
            </a:extLst>
          </p:cNvPr>
          <p:cNvSpPr txBox="1"/>
          <p:nvPr/>
        </p:nvSpPr>
        <p:spPr>
          <a:xfrm>
            <a:off x="139134" y="1353344"/>
            <a:ext cx="11952849" cy="5109091"/>
          </a:xfrm>
          <a:prstGeom prst="rect">
            <a:avLst/>
          </a:prstGeom>
          <a:noFill/>
        </p:spPr>
        <p:txBody>
          <a:bodyPr wrap="square" rtlCol="0">
            <a:spAutoFit/>
          </a:bodyPr>
          <a:lstStyle/>
          <a:p>
            <a:r>
              <a:rPr kumimoji="0" lang="pt-BR" altLang="pt-BR" sz="2400" b="1" i="0" u="none" strike="noStrike" cap="none" normalizeH="0" baseline="0" dirty="0">
                <a:ln>
                  <a:noFill/>
                </a:ln>
                <a:solidFill>
                  <a:srgbClr val="FF0000"/>
                </a:solidFill>
                <a:effectLst/>
                <a:latin typeface="Roboto Mono" panose="020F0502020204030204" pitchFamily="49" charset="0"/>
              </a:rPr>
              <a:t>try:</a:t>
            </a:r>
          </a:p>
          <a:p>
            <a:pPr marL="271463" indent="-271463"/>
            <a:r>
              <a:rPr lang="pt-BR" altLang="pt-BR" sz="2000" dirty="0">
                <a:latin typeface="Arial" panose="020B0604020202020204" pitchFamily="34" charset="0"/>
              </a:rPr>
              <a:t> # Tente executar esse código except. </a:t>
            </a:r>
            <a:r>
              <a:rPr lang="pt-BR" sz="2000" dirty="0">
                <a:latin typeface="Arial" panose="020B0604020202020204" pitchFamily="34" charset="0"/>
              </a:rPr>
              <a:t>Este bloco é onde você coloca o código que pode gerar uma exceção (um erro durante a execução). Se tudo der certo, o código continua normalmente.</a:t>
            </a:r>
            <a:endParaRPr lang="pt-BR" altLang="pt-BR" sz="2000" dirty="0">
              <a:latin typeface="Arial" panose="020B0604020202020204" pitchFamily="34" charset="0"/>
            </a:endParaRPr>
          </a:p>
          <a:p>
            <a:endParaRPr lang="pt-BR" altLang="pt-BR" sz="2400" dirty="0">
              <a:solidFill>
                <a:srgbClr val="1B1B32"/>
              </a:solidFill>
              <a:latin typeface="Roboto Mono" panose="020F0502020204030204" pitchFamily="49" charset="0"/>
            </a:endParaRPr>
          </a:p>
          <a:p>
            <a:r>
              <a:rPr kumimoji="0" lang="pt-BR" altLang="pt-BR" sz="2400" b="1" i="0" u="none" strike="noStrike" cap="none" normalizeH="0" baseline="0" dirty="0">
                <a:ln>
                  <a:noFill/>
                </a:ln>
                <a:solidFill>
                  <a:schemeClr val="accent4">
                    <a:lumMod val="75000"/>
                  </a:schemeClr>
                </a:solidFill>
                <a:effectLst/>
                <a:latin typeface="Roboto Mono" panose="00000009000000000000" pitchFamily="49" charset="0"/>
              </a:rPr>
              <a:t>except</a:t>
            </a:r>
            <a:r>
              <a:rPr kumimoji="0" lang="pt-BR" altLang="pt-BR" sz="2400" b="1" i="0" u="none" strike="noStrike" cap="none" normalizeH="0" baseline="0" dirty="0">
                <a:ln>
                  <a:noFill/>
                </a:ln>
                <a:solidFill>
                  <a:schemeClr val="accent4">
                    <a:lumMod val="75000"/>
                  </a:schemeClr>
                </a:solidFill>
                <a:effectLst/>
                <a:latin typeface="Roboto Mono" panose="020F0502020204030204" pitchFamily="49" charset="0"/>
              </a:rPr>
              <a:t>   &lt;exception&gt;:</a:t>
            </a:r>
          </a:p>
          <a:p>
            <a:pPr marL="442913" lvl="0" indent="-442913" algn="just" eaLnBrk="0" fontAlgn="base" hangingPunct="0">
              <a:spcBef>
                <a:spcPct val="0"/>
              </a:spcBef>
              <a:spcAft>
                <a:spcPct val="0"/>
              </a:spcAft>
            </a:pPr>
            <a:r>
              <a:rPr lang="pt-BR" sz="2400" dirty="0">
                <a:solidFill>
                  <a:srgbClr val="1B1B32"/>
                </a:solidFill>
                <a:latin typeface="Roboto Mono" panose="020F0502020204030204" pitchFamily="49" charset="0"/>
              </a:rPr>
              <a:t> </a:t>
            </a:r>
            <a:r>
              <a:rPr lang="pt-BR" altLang="pt-BR" sz="2400" dirty="0">
                <a:latin typeface="Arial" panose="020B0604020202020204" pitchFamily="34" charset="0"/>
              </a:rPr>
              <a:t># </a:t>
            </a:r>
            <a:r>
              <a:rPr lang="pt-BR" altLang="pt-BR" sz="2000" dirty="0">
                <a:latin typeface="Arial" panose="020B0604020202020204" pitchFamily="34" charset="0"/>
              </a:rPr>
              <a:t>Se uma exceção desse tipo ocorrer, pare o processo imediatamente e salte para este bloco. Este bloco será </a:t>
            </a:r>
            <a:r>
              <a:rPr lang="pt-BR" altLang="pt-BR" sz="2000" b="1" dirty="0">
                <a:latin typeface="Arial" panose="020B0604020202020204" pitchFamily="34" charset="0"/>
              </a:rPr>
              <a:t>executado apenas se uma exceção ocorrer no bloco try. </a:t>
            </a:r>
            <a:r>
              <a:rPr lang="pt-BR" altLang="pt-BR" sz="2000" dirty="0">
                <a:latin typeface="Arial" panose="020B0604020202020204" pitchFamily="34" charset="0"/>
              </a:rPr>
              <a:t>Você pode capturar exceções específicas (como </a:t>
            </a:r>
            <a:r>
              <a:rPr lang="pt-BR" altLang="pt-BR" sz="2000" dirty="0" err="1">
                <a:latin typeface="Arial Unicode MS" panose="020B0604020202020204" pitchFamily="34" charset="-128"/>
              </a:rPr>
              <a:t>ZeroDivisionError</a:t>
            </a:r>
            <a:r>
              <a:rPr lang="pt-BR" altLang="pt-BR" sz="2000" dirty="0"/>
              <a:t>, </a:t>
            </a:r>
            <a:r>
              <a:rPr lang="pt-BR" altLang="pt-BR" sz="2000" dirty="0" err="1">
                <a:latin typeface="Arial Unicode MS" panose="020B0604020202020204" pitchFamily="34" charset="-128"/>
              </a:rPr>
              <a:t>ValueError</a:t>
            </a:r>
            <a:r>
              <a:rPr lang="pt-BR" altLang="pt-BR" sz="2000" dirty="0"/>
              <a:t>, etc.) </a:t>
            </a:r>
            <a:r>
              <a:rPr lang="pt-BR" altLang="pt-BR" sz="2000" dirty="0">
                <a:latin typeface="Arial" panose="020B0604020202020204" pitchFamily="34" charset="0"/>
              </a:rPr>
              <a:t>ou usar apenas except:</a:t>
            </a:r>
            <a:r>
              <a:rPr lang="pt-BR" altLang="pt-BR" sz="2000" dirty="0"/>
              <a:t> para capturar </a:t>
            </a:r>
            <a:r>
              <a:rPr lang="pt-BR" altLang="pt-BR" sz="2000" b="1" dirty="0">
                <a:latin typeface="Arial" panose="020B0604020202020204" pitchFamily="34" charset="0"/>
              </a:rPr>
              <a:t>qualquer exceção</a:t>
            </a:r>
            <a:endParaRPr lang="pt-BR" altLang="pt-BR" sz="2000" dirty="0">
              <a:latin typeface="Arial" panose="020B0604020202020204" pitchFamily="34" charset="0"/>
            </a:endParaRPr>
          </a:p>
          <a:p>
            <a:pPr marL="441325" indent="-441325"/>
            <a:r>
              <a:rPr kumimoji="0" lang="pt-BR" altLang="pt-BR" sz="2400" b="0" i="0" u="none" strike="noStrike" cap="none" normalizeH="0" baseline="0" dirty="0">
                <a:ln>
                  <a:noFill/>
                </a:ln>
                <a:solidFill>
                  <a:srgbClr val="1B1B32"/>
                </a:solidFill>
                <a:effectLst/>
                <a:latin typeface="Roboto Mono" panose="020F0502020204030204" pitchFamily="49" charset="0"/>
              </a:rPr>
              <a:t>  </a:t>
            </a:r>
            <a:endParaRPr lang="pt-BR" sz="2400" dirty="0">
              <a:solidFill>
                <a:srgbClr val="1B1B32"/>
              </a:solidFill>
              <a:latin typeface="Roboto Mono" panose="020F0502020204030204" pitchFamily="49" charset="0"/>
            </a:endParaRPr>
          </a:p>
          <a:p>
            <a:r>
              <a:rPr kumimoji="0" lang="pt-BR" altLang="pt-BR" sz="2400" b="1" i="0" u="none" strike="noStrike" cap="none" normalizeH="0" baseline="0" dirty="0" err="1">
                <a:ln>
                  <a:noFill/>
                </a:ln>
                <a:solidFill>
                  <a:schemeClr val="accent6">
                    <a:lumMod val="75000"/>
                  </a:schemeClr>
                </a:solidFill>
                <a:effectLst/>
                <a:latin typeface="Roboto Mono" panose="020F0502020204030204" pitchFamily="49" charset="0"/>
              </a:rPr>
              <a:t>finally</a:t>
            </a:r>
            <a:r>
              <a:rPr kumimoji="0" lang="pt-BR" altLang="pt-BR" sz="2400" b="1" i="0" u="none" strike="noStrike" cap="none" normalizeH="0" baseline="0" dirty="0">
                <a:ln>
                  <a:noFill/>
                </a:ln>
                <a:solidFill>
                  <a:schemeClr val="accent6">
                    <a:lumMod val="75000"/>
                  </a:schemeClr>
                </a:solidFill>
                <a:effectLst/>
                <a:latin typeface="Roboto Mono" panose="020F0502020204030204" pitchFamily="49" charset="0"/>
              </a:rPr>
              <a:t>: </a:t>
            </a:r>
          </a:p>
          <a:p>
            <a:pPr marL="542925" indent="-542925" algn="just"/>
            <a:r>
              <a:rPr lang="pt-BR" altLang="pt-BR" sz="2000" dirty="0">
                <a:solidFill>
                  <a:srgbClr val="1B1B32"/>
                </a:solidFill>
                <a:latin typeface="Roboto Mono" panose="020F0502020204030204" pitchFamily="49" charset="0"/>
              </a:rPr>
              <a:t>  </a:t>
            </a:r>
            <a:r>
              <a:rPr lang="pt-BR" altLang="pt-BR" sz="2000" dirty="0">
                <a:latin typeface="Arial" panose="020B0604020202020204" pitchFamily="34" charset="0"/>
              </a:rPr>
              <a:t># Faça isso após executar o código, mesmo que ocorra uma exceção. </a:t>
            </a:r>
            <a:r>
              <a:rPr lang="pt-BR" sz="2000" dirty="0">
                <a:latin typeface="Arial" panose="020B0604020202020204" pitchFamily="34" charset="0"/>
              </a:rPr>
              <a:t>Este bloco será executado sempre, independente de ter ocorrido erro ou não. É usado para limpar recursos, como fechar arquivos, conexões com banco de dados, etc.</a:t>
            </a:r>
            <a:endParaRPr lang="pt-BR" altLang="pt-BR" sz="2000" dirty="0">
              <a:latin typeface="Arial" panose="020B0604020202020204" pitchFamily="34" charset="0"/>
            </a:endParaRPr>
          </a:p>
          <a:p>
            <a:endParaRPr lang="pt-BR" dirty="0"/>
          </a:p>
        </p:txBody>
      </p:sp>
      <p:sp>
        <p:nvSpPr>
          <p:cNvPr id="10" name="Rectangle 3">
            <a:extLst>
              <a:ext uri="{FF2B5EF4-FFF2-40B4-BE49-F238E27FC236}">
                <a16:creationId xmlns:a16="http://schemas.microsoft.com/office/drawing/2014/main" id="{8939F538-0105-8457-018E-06E807485B8A}"/>
              </a:ext>
            </a:extLst>
          </p:cNvPr>
          <p:cNvSpPr>
            <a:spLocks noChangeArrowheads="1"/>
          </p:cNvSpPr>
          <p:nvPr/>
        </p:nvSpPr>
        <p:spPr bwMode="auto">
          <a:xfrm>
            <a:off x="152400" y="296361"/>
            <a:ext cx="28854"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1100" b="0" i="0" u="none" strike="noStrike" cap="none" normalizeH="0" baseline="0" dirty="0">
                <a:ln>
                  <a:noFill/>
                </a:ln>
                <a:solidFill>
                  <a:schemeClr val="tx1"/>
                </a:solidFill>
                <a:effectLst/>
              </a:rPr>
              <a:t> </a:t>
            </a:r>
            <a:endParaRPr kumimoji="0" lang="pt-BR" altLang="pt-B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11571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BDE545A8-2715-81A7-5EC4-99B3A9AED8AC}"/>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3470E168-1240-96B4-03E8-373A2C554430}"/>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5D4BE581-4CE4-3953-F8D8-EDF7B5F24AA9}"/>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49</a:t>
            </a:fld>
            <a:endParaRPr lang="pt-BR" b="1" dirty="0">
              <a:solidFill>
                <a:schemeClr val="tx1"/>
              </a:solidFill>
            </a:endParaRPr>
          </a:p>
        </p:txBody>
      </p:sp>
      <p:sp>
        <p:nvSpPr>
          <p:cNvPr id="5" name="Título 4">
            <a:extLst>
              <a:ext uri="{FF2B5EF4-FFF2-40B4-BE49-F238E27FC236}">
                <a16:creationId xmlns:a16="http://schemas.microsoft.com/office/drawing/2014/main" id="{8E8555BB-86DA-ADD7-7B46-5CC0C13F8097}"/>
              </a:ext>
            </a:extLst>
          </p:cNvPr>
          <p:cNvSpPr>
            <a:spLocks noGrp="1"/>
          </p:cNvSpPr>
          <p:nvPr>
            <p:ph type="title"/>
          </p:nvPr>
        </p:nvSpPr>
        <p:spPr/>
        <p:txBody>
          <a:bodyPr/>
          <a:lstStyle/>
          <a:p>
            <a:pPr algn="ctr"/>
            <a:r>
              <a:rPr lang="pt-BR" b="1" i="1" dirty="0"/>
              <a:t>Try – </a:t>
            </a:r>
            <a:r>
              <a:rPr lang="pt-BR" b="1" i="1" dirty="0" err="1"/>
              <a:t>exception</a:t>
            </a:r>
            <a:r>
              <a:rPr lang="pt-BR" b="1" i="1" dirty="0"/>
              <a:t> - </a:t>
            </a:r>
            <a:r>
              <a:rPr lang="pt-BR" b="1" i="1" dirty="0" err="1"/>
              <a:t>finaly</a:t>
            </a:r>
            <a:endParaRPr lang="pt-BR" i="1" dirty="0"/>
          </a:p>
        </p:txBody>
      </p:sp>
      <p:sp>
        <p:nvSpPr>
          <p:cNvPr id="6" name="Rectangle 1">
            <a:extLst>
              <a:ext uri="{FF2B5EF4-FFF2-40B4-BE49-F238E27FC236}">
                <a16:creationId xmlns:a16="http://schemas.microsoft.com/office/drawing/2014/main" id="{B28C1E20-358F-7670-55C3-6648B523122E}"/>
              </a:ext>
            </a:extLst>
          </p:cNvPr>
          <p:cNvSpPr>
            <a:spLocks noChangeArrowheads="1"/>
          </p:cNvSpPr>
          <p:nvPr/>
        </p:nvSpPr>
        <p:spPr bwMode="auto">
          <a:xfrm>
            <a:off x="124847" y="1376963"/>
            <a:ext cx="6058005"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3200" b="1" i="0" u="none" strike="noStrike" cap="none" normalizeH="0" baseline="0" dirty="0">
                <a:ln>
                  <a:noFill/>
                </a:ln>
                <a:solidFill>
                  <a:srgbClr val="0077AA"/>
                </a:solidFill>
                <a:effectLst/>
                <a:latin typeface="inherit"/>
              </a:rPr>
              <a:t>try</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3200" b="1" dirty="0">
                <a:solidFill>
                  <a:srgbClr val="000000"/>
                </a:solidFill>
                <a:latin typeface="Consolas" panose="020B0609020204030204" pitchFamily="49" charset="0"/>
              </a:rPr>
              <a:t>    </a:t>
            </a:r>
            <a:r>
              <a:rPr kumimoji="0" lang="pt-BR" altLang="pt-BR" sz="3200" b="1" i="0" u="none" strike="noStrike" cap="none" normalizeH="0" baseline="0" dirty="0">
                <a:ln>
                  <a:noFill/>
                </a:ln>
                <a:solidFill>
                  <a:srgbClr val="000000"/>
                </a:solidFill>
                <a:effectLst/>
                <a:latin typeface="Consolas" panose="020B0609020204030204" pitchFamily="49" charset="0"/>
              </a:rPr>
              <a:t>f </a:t>
            </a:r>
            <a:r>
              <a:rPr kumimoji="0" lang="pt-BR" altLang="pt-BR" sz="3200" b="1" i="0" u="none" strike="noStrike" cap="none" normalizeH="0" baseline="0" dirty="0">
                <a:ln>
                  <a:noFill/>
                </a:ln>
                <a:solidFill>
                  <a:srgbClr val="9A6E3A"/>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r>
              <a:rPr kumimoji="0" lang="pt-BR" altLang="pt-BR" sz="3200" b="1" i="0" u="none" strike="noStrike" cap="none" normalizeH="0" baseline="0" dirty="0">
                <a:ln>
                  <a:noFill/>
                </a:ln>
                <a:solidFill>
                  <a:srgbClr val="669900"/>
                </a:solidFill>
                <a:effectLst/>
                <a:latin typeface="inherit"/>
              </a:rPr>
              <a:t>open</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669900"/>
                </a:solidFill>
                <a:effectLst/>
                <a:latin typeface="inherit"/>
              </a:rPr>
              <a:t>"names.txt"</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3200" b="1"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3200" b="1" i="0" u="none" strike="noStrike" cap="none" normalizeH="0" baseline="0" dirty="0">
                <a:ln>
                  <a:noFill/>
                </a:ln>
                <a:solidFill>
                  <a:srgbClr val="0077AA"/>
                </a:solidFill>
                <a:effectLst/>
                <a:latin typeface="inherit"/>
              </a:rPr>
              <a:t>except</a:t>
            </a:r>
            <a:r>
              <a:rPr kumimoji="0" lang="pt-BR" altLang="pt-BR" sz="3200" b="1" i="0" u="none" strike="noStrike" cap="none" normalizeH="0" baseline="0" dirty="0">
                <a:ln>
                  <a:noFill/>
                </a:ln>
                <a:solidFill>
                  <a:srgbClr val="000000"/>
                </a:solidFill>
                <a:effectLst/>
                <a:latin typeface="Consolas" panose="020B0609020204030204" pitchFamily="49" charset="0"/>
              </a:rPr>
              <a:t> </a:t>
            </a:r>
            <a:r>
              <a:rPr kumimoji="0" lang="pt-BR" altLang="pt-BR" sz="3200" b="1" i="0" u="none" strike="noStrike" cap="none" normalizeH="0" baseline="0" dirty="0" err="1">
                <a:ln>
                  <a:noFill/>
                </a:ln>
                <a:solidFill>
                  <a:srgbClr val="000000"/>
                </a:solidFill>
                <a:effectLst/>
                <a:latin typeface="Consolas" panose="020B0609020204030204" pitchFamily="49" charset="0"/>
              </a:rPr>
              <a:t>FileNotFoundError</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3200" b="1" dirty="0">
                <a:solidFill>
                  <a:srgbClr val="000000"/>
                </a:solidFill>
                <a:latin typeface="Consolas" panose="020B0609020204030204" pitchFamily="49" charset="0"/>
              </a:rPr>
              <a:t>    </a:t>
            </a:r>
            <a:r>
              <a:rPr kumimoji="0" lang="pt-BR" altLang="pt-BR" sz="3200" b="1" i="0" u="none" strike="noStrike" cap="none" normalizeH="0" baseline="0" dirty="0">
                <a:ln>
                  <a:noFill/>
                </a:ln>
                <a:solidFill>
                  <a:srgbClr val="0077AA"/>
                </a:solidFill>
                <a:effectLst/>
                <a:latin typeface="inherit"/>
              </a:rPr>
              <a:t>print</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669900"/>
                </a:solidFill>
                <a:effectLst/>
                <a:latin typeface="inherit"/>
              </a:rPr>
              <a:t>"O arquivo não existe"</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pt-BR" altLang="pt-BR" sz="3200" b="1" dirty="0">
              <a:solidFill>
                <a:srgbClr val="00000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sz="3200" b="1" i="0" u="none" strike="noStrike" cap="none" normalizeH="0" baseline="0" dirty="0" err="1">
                <a:ln>
                  <a:noFill/>
                </a:ln>
                <a:solidFill>
                  <a:srgbClr val="0077AA"/>
                </a:solidFill>
                <a:effectLst/>
                <a:latin typeface="inherit"/>
              </a:rPr>
              <a:t>finally</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rgbClr val="00000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pt-BR" altLang="pt-BR" sz="3200" b="1" dirty="0">
                <a:solidFill>
                  <a:srgbClr val="000000"/>
                </a:solidFill>
                <a:latin typeface="Consolas" panose="020B0609020204030204" pitchFamily="49" charset="0"/>
              </a:rPr>
              <a:t>    </a:t>
            </a:r>
            <a:r>
              <a:rPr kumimoji="0" lang="pt-BR" altLang="pt-BR" sz="3200" b="1" i="0" u="none" strike="noStrike" cap="none" normalizeH="0" baseline="0" dirty="0" err="1">
                <a:ln>
                  <a:noFill/>
                </a:ln>
                <a:solidFill>
                  <a:srgbClr val="000000"/>
                </a:solidFill>
                <a:effectLst/>
                <a:latin typeface="Consolas" panose="020B0609020204030204" pitchFamily="49" charset="0"/>
              </a:rPr>
              <a:t>f</a:t>
            </a:r>
            <a:r>
              <a:rPr kumimoji="0" lang="pt-BR" altLang="pt-BR" sz="3200" b="1" i="0" u="none" strike="noStrike" cap="none" normalizeH="0" baseline="0" dirty="0" err="1">
                <a:ln>
                  <a:noFill/>
                </a:ln>
                <a:solidFill>
                  <a:srgbClr val="999999"/>
                </a:solidFill>
                <a:effectLst/>
                <a:latin typeface="inherit"/>
              </a:rPr>
              <a:t>.</a:t>
            </a:r>
            <a:r>
              <a:rPr kumimoji="0" lang="pt-BR" altLang="pt-BR" sz="3200" b="1" i="0" u="none" strike="noStrike" cap="none" normalizeH="0" baseline="0" dirty="0" err="1">
                <a:ln>
                  <a:noFill/>
                </a:ln>
                <a:solidFill>
                  <a:srgbClr val="000000"/>
                </a:solidFill>
                <a:effectLst/>
                <a:latin typeface="Consolas" panose="020B0609020204030204" pitchFamily="49" charset="0"/>
              </a:rPr>
              <a:t>close</a:t>
            </a:r>
            <a:r>
              <a:rPr kumimoji="0" lang="pt-BR" altLang="pt-BR" sz="3200" b="1" i="0" u="none" strike="noStrike" cap="none" normalizeH="0" baseline="0" dirty="0">
                <a:ln>
                  <a:noFill/>
                </a:ln>
                <a:solidFill>
                  <a:srgbClr val="999999"/>
                </a:solidFill>
                <a:effectLst/>
                <a:latin typeface="inherit"/>
              </a:rPr>
              <a:t>()</a:t>
            </a:r>
            <a:r>
              <a:rPr kumimoji="0" lang="pt-BR" altLang="pt-BR" sz="3200" b="1" i="0" u="none" strike="noStrike" cap="none" normalizeH="0" baseline="0" dirty="0">
                <a:ln>
                  <a:noFill/>
                </a:ln>
                <a:solidFill>
                  <a:schemeClr val="tx1"/>
                </a:solidFill>
                <a:effectLst/>
              </a:rPr>
              <a:t> </a:t>
            </a:r>
            <a:endParaRPr kumimoji="0" lang="pt-BR" altLang="pt-BR" sz="3200" b="1" i="0" u="none" strike="noStrike" cap="none" normalizeH="0" baseline="0" dirty="0">
              <a:ln>
                <a:noFill/>
              </a:ln>
              <a:solidFill>
                <a:schemeClr val="tx1"/>
              </a:solidFill>
              <a:effectLst/>
              <a:latin typeface="Arial" panose="020B0604020202020204" pitchFamily="34" charset="0"/>
            </a:endParaRPr>
          </a:p>
        </p:txBody>
      </p:sp>
      <p:sp>
        <p:nvSpPr>
          <p:cNvPr id="7" name="CaixaDeTexto 6">
            <a:extLst>
              <a:ext uri="{FF2B5EF4-FFF2-40B4-BE49-F238E27FC236}">
                <a16:creationId xmlns:a16="http://schemas.microsoft.com/office/drawing/2014/main" id="{786DD2C6-9E52-C26A-F681-489454C3FC08}"/>
              </a:ext>
            </a:extLst>
          </p:cNvPr>
          <p:cNvSpPr txBox="1"/>
          <p:nvPr/>
        </p:nvSpPr>
        <p:spPr>
          <a:xfrm>
            <a:off x="5972953" y="1376963"/>
            <a:ext cx="6058005" cy="5016758"/>
          </a:xfrm>
          <a:prstGeom prst="rect">
            <a:avLst/>
          </a:prstGeom>
          <a:noFill/>
        </p:spPr>
        <p:txBody>
          <a:bodyPr wrap="square" rtlCol="0">
            <a:spAutoFit/>
          </a:bodyPr>
          <a:lstStyle/>
          <a:p>
            <a:r>
              <a:rPr lang="pt-BR" sz="3200" b="1" dirty="0">
                <a:solidFill>
                  <a:srgbClr val="0077AA"/>
                </a:solidFill>
                <a:latin typeface="inherit"/>
              </a:rPr>
              <a:t>try:</a:t>
            </a:r>
          </a:p>
          <a:p>
            <a:r>
              <a:rPr lang="pt-BR" dirty="0"/>
              <a:t>    </a:t>
            </a:r>
            <a:r>
              <a:rPr lang="pt-BR" sz="2400" dirty="0"/>
              <a:t>numero = </a:t>
            </a:r>
            <a:r>
              <a:rPr lang="pt-BR" sz="2400" dirty="0" err="1"/>
              <a:t>int</a:t>
            </a:r>
            <a:r>
              <a:rPr lang="pt-BR" sz="2400" dirty="0"/>
              <a:t>(input("Digite um número: "))</a:t>
            </a:r>
          </a:p>
          <a:p>
            <a:r>
              <a:rPr lang="pt-BR" sz="2400" dirty="0"/>
              <a:t>   resultado = 10 / numero</a:t>
            </a:r>
          </a:p>
          <a:p>
            <a:endParaRPr lang="pt-BR" sz="2400" dirty="0"/>
          </a:p>
          <a:p>
            <a:r>
              <a:rPr lang="pt-BR" sz="3200" b="1" dirty="0">
                <a:solidFill>
                  <a:srgbClr val="0077AA"/>
                </a:solidFill>
                <a:latin typeface="inherit"/>
              </a:rPr>
              <a:t>except </a:t>
            </a:r>
            <a:r>
              <a:rPr lang="pt-BR" sz="2400" dirty="0" err="1"/>
              <a:t>ZeroDivisionError</a:t>
            </a:r>
            <a:r>
              <a:rPr lang="pt-BR" sz="2400" dirty="0"/>
              <a:t>:</a:t>
            </a:r>
          </a:p>
          <a:p>
            <a:pPr marL="1171575" indent="-1171575"/>
            <a:r>
              <a:rPr lang="pt-BR" sz="2400" dirty="0"/>
              <a:t>    print("Não é possível dividir por zero.")</a:t>
            </a:r>
          </a:p>
          <a:p>
            <a:pPr marL="1171575" indent="-1171575"/>
            <a:endParaRPr lang="pt-BR" sz="2400" dirty="0"/>
          </a:p>
          <a:p>
            <a:r>
              <a:rPr lang="pt-BR" sz="3200" b="1" dirty="0">
                <a:solidFill>
                  <a:srgbClr val="0077AA"/>
                </a:solidFill>
                <a:latin typeface="inherit"/>
              </a:rPr>
              <a:t>except </a:t>
            </a:r>
            <a:r>
              <a:rPr lang="pt-BR" sz="3200" b="1" dirty="0" err="1">
                <a:solidFill>
                  <a:srgbClr val="0077AA"/>
                </a:solidFill>
                <a:latin typeface="inherit"/>
              </a:rPr>
              <a:t>ValueError</a:t>
            </a:r>
            <a:r>
              <a:rPr lang="pt-BR" sz="3200" b="1" dirty="0">
                <a:solidFill>
                  <a:srgbClr val="0077AA"/>
                </a:solidFill>
                <a:latin typeface="inherit"/>
              </a:rPr>
              <a:t>:</a:t>
            </a:r>
          </a:p>
          <a:p>
            <a:pPr marL="1071563" indent="-1071563"/>
            <a:r>
              <a:rPr lang="pt-BR" sz="2400" dirty="0"/>
              <a:t>    print("Entrada inválida. Digite apenas números.")</a:t>
            </a:r>
          </a:p>
          <a:p>
            <a:r>
              <a:rPr lang="pt-BR" sz="3200" b="1" dirty="0" err="1">
                <a:solidFill>
                  <a:srgbClr val="0077AA"/>
                </a:solidFill>
                <a:latin typeface="inherit"/>
              </a:rPr>
              <a:t>finally</a:t>
            </a:r>
            <a:r>
              <a:rPr lang="pt-BR" sz="3200" b="1" dirty="0">
                <a:solidFill>
                  <a:srgbClr val="0077AA"/>
                </a:solidFill>
                <a:latin typeface="inherit"/>
              </a:rPr>
              <a:t>:</a:t>
            </a:r>
          </a:p>
          <a:p>
            <a:r>
              <a:rPr lang="pt-BR" sz="2400" dirty="0"/>
              <a:t>    print("Esse bloco sempre será executado.")</a:t>
            </a:r>
          </a:p>
        </p:txBody>
      </p:sp>
    </p:spTree>
    <p:extLst>
      <p:ext uri="{BB962C8B-B14F-4D97-AF65-F5344CB8AC3E}">
        <p14:creationId xmlns:p14="http://schemas.microsoft.com/office/powerpoint/2010/main" val="14645736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732DFA3-1421-D625-6AA7-B16339BDB31A}"/>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197775EA-BE0F-C850-BE61-68EF477051C7}"/>
              </a:ext>
            </a:extLst>
          </p:cNvPr>
          <p:cNvSpPr>
            <a:spLocks noGrp="1"/>
          </p:cNvSpPr>
          <p:nvPr>
            <p:ph type="ftr" sz="quarter" idx="11"/>
          </p:nvPr>
        </p:nvSpPr>
        <p:spPr/>
        <p:txBody>
          <a:bodyPr/>
          <a:lstStyle/>
          <a:p>
            <a:r>
              <a:rPr lang="pt-BR" sz="1600" b="1" dirty="0"/>
              <a:t>Cap11b-Prog01 - Cap11b-Prog02</a:t>
            </a:r>
          </a:p>
        </p:txBody>
      </p:sp>
      <p:sp>
        <p:nvSpPr>
          <p:cNvPr id="4" name="Espaço Reservado para Número de Slide 3">
            <a:extLst>
              <a:ext uri="{FF2B5EF4-FFF2-40B4-BE49-F238E27FC236}">
                <a16:creationId xmlns:a16="http://schemas.microsoft.com/office/drawing/2014/main" id="{C534C31F-AA1E-D400-AF1A-72D6C5C3E5F5}"/>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50</a:t>
            </a:fld>
            <a:endParaRPr lang="pt-BR" b="1" dirty="0">
              <a:solidFill>
                <a:schemeClr val="tx1"/>
              </a:solidFill>
            </a:endParaRPr>
          </a:p>
        </p:txBody>
      </p:sp>
      <p:sp>
        <p:nvSpPr>
          <p:cNvPr id="7" name="Título 6">
            <a:extLst>
              <a:ext uri="{FF2B5EF4-FFF2-40B4-BE49-F238E27FC236}">
                <a16:creationId xmlns:a16="http://schemas.microsoft.com/office/drawing/2014/main" id="{13B1FE60-C53F-DE4B-DE66-C2DBFF67FB8C}"/>
              </a:ext>
            </a:extLst>
          </p:cNvPr>
          <p:cNvSpPr>
            <a:spLocks noGrp="1"/>
          </p:cNvSpPr>
          <p:nvPr>
            <p:ph type="title"/>
          </p:nvPr>
        </p:nvSpPr>
        <p:spPr/>
        <p:txBody>
          <a:bodyPr/>
          <a:lstStyle/>
          <a:p>
            <a:pPr algn="ctr"/>
            <a:r>
              <a:rPr lang="pt-BR" b="1" i="1" dirty="0"/>
              <a:t>Exercícios propostos</a:t>
            </a:r>
          </a:p>
        </p:txBody>
      </p:sp>
      <p:sp>
        <p:nvSpPr>
          <p:cNvPr id="8" name="CaixaDeTexto 7">
            <a:extLst>
              <a:ext uri="{FF2B5EF4-FFF2-40B4-BE49-F238E27FC236}">
                <a16:creationId xmlns:a16="http://schemas.microsoft.com/office/drawing/2014/main" id="{313C1D1C-6A4D-1585-1DB2-67A41DA55CB7}"/>
              </a:ext>
            </a:extLst>
          </p:cNvPr>
          <p:cNvSpPr txBox="1"/>
          <p:nvPr/>
        </p:nvSpPr>
        <p:spPr>
          <a:xfrm>
            <a:off x="475648" y="1516552"/>
            <a:ext cx="10603832" cy="3862596"/>
          </a:xfrm>
          <a:prstGeom prst="rect">
            <a:avLst/>
          </a:prstGeom>
          <a:noFill/>
        </p:spPr>
        <p:txBody>
          <a:bodyPr wrap="square" rtlCol="0">
            <a:spAutoFit/>
          </a:bodyPr>
          <a:lstStyle/>
          <a:p>
            <a:pPr marL="352425" indent="-352425" algn="l">
              <a:spcAft>
                <a:spcPts val="1500"/>
              </a:spcAft>
              <a:buAutoNum type="arabicParenR"/>
            </a:pPr>
            <a:r>
              <a:rPr lang="pt-BR" sz="2000" b="0" i="0" dirty="0">
                <a:solidFill>
                  <a:srgbClr val="000000"/>
                </a:solidFill>
                <a:effectLst/>
                <a:latin typeface="-apple-system"/>
              </a:rPr>
              <a:t>Faça um programa que crie um arquivo binário composto pela matrícula, pelo nome do aluno do nome e as duas notas do aluno. Salve os dados de todos os alunos. Termine a entrada de dados, quando digitar a matrícula ‘000’. Após isso abra o arquivo e calcule de todos os alunos e imprima os Nomes e as médias dos alunos que tiraram a média maior ou igual a 5.0</a:t>
            </a:r>
          </a:p>
          <a:p>
            <a:pPr marL="352425" indent="-352425" algn="just">
              <a:spcAft>
                <a:spcPts val="1500"/>
              </a:spcAft>
              <a:buFontTx/>
              <a:buAutoNum type="arabicParenR"/>
            </a:pPr>
            <a:r>
              <a:rPr lang="pt-BR" sz="2000" b="0" i="0" dirty="0">
                <a:solidFill>
                  <a:srgbClr val="000000"/>
                </a:solidFill>
                <a:effectLst/>
                <a:latin typeface="-apple-system"/>
              </a:rPr>
              <a:t>Faça um programa que receba como entrada o ano corrente e o nome de dois arquivos: um de entrada e outro de saída. Cada linha do arquivo de entrada contém o nome de uma pessoa e o seu ano de nascimento. O programa deverá ler o arquivo de entrada e gerar um arquivo de saída onde aparece o nome da pessoa seguida por uma string que representa a sua idade.</a:t>
            </a:r>
          </a:p>
          <a:p>
            <a:pPr marL="355600">
              <a:spcAft>
                <a:spcPts val="1500"/>
              </a:spcAft>
            </a:pPr>
            <a:r>
              <a:rPr lang="pt-BR" sz="2000" b="0" i="0" dirty="0">
                <a:solidFill>
                  <a:srgbClr val="000000"/>
                </a:solidFill>
                <a:effectLst/>
                <a:latin typeface="-apple-system"/>
              </a:rPr>
              <a:t>- Se a idade for menor do que 18 anos, escreva “menor de idade</a:t>
            </a:r>
            <a:br>
              <a:rPr lang="pt-BR" sz="2000" b="0" i="0" dirty="0">
                <a:solidFill>
                  <a:srgbClr val="000000"/>
                </a:solidFill>
                <a:effectLst/>
                <a:latin typeface="-apple-system"/>
              </a:rPr>
            </a:br>
            <a:r>
              <a:rPr lang="pt-BR" sz="2000" b="0" i="0" dirty="0">
                <a:solidFill>
                  <a:srgbClr val="000000"/>
                </a:solidFill>
                <a:effectLst/>
                <a:latin typeface="-apple-system"/>
              </a:rPr>
              <a:t>- Se a idade for maior do que 18 anos, escreva “maior de idade”</a:t>
            </a:r>
            <a:br>
              <a:rPr lang="pt-BR" sz="2000" b="0" i="0" dirty="0">
                <a:solidFill>
                  <a:srgbClr val="000000"/>
                </a:solidFill>
                <a:effectLst/>
                <a:latin typeface="-apple-system"/>
              </a:rPr>
            </a:br>
            <a:r>
              <a:rPr lang="pt-BR" sz="2000" b="0" i="0" dirty="0">
                <a:solidFill>
                  <a:srgbClr val="000000"/>
                </a:solidFill>
                <a:effectLst/>
                <a:latin typeface="-apple-system"/>
              </a:rPr>
              <a:t>- Se a idade for igual a 18 anos, escreva “entrando na maior idade”</a:t>
            </a:r>
          </a:p>
        </p:txBody>
      </p:sp>
    </p:spTree>
    <p:extLst>
      <p:ext uri="{BB962C8B-B14F-4D97-AF65-F5344CB8AC3E}">
        <p14:creationId xmlns:p14="http://schemas.microsoft.com/office/powerpoint/2010/main" val="25084218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05831C7-AACF-32A5-3612-5F0DECCA1737}"/>
              </a:ext>
            </a:extLst>
          </p:cNvPr>
          <p:cNvSpPr>
            <a:spLocks noGrp="1"/>
          </p:cNvSpPr>
          <p:nvPr>
            <p:ph type="dt" sz="half" idx="10"/>
          </p:nvPr>
        </p:nvSpPr>
        <p:spPr/>
        <p:txBody>
          <a:bodyPr/>
          <a:lstStyle/>
          <a:p>
            <a:r>
              <a:rPr lang="pt-BR"/>
              <a:t>25/07/2024</a:t>
            </a:r>
            <a:endParaRPr lang="pt-BR" dirty="0"/>
          </a:p>
        </p:txBody>
      </p:sp>
      <p:sp>
        <p:nvSpPr>
          <p:cNvPr id="3" name="Espaço Reservado para Rodapé 2">
            <a:extLst>
              <a:ext uri="{FF2B5EF4-FFF2-40B4-BE49-F238E27FC236}">
                <a16:creationId xmlns:a16="http://schemas.microsoft.com/office/drawing/2014/main" id="{418DA010-2830-CC74-5D45-4D28E30CD8F2}"/>
              </a:ext>
            </a:extLst>
          </p:cNvPr>
          <p:cNvSpPr>
            <a:spLocks noGrp="1"/>
          </p:cNvSpPr>
          <p:nvPr>
            <p:ph type="ftr" sz="quarter" idx="11"/>
          </p:nvPr>
        </p:nvSpPr>
        <p:spPr/>
        <p:txBody>
          <a:bodyPr/>
          <a:lstStyle/>
          <a:p>
            <a:r>
              <a:rPr lang="pt-BR" sz="1600" b="1" dirty="0"/>
              <a:t>Cap11b-Prog03</a:t>
            </a:r>
          </a:p>
        </p:txBody>
      </p:sp>
      <p:sp>
        <p:nvSpPr>
          <p:cNvPr id="4" name="Espaço Reservado para Número de Slide 3">
            <a:extLst>
              <a:ext uri="{FF2B5EF4-FFF2-40B4-BE49-F238E27FC236}">
                <a16:creationId xmlns:a16="http://schemas.microsoft.com/office/drawing/2014/main" id="{86141C7E-4AF2-6699-756E-E2B025C97C8F}"/>
              </a:ext>
            </a:extLst>
          </p:cNvPr>
          <p:cNvSpPr>
            <a:spLocks noGrp="1"/>
          </p:cNvSpPr>
          <p:nvPr>
            <p:ph type="sldNum" sz="quarter" idx="12"/>
          </p:nvPr>
        </p:nvSpPr>
        <p:spPr/>
        <p:txBody>
          <a:bodyPr/>
          <a:lstStyle/>
          <a:p>
            <a:pPr algn="r"/>
            <a:fld id="{250292FE-8D56-4E3A-9427-CB428FF60A53}" type="slidenum">
              <a:rPr lang="pt-BR" b="1" smtClean="0">
                <a:solidFill>
                  <a:schemeClr val="tx1"/>
                </a:solidFill>
              </a:rPr>
              <a:pPr algn="r"/>
              <a:t>51</a:t>
            </a:fld>
            <a:endParaRPr lang="pt-BR" b="1" dirty="0">
              <a:solidFill>
                <a:schemeClr val="tx1"/>
              </a:solidFill>
            </a:endParaRPr>
          </a:p>
        </p:txBody>
      </p:sp>
      <p:sp>
        <p:nvSpPr>
          <p:cNvPr id="5" name="Título 4">
            <a:extLst>
              <a:ext uri="{FF2B5EF4-FFF2-40B4-BE49-F238E27FC236}">
                <a16:creationId xmlns:a16="http://schemas.microsoft.com/office/drawing/2014/main" id="{ECABEE79-B7A9-DC3D-B6B9-243D3FC0E8F5}"/>
              </a:ext>
            </a:extLst>
          </p:cNvPr>
          <p:cNvSpPr>
            <a:spLocks noGrp="1"/>
          </p:cNvSpPr>
          <p:nvPr>
            <p:ph type="title"/>
          </p:nvPr>
        </p:nvSpPr>
        <p:spPr/>
        <p:txBody>
          <a:bodyPr/>
          <a:lstStyle/>
          <a:p>
            <a:pPr algn="ctr"/>
            <a:r>
              <a:rPr lang="pt-BR" b="1" i="1" dirty="0"/>
              <a:t>Exercícios propostos</a:t>
            </a:r>
            <a:endParaRPr lang="pt-BR" i="1" dirty="0"/>
          </a:p>
        </p:txBody>
      </p:sp>
      <p:sp>
        <p:nvSpPr>
          <p:cNvPr id="7" name="CaixaDeTexto 6">
            <a:extLst>
              <a:ext uri="{FF2B5EF4-FFF2-40B4-BE49-F238E27FC236}">
                <a16:creationId xmlns:a16="http://schemas.microsoft.com/office/drawing/2014/main" id="{666A93D2-19D4-3DA8-9FDB-4B369E493B3D}"/>
              </a:ext>
            </a:extLst>
          </p:cNvPr>
          <p:cNvSpPr txBox="1"/>
          <p:nvPr/>
        </p:nvSpPr>
        <p:spPr>
          <a:xfrm>
            <a:off x="767442" y="1443841"/>
            <a:ext cx="10629901" cy="3416320"/>
          </a:xfrm>
          <a:prstGeom prst="rect">
            <a:avLst/>
          </a:prstGeom>
          <a:noFill/>
        </p:spPr>
        <p:txBody>
          <a:bodyPr wrap="square">
            <a:spAutoFit/>
          </a:bodyPr>
          <a:lstStyle/>
          <a:p>
            <a:pPr marL="261938" indent="-261938" algn="just">
              <a:spcAft>
                <a:spcPts val="1500"/>
              </a:spcAft>
            </a:pPr>
            <a:r>
              <a:rPr lang="pt-BR" b="0" i="0" dirty="0">
                <a:solidFill>
                  <a:srgbClr val="000000"/>
                </a:solidFill>
                <a:effectLst/>
                <a:latin typeface="-apple-system"/>
              </a:rPr>
              <a:t>3) </a:t>
            </a:r>
            <a:r>
              <a:rPr lang="pt-BR" sz="2400" b="0" i="0" dirty="0">
                <a:solidFill>
                  <a:srgbClr val="000000"/>
                </a:solidFill>
                <a:effectLst/>
                <a:latin typeface="-apple-system"/>
              </a:rPr>
              <a:t>Faça um programa em Python que controla uma conta bancária. Ou seja, o saldo bancário de um cliente. Os campos do arquivo binário são: o número da conta, a agência bancária, o nome do cliente, o seu o </a:t>
            </a:r>
            <a:r>
              <a:rPr lang="pt-BR" sz="2400" b="0" i="0" dirty="0" err="1">
                <a:solidFill>
                  <a:srgbClr val="000000"/>
                </a:solidFill>
                <a:effectLst/>
                <a:latin typeface="-apple-system"/>
              </a:rPr>
              <a:t>cpf</a:t>
            </a:r>
            <a:r>
              <a:rPr lang="pt-BR" sz="2400" b="0" i="0" dirty="0">
                <a:solidFill>
                  <a:srgbClr val="000000"/>
                </a:solidFill>
                <a:effectLst/>
                <a:latin typeface="-apple-system"/>
              </a:rPr>
              <a:t>. A movimentação bancária é dada pelos depósitos e retiradas de valores que o cliente faz na conta. O cliente pode consultar o seu saldo, bem como listar a movimentação feita a partir de uma data passada via teclado. O programa tem dois arquivos binários. um com os dados já citados e outro com a movimentação bancária. Que tem os campos número da conta, tipo de movimentação e valor da movimentação, que pode ser (depósito ou retirada).Faça um menu para facilitar o uso do programa. </a:t>
            </a:r>
          </a:p>
        </p:txBody>
      </p:sp>
    </p:spTree>
    <p:extLst>
      <p:ext uri="{BB962C8B-B14F-4D97-AF65-F5344CB8AC3E}">
        <p14:creationId xmlns:p14="http://schemas.microsoft.com/office/powerpoint/2010/main" val="285223261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4A3A580C3F0644BAE65217E90A3571B" ma:contentTypeVersion="10" ma:contentTypeDescription="Crie um novo documento." ma:contentTypeScope="" ma:versionID="17db1123b059ccd9b7a0137fb695dfba">
  <xsd:schema xmlns:xsd="http://www.w3.org/2001/XMLSchema" xmlns:xs="http://www.w3.org/2001/XMLSchema" xmlns:p="http://schemas.microsoft.com/office/2006/metadata/properties" xmlns:ns2="30a7b03c-4792-4e17-9dab-b93b92a33270" xmlns:ns3="5c7a6bef-5354-4968-b627-13d8ea6c420d" targetNamespace="http://schemas.microsoft.com/office/2006/metadata/properties" ma:root="true" ma:fieldsID="8a52f4d396bca3b056e9e32e12d83d9c" ns2:_="" ns3:_="">
    <xsd:import namespace="30a7b03c-4792-4e17-9dab-b93b92a33270"/>
    <xsd:import namespace="5c7a6bef-5354-4968-b627-13d8ea6c42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a7b03c-4792-4e17-9dab-b93b92a332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Marcações de imagem" ma:readOnly="false" ma:fieldId="{5cf76f15-5ced-4ddc-b409-7134ff3c332f}" ma:taxonomyMulti="true" ma:sspId="c666036a-182f-4ecd-b44e-d420e52619f3"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c7a6bef-5354-4968-b627-13d8ea6c420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53475c2-86e0-40c6-a7f9-d735a9095961}" ma:internalName="TaxCatchAll" ma:showField="CatchAllData" ma:web="5c7a6bef-5354-4968-b627-13d8ea6c42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a7b03c-4792-4e17-9dab-b93b92a33270">
      <Terms xmlns="http://schemas.microsoft.com/office/infopath/2007/PartnerControls"/>
    </lcf76f155ced4ddcb4097134ff3c332f>
    <TaxCatchAll xmlns="5c7a6bef-5354-4968-b627-13d8ea6c420d" xsi:nil="true"/>
  </documentManagement>
</p:properties>
</file>

<file path=customXml/itemProps1.xml><?xml version="1.0" encoding="utf-8"?>
<ds:datastoreItem xmlns:ds="http://schemas.openxmlformats.org/officeDocument/2006/customXml" ds:itemID="{408BBABF-7C59-40B7-9568-87875EE4BB88}"/>
</file>

<file path=customXml/itemProps2.xml><?xml version="1.0" encoding="utf-8"?>
<ds:datastoreItem xmlns:ds="http://schemas.openxmlformats.org/officeDocument/2006/customXml" ds:itemID="{D5798D64-B4BF-433A-A5E8-7ACB09CAAB19}"/>
</file>

<file path=customXml/itemProps3.xml><?xml version="1.0" encoding="utf-8"?>
<ds:datastoreItem xmlns:ds="http://schemas.openxmlformats.org/officeDocument/2006/customXml" ds:itemID="{804C821B-F11F-4634-9A22-E14342A3D5ED}"/>
</file>

<file path=docProps/app.xml><?xml version="1.0" encoding="utf-8"?>
<Properties xmlns="http://schemas.openxmlformats.org/officeDocument/2006/extended-properties" xmlns:vt="http://schemas.openxmlformats.org/officeDocument/2006/docPropsVTypes">
  <TotalTime>25190</TotalTime>
  <Words>7035</Words>
  <Application>Microsoft Office PowerPoint</Application>
  <PresentationFormat>Widescreen</PresentationFormat>
  <Paragraphs>1009</Paragraphs>
  <Slides>51</Slides>
  <Notes>5</Notes>
  <HiddenSlides>0</HiddenSlides>
  <MMClips>0</MMClips>
  <ScaleCrop>false</ScaleCrop>
  <HeadingPairs>
    <vt:vector size="6" baseType="variant">
      <vt:variant>
        <vt:lpstr>Fontes usadas</vt:lpstr>
      </vt:variant>
      <vt:variant>
        <vt:i4>14</vt:i4>
      </vt:variant>
      <vt:variant>
        <vt:lpstr>Tema</vt:lpstr>
      </vt:variant>
      <vt:variant>
        <vt:i4>1</vt:i4>
      </vt:variant>
      <vt:variant>
        <vt:lpstr>Títulos de slides</vt:lpstr>
      </vt:variant>
      <vt:variant>
        <vt:i4>51</vt:i4>
      </vt:variant>
    </vt:vector>
  </HeadingPairs>
  <TitlesOfParts>
    <vt:vector size="66" baseType="lpstr">
      <vt:lpstr>Arial Unicode MS</vt:lpstr>
      <vt:lpstr>-apple-system</vt:lpstr>
      <vt:lpstr>Aptos</vt:lpstr>
      <vt:lpstr>Aptos Display</vt:lpstr>
      <vt:lpstr>Arial</vt:lpstr>
      <vt:lpstr>CIDFont+F1</vt:lpstr>
      <vt:lpstr>CIDFont+F2</vt:lpstr>
      <vt:lpstr>CIDFont+F3</vt:lpstr>
      <vt:lpstr>Consolas</vt:lpstr>
      <vt:lpstr>Courier New</vt:lpstr>
      <vt:lpstr>Euclid Circular A</vt:lpstr>
      <vt:lpstr>inherit</vt:lpstr>
      <vt:lpstr>Roboto Mono</vt:lpstr>
      <vt:lpstr>Wingdings</vt:lpstr>
      <vt:lpstr>Tema do Office</vt:lpstr>
      <vt:lpstr>              Centro Federal de Educação Tecnológica Celso Suckow da Fonseca Escola de Informática e Computação Ciência da Computação</vt:lpstr>
      <vt:lpstr>Motivação</vt:lpstr>
      <vt:lpstr>Arquivos Binários em Python</vt:lpstr>
      <vt:lpstr>Operações Básicas</vt:lpstr>
      <vt:lpstr>O módulo de pickle</vt:lpstr>
      <vt:lpstr>O módulo de pickle</vt:lpstr>
      <vt:lpstr>Exemplos load()  e loads()</vt:lpstr>
      <vt:lpstr>Sintaxe do método load()</vt:lpstr>
      <vt:lpstr>Sintaxe do método loads()</vt:lpstr>
      <vt:lpstr>Sintaxe do método dump()</vt:lpstr>
      <vt:lpstr>Sintaxe do método dumps()</vt:lpstr>
      <vt:lpstr>Arquivos binários - escrita</vt:lpstr>
      <vt:lpstr>Arquivos binários - leitura</vt:lpstr>
      <vt:lpstr>O que é o módulo pickle?</vt:lpstr>
      <vt:lpstr>Exemplo 1 — dump() e load() (com arquivo)</vt:lpstr>
      <vt:lpstr>Exemplo 2 — dumps() e loads() (sem arquivo)</vt:lpstr>
      <vt:lpstr>Observações importantes</vt:lpstr>
      <vt:lpstr>Salvando uma lista de dicionários com pickle</vt:lpstr>
      <vt:lpstr>Exemplo 2 — Salvando um objeto de classe</vt:lpstr>
      <vt:lpstr>Dicas importantes</vt:lpstr>
      <vt:lpstr>Python e JSON</vt:lpstr>
      <vt:lpstr>Exemplo-JSON</vt:lpstr>
      <vt:lpstr>Exemplo-JSON</vt:lpstr>
      <vt:lpstr>Exemplo-JSON</vt:lpstr>
      <vt:lpstr>Exemplo-JSON</vt:lpstr>
      <vt:lpstr>O que acontece passo a passo</vt:lpstr>
      <vt:lpstr>Apresentação do PowerPoint</vt:lpstr>
      <vt:lpstr>Mas o que é JSON?</vt:lpstr>
      <vt:lpstr>Para que serve o JSON</vt:lpstr>
      <vt:lpstr>Struct</vt:lpstr>
      <vt:lpstr>um exemplo completo: usar o módulo struct para gravar e ler um arquivo binário</vt:lpstr>
      <vt:lpstr>Arquivos Binários em Python com struct</vt:lpstr>
      <vt:lpstr>Funções do módulo struct </vt:lpstr>
      <vt:lpstr>struct.pack()</vt:lpstr>
      <vt:lpstr>Como funciona o formato 'if'</vt:lpstr>
      <vt:lpstr>Lendo de volta com unpack()</vt:lpstr>
      <vt:lpstr>struct.unpack()</vt:lpstr>
      <vt:lpstr>Exemplo Completo</vt:lpstr>
      <vt:lpstr>Tabela de Formatos Comuns (fmt)</vt:lpstr>
      <vt:lpstr>Função calcsize()</vt:lpstr>
      <vt:lpstr>Funções pack_into() e unpack_from() </vt:lpstr>
      <vt:lpstr>Resumo</vt:lpstr>
      <vt:lpstr>Usando Struct</vt:lpstr>
      <vt:lpstr>Usando Pickle – parte 01</vt:lpstr>
      <vt:lpstr>Usando Pickle – parte 02</vt:lpstr>
      <vt:lpstr>Usando Pickle – parte 03</vt:lpstr>
      <vt:lpstr>Exercício com Struct</vt:lpstr>
      <vt:lpstr>Try – exception - finaly</vt:lpstr>
      <vt:lpstr>Try – exception - finaly</vt:lpstr>
      <vt:lpstr>Exercícios propostos</vt:lpstr>
      <vt:lpstr>Exercícios propostos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ALMIR SILVA DA SILVEIRA</dc:creator>
  <cp:lastModifiedBy>ALMIR SILVA DA SILVEIRA</cp:lastModifiedBy>
  <cp:revision>418</cp:revision>
  <dcterms:created xsi:type="dcterms:W3CDTF">2024-07-25T18:00:53Z</dcterms:created>
  <dcterms:modified xsi:type="dcterms:W3CDTF">2026-05-19T15:06:31Z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0x01010024A3A580C3F0644BAE65217E90A3571B</vt:lpwstr>
  </property>
</Properties>
</file>