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8" r:id="rId2"/>
    <p:sldId id="304" r:id="rId3"/>
    <p:sldId id="305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C4810"/>
    <a:srgbClr val="0079B6"/>
    <a:srgbClr val="FE4D2A"/>
    <a:srgbClr val="2D100B"/>
    <a:srgbClr val="2C110C"/>
    <a:srgbClr val="FFC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269D01E-BC32-4049-B463-5C60D7B0CCD2}" styleName="Estilo com Tema 2 - Ênfas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779" autoAdjust="0"/>
    <p:restoredTop sz="94173" autoAdjust="0"/>
  </p:normalViewPr>
  <p:slideViewPr>
    <p:cSldViewPr snapToGrid="0">
      <p:cViewPr>
        <p:scale>
          <a:sx n="53" d="100"/>
          <a:sy n="53" d="100"/>
        </p:scale>
        <p:origin x="528" y="300"/>
      </p:cViewPr>
      <p:guideLst/>
    </p:cSldViewPr>
  </p:slideViewPr>
  <p:outlineViewPr>
    <p:cViewPr>
      <p:scale>
        <a:sx n="33" d="100"/>
        <a:sy n="33" d="100"/>
      </p:scale>
      <p:origin x="0" y="-135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 varScale="1">
      <p:scale>
        <a:sx n="100" d="100"/>
        <a:sy n="100" d="100"/>
      </p:scale>
      <p:origin x="0" y="-6720"/>
    </p:cViewPr>
  </p:sorterViewPr>
  <p:notesViewPr>
    <p:cSldViewPr snapToGrid="0">
      <p:cViewPr>
        <p:scale>
          <a:sx n="75" d="100"/>
          <a:sy n="75" d="100"/>
        </p:scale>
        <p:origin x="23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D7F6E95-DF0A-DDE8-9E53-D9371CC825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44EA07-597F-F819-7229-532D66BD13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BDEF1-98DE-47F3-AB9B-696578D75E17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97D246-3E04-820B-A4C8-7E38ADED3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651051-B63C-CCEF-B43D-06863876E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A3027-C7E8-477B-B942-A004D5627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403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62CF-6E2E-4950-A4C6-2F0629CEB57A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4D19-40F4-4FB2-BB02-0ACB3B3819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5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6BDC-F7DD-220C-CACB-623D63919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1EF9C-808A-F892-ED25-C59BF263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2D21-355A-B4C6-D7BF-FC594A5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0C91-26CA-4B6A-8F57-19B32EC2A374}" type="datetime1">
              <a:rPr lang="pt-BR" smtClean="0"/>
              <a:t>17/05/2026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13E9C-3250-5D7A-CE51-894FC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CD16C1-6D70-DEDF-955E-96C301AA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11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FA50B-B228-B2CB-4BBD-59790D44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9151" y="6356350"/>
            <a:ext cx="1209821" cy="365125"/>
          </a:xfrm>
        </p:spPr>
        <p:txBody>
          <a:bodyPr/>
          <a:lstStyle>
            <a:lvl1pPr>
              <a:defRPr b="1"/>
            </a:lvl1pPr>
          </a:lstStyle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33E03-04D3-3C99-D4CC-393AD43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56350"/>
            <a:ext cx="9284676" cy="365125"/>
          </a:xfrm>
        </p:spPr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D6B47-DA56-AC52-B164-35891B6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9480" y="6356350"/>
            <a:ext cx="873369" cy="365125"/>
          </a:xfrm>
        </p:spPr>
        <p:txBody>
          <a:bodyPr/>
          <a:lstStyle>
            <a:lvl1pPr algn="l">
              <a:defRPr/>
            </a:lvl1pPr>
          </a:lstStyle>
          <a:p>
            <a:fld id="{250292FE-8D56-4E3A-9427-CB428FF60A53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07C4F4-2068-EDC6-F8E0-984352F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365125"/>
            <a:ext cx="9862002" cy="988219"/>
          </a:xfrm>
        </p:spPr>
        <p:txBody>
          <a:bodyPr>
            <a:norm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Centro Federal de Educação Tecnológica Celso Suckow da Fonseca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5CB7DE-4FD2-82C8-8085-8522769A2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4466" y="349522"/>
            <a:ext cx="1681066" cy="9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012B-5FFB-503A-93D2-2F43E17D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C1D0C-2F68-C972-9E1F-BA1FD83C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7B6F4-628B-9CD7-8F7F-2A56408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3016E-57B6-42A2-A09B-1D15041FAC88}" type="datetime1">
              <a:rPr lang="pt-BR" smtClean="0"/>
              <a:t>17/05/2026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11514-16C5-4418-818A-FDECA547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83EA9-82C8-DD6A-6F7E-A1052938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76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8F2E-F87A-28D2-5177-D8AF0FC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D59D1-A894-70DE-B49C-7E1C42153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A1CB66-D4B3-0C42-5406-A3972149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5A9045-E299-D1BC-548E-DA60065B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ACF6-EAEE-4568-AE5F-95DEB873C079}" type="datetime1">
              <a:rPr lang="pt-BR" smtClean="0"/>
              <a:t>17/05/2026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861DB-B126-C096-C0C8-75EA29D0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3C2C-87A8-7ADD-E4C9-5C96068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06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3ED7-1686-5F8A-10A9-F50F6603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DAE2A-0C8E-84B7-FF7F-0075E7B6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C14A8-D0E9-8760-78FF-07B539BD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A9A5-E119-FD4F-CCDF-BB396DFF6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5E3807-E3CF-D08F-555A-BAE67FCD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F527B8-39F7-34AC-744A-DB3EAF11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5A3-8D73-4341-B3CB-324B6C4D5807}" type="datetime1">
              <a:rPr lang="pt-BR" smtClean="0"/>
              <a:t>17/05/2026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187CDB-4CAD-C47F-7F68-4B977C1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03A58A-4C31-DEDB-994F-3A74734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0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EEE29-8BDC-371F-1F50-0966199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665B26-3B57-E9CD-FEE1-8F12BEB5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DF71-04A1-4917-BE3D-1CA7AA2509D1}" type="datetime1">
              <a:rPr lang="pt-BR" smtClean="0"/>
              <a:t>17/05/2026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300C64-73E3-2FDB-857F-DD1BF80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810EA3-9932-5C64-9D4A-2CF0AEF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0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D1DE8-C2E7-563C-BC88-550A37CD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A598-5D0F-497C-9B5B-572D74CF11AF}" type="datetime1">
              <a:rPr lang="pt-BR" smtClean="0"/>
              <a:t>17/05/2026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F044E-5BF1-1E08-B412-3A8E378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2ECD8-BC8E-75AF-3253-F35E2EC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4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9D38-2472-977E-F0B5-2A8A7C3D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AD1A9-6513-146C-8A98-E6EB5DC7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800B00-B279-50DA-DBD9-6C613A9D8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C20CA-FD74-F909-C6A2-CAFF4EC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5037-C5AA-4F5E-A864-1631BF9429E4}" type="datetime1">
              <a:rPr lang="pt-BR" smtClean="0"/>
              <a:t>17/05/2026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E8670-D013-EC8F-D118-AB063F6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3CD7B-732D-B650-F141-5F79FB19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7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DBC3-3401-A3D2-B219-259F44F8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29A8F6-B5A7-41C2-5EDB-B3AC72B59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2B7809-70B0-CFDE-77FE-019E49D8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4786D-E5B0-5995-B806-7759C6B7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4CBB-1911-4779-B706-FE21B7ADE1D6}" type="datetime1">
              <a:rPr lang="pt-BR" smtClean="0"/>
              <a:t>17/05/2026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C364B-4223-A58F-49EE-FDCB6E1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41AD-07A8-879B-D075-7E057EE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2E53-480A-BCC2-AF43-0C32667B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777D6-06A6-D2A5-0BEA-E9A8A19A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FBCF5-1061-4ADF-5028-EB2D461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80E6D-10F2-43B5-8400-7E263847C493}" type="datetime1">
              <a:rPr lang="pt-BR" smtClean="0"/>
              <a:t>17/05/2026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448D7-E146-7AC9-3404-C4353F5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4F478F-8BE1-E167-FE88-5357CBE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0F69-9B91-0B85-B18D-29C478C3E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CEE54A-78BE-B888-5435-1F4BB92E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9EE3-9541-F7F1-FC4A-5B0F583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3E0DF-7F59-4479-AB5B-05C414AE1283}" type="datetime1">
              <a:rPr lang="pt-BR" smtClean="0"/>
              <a:t>17/05/2026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835FE-3B42-0F74-F3A7-1EC2D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Programa Completo Utilizado Pandas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5329-397C-FC63-6BE6-8BC5E6B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4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392734-EB08-7F99-9C05-CEFB6E1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2EE65-2666-D63F-D25E-DE0E33A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0C4-E182-7218-6B83-DB95542FC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D6A12-21E5-440E-A2D8-9F69F89F51B7}" type="datetime1">
              <a:rPr lang="pt-BR" smtClean="0"/>
              <a:t>17/05/2026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4A0E7-B671-9258-1B0E-12AFF67F1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Programa Completo Utilizado Pandas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0868-9CE7-5A9C-049A-DF55CBD7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7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5C6A1B-B42D-97AA-6E2D-CC2DD52B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</a:t>
            </a: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3F93AE-CC61-84FA-B813-FE5A675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FF09-F9F1-4184-8921-78EAB33A5D22}" type="datetime1">
              <a:rPr lang="pt-BR" smtClean="0"/>
              <a:t>17/05/2026</a:t>
            </a:fld>
            <a:endParaRPr 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5ABB53-4A29-DA28-55A7-C099606F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948" y="6356349"/>
            <a:ext cx="9284676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C0536A0-9280-5193-6FB9-ED255F9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600" y="6356350"/>
            <a:ext cx="421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1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FACD24-BD62-72C2-991F-8DBA2BDB6F87}"/>
              </a:ext>
            </a:extLst>
          </p:cNvPr>
          <p:cNvSpPr txBox="1"/>
          <p:nvPr/>
        </p:nvSpPr>
        <p:spPr>
          <a:xfrm>
            <a:off x="543697" y="2028616"/>
            <a:ext cx="108863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Gráficos em Python com Matplotlib</a:t>
            </a:r>
          </a:p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– Cap-12–</a:t>
            </a:r>
          </a:p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Aprendendo a criar gráficos de vários tipos</a:t>
            </a:r>
          </a:p>
          <a:p>
            <a:pPr algn="ctr"/>
            <a:endParaRPr lang="pt-B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3AFD657-56FF-9F30-A6DB-953D3D435CDA}"/>
              </a:ext>
            </a:extLst>
          </p:cNvPr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32760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B370-6A5D-7323-E55F-E3B0D87FE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F7B72A-4122-4FE3-D25B-9CFE05477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646578F-67AE-A8E0-F20D-9192A5DC7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62B351-4BAE-8DF3-8E19-2453E9D26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2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2EC218D-A348-0560-5578-E4F65C95C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O que é Matplotlib?</a:t>
            </a:r>
            <a:endParaRPr lang="pt-BR" i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199A330-F48F-285C-BDE3-4ECDDB677BF6}"/>
              </a:ext>
            </a:extLst>
          </p:cNvPr>
          <p:cNvSpPr txBox="1"/>
          <p:nvPr/>
        </p:nvSpPr>
        <p:spPr>
          <a:xfrm>
            <a:off x="1247930" y="1645092"/>
            <a:ext cx="780462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3200" dirty="0"/>
              <a:t>• Biblioteca para criação de gráficos</a:t>
            </a:r>
          </a:p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r>
              <a:rPr lang="pt-BR" sz="3200" dirty="0"/>
              <a:t>• Muito usada em Ciência de Dados</a:t>
            </a:r>
          </a:p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r>
              <a:rPr lang="pt-BR" sz="3200" dirty="0"/>
              <a:t>• Fácil integração com Python</a:t>
            </a:r>
          </a:p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r>
              <a:rPr lang="pt-BR" sz="3200" dirty="0"/>
              <a:t>• Permite criar gráficos profissionais</a:t>
            </a:r>
          </a:p>
        </p:txBody>
      </p:sp>
    </p:spTree>
    <p:extLst>
      <p:ext uri="{BB962C8B-B14F-4D97-AF65-F5344CB8AC3E}">
        <p14:creationId xmlns:p14="http://schemas.microsoft.com/office/powerpoint/2010/main" val="1511277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A0D91F2-B1B3-20B8-EF75-D7533CDF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6CC037D-7522-BD83-DE89-BAF85A92E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47CA3D-509A-9D20-6DF7-FD69E6EF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3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13371C-F07C-7A4F-F084-404DC21E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Importando a Biblioteca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D2FFACC-FFE6-5460-5966-91A644984C41}"/>
              </a:ext>
            </a:extLst>
          </p:cNvPr>
          <p:cNvSpPr txBox="1"/>
          <p:nvPr/>
        </p:nvSpPr>
        <p:spPr>
          <a:xfrm>
            <a:off x="483433" y="1500357"/>
            <a:ext cx="928467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/>
              <a:t>Código básico:  </a:t>
            </a:r>
          </a:p>
          <a:p>
            <a:endParaRPr lang="pt-B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000" dirty="0" err="1"/>
              <a:t>import</a:t>
            </a:r>
            <a:r>
              <a:rPr lang="pt-BR" sz="4000" dirty="0"/>
              <a:t> </a:t>
            </a:r>
            <a:r>
              <a:rPr lang="pt-BR" sz="4000" dirty="0" err="1"/>
              <a:t>matplotlib.pyplot</a:t>
            </a:r>
            <a:r>
              <a:rPr lang="pt-BR" sz="4000" dirty="0"/>
              <a:t> as plt</a:t>
            </a:r>
          </a:p>
        </p:txBody>
      </p:sp>
    </p:spTree>
    <p:extLst>
      <p:ext uri="{BB962C8B-B14F-4D97-AF65-F5344CB8AC3E}">
        <p14:creationId xmlns:p14="http://schemas.microsoft.com/office/powerpoint/2010/main" val="235082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085013-ACEB-4F9C-94B4-9930F5C5A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13E297-A005-F89A-E140-91BCCE3CB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B331BB-6C88-C49C-B93B-9C3441D8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4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466BB23-20DF-88B9-0744-90643D07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Gráfico de Linha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5D78C78-76F2-644B-A0E3-15C7C5021FC6}"/>
              </a:ext>
            </a:extLst>
          </p:cNvPr>
          <p:cNvSpPr txBox="1"/>
          <p:nvPr/>
        </p:nvSpPr>
        <p:spPr>
          <a:xfrm>
            <a:off x="239151" y="1555151"/>
            <a:ext cx="35533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Usado para mostrar evolução ao longo do tempo.</a:t>
            </a:r>
          </a:p>
          <a:p>
            <a:endParaRPr lang="pt-BR" sz="2800" dirty="0"/>
          </a:p>
          <a:p>
            <a:r>
              <a:rPr lang="pt-BR" sz="2800" dirty="0"/>
              <a:t>Exemplo:</a:t>
            </a:r>
          </a:p>
          <a:p>
            <a:pPr marL="715963" indent="-350838" defTabSz="541338"/>
            <a:r>
              <a:rPr lang="pt-BR" sz="2800" dirty="0"/>
              <a:t>x = [1,2,3,4]</a:t>
            </a:r>
          </a:p>
          <a:p>
            <a:pPr marL="715963" indent="-350838" defTabSz="541338"/>
            <a:r>
              <a:rPr lang="pt-BR" sz="2800" dirty="0"/>
              <a:t>y = [10,20,15,30]</a:t>
            </a:r>
          </a:p>
          <a:p>
            <a:pPr marL="715963" indent="-350838" defTabSz="541338"/>
            <a:r>
              <a:rPr lang="pt-BR" sz="2800" dirty="0" err="1"/>
              <a:t>plt.plot</a:t>
            </a:r>
            <a:r>
              <a:rPr lang="pt-BR" sz="2800" dirty="0"/>
              <a:t>(</a:t>
            </a:r>
            <a:r>
              <a:rPr lang="pt-BR" sz="2800" dirty="0" err="1"/>
              <a:t>x,y</a:t>
            </a:r>
            <a:r>
              <a:rPr lang="pt-BR" sz="2800" dirty="0"/>
              <a:t>)</a:t>
            </a:r>
          </a:p>
          <a:p>
            <a:pPr marL="715963" indent="-350838" defTabSz="541338"/>
            <a:r>
              <a:rPr lang="pt-BR" sz="2800" dirty="0" err="1"/>
              <a:t>plt.show</a:t>
            </a:r>
            <a:r>
              <a:rPr lang="pt-BR" sz="2800" dirty="0"/>
              <a:t>()</a:t>
            </a:r>
          </a:p>
        </p:txBody>
      </p:sp>
      <p:pic>
        <p:nvPicPr>
          <p:cNvPr id="8" name="Picture 3" descr="linha.png">
            <a:extLst>
              <a:ext uri="{FF2B5EF4-FFF2-40B4-BE49-F238E27FC236}">
                <a16:creationId xmlns:a16="http://schemas.microsoft.com/office/drawing/2014/main" id="{D6C14529-0711-3AEE-3322-E59D04BDF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078043"/>
            <a:ext cx="7086600" cy="523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6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938DB7E-E222-4D23-D927-5FE4A6EE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33E675-0DFF-389D-3A86-B2016A37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ED5064-22A8-CC60-4C17-B013F520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5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12F8F74-D996-14D7-E6C2-50C6C3AB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Gráfico de Barras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6066793-0E62-6AC8-DA34-E917458B5195}"/>
              </a:ext>
            </a:extLst>
          </p:cNvPr>
          <p:cNvSpPr txBox="1"/>
          <p:nvPr/>
        </p:nvSpPr>
        <p:spPr>
          <a:xfrm>
            <a:off x="438463" y="1353344"/>
            <a:ext cx="77911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Usado para comparar valores.</a:t>
            </a:r>
          </a:p>
          <a:p>
            <a:pPr marL="449263"/>
            <a:r>
              <a:rPr lang="pt-BR" sz="3200" dirty="0" err="1"/>
              <a:t>plt.bar</a:t>
            </a:r>
            <a:r>
              <a:rPr lang="pt-BR" sz="3200" dirty="0"/>
              <a:t>(categorias, valores)</a:t>
            </a:r>
          </a:p>
        </p:txBody>
      </p:sp>
      <p:pic>
        <p:nvPicPr>
          <p:cNvPr id="8" name="Picture 3" descr="barra.png">
            <a:extLst>
              <a:ext uri="{FF2B5EF4-FFF2-40B4-BE49-F238E27FC236}">
                <a16:creationId xmlns:a16="http://schemas.microsoft.com/office/drawing/2014/main" id="{2F776E90-CE00-B8F9-E168-6C9B3AEEA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443" y="1891953"/>
            <a:ext cx="5719094" cy="428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1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595F1ED-7F20-6785-6A5A-66D1EC7A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32815AE-0EE6-7872-551C-AE30BA5DD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ACD911-6DCC-1774-BA8C-A89DD866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6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4BA842B-A71E-A97C-4B04-0E1796F31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Gráfico de Pizza</a:t>
            </a:r>
            <a:endParaRPr lang="pt-BR" dirty="0"/>
          </a:p>
        </p:txBody>
      </p:sp>
      <p:pic>
        <p:nvPicPr>
          <p:cNvPr id="6" name="Picture 3" descr="pizza.png">
            <a:extLst>
              <a:ext uri="{FF2B5EF4-FFF2-40B4-BE49-F238E27FC236}">
                <a16:creationId xmlns:a16="http://schemas.microsoft.com/office/drawing/2014/main" id="{C0550215-154F-20EB-C203-F192AEB8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854" y="1974704"/>
            <a:ext cx="5638995" cy="422924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4D854BA-3987-C267-1369-91446EA7AB7B}"/>
              </a:ext>
            </a:extLst>
          </p:cNvPr>
          <p:cNvSpPr txBox="1"/>
          <p:nvPr/>
        </p:nvSpPr>
        <p:spPr>
          <a:xfrm>
            <a:off x="239151" y="1526939"/>
            <a:ext cx="69711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Mostra porcentagens.</a:t>
            </a:r>
          </a:p>
          <a:p>
            <a:pPr marL="539750"/>
            <a:r>
              <a:rPr lang="pt-BR" sz="3600" dirty="0" err="1"/>
              <a:t>plt.pie</a:t>
            </a:r>
            <a:r>
              <a:rPr lang="pt-BR" sz="3600" dirty="0"/>
              <a:t>(valores, </a:t>
            </a:r>
            <a:r>
              <a:rPr lang="pt-BR" sz="3600" dirty="0" err="1"/>
              <a:t>labels</a:t>
            </a:r>
            <a:r>
              <a:rPr lang="pt-BR" sz="3600" dirty="0"/>
              <a:t>=nomes)</a:t>
            </a:r>
          </a:p>
        </p:txBody>
      </p:sp>
    </p:spTree>
    <p:extLst>
      <p:ext uri="{BB962C8B-B14F-4D97-AF65-F5344CB8AC3E}">
        <p14:creationId xmlns:p14="http://schemas.microsoft.com/office/powerpoint/2010/main" val="848527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BC7D21-D605-D3B8-80DB-58824B12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BE52B75-1D94-06F8-2069-4A6F278C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889B9C-3EAC-3D77-4C8B-0B3820F6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7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16D4A96-5AF7-A3CA-0156-C648BE78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Histograma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0814E0F-68BB-36D8-1812-F2789F856B62}"/>
              </a:ext>
            </a:extLst>
          </p:cNvPr>
          <p:cNvSpPr txBox="1"/>
          <p:nvPr/>
        </p:nvSpPr>
        <p:spPr>
          <a:xfrm>
            <a:off x="393492" y="1543110"/>
            <a:ext cx="6711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/>
              <a:t>Mostra distribuição de dados.</a:t>
            </a:r>
          </a:p>
          <a:p>
            <a:pPr marL="539750"/>
            <a:r>
              <a:rPr lang="pt-BR" sz="3600"/>
              <a:t>plt.hist(dados)</a:t>
            </a:r>
            <a:endParaRPr lang="pt-BR" sz="3600" dirty="0"/>
          </a:p>
        </p:txBody>
      </p:sp>
      <p:pic>
        <p:nvPicPr>
          <p:cNvPr id="8" name="Picture 3" descr="hist.png">
            <a:extLst>
              <a:ext uri="{FF2B5EF4-FFF2-40B4-BE49-F238E27FC236}">
                <a16:creationId xmlns:a16="http://schemas.microsoft.com/office/drawing/2014/main" id="{98FD17FB-8BEB-E3B2-6895-1854EC769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79" y="2078117"/>
            <a:ext cx="5571979" cy="417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03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E148CB7-D7BA-5032-B6DA-E4CD75B6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C3787AE-93BC-2CA9-A167-3F9CACD2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2E2C6A-DA85-CD98-A346-F0CD5D35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7546" y="6356350"/>
            <a:ext cx="87336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8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C339D2A-3203-2311-83D2-D7BF2F33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Personalizando Gráficos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10F18CF-9C0D-6CE8-2D9E-B266853E65F0}"/>
              </a:ext>
            </a:extLst>
          </p:cNvPr>
          <p:cNvSpPr txBox="1"/>
          <p:nvPr/>
        </p:nvSpPr>
        <p:spPr>
          <a:xfrm>
            <a:off x="324466" y="1428294"/>
            <a:ext cx="87205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363" indent="-360363">
              <a:buFont typeface="Arial" panose="020B0604020202020204" pitchFamily="34" charset="0"/>
              <a:buChar char="•"/>
            </a:pPr>
            <a:r>
              <a:rPr lang="pt-BR" sz="3600" dirty="0"/>
              <a:t>Título: </a:t>
            </a:r>
            <a:r>
              <a:rPr lang="pt-BR" sz="3600" dirty="0" err="1"/>
              <a:t>plt.title</a:t>
            </a:r>
            <a:r>
              <a:rPr lang="pt-BR" sz="3600" dirty="0"/>
              <a:t>()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pt-BR" sz="3600" dirty="0"/>
              <a:t>Eixos: </a:t>
            </a:r>
            <a:r>
              <a:rPr lang="pt-BR" sz="3600" dirty="0" err="1"/>
              <a:t>plt.xlabel</a:t>
            </a:r>
            <a:r>
              <a:rPr lang="pt-BR" sz="3600" dirty="0"/>
              <a:t>() e </a:t>
            </a:r>
            <a:r>
              <a:rPr lang="pt-BR" sz="3600" dirty="0" err="1"/>
              <a:t>plt.ylabel</a:t>
            </a:r>
            <a:r>
              <a:rPr lang="pt-BR" sz="3600" dirty="0"/>
              <a:t>()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pt-BR" sz="3600" dirty="0"/>
              <a:t>Grade: </a:t>
            </a:r>
            <a:r>
              <a:rPr lang="pt-BR" sz="3600" dirty="0" err="1"/>
              <a:t>plt.grid</a:t>
            </a:r>
            <a:r>
              <a:rPr lang="pt-BR" sz="3600" dirty="0"/>
              <a:t>()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pt-BR" sz="3600" dirty="0"/>
              <a:t>Legenda: </a:t>
            </a:r>
            <a:r>
              <a:rPr lang="pt-BR" sz="3600" dirty="0" err="1"/>
              <a:t>plt.legend</a:t>
            </a:r>
            <a:r>
              <a:rPr lang="pt-BR" sz="3600" dirty="0"/>
              <a:t>()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pt-BR" sz="3600" dirty="0"/>
              <a:t>Salvar </a:t>
            </a:r>
            <a:r>
              <a:rPr lang="pt-BR" sz="3600" dirty="0" err="1"/>
              <a:t>imagem:plt.savefig</a:t>
            </a:r>
            <a:r>
              <a:rPr lang="pt-BR" sz="3600" dirty="0"/>
              <a:t>('grafico.png')</a:t>
            </a:r>
          </a:p>
        </p:txBody>
      </p:sp>
    </p:spTree>
    <p:extLst>
      <p:ext uri="{BB962C8B-B14F-4D97-AF65-F5344CB8AC3E}">
        <p14:creationId xmlns:p14="http://schemas.microsoft.com/office/powerpoint/2010/main" val="246564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51EBC7A-2EFB-7EE0-61A0-1D20EC37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4DEFBB-8E77-C629-B59C-4B1BB669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D916F6-A058-08A9-C07D-FB8E43FC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8ACC40A-06C9-2F7F-6705-CD4CCB9E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Programa Completo</a:t>
            </a:r>
            <a:endParaRPr lang="pt-BR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D8D14D0A-D21D-6CC6-2D21-E7B307BD5CD6}"/>
              </a:ext>
            </a:extLst>
          </p:cNvPr>
          <p:cNvSpPr txBox="1">
            <a:spLocks/>
          </p:cNvSpPr>
          <p:nvPr/>
        </p:nvSpPr>
        <p:spPr>
          <a:xfrm>
            <a:off x="198120" y="1437622"/>
            <a:ext cx="5663034" cy="457343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2000" dirty="0" err="1"/>
              <a:t>import</a:t>
            </a:r>
            <a:r>
              <a:rPr lang="pt-BR" sz="2000" dirty="0"/>
              <a:t> </a:t>
            </a:r>
            <a:r>
              <a:rPr lang="pt-BR" sz="2000" dirty="0" err="1"/>
              <a:t>matplotlib.pyplot</a:t>
            </a:r>
            <a:r>
              <a:rPr lang="pt-BR" sz="2000" dirty="0"/>
              <a:t> as plt</a:t>
            </a:r>
            <a:br>
              <a:rPr lang="pt-BR" sz="1800" dirty="0"/>
            </a:br>
            <a:r>
              <a:rPr lang="pt-BR" sz="800" dirty="0"/>
              <a:t> </a:t>
            </a:r>
            <a:br>
              <a:rPr lang="pt-BR" sz="1800" dirty="0"/>
            </a:br>
            <a:r>
              <a:rPr lang="pt-BR" sz="2000" dirty="0"/>
              <a:t># Dados do gráfico</a:t>
            </a:r>
            <a:br>
              <a:rPr lang="pt-BR" sz="2000" dirty="0"/>
            </a:br>
            <a:r>
              <a:rPr lang="pt-BR" sz="2000" dirty="0"/>
              <a:t>meses = ["Jan", "</a:t>
            </a:r>
            <a:r>
              <a:rPr lang="pt-BR" sz="2000" dirty="0" err="1"/>
              <a:t>Fev</a:t>
            </a:r>
            <a:r>
              <a:rPr lang="pt-BR" sz="2000" dirty="0"/>
              <a:t>", "Mar", "</a:t>
            </a:r>
            <a:r>
              <a:rPr lang="pt-BR" sz="2000" dirty="0" err="1"/>
              <a:t>Abr</a:t>
            </a:r>
            <a:r>
              <a:rPr lang="pt-BR" sz="2000" dirty="0"/>
              <a:t>", "Mai"]</a:t>
            </a:r>
            <a:br>
              <a:rPr lang="pt-BR" sz="2000" dirty="0"/>
            </a:br>
            <a:r>
              <a:rPr lang="pt-BR" sz="2000" dirty="0"/>
              <a:t>vendas = [10, 15, 8, 20, 18]</a:t>
            </a:r>
            <a:br>
              <a:rPr lang="pt-BR" sz="1800" dirty="0"/>
            </a:br>
            <a:r>
              <a:rPr lang="pt-BR" sz="800" dirty="0"/>
              <a:t>  </a:t>
            </a:r>
            <a:br>
              <a:rPr lang="pt-BR" sz="1800" dirty="0"/>
            </a:br>
            <a:r>
              <a:rPr lang="pt-BR" sz="2000" dirty="0"/>
              <a:t># Criação do gráfico de linha</a:t>
            </a:r>
            <a:br>
              <a:rPr lang="pt-BR" sz="2000" dirty="0"/>
            </a:br>
            <a:r>
              <a:rPr lang="pt-BR" sz="2000" dirty="0" err="1"/>
              <a:t>plt.plot</a:t>
            </a:r>
            <a:r>
              <a:rPr lang="pt-BR" sz="2000" dirty="0"/>
              <a:t>(meses, vendas, label="Vendas Mensais")</a:t>
            </a:r>
            <a:br>
              <a:rPr lang="pt-BR" sz="1800" dirty="0"/>
            </a:br>
            <a:r>
              <a:rPr lang="pt-BR" sz="800" dirty="0"/>
              <a:t>  </a:t>
            </a:r>
            <a:br>
              <a:rPr lang="pt-BR" sz="1800" dirty="0"/>
            </a:br>
            <a:r>
              <a:rPr lang="pt-BR" sz="1800" dirty="0"/>
              <a:t># Título do gráfico</a:t>
            </a:r>
            <a:br>
              <a:rPr lang="pt-BR" sz="1800" dirty="0"/>
            </a:br>
            <a:r>
              <a:rPr lang="pt-BR" sz="1800" dirty="0" err="1"/>
              <a:t>plt.title</a:t>
            </a:r>
            <a:r>
              <a:rPr lang="pt-BR" sz="1800" dirty="0"/>
              <a:t>("Controle de Vendas")</a:t>
            </a:r>
            <a:br>
              <a:rPr lang="pt-BR" sz="1800" dirty="0"/>
            </a:br>
            <a:r>
              <a:rPr lang="pt-BR" sz="800" dirty="0"/>
              <a:t>  </a:t>
            </a:r>
            <a:br>
              <a:rPr lang="pt-BR" sz="1800" dirty="0"/>
            </a:br>
            <a:r>
              <a:rPr lang="pt-BR" sz="2000" dirty="0"/>
              <a:t># Nome do eixo X</a:t>
            </a:r>
            <a:br>
              <a:rPr lang="pt-BR" sz="2000" dirty="0"/>
            </a:br>
            <a:r>
              <a:rPr lang="pt-BR" sz="2000" dirty="0" err="1"/>
              <a:t>plt.xlabel</a:t>
            </a:r>
            <a:r>
              <a:rPr lang="pt-BR" sz="2000" dirty="0"/>
              <a:t>("Meses")</a:t>
            </a:r>
            <a:br>
              <a:rPr lang="pt-BR" sz="1800" dirty="0"/>
            </a:br>
            <a:r>
              <a:rPr lang="pt-BR" sz="800" dirty="0"/>
              <a:t>  </a:t>
            </a:r>
            <a:br>
              <a:rPr lang="pt-BR" sz="1800" dirty="0"/>
            </a:br>
            <a:r>
              <a:rPr lang="pt-BR" sz="2000" dirty="0"/>
              <a:t># Nome do eixo Y</a:t>
            </a:r>
            <a:br>
              <a:rPr lang="pt-BR" sz="2000" dirty="0"/>
            </a:br>
            <a:r>
              <a:rPr lang="pt-BR" sz="2000" dirty="0" err="1"/>
              <a:t>plt.ylabel</a:t>
            </a:r>
            <a:r>
              <a:rPr lang="pt-BR" sz="2000" dirty="0"/>
              <a:t>("Quantidade Vendida")</a:t>
            </a:r>
            <a:br>
              <a:rPr lang="pt-BR" sz="1800" dirty="0"/>
            </a:br>
            <a:r>
              <a:rPr lang="pt-BR" sz="800" dirty="0"/>
              <a:t>  </a:t>
            </a:r>
            <a:br>
              <a:rPr lang="pt-BR" sz="1800" dirty="0"/>
            </a:br>
            <a:r>
              <a:rPr lang="pt-BR" sz="2000" dirty="0"/>
              <a:t># Mostra a grade</a:t>
            </a:r>
            <a:br>
              <a:rPr lang="pt-BR" sz="2000" dirty="0"/>
            </a:br>
            <a:r>
              <a:rPr lang="pt-BR" sz="2000" dirty="0" err="1"/>
              <a:t>plt.grid</a:t>
            </a:r>
            <a:r>
              <a:rPr lang="pt-BR" sz="2000" dirty="0"/>
              <a:t>()</a:t>
            </a:r>
            <a:br>
              <a:rPr lang="pt-BR" sz="1800" dirty="0"/>
            </a:br>
            <a:endParaRPr lang="pt-BR" sz="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35D2B5-0716-DE15-6F16-D128849B8093}"/>
              </a:ext>
            </a:extLst>
          </p:cNvPr>
          <p:cNvSpPr txBox="1"/>
          <p:nvPr/>
        </p:nvSpPr>
        <p:spPr>
          <a:xfrm>
            <a:off x="5861154" y="1165512"/>
            <a:ext cx="368560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# Mostra a legenda</a:t>
            </a:r>
            <a:br>
              <a:rPr lang="pt-BR" sz="2000" dirty="0"/>
            </a:br>
            <a:r>
              <a:rPr lang="pt-BR" sz="2000" dirty="0" err="1"/>
              <a:t>plt.legend</a:t>
            </a:r>
            <a:r>
              <a:rPr lang="pt-BR" sz="2000" dirty="0"/>
              <a:t>()</a:t>
            </a:r>
          </a:p>
          <a:p>
            <a:pPr marL="0" indent="0">
              <a:buNone/>
            </a:pPr>
            <a:r>
              <a:rPr lang="pt-BR" sz="800" dirty="0"/>
              <a:t> </a:t>
            </a:r>
          </a:p>
          <a:p>
            <a:pPr marL="0" indent="0">
              <a:buNone/>
            </a:pPr>
            <a:r>
              <a:rPr lang="pt-BR" sz="2000" dirty="0"/>
              <a:t># Salva a imagem do gráfico</a:t>
            </a:r>
            <a:br>
              <a:rPr lang="pt-BR" sz="2000" dirty="0"/>
            </a:br>
            <a:r>
              <a:rPr lang="pt-BR" sz="2000" dirty="0" err="1"/>
              <a:t>plt.savefig</a:t>
            </a:r>
            <a:r>
              <a:rPr lang="pt-BR" sz="2000" dirty="0"/>
              <a:t>("grafico.png")</a:t>
            </a:r>
            <a:br>
              <a:rPr lang="pt-BR" sz="1800" dirty="0"/>
            </a:br>
            <a:r>
              <a:rPr lang="pt-BR" sz="800" dirty="0"/>
              <a:t> </a:t>
            </a:r>
            <a:br>
              <a:rPr lang="pt-BR" sz="1800" dirty="0"/>
            </a:br>
            <a:r>
              <a:rPr lang="pt-BR" sz="2000" dirty="0"/>
              <a:t># Mostra o gráfico na tela</a:t>
            </a:r>
            <a:br>
              <a:rPr lang="pt-BR" sz="2000" dirty="0"/>
            </a:br>
            <a:r>
              <a:rPr lang="pt-BR" sz="2000" dirty="0" err="1"/>
              <a:t>plt.show</a:t>
            </a:r>
            <a:r>
              <a:rPr lang="pt-BR" sz="2000" dirty="0"/>
              <a:t>()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016BBB9-EEA2-5C59-4B6C-2B5EBD91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271" y="2960519"/>
            <a:ext cx="3685609" cy="339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515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F5C896-65A8-7DBB-9D98-E6FB18300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D2CA1BB-AE49-D10F-A932-1BF7114F8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Cap12-Exem03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6F8D7F-18B6-9BBF-C91C-65D973D0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10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C6D59A9-FFAF-DCC2-EA52-BF30A1175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 </a:t>
            </a:r>
            <a:br>
              <a:rPr lang="pt-BR" dirty="0"/>
            </a:br>
            <a:r>
              <a:rPr lang="pt-BR" b="1" i="1" dirty="0"/>
              <a:t>P</a:t>
            </a:r>
            <a:r>
              <a:rPr lang="pt-BR" sz="4000" b="1" i="1" dirty="0"/>
              <a:t>rograma em Python para gerar o gráfico de uma função do primeiro grau</a:t>
            </a:r>
            <a:br>
              <a:rPr lang="pt-BR" dirty="0"/>
            </a:br>
            <a:r>
              <a:rPr lang="pt-BR" dirty="0"/>
              <a:t>                                                            </a:t>
            </a:r>
            <a:r>
              <a:rPr lang="pt-BR" sz="1800" dirty="0"/>
              <a:t>Plotar gráfico de uma função do primeiro grau</a:t>
            </a:r>
            <a:br>
              <a:rPr lang="pt-BR" sz="1800" dirty="0"/>
            </a:br>
            <a:r>
              <a:rPr lang="pt-BR" sz="1800" dirty="0"/>
              <a:t>                                                                                                 Digite o valor de a: 2</a:t>
            </a:r>
            <a:br>
              <a:rPr lang="pt-BR" sz="1800" dirty="0"/>
            </a:br>
            <a:r>
              <a:rPr lang="pt-BR" sz="1800" dirty="0"/>
              <a:t>                                                                                                   Digite o valor de b: -4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2855CB-D1EF-EB1C-00B9-811721777CC2}"/>
              </a:ext>
            </a:extLst>
          </p:cNvPr>
          <p:cNvSpPr txBox="1"/>
          <p:nvPr/>
        </p:nvSpPr>
        <p:spPr>
          <a:xfrm>
            <a:off x="118497" y="1306710"/>
            <a:ext cx="6521414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/>
              <a:t>import</a:t>
            </a:r>
            <a:r>
              <a:rPr lang="pt-BR" sz="2000" dirty="0"/>
              <a:t> </a:t>
            </a:r>
            <a:r>
              <a:rPr lang="pt-BR" sz="2000" dirty="0" err="1"/>
              <a:t>matplotlib.pyplot</a:t>
            </a:r>
            <a:r>
              <a:rPr lang="pt-BR" sz="2000" dirty="0"/>
              <a:t> as plt</a:t>
            </a:r>
          </a:p>
          <a:p>
            <a:endParaRPr lang="pt-BR" sz="800" dirty="0"/>
          </a:p>
          <a:p>
            <a:r>
              <a:rPr lang="pt-BR" sz="2000" dirty="0" err="1"/>
              <a:t>def</a:t>
            </a:r>
            <a:r>
              <a:rPr lang="pt-BR" sz="2000" dirty="0"/>
              <a:t> </a:t>
            </a:r>
            <a:r>
              <a:rPr lang="pt-BR" sz="2000" dirty="0" err="1"/>
              <a:t>plotar_funcao</a:t>
            </a:r>
            <a:r>
              <a:rPr lang="pt-BR" sz="2000" dirty="0"/>
              <a:t>(a, b):</a:t>
            </a:r>
          </a:p>
          <a:p>
            <a:r>
              <a:rPr lang="pt-BR" sz="2000" dirty="0"/>
              <a:t>    x = range(-10, 11)</a:t>
            </a:r>
          </a:p>
          <a:p>
            <a:r>
              <a:rPr lang="pt-BR" sz="2000" dirty="0"/>
              <a:t>    y = [a * xi + b for xi in x]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plt.plot</a:t>
            </a:r>
            <a:r>
              <a:rPr lang="pt-BR" sz="2000" dirty="0"/>
              <a:t>(x, y)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plt.xlabel</a:t>
            </a:r>
            <a:r>
              <a:rPr lang="pt-BR" sz="2000" dirty="0"/>
              <a:t>('x')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plt.ylabel</a:t>
            </a:r>
            <a:r>
              <a:rPr lang="pt-BR" sz="2000" dirty="0"/>
              <a:t>('y')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plt.title</a:t>
            </a:r>
            <a:r>
              <a:rPr lang="pt-BR" sz="2000" dirty="0"/>
              <a:t>('Gráfico de uma função do primeiro grau')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plt.grid</a:t>
            </a:r>
            <a:r>
              <a:rPr lang="pt-BR" sz="2000" dirty="0"/>
              <a:t>(True)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plt.show</a:t>
            </a:r>
            <a:r>
              <a:rPr lang="pt-BR" sz="2000" dirty="0"/>
              <a:t>()</a:t>
            </a:r>
          </a:p>
          <a:p>
            <a:r>
              <a:rPr lang="pt-BR" sz="800" dirty="0"/>
              <a:t>     </a:t>
            </a:r>
          </a:p>
          <a:p>
            <a:r>
              <a:rPr lang="pt-BR" sz="2000" dirty="0" err="1"/>
              <a:t>def</a:t>
            </a:r>
            <a:r>
              <a:rPr lang="pt-BR" sz="2000" dirty="0"/>
              <a:t> entrada():</a:t>
            </a:r>
          </a:p>
          <a:p>
            <a:r>
              <a:rPr lang="pt-BR" sz="2000" dirty="0"/>
              <a:t>    print('Plotar gráfico de uma função do primeiro grau')</a:t>
            </a:r>
          </a:p>
          <a:p>
            <a:r>
              <a:rPr lang="pt-BR" sz="2000" dirty="0"/>
              <a:t>    a = float(input("Digite o valor de a: "))</a:t>
            </a:r>
          </a:p>
          <a:p>
            <a:r>
              <a:rPr lang="pt-BR" sz="2000" dirty="0"/>
              <a:t>    b = float(input("Digite o valor de b: "))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return</a:t>
            </a:r>
            <a:r>
              <a:rPr lang="pt-BR" sz="2000" dirty="0"/>
              <a:t> </a:t>
            </a:r>
            <a:r>
              <a:rPr lang="pt-BR" sz="2000" dirty="0" err="1"/>
              <a:t>a,b</a:t>
            </a:r>
            <a:endParaRPr lang="pt-BR" sz="2000" dirty="0"/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3D251D2-B321-B2A5-3C7C-6D2CB23E699B}"/>
              </a:ext>
            </a:extLst>
          </p:cNvPr>
          <p:cNvSpPr txBox="1"/>
          <p:nvPr/>
        </p:nvSpPr>
        <p:spPr>
          <a:xfrm>
            <a:off x="4103138" y="1437300"/>
            <a:ext cx="256235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/>
              <a:t>def</a:t>
            </a:r>
            <a:r>
              <a:rPr lang="pt-BR" sz="2000" dirty="0"/>
              <a:t> </a:t>
            </a:r>
            <a:r>
              <a:rPr lang="pt-BR" sz="2000" dirty="0" err="1"/>
              <a:t>main</a:t>
            </a:r>
            <a:r>
              <a:rPr lang="pt-BR" sz="2000" dirty="0"/>
              <a:t> 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a,b</a:t>
            </a:r>
            <a:r>
              <a:rPr lang="pt-BR" sz="2000" dirty="0"/>
              <a:t> = entrada()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plotar_funcao</a:t>
            </a:r>
            <a:r>
              <a:rPr lang="pt-BR" sz="2000" dirty="0"/>
              <a:t>(a, b)</a:t>
            </a:r>
          </a:p>
          <a:p>
            <a:endParaRPr lang="pt-BR" sz="2000" dirty="0"/>
          </a:p>
          <a:p>
            <a:r>
              <a:rPr lang="pt-BR" sz="2000" dirty="0" err="1"/>
              <a:t>main</a:t>
            </a:r>
            <a:r>
              <a:rPr lang="pt-BR" sz="2000" dirty="0"/>
              <a:t>()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2FA44F6-F94A-6D9D-1581-5FC5D03FA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1" y="2208792"/>
            <a:ext cx="4876800" cy="414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84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E87E343-8BAD-8FB2-1369-0EAE188A9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27A6A9-00F1-A171-AC2F-0DAEE5B63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Cap12-Exem04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1D22D6-B63F-7036-A373-E2658D7D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b="1" smtClean="0"/>
              <a:pPr/>
              <a:t>11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5336F47-DD30-5FAA-E504-EB4EB072E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245205"/>
            <a:ext cx="9862002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i="1" dirty="0"/>
              <a:t>Programa em Python para gerar o gráfico de uma função do 2º grau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453ED9-4273-CA61-9E83-DDC95DAEC2B3}"/>
              </a:ext>
            </a:extLst>
          </p:cNvPr>
          <p:cNvSpPr txBox="1"/>
          <p:nvPr/>
        </p:nvSpPr>
        <p:spPr>
          <a:xfrm>
            <a:off x="14991" y="1368336"/>
            <a:ext cx="6925456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/>
              <a:t>import</a:t>
            </a:r>
            <a:r>
              <a:rPr lang="pt-BR" sz="2000" dirty="0"/>
              <a:t> </a:t>
            </a:r>
            <a:r>
              <a:rPr lang="pt-BR" sz="2000" dirty="0" err="1"/>
              <a:t>matplotlib.pyplot</a:t>
            </a:r>
            <a:r>
              <a:rPr lang="pt-BR" sz="2000" dirty="0"/>
              <a:t> as plt</a:t>
            </a:r>
          </a:p>
          <a:p>
            <a:r>
              <a:rPr lang="pt-BR" sz="2000" dirty="0" err="1"/>
              <a:t>import</a:t>
            </a:r>
            <a:r>
              <a:rPr lang="pt-BR" sz="2000" dirty="0"/>
              <a:t> numpy as </a:t>
            </a:r>
            <a:r>
              <a:rPr lang="pt-BR" sz="2000" dirty="0" err="1"/>
              <a:t>np</a:t>
            </a:r>
            <a:endParaRPr lang="pt-BR" sz="2000" dirty="0"/>
          </a:p>
          <a:p>
            <a:r>
              <a:rPr lang="pt-BR" sz="800" dirty="0"/>
              <a:t> </a:t>
            </a:r>
          </a:p>
          <a:p>
            <a:r>
              <a:rPr lang="pt-BR" sz="2000" dirty="0" err="1"/>
              <a:t>def</a:t>
            </a:r>
            <a:r>
              <a:rPr lang="pt-BR" sz="2000" dirty="0"/>
              <a:t> </a:t>
            </a:r>
            <a:r>
              <a:rPr lang="pt-BR" sz="2000" dirty="0" err="1"/>
              <a:t>plot_funcao_segundo_grau</a:t>
            </a:r>
            <a:r>
              <a:rPr lang="pt-BR" sz="2000" dirty="0"/>
              <a:t>(a, b, c):</a:t>
            </a:r>
          </a:p>
          <a:p>
            <a:r>
              <a:rPr lang="pt-BR" sz="2000" dirty="0"/>
              <a:t>   x = </a:t>
            </a:r>
            <a:r>
              <a:rPr lang="pt-BR" sz="2000" dirty="0" err="1"/>
              <a:t>np.linspace</a:t>
            </a:r>
            <a:r>
              <a:rPr lang="pt-BR" sz="2000" dirty="0"/>
              <a:t>(-10, 10, 400)</a:t>
            </a:r>
          </a:p>
          <a:p>
            <a:r>
              <a:rPr lang="pt-BR" sz="2000" dirty="0"/>
              <a:t>   y = a * x**2 + b * x + c</a:t>
            </a:r>
          </a:p>
          <a:p>
            <a:r>
              <a:rPr lang="pt-BR" sz="2000" dirty="0"/>
              <a:t>   </a:t>
            </a:r>
            <a:r>
              <a:rPr lang="pt-BR" sz="2000" dirty="0" err="1"/>
              <a:t>plt.plot</a:t>
            </a:r>
            <a:r>
              <a:rPr lang="pt-BR" sz="2000" dirty="0"/>
              <a:t>(x, y)</a:t>
            </a:r>
          </a:p>
          <a:p>
            <a:r>
              <a:rPr lang="pt-BR" sz="2000" dirty="0"/>
              <a:t>   </a:t>
            </a:r>
            <a:r>
              <a:rPr lang="pt-BR" sz="2000" dirty="0" err="1"/>
              <a:t>plt.xlabel</a:t>
            </a:r>
            <a:r>
              <a:rPr lang="pt-BR" sz="2000" dirty="0"/>
              <a:t>('x')</a:t>
            </a:r>
          </a:p>
          <a:p>
            <a:r>
              <a:rPr lang="pt-BR" sz="2000" dirty="0"/>
              <a:t>   </a:t>
            </a:r>
            <a:r>
              <a:rPr lang="pt-BR" sz="2000" dirty="0" err="1"/>
              <a:t>plt.ylabel</a:t>
            </a:r>
            <a:r>
              <a:rPr lang="pt-BR" sz="2000" dirty="0"/>
              <a:t>('f(x)')</a:t>
            </a:r>
          </a:p>
          <a:p>
            <a:r>
              <a:rPr lang="pt-BR" sz="2000" dirty="0"/>
              <a:t>   </a:t>
            </a:r>
            <a:r>
              <a:rPr lang="pt-BR" sz="2000" dirty="0" err="1"/>
              <a:t>plt.title</a:t>
            </a:r>
            <a:r>
              <a:rPr lang="pt-BR" sz="2000" dirty="0"/>
              <a:t>('Gráfico da Função do Segundo Grau')</a:t>
            </a:r>
          </a:p>
          <a:p>
            <a:r>
              <a:rPr lang="pt-BR" sz="2000" dirty="0"/>
              <a:t>   </a:t>
            </a:r>
            <a:r>
              <a:rPr lang="pt-BR" sz="2000" dirty="0" err="1"/>
              <a:t>plt.grid</a:t>
            </a:r>
            <a:r>
              <a:rPr lang="pt-BR" sz="2000" dirty="0"/>
              <a:t>(True)</a:t>
            </a:r>
          </a:p>
          <a:p>
            <a:r>
              <a:rPr lang="pt-BR" sz="2000" dirty="0"/>
              <a:t>   </a:t>
            </a:r>
            <a:r>
              <a:rPr lang="pt-BR" sz="2000" dirty="0" err="1"/>
              <a:t>plt.show</a:t>
            </a:r>
            <a:r>
              <a:rPr lang="pt-BR" sz="2000" dirty="0"/>
              <a:t>()</a:t>
            </a:r>
          </a:p>
          <a:p>
            <a:r>
              <a:rPr lang="pt-BR" sz="800" dirty="0"/>
              <a:t> </a:t>
            </a:r>
          </a:p>
          <a:p>
            <a:r>
              <a:rPr lang="pt-BR" sz="2000" dirty="0"/>
              <a:t>print("Plotar gráfico de uma equação do segundo grau")</a:t>
            </a:r>
          </a:p>
          <a:p>
            <a:r>
              <a:rPr lang="pt-BR" sz="2000" dirty="0"/>
              <a:t>a = float(input("Digite o coeficiente a : "))</a:t>
            </a:r>
          </a:p>
          <a:p>
            <a:r>
              <a:rPr lang="pt-BR" sz="2000" dirty="0"/>
              <a:t>b = float(input("Digite o coeficiente b : "))</a:t>
            </a:r>
          </a:p>
          <a:p>
            <a:r>
              <a:rPr lang="pt-BR" sz="2000" dirty="0"/>
              <a:t>c = float(input("Digite o coeficiente c : "))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8F0854-C6BC-9AA5-62D0-A5CA5E820C8E}"/>
              </a:ext>
            </a:extLst>
          </p:cNvPr>
          <p:cNvSpPr txBox="1"/>
          <p:nvPr/>
        </p:nvSpPr>
        <p:spPr>
          <a:xfrm>
            <a:off x="4735327" y="1297616"/>
            <a:ext cx="29396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/>
              <a:t>if</a:t>
            </a:r>
            <a:r>
              <a:rPr lang="pt-BR" sz="2000" dirty="0"/>
              <a:t> a==0:</a:t>
            </a:r>
          </a:p>
          <a:p>
            <a:pPr marL="809625" indent="-809625"/>
            <a:r>
              <a:rPr lang="pt-BR" sz="2000" dirty="0"/>
              <a:t>   print("Não é uma equação do segundo grau!")</a:t>
            </a:r>
          </a:p>
          <a:p>
            <a:r>
              <a:rPr lang="pt-BR" sz="2000" dirty="0" err="1"/>
              <a:t>else</a:t>
            </a:r>
            <a:r>
              <a:rPr lang="pt-BR" sz="2000" dirty="0"/>
              <a:t>:</a:t>
            </a:r>
          </a:p>
          <a:p>
            <a:pPr marL="179388"/>
            <a:r>
              <a:rPr lang="pt-BR" sz="2000" dirty="0" err="1"/>
              <a:t>plot_funcao_segundo_grau</a:t>
            </a:r>
            <a:r>
              <a:rPr lang="pt-BR" sz="2000" dirty="0"/>
              <a:t>(a, b, c)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B72AC57-1C02-EBEE-0B39-25869C49A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435" y="2666002"/>
            <a:ext cx="4429566" cy="3763048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1D2D1644-175E-EC7B-278D-5BCF049C593F}"/>
              </a:ext>
            </a:extLst>
          </p:cNvPr>
          <p:cNvSpPr txBox="1"/>
          <p:nvPr/>
        </p:nvSpPr>
        <p:spPr>
          <a:xfrm>
            <a:off x="7709014" y="1368336"/>
            <a:ext cx="44230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Plotar gráfico de uma equação do segundo grau</a:t>
            </a:r>
          </a:p>
          <a:p>
            <a:r>
              <a:rPr lang="pt-BR" sz="1600" dirty="0"/>
              <a:t>Digite o coeficiente a : 1</a:t>
            </a:r>
          </a:p>
          <a:p>
            <a:r>
              <a:rPr lang="pt-BR" sz="1600" dirty="0"/>
              <a:t>Digite o coeficiente b : 2</a:t>
            </a:r>
          </a:p>
          <a:p>
            <a:r>
              <a:rPr lang="pt-BR" sz="1600" dirty="0"/>
              <a:t>Digite o coeficiente c : -4</a:t>
            </a:r>
          </a:p>
        </p:txBody>
      </p:sp>
    </p:spTree>
    <p:extLst>
      <p:ext uri="{BB962C8B-B14F-4D97-AF65-F5344CB8AC3E}">
        <p14:creationId xmlns:p14="http://schemas.microsoft.com/office/powerpoint/2010/main" val="82136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50AA7A8-30E3-710A-5810-4D0FEF61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59F37B-DF27-B085-10A1-2FAF64F1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Cap12-Exem05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14DB48-E249-53E1-6E6B-7CF90D87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12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19D6BF3-1F42-9AC6-7A4F-C4E51C680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 Extra 01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535833-5739-2DA5-D965-44FEBBE57395}"/>
              </a:ext>
            </a:extLst>
          </p:cNvPr>
          <p:cNvSpPr txBox="1"/>
          <p:nvPr/>
        </p:nvSpPr>
        <p:spPr>
          <a:xfrm>
            <a:off x="239151" y="1546523"/>
            <a:ext cx="36126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</a:t>
            </a:r>
            <a:r>
              <a:rPr lang="pt-BR" sz="2400" dirty="0" err="1"/>
              <a:t>matplotlib.pyplot</a:t>
            </a:r>
            <a:r>
              <a:rPr lang="pt-BR" sz="2400" dirty="0"/>
              <a:t> as plt</a:t>
            </a:r>
          </a:p>
          <a:p>
            <a:r>
              <a:rPr lang="pt-BR" sz="2400" dirty="0" err="1"/>
              <a:t>import</a:t>
            </a:r>
            <a:r>
              <a:rPr lang="pt-BR" sz="2400" dirty="0"/>
              <a:t> numpy as </a:t>
            </a:r>
            <a:r>
              <a:rPr lang="pt-BR" sz="2400" dirty="0" err="1"/>
              <a:t>np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x = </a:t>
            </a:r>
            <a:r>
              <a:rPr lang="pt-BR" sz="2400" dirty="0" err="1"/>
              <a:t>np.array</a:t>
            </a:r>
            <a:r>
              <a:rPr lang="pt-BR" sz="2400" dirty="0"/>
              <a:t>([0, 3, 6])</a:t>
            </a:r>
          </a:p>
          <a:p>
            <a:r>
              <a:rPr lang="pt-BR" sz="2400" dirty="0"/>
              <a:t>y = </a:t>
            </a:r>
            <a:r>
              <a:rPr lang="pt-BR" sz="2400" dirty="0" err="1"/>
              <a:t>np.array</a:t>
            </a:r>
            <a:r>
              <a:rPr lang="pt-BR" sz="2400" dirty="0"/>
              <a:t>([0, 100, 250])</a:t>
            </a:r>
          </a:p>
          <a:p>
            <a:endParaRPr lang="pt-BR" sz="2400" dirty="0"/>
          </a:p>
          <a:p>
            <a:r>
              <a:rPr lang="pt-BR" sz="2400" dirty="0" err="1"/>
              <a:t>plt.plot</a:t>
            </a:r>
            <a:r>
              <a:rPr lang="pt-BR" sz="2400" dirty="0"/>
              <a:t>(x, y)</a:t>
            </a:r>
          </a:p>
          <a:p>
            <a:r>
              <a:rPr lang="pt-BR" sz="2400" dirty="0" err="1"/>
              <a:t>plt.show</a:t>
            </a:r>
            <a:r>
              <a:rPr lang="pt-BR" sz="2400" dirty="0"/>
              <a:t>()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29F4317-8D1B-D08C-3C64-6E477FD58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530" y="1654851"/>
            <a:ext cx="53149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14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4D75A5-CC94-7CB9-DE9D-9B66191D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C2803AD-AA19-764B-970F-740FA9DB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Cap12-Exem06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5F984F-D0BE-B84E-C6C4-CB16AF99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13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1A5FAF5-C259-48F6-DA0B-C665A60B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 Extra 02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E0B1AE-D664-7AAA-45DB-B90459ADC191}"/>
              </a:ext>
            </a:extLst>
          </p:cNvPr>
          <p:cNvSpPr txBox="1"/>
          <p:nvPr/>
        </p:nvSpPr>
        <p:spPr>
          <a:xfrm>
            <a:off x="239151" y="1493520"/>
            <a:ext cx="43633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</a:t>
            </a:r>
            <a:r>
              <a:rPr lang="pt-BR" sz="2400" dirty="0" err="1"/>
              <a:t>matplotlib.pyplot</a:t>
            </a:r>
            <a:r>
              <a:rPr lang="pt-BR" sz="2400" dirty="0"/>
              <a:t> as plt</a:t>
            </a:r>
          </a:p>
          <a:p>
            <a:r>
              <a:rPr lang="pt-BR" sz="2400" dirty="0" err="1"/>
              <a:t>import</a:t>
            </a:r>
            <a:r>
              <a:rPr lang="pt-BR" sz="2400" dirty="0"/>
              <a:t> numpy as </a:t>
            </a:r>
            <a:r>
              <a:rPr lang="pt-BR" sz="2400" dirty="0" err="1"/>
              <a:t>np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ypoints</a:t>
            </a:r>
            <a:r>
              <a:rPr lang="pt-BR" sz="2400" dirty="0"/>
              <a:t> = </a:t>
            </a:r>
            <a:r>
              <a:rPr lang="pt-BR" sz="2400" dirty="0" err="1"/>
              <a:t>np.array</a:t>
            </a:r>
            <a:r>
              <a:rPr lang="pt-BR" sz="2400" dirty="0"/>
              <a:t>([3, 8, 1, 10])</a:t>
            </a:r>
          </a:p>
          <a:p>
            <a:endParaRPr lang="pt-BR" sz="2400" dirty="0"/>
          </a:p>
          <a:p>
            <a:r>
              <a:rPr lang="pt-BR" sz="2400" dirty="0" err="1"/>
              <a:t>plt.plot</a:t>
            </a:r>
            <a:r>
              <a:rPr lang="pt-BR" sz="2400" dirty="0"/>
              <a:t>(</a:t>
            </a:r>
            <a:r>
              <a:rPr lang="pt-BR" sz="2400" dirty="0" err="1"/>
              <a:t>ypoints</a:t>
            </a:r>
            <a:r>
              <a:rPr lang="pt-BR" sz="2400" dirty="0"/>
              <a:t>, </a:t>
            </a:r>
            <a:r>
              <a:rPr lang="pt-BR" sz="2400" dirty="0" err="1"/>
              <a:t>marker</a:t>
            </a:r>
            <a:r>
              <a:rPr lang="pt-BR" sz="2400" dirty="0"/>
              <a:t> = 'o')</a:t>
            </a:r>
          </a:p>
          <a:p>
            <a:r>
              <a:rPr lang="pt-BR" sz="2400" dirty="0" err="1"/>
              <a:t>plt.show</a:t>
            </a:r>
            <a:r>
              <a:rPr lang="pt-BR" sz="2400" dirty="0"/>
              <a:t>()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168E98-6C60-C847-38B1-EED9058F8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1329349"/>
            <a:ext cx="6187440" cy="469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25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4766B5-4CFA-7CB3-4CB1-6AFE4AAC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B2264D-F76E-352B-261C-3D59DC68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Cap12-Exem07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989039-921B-CD57-AC6D-8509BB71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14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D46AFF3-A3C3-ACCF-D7FC-C0510A07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 Extra 03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E55DB0-C1DF-CF71-C4F4-6D41BA3C6B22}"/>
              </a:ext>
            </a:extLst>
          </p:cNvPr>
          <p:cNvSpPr txBox="1"/>
          <p:nvPr/>
        </p:nvSpPr>
        <p:spPr>
          <a:xfrm>
            <a:off x="239151" y="1737360"/>
            <a:ext cx="50948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</a:t>
            </a:r>
            <a:r>
              <a:rPr lang="pt-BR" sz="2400" dirty="0" err="1"/>
              <a:t>matplotlib.pyplot</a:t>
            </a:r>
            <a:r>
              <a:rPr lang="pt-BR" sz="2400" dirty="0"/>
              <a:t> as plt</a:t>
            </a:r>
          </a:p>
          <a:p>
            <a:r>
              <a:rPr lang="pt-BR" sz="2400" dirty="0" err="1"/>
              <a:t>import</a:t>
            </a:r>
            <a:r>
              <a:rPr lang="pt-BR" sz="2400" dirty="0"/>
              <a:t> numpy as </a:t>
            </a:r>
            <a:r>
              <a:rPr lang="pt-BR" sz="2400" dirty="0" err="1"/>
              <a:t>np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ypoints</a:t>
            </a:r>
            <a:r>
              <a:rPr lang="pt-BR" sz="2400" dirty="0"/>
              <a:t> = </a:t>
            </a:r>
            <a:r>
              <a:rPr lang="pt-BR" sz="2400" dirty="0" err="1"/>
              <a:t>np.array</a:t>
            </a:r>
            <a:r>
              <a:rPr lang="pt-BR" sz="2400" dirty="0"/>
              <a:t>([3, 8, 1, 10])</a:t>
            </a:r>
          </a:p>
          <a:p>
            <a:endParaRPr lang="pt-BR" sz="2400" dirty="0"/>
          </a:p>
          <a:p>
            <a:r>
              <a:rPr lang="pt-BR" sz="2400" dirty="0" err="1"/>
              <a:t>plt.plot</a:t>
            </a:r>
            <a:r>
              <a:rPr lang="pt-BR" sz="2400" dirty="0"/>
              <a:t>(</a:t>
            </a:r>
            <a:r>
              <a:rPr lang="pt-BR" sz="2400" dirty="0" err="1"/>
              <a:t>ypoints</a:t>
            </a:r>
            <a:r>
              <a:rPr lang="pt-BR" sz="2400" dirty="0"/>
              <a:t>, '</a:t>
            </a:r>
            <a:r>
              <a:rPr lang="pt-BR" sz="2400" dirty="0" err="1"/>
              <a:t>o:g</a:t>
            </a:r>
            <a:r>
              <a:rPr lang="pt-BR" sz="2400" dirty="0"/>
              <a:t>')</a:t>
            </a:r>
          </a:p>
          <a:p>
            <a:r>
              <a:rPr lang="pt-BR" sz="2400" dirty="0" err="1"/>
              <a:t>plt.show</a:t>
            </a:r>
            <a:r>
              <a:rPr lang="pt-BR" sz="2400" dirty="0"/>
              <a:t>()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449CBAB-497B-946B-020B-BB79B9F16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621154"/>
            <a:ext cx="6111240" cy="472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49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A75804-BF21-93E0-2520-3B6B6AD4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44AA44-3486-8D70-99FF-BEE1F1FD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Cap12-Exem08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D17E5A-DE5E-1DC4-47CA-588BB2D4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15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070D967-D4B3-F392-3DE4-62D6CE7D3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 Extra 04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2BEAD74-DD21-6D92-CE34-58D97ED8688C}"/>
              </a:ext>
            </a:extLst>
          </p:cNvPr>
          <p:cNvSpPr txBox="1"/>
          <p:nvPr/>
        </p:nvSpPr>
        <p:spPr>
          <a:xfrm>
            <a:off x="239151" y="1645920"/>
            <a:ext cx="46786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</a:t>
            </a:r>
            <a:r>
              <a:rPr lang="pt-BR" sz="2400" dirty="0" err="1"/>
              <a:t>matplotlib.pyplot</a:t>
            </a:r>
            <a:r>
              <a:rPr lang="pt-BR" sz="2400" dirty="0"/>
              <a:t> as plt</a:t>
            </a:r>
          </a:p>
          <a:p>
            <a:r>
              <a:rPr lang="pt-BR" sz="2400" dirty="0" err="1"/>
              <a:t>import</a:t>
            </a:r>
            <a:r>
              <a:rPr lang="pt-BR" sz="2400" dirty="0"/>
              <a:t> numpy as </a:t>
            </a:r>
            <a:r>
              <a:rPr lang="pt-BR" sz="2400" dirty="0" err="1"/>
              <a:t>np</a:t>
            </a:r>
            <a:endParaRPr lang="pt-BR" sz="2400" dirty="0"/>
          </a:p>
          <a:p>
            <a:r>
              <a:rPr lang="pt-BR" sz="800" dirty="0"/>
              <a:t> </a:t>
            </a:r>
          </a:p>
          <a:p>
            <a:r>
              <a:rPr lang="pt-BR" sz="2400" dirty="0"/>
              <a:t>x = </a:t>
            </a:r>
            <a:r>
              <a:rPr lang="pt-BR" sz="2400" dirty="0" err="1"/>
              <a:t>np.array</a:t>
            </a:r>
            <a:r>
              <a:rPr lang="pt-BR" sz="2400" dirty="0"/>
              <a:t>([0, 3, 6])</a:t>
            </a:r>
          </a:p>
          <a:p>
            <a:r>
              <a:rPr lang="pt-BR" sz="800" dirty="0"/>
              <a:t> </a:t>
            </a:r>
          </a:p>
          <a:p>
            <a:r>
              <a:rPr lang="pt-BR" sz="2400" dirty="0"/>
              <a:t>y1 = </a:t>
            </a:r>
            <a:r>
              <a:rPr lang="pt-BR" sz="2400" dirty="0" err="1"/>
              <a:t>np.array</a:t>
            </a:r>
            <a:r>
              <a:rPr lang="pt-BR" sz="2400" dirty="0"/>
              <a:t>([0, 100, 250])</a:t>
            </a:r>
          </a:p>
          <a:p>
            <a:r>
              <a:rPr lang="pt-BR" sz="2400" dirty="0"/>
              <a:t>y2 = </a:t>
            </a:r>
            <a:r>
              <a:rPr lang="pt-BR" sz="2400" dirty="0" err="1"/>
              <a:t>np.array</a:t>
            </a:r>
            <a:r>
              <a:rPr lang="pt-BR" sz="2400" dirty="0"/>
              <a:t>([6, 2, 7, 11])</a:t>
            </a:r>
          </a:p>
          <a:p>
            <a:r>
              <a:rPr lang="pt-BR" sz="800" dirty="0"/>
              <a:t> </a:t>
            </a:r>
          </a:p>
          <a:p>
            <a:r>
              <a:rPr lang="pt-BR" sz="2400" dirty="0" err="1"/>
              <a:t>plt.plot</a:t>
            </a:r>
            <a:r>
              <a:rPr lang="pt-BR" sz="2400" dirty="0"/>
              <a:t>(x, y1)</a:t>
            </a:r>
          </a:p>
          <a:p>
            <a:r>
              <a:rPr lang="pt-BR" sz="800" dirty="0"/>
              <a:t> </a:t>
            </a:r>
          </a:p>
          <a:p>
            <a:r>
              <a:rPr lang="pt-BR" sz="2400" dirty="0" err="1"/>
              <a:t>plt.plot</a:t>
            </a:r>
            <a:r>
              <a:rPr lang="pt-BR" sz="2400" dirty="0"/>
              <a:t>(y1)</a:t>
            </a:r>
          </a:p>
          <a:p>
            <a:r>
              <a:rPr lang="pt-BR" sz="2400" dirty="0" err="1"/>
              <a:t>plt.plot</a:t>
            </a:r>
            <a:r>
              <a:rPr lang="pt-BR" sz="2400" dirty="0"/>
              <a:t>(y2)</a:t>
            </a:r>
          </a:p>
          <a:p>
            <a:r>
              <a:rPr lang="pt-BR" sz="800" dirty="0"/>
              <a:t> </a:t>
            </a:r>
          </a:p>
          <a:p>
            <a:r>
              <a:rPr lang="pt-BR" sz="2400" dirty="0" err="1"/>
              <a:t>plt.show</a:t>
            </a:r>
            <a:r>
              <a:rPr lang="pt-BR" sz="2400" dirty="0"/>
              <a:t>()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FA67542-3D51-8863-5E92-F5BA48DC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151" y="1471612"/>
            <a:ext cx="6477329" cy="488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80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E72BA72-DB53-2E33-A407-5F419F30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73F9F3A-42F2-92E1-0B43-46EF9985B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Cap12-Exem09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8FDAC8-D624-9456-9369-6EABB837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16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E13FD2C-1539-0746-81CC-4FF9F2E1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 Extra 05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E09B85-64FB-372E-4160-85BDC7636BF6}"/>
              </a:ext>
            </a:extLst>
          </p:cNvPr>
          <p:cNvSpPr txBox="1"/>
          <p:nvPr/>
        </p:nvSpPr>
        <p:spPr>
          <a:xfrm>
            <a:off x="239151" y="1645980"/>
            <a:ext cx="450048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</a:t>
            </a:r>
            <a:r>
              <a:rPr lang="pt-BR" sz="2400" dirty="0" err="1"/>
              <a:t>matplotlib.pyplot</a:t>
            </a:r>
            <a:r>
              <a:rPr lang="pt-BR" sz="2400" dirty="0"/>
              <a:t> as plt</a:t>
            </a:r>
          </a:p>
          <a:p>
            <a:r>
              <a:rPr lang="pt-BR" sz="2400" dirty="0" err="1"/>
              <a:t>import</a:t>
            </a:r>
            <a:r>
              <a:rPr lang="pt-BR" sz="2400" dirty="0"/>
              <a:t> numpy as </a:t>
            </a:r>
            <a:r>
              <a:rPr lang="pt-BR" sz="2400" dirty="0" err="1"/>
              <a:t>np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y1 = </a:t>
            </a:r>
            <a:r>
              <a:rPr lang="pt-BR" sz="2400" dirty="0" err="1"/>
              <a:t>np.array</a:t>
            </a:r>
            <a:r>
              <a:rPr lang="pt-BR" sz="2400" dirty="0"/>
              <a:t>([3, 8, 1, 10])</a:t>
            </a:r>
          </a:p>
          <a:p>
            <a:r>
              <a:rPr lang="pt-BR" sz="2400" dirty="0"/>
              <a:t>y2 = </a:t>
            </a:r>
            <a:r>
              <a:rPr lang="pt-BR" sz="2400" dirty="0" err="1"/>
              <a:t>np.array</a:t>
            </a:r>
            <a:r>
              <a:rPr lang="pt-BR" sz="2400" dirty="0"/>
              <a:t>([6, 2, 7, 11])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plt.plot</a:t>
            </a:r>
            <a:r>
              <a:rPr lang="pt-BR" sz="2400" dirty="0"/>
              <a:t>(y1)</a:t>
            </a:r>
          </a:p>
          <a:p>
            <a:r>
              <a:rPr lang="pt-BR" sz="2400" dirty="0" err="1"/>
              <a:t>plt.plot</a:t>
            </a:r>
            <a:r>
              <a:rPr lang="pt-BR" sz="2400" dirty="0"/>
              <a:t>(y2)</a:t>
            </a:r>
          </a:p>
          <a:p>
            <a:endParaRPr lang="pt-BR" sz="2400" dirty="0"/>
          </a:p>
          <a:p>
            <a:r>
              <a:rPr lang="pt-BR" sz="2400" dirty="0" err="1"/>
              <a:t>plt.show</a:t>
            </a:r>
            <a:r>
              <a:rPr lang="pt-BR" sz="2400" dirty="0"/>
              <a:t>()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DBC9DFA-9FAB-37C6-16ED-C69B229E5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160" y="1645979"/>
            <a:ext cx="6227299" cy="474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04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5FF2CE-E853-0C08-D180-05A4740D6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72EA30-E016-A45D-B388-12677277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Cap12-Exem10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2173B1-95F2-788F-3255-1D6C484B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17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035E7D3-DA75-07DC-F357-99CE87AF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 Extra 06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B2F539A-DB41-94C2-9796-18363B379385}"/>
              </a:ext>
            </a:extLst>
          </p:cNvPr>
          <p:cNvSpPr txBox="1"/>
          <p:nvPr/>
        </p:nvSpPr>
        <p:spPr>
          <a:xfrm>
            <a:off x="43364" y="1307624"/>
            <a:ext cx="690922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/>
              <a:t>import</a:t>
            </a:r>
            <a:r>
              <a:rPr lang="pt-BR" sz="2000" dirty="0"/>
              <a:t> </a:t>
            </a:r>
            <a:r>
              <a:rPr lang="pt-BR" sz="2000" dirty="0" err="1"/>
              <a:t>matplotlib.pyplot</a:t>
            </a:r>
            <a:r>
              <a:rPr lang="pt-BR" sz="2000" dirty="0"/>
              <a:t> as plt</a:t>
            </a:r>
          </a:p>
          <a:p>
            <a:r>
              <a:rPr lang="pt-BR" sz="2000" dirty="0" err="1"/>
              <a:t>import</a:t>
            </a:r>
            <a:r>
              <a:rPr lang="pt-BR" sz="2000" dirty="0"/>
              <a:t> numpy as </a:t>
            </a:r>
            <a:r>
              <a:rPr lang="pt-BR" sz="2000" dirty="0" err="1"/>
              <a:t>np</a:t>
            </a:r>
            <a:endParaRPr lang="pt-BR" sz="2000" dirty="0"/>
          </a:p>
          <a:p>
            <a:endParaRPr lang="pt-BR" sz="800" dirty="0"/>
          </a:p>
          <a:p>
            <a:r>
              <a:rPr lang="pt-BR" sz="2000" dirty="0"/>
              <a:t># Com o </a:t>
            </a:r>
            <a:r>
              <a:rPr lang="pt-BR" sz="2000" dirty="0" err="1"/>
              <a:t>Pyplot</a:t>
            </a:r>
            <a:r>
              <a:rPr lang="pt-BR" sz="2000" dirty="0"/>
              <a:t>, você pode usar as funções </a:t>
            </a:r>
            <a:r>
              <a:rPr lang="pt-BR" sz="2000" dirty="0" err="1"/>
              <a:t>xlabel</a:t>
            </a:r>
            <a:r>
              <a:rPr lang="pt-BR" sz="2000" dirty="0"/>
              <a:t>() e </a:t>
            </a:r>
          </a:p>
          <a:p>
            <a:r>
              <a:rPr lang="pt-BR" sz="2000" dirty="0"/>
              <a:t># </a:t>
            </a:r>
            <a:r>
              <a:rPr lang="pt-BR" sz="2000" dirty="0" err="1"/>
              <a:t>ylabel</a:t>
            </a:r>
            <a:r>
              <a:rPr lang="pt-BR" sz="2000" dirty="0"/>
              <a:t>()para definir um rótulo para os eixos x e y.</a:t>
            </a:r>
          </a:p>
          <a:p>
            <a:r>
              <a:rPr lang="pt-BR" sz="800" dirty="0"/>
              <a:t> </a:t>
            </a:r>
          </a:p>
          <a:p>
            <a:r>
              <a:rPr lang="pt-BR" sz="2000" dirty="0"/>
              <a:t>x = </a:t>
            </a:r>
            <a:r>
              <a:rPr lang="pt-BR" sz="2000" dirty="0" err="1"/>
              <a:t>np.array</a:t>
            </a:r>
            <a:r>
              <a:rPr lang="pt-BR" sz="2000" dirty="0"/>
              <a:t>([80, 85, 90, 95, 100, 105, 110, 115, 120, 125])</a:t>
            </a:r>
          </a:p>
          <a:p>
            <a:r>
              <a:rPr lang="pt-BR" sz="2000" dirty="0"/>
              <a:t>y = </a:t>
            </a:r>
            <a:r>
              <a:rPr lang="pt-BR" sz="2000" dirty="0" err="1"/>
              <a:t>np.array</a:t>
            </a:r>
            <a:r>
              <a:rPr lang="pt-BR" sz="2000" dirty="0"/>
              <a:t>([240, 250, 260, 270, 280, 290, 300, 310, 320, 330])</a:t>
            </a:r>
          </a:p>
          <a:p>
            <a:r>
              <a:rPr lang="pt-BR" sz="800" dirty="0"/>
              <a:t> </a:t>
            </a:r>
          </a:p>
          <a:p>
            <a:r>
              <a:rPr lang="pt-BR" sz="2000" dirty="0"/>
              <a:t>font1 = {'family':'serif','color':'blue','size':20}</a:t>
            </a:r>
          </a:p>
          <a:p>
            <a:r>
              <a:rPr lang="pt-BR" sz="2000" dirty="0"/>
              <a:t>font2 = {'family':'serif','color':'darkred','size':15}</a:t>
            </a:r>
          </a:p>
          <a:p>
            <a:r>
              <a:rPr lang="pt-BR" sz="800" dirty="0"/>
              <a:t> </a:t>
            </a:r>
          </a:p>
          <a:p>
            <a:r>
              <a:rPr lang="pt-BR" sz="2000" dirty="0" err="1"/>
              <a:t>plt.title</a:t>
            </a:r>
            <a:r>
              <a:rPr lang="pt-BR" sz="2000" dirty="0"/>
              <a:t>("Dados Obtidos com a Prática da Corrida",</a:t>
            </a:r>
          </a:p>
          <a:p>
            <a:r>
              <a:rPr lang="pt-BR" sz="2000" dirty="0"/>
              <a:t>                  fontdict = font1)</a:t>
            </a:r>
          </a:p>
          <a:p>
            <a:r>
              <a:rPr lang="pt-BR" sz="2000" dirty="0" err="1"/>
              <a:t>plt.xlabel</a:t>
            </a:r>
            <a:r>
              <a:rPr lang="pt-BR" sz="2000" dirty="0"/>
              <a:t>("Média de Pulso", fontdict = font2)</a:t>
            </a:r>
          </a:p>
          <a:p>
            <a:r>
              <a:rPr lang="pt-BR" sz="2000" dirty="0" err="1"/>
              <a:t>plt.ylabel</a:t>
            </a:r>
            <a:r>
              <a:rPr lang="pt-BR" sz="2000" dirty="0"/>
              <a:t>("Queima de Caloria", fontdict = font2)</a:t>
            </a:r>
          </a:p>
          <a:p>
            <a:r>
              <a:rPr lang="pt-BR" sz="800" dirty="0"/>
              <a:t> </a:t>
            </a:r>
          </a:p>
          <a:p>
            <a:r>
              <a:rPr lang="pt-BR" sz="2000" dirty="0" err="1"/>
              <a:t>plt.plot</a:t>
            </a:r>
            <a:r>
              <a:rPr lang="pt-BR" sz="2000" dirty="0"/>
              <a:t>(</a:t>
            </a:r>
            <a:r>
              <a:rPr lang="pt-BR" sz="2000" dirty="0" err="1"/>
              <a:t>x,y</a:t>
            </a:r>
            <a:r>
              <a:rPr lang="pt-BR" sz="2000" dirty="0"/>
              <a:t>)</a:t>
            </a:r>
            <a:endParaRPr lang="pt-BR" sz="800" dirty="0"/>
          </a:p>
          <a:p>
            <a:r>
              <a:rPr lang="pt-BR" sz="2000" dirty="0" err="1"/>
              <a:t>plt.show</a:t>
            </a:r>
            <a:r>
              <a:rPr lang="pt-BR" sz="2000" dirty="0"/>
              <a:t>()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1490EF0-1D47-0B07-EC9E-9EC8D1C1B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122" y="1876760"/>
            <a:ext cx="5193655" cy="386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59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B3E6AB-ED5C-264B-EEC9-D0A9088C4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50525A-363D-5AFA-494A-A8D5D9AF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Cap12-Exem11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1E1A4D-DBBA-7E8E-E71A-2CB433E2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18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7942794-7DAB-C424-4FEF-EC516016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 Extra 07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6EAC01-1015-B35C-E2FB-5CDB5F36AF76}"/>
              </a:ext>
            </a:extLst>
          </p:cNvPr>
          <p:cNvSpPr txBox="1"/>
          <p:nvPr/>
        </p:nvSpPr>
        <p:spPr>
          <a:xfrm>
            <a:off x="239151" y="1546523"/>
            <a:ext cx="500340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 err="1"/>
              <a:t>import</a:t>
            </a:r>
            <a:r>
              <a:rPr lang="pt-BR" sz="2800" dirty="0"/>
              <a:t> </a:t>
            </a:r>
            <a:r>
              <a:rPr lang="pt-BR" sz="2800" dirty="0" err="1"/>
              <a:t>matplotlib.pyplot</a:t>
            </a:r>
            <a:r>
              <a:rPr lang="pt-BR" sz="2800" dirty="0"/>
              <a:t> as plt</a:t>
            </a:r>
          </a:p>
          <a:p>
            <a:r>
              <a:rPr lang="pt-BR" sz="2800" dirty="0" err="1"/>
              <a:t>import</a:t>
            </a:r>
            <a:r>
              <a:rPr lang="pt-BR" sz="2800" dirty="0"/>
              <a:t> numpy as </a:t>
            </a:r>
            <a:r>
              <a:rPr lang="pt-BR" sz="2800" dirty="0" err="1"/>
              <a:t>np</a:t>
            </a:r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x = </a:t>
            </a:r>
            <a:r>
              <a:rPr lang="pt-BR" sz="2800" dirty="0" err="1"/>
              <a:t>np.array</a:t>
            </a:r>
            <a:r>
              <a:rPr lang="pt-BR" sz="2800" dirty="0"/>
              <a:t>(["A", "B", "C", "D"])</a:t>
            </a:r>
          </a:p>
          <a:p>
            <a:r>
              <a:rPr lang="pt-BR" sz="2800" dirty="0"/>
              <a:t>y = </a:t>
            </a:r>
            <a:r>
              <a:rPr lang="pt-BR" sz="2800" dirty="0" err="1"/>
              <a:t>np.array</a:t>
            </a:r>
            <a:r>
              <a:rPr lang="pt-BR" sz="2800" dirty="0"/>
              <a:t>([3, 8, 1, 10])</a:t>
            </a:r>
          </a:p>
          <a:p>
            <a:endParaRPr lang="pt-BR" sz="2800" dirty="0"/>
          </a:p>
          <a:p>
            <a:r>
              <a:rPr lang="pt-BR" sz="2800" dirty="0" err="1"/>
              <a:t>plt.bar</a:t>
            </a:r>
            <a:r>
              <a:rPr lang="pt-BR" sz="2800" dirty="0"/>
              <a:t>(</a:t>
            </a:r>
            <a:r>
              <a:rPr lang="pt-BR" sz="2800" dirty="0" err="1"/>
              <a:t>x,y</a:t>
            </a:r>
            <a:r>
              <a:rPr lang="pt-BR" sz="2800" dirty="0"/>
              <a:t>, color = "</a:t>
            </a:r>
            <a:r>
              <a:rPr lang="pt-BR" sz="2800" dirty="0" err="1"/>
              <a:t>red</a:t>
            </a:r>
            <a:r>
              <a:rPr lang="pt-BR" sz="2800" dirty="0"/>
              <a:t>")</a:t>
            </a:r>
          </a:p>
          <a:p>
            <a:r>
              <a:rPr lang="pt-BR" sz="2800" dirty="0" err="1"/>
              <a:t>plt.show</a:t>
            </a:r>
            <a:r>
              <a:rPr lang="pt-BR" sz="2800" dirty="0"/>
              <a:t>()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2074FD-7260-B366-210A-CB3BFC8E4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53344"/>
            <a:ext cx="5927407" cy="44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55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3AC8108-1D54-BB99-F8AE-16552062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380263-5820-8B81-233B-5F6744F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Cap12-Exem12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6C2D4B-54D8-8C5A-D3EA-9F785FAD4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pPr/>
              <a:t>19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6F524F4-9A04-8503-E7D5-B0789192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 Extra 08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9BCD015-8EA8-6CAD-B961-9DF5BC045CF2}"/>
              </a:ext>
            </a:extLst>
          </p:cNvPr>
          <p:cNvSpPr txBox="1"/>
          <p:nvPr/>
        </p:nvSpPr>
        <p:spPr>
          <a:xfrm>
            <a:off x="192259" y="1592689"/>
            <a:ext cx="56599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</a:t>
            </a:r>
            <a:r>
              <a:rPr lang="pt-BR" sz="2400" dirty="0" err="1"/>
              <a:t>matplotlib.pyplot</a:t>
            </a:r>
            <a:r>
              <a:rPr lang="pt-BR" sz="2400" dirty="0"/>
              <a:t> as plt</a:t>
            </a:r>
          </a:p>
          <a:p>
            <a:r>
              <a:rPr lang="pt-BR" sz="2400" dirty="0" err="1"/>
              <a:t>import</a:t>
            </a:r>
            <a:r>
              <a:rPr lang="pt-BR" sz="2400" dirty="0"/>
              <a:t> numpy as </a:t>
            </a:r>
            <a:r>
              <a:rPr lang="pt-BR" sz="2400" dirty="0" err="1"/>
              <a:t>np</a:t>
            </a:r>
            <a:endParaRPr lang="pt-BR" sz="2400" dirty="0"/>
          </a:p>
          <a:p>
            <a:r>
              <a:rPr lang="pt-BR" sz="800" dirty="0"/>
              <a:t> </a:t>
            </a:r>
          </a:p>
          <a:p>
            <a:r>
              <a:rPr lang="pt-BR" sz="2400" dirty="0"/>
              <a:t># Gráfico de dispersão</a:t>
            </a:r>
          </a:p>
          <a:p>
            <a:r>
              <a:rPr lang="pt-BR" sz="800" dirty="0"/>
              <a:t> </a:t>
            </a:r>
          </a:p>
          <a:p>
            <a:r>
              <a:rPr lang="pt-BR" sz="2400" dirty="0"/>
              <a:t>x =</a:t>
            </a:r>
            <a:r>
              <a:rPr lang="pt-BR" sz="2400" dirty="0" err="1"/>
              <a:t>np.array</a:t>
            </a:r>
            <a:r>
              <a:rPr lang="pt-BR" sz="2400" dirty="0"/>
              <a:t>([5,7,8,7,2,17,2,9,4,11,12,9,6])</a:t>
            </a:r>
          </a:p>
          <a:p>
            <a:pPr marL="1249363" indent="-1249363"/>
            <a:r>
              <a:rPr lang="pt-BR" sz="2400" dirty="0"/>
              <a:t>y=</a:t>
            </a:r>
            <a:r>
              <a:rPr lang="pt-BR" sz="2400" dirty="0" err="1"/>
              <a:t>np.array</a:t>
            </a:r>
            <a:r>
              <a:rPr lang="pt-BR" sz="2400" dirty="0"/>
              <a:t>([99,86,87,88,111,86,103,87,94,78,77,85,86])</a:t>
            </a:r>
          </a:p>
          <a:p>
            <a:r>
              <a:rPr lang="pt-BR" sz="800" dirty="0"/>
              <a:t> </a:t>
            </a:r>
          </a:p>
          <a:p>
            <a:r>
              <a:rPr lang="pt-BR" sz="2400" dirty="0" err="1"/>
              <a:t>plt.scatter</a:t>
            </a:r>
            <a:r>
              <a:rPr lang="pt-BR" sz="2400" dirty="0"/>
              <a:t>(x, y)</a:t>
            </a:r>
          </a:p>
          <a:p>
            <a:r>
              <a:rPr lang="pt-BR" sz="2400" dirty="0" err="1"/>
              <a:t>plt.show</a:t>
            </a:r>
            <a:r>
              <a:rPr lang="pt-BR" sz="2400" dirty="0"/>
              <a:t>()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AC85856-4833-3C5D-D8FC-0A31FE358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92688"/>
            <a:ext cx="5856849" cy="441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73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85F0C2-18A6-3A5C-9C35-6D15003F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7D55-F895-4236-B7EB-752A50D45E94}" type="datetime1">
              <a:rPr lang="pt-BR" smtClean="0"/>
              <a:t>17/05/2026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986CD5-198F-E962-60EE-BBC11151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Cap12-Exem13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A879AC-498E-4F65-F4F4-0A443B3C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20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3248416-3945-589C-5807-F3D628C14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 Extra 09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0A1338-BD4E-411F-D289-72C9BFBEF3E9}"/>
              </a:ext>
            </a:extLst>
          </p:cNvPr>
          <p:cNvSpPr txBox="1"/>
          <p:nvPr/>
        </p:nvSpPr>
        <p:spPr>
          <a:xfrm>
            <a:off x="239151" y="1695718"/>
            <a:ext cx="50796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</a:t>
            </a:r>
            <a:r>
              <a:rPr lang="pt-BR" sz="2400" dirty="0" err="1"/>
              <a:t>matplotlib.pyplot</a:t>
            </a:r>
            <a:r>
              <a:rPr lang="pt-BR" sz="2400" dirty="0"/>
              <a:t> as plt</a:t>
            </a:r>
          </a:p>
          <a:p>
            <a:r>
              <a:rPr lang="pt-BR" sz="2400" dirty="0" err="1"/>
              <a:t>import</a:t>
            </a:r>
            <a:r>
              <a:rPr lang="pt-BR" sz="2400" dirty="0"/>
              <a:t> numpy as </a:t>
            </a:r>
            <a:r>
              <a:rPr lang="pt-BR" sz="2400" dirty="0" err="1"/>
              <a:t>np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y = </a:t>
            </a:r>
            <a:r>
              <a:rPr lang="pt-BR" sz="2400" dirty="0" err="1"/>
              <a:t>np.array</a:t>
            </a:r>
            <a:r>
              <a:rPr lang="pt-BR" sz="2400" dirty="0"/>
              <a:t>([35, 25, 25, 15])</a:t>
            </a:r>
          </a:p>
          <a:p>
            <a:pPr marL="1616075" indent="-1616075"/>
            <a:r>
              <a:rPr lang="pt-BR" sz="2400" dirty="0" err="1"/>
              <a:t>mylabels</a:t>
            </a:r>
            <a:r>
              <a:rPr lang="pt-BR" sz="2400" dirty="0"/>
              <a:t> = ["Maças", "Bananas", "Laranjas", "morangos"]</a:t>
            </a:r>
          </a:p>
          <a:p>
            <a:endParaRPr lang="pt-BR" sz="2400" dirty="0"/>
          </a:p>
          <a:p>
            <a:r>
              <a:rPr lang="pt-BR" sz="2400" dirty="0" err="1"/>
              <a:t>plt.pie</a:t>
            </a:r>
            <a:r>
              <a:rPr lang="pt-BR" sz="2400" dirty="0"/>
              <a:t>(y, labels = </a:t>
            </a:r>
            <a:r>
              <a:rPr lang="pt-BR" sz="2400" dirty="0" err="1"/>
              <a:t>mylabels</a:t>
            </a:r>
            <a:r>
              <a:rPr lang="pt-BR" sz="2400" dirty="0"/>
              <a:t>)</a:t>
            </a:r>
          </a:p>
          <a:p>
            <a:r>
              <a:rPr lang="pt-BR" sz="2400" dirty="0" err="1"/>
              <a:t>plt.show</a:t>
            </a:r>
            <a:r>
              <a:rPr lang="pt-BR" sz="2400" dirty="0"/>
              <a:t>()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3845969-57A9-1AAA-8B03-05A099A1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760" y="1702356"/>
            <a:ext cx="6322695" cy="450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432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3A580C3F0644BAE65217E90A3571B" ma:contentTypeVersion="10" ma:contentTypeDescription="Crie um novo documento." ma:contentTypeScope="" ma:versionID="17db1123b059ccd9b7a0137fb695dfba">
  <xsd:schema xmlns:xsd="http://www.w3.org/2001/XMLSchema" xmlns:xs="http://www.w3.org/2001/XMLSchema" xmlns:p="http://schemas.microsoft.com/office/2006/metadata/properties" xmlns:ns2="30a7b03c-4792-4e17-9dab-b93b92a33270" xmlns:ns3="5c7a6bef-5354-4968-b627-13d8ea6c420d" targetNamespace="http://schemas.microsoft.com/office/2006/metadata/properties" ma:root="true" ma:fieldsID="8a52f4d396bca3b056e9e32e12d83d9c" ns2:_="" ns3:_="">
    <xsd:import namespace="30a7b03c-4792-4e17-9dab-b93b92a33270"/>
    <xsd:import namespace="5c7a6bef-5354-4968-b627-13d8ea6c42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b03c-4792-4e17-9dab-b93b92a332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666036a-182f-4ecd-b44e-d420e52619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6bef-5354-4968-b627-13d8ea6c42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3475c2-86e0-40c6-a7f9-d735a9095961}" ma:internalName="TaxCatchAll" ma:showField="CatchAllData" ma:web="5c7a6bef-5354-4968-b627-13d8ea6c42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a7b03c-4792-4e17-9dab-b93b92a33270">
      <Terms xmlns="http://schemas.microsoft.com/office/infopath/2007/PartnerControls"/>
    </lcf76f155ced4ddcb4097134ff3c332f>
    <TaxCatchAll xmlns="5c7a6bef-5354-4968-b627-13d8ea6c420d" xsi:nil="true"/>
  </documentManagement>
</p:properties>
</file>

<file path=customXml/itemProps1.xml><?xml version="1.0" encoding="utf-8"?>
<ds:datastoreItem xmlns:ds="http://schemas.openxmlformats.org/officeDocument/2006/customXml" ds:itemID="{2B14E256-C0BA-423D-BD46-0A9C00FD5DD4}"/>
</file>

<file path=customXml/itemProps2.xml><?xml version="1.0" encoding="utf-8"?>
<ds:datastoreItem xmlns:ds="http://schemas.openxmlformats.org/officeDocument/2006/customXml" ds:itemID="{39B53E9B-C444-498D-8A38-1E8B0557F9D2}"/>
</file>

<file path=customXml/itemProps3.xml><?xml version="1.0" encoding="utf-8"?>
<ds:datastoreItem xmlns:ds="http://schemas.openxmlformats.org/officeDocument/2006/customXml" ds:itemID="{B51033EA-D484-45E8-B01B-3972DDB61595}"/>
</file>

<file path=docProps/app.xml><?xml version="1.0" encoding="utf-8"?>
<Properties xmlns="http://schemas.openxmlformats.org/officeDocument/2006/extended-properties" xmlns:vt="http://schemas.openxmlformats.org/officeDocument/2006/docPropsVTypes">
  <TotalTime>18639</TotalTime>
  <Words>1451</Words>
  <Application>Microsoft Office PowerPoint</Application>
  <PresentationFormat>Widescreen</PresentationFormat>
  <Paragraphs>247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do Office</vt:lpstr>
      <vt:lpstr>              Centro Federal de Educação Tecnológica Celso Suckow da Fonseca Escola de Informática e Computação Ciência da Computação</vt:lpstr>
      <vt:lpstr>O que é Matplotlib?</vt:lpstr>
      <vt:lpstr>Importando a Biblioteca</vt:lpstr>
      <vt:lpstr>Gráfico de Linha</vt:lpstr>
      <vt:lpstr>Gráfico de Barras</vt:lpstr>
      <vt:lpstr>Gráfico de Pizza</vt:lpstr>
      <vt:lpstr>Histograma</vt:lpstr>
      <vt:lpstr>Personalizando Gráficos</vt:lpstr>
      <vt:lpstr>Programa Completo</vt:lpstr>
      <vt:lpstr>  Programa em Python para gerar o gráfico de uma função do primeiro grau                                                             Plotar gráfico de uma função do primeiro grau                                                                                                  Digite o valor de a: 2                                                                                                    Digite o valor de b: -4</vt:lpstr>
      <vt:lpstr>Programa em Python para gerar o gráfico de uma função do 2º grau</vt:lpstr>
      <vt:lpstr>Exemplo Extra 01</vt:lpstr>
      <vt:lpstr>Exemplo Extra 02</vt:lpstr>
      <vt:lpstr>Exemplo Extra 03</vt:lpstr>
      <vt:lpstr>Exemplo Extra 04</vt:lpstr>
      <vt:lpstr>Exemplo Extra 05</vt:lpstr>
      <vt:lpstr>Exemplo Extra 06</vt:lpstr>
      <vt:lpstr>Exemplo Extra 07</vt:lpstr>
      <vt:lpstr>Exemplo Extra 08</vt:lpstr>
      <vt:lpstr>Exemplo Extra 09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ALMIR SILVA DA SILVEIRA</dc:creator>
  <cp:lastModifiedBy>ALMIR SILVA DA SILVEIRA</cp:lastModifiedBy>
  <cp:revision>330</cp:revision>
  <dcterms:created xsi:type="dcterms:W3CDTF">2024-07-25T18:00:53Z</dcterms:created>
  <dcterms:modified xsi:type="dcterms:W3CDTF">2026-05-18T03:41:24Z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0x01010024A3A580C3F0644BAE65217E90A3571B</vt:lpwstr>
  </property>
</Properties>
</file>